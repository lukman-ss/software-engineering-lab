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N+1 Query Problem</a:t>
            </a:r>
          </a:p>
          <a:p/>
          <a:p>
            <a:r>
              <a:t>[]</a:t>
            </a:r>
          </a:p>
          <a:p>
            <a:r>
              <a:t>- Retro CRT monitor beige dengan scanlines</a:t>
            </a:r>
          </a:p>
          <a:p>
            <a:r>
              <a:t>- ASCII art terminal yang menampilkan query count</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Satu Query Awal, Puluhan Query Mengikuti</a:t>
            </a:r>
          </a:p>
          <a:p/>
          <a:p>
            <a:r>
              <a:t>Mental Model: N+1 is invisible until it hurts. Batch related queries, don't loop them.</a:t>
            </a:r>
          </a:p>
          <a:p/>
          <a:p>
            <a:r>
              <a:t>[MOTIVASI]</a:t>
            </a:r>
          </a:p>
          <a:p>
            <a:r>
              <a:t>- Perilaku cepat di local development menipu engineer saat masuk ke beban production.</a:t>
            </a:r>
          </a:p>
          <a:p>
            <a:r>
              <a:t>- Setiap query individu terlihat sub-milidetik, sehingga lolos dari slow query logs.</a:t>
            </a:r>
          </a:p>
          <a:p>
            <a:r>
              <a:t>- Degradasi akumuler: request yang seharusnya 20ms membengkak menjadi beberapa detik.</a:t>
            </a:r>
          </a:p>
          <a:p>
            <a:r>
              <a:t>[BUKTI LAB]</a:t>
            </a:r>
          </a:p>
          <a:p>
            <a:r>
              <a:t>- Store query counter mencatat 1 query author + 3 query post = 4 query total pada 3 data.</a:t>
            </a:r>
          </a:p>
          <a:p>
            <a:r>
              <a:t>- Eager loading memangkas eksekusi menjadi 1 query author + 1 query post = 2 query total.</a:t>
            </a:r>
          </a:p>
          <a:p>
            <a:r>
              <a:t>[BATASAN SISTEM]</a:t>
            </a:r>
          </a:p>
          <a:p>
            <a:r>
              <a:t>- Lab memodelkan in-memory Store; pada RDBMS nyata overhead socket TCP memperparah bottleneck.</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Arsitektur Tiga Layer Lab 22</a:t>
            </a:r>
          </a:p>
          <a:p/>
          <a:p>
            <a:r>
              <a:t>Mental Model: Clean layer isolation enables precise query instrumentation and verification.</a:t>
            </a:r>
          </a:p>
          <a:p/>
          <a:p>
            <a:r>
              <a:t>[KOMPONEN ARSITEKTUR]</a:t>
            </a:r>
          </a:p>
          <a:p>
            <a:r>
              <a:t>- Komponen | Peran | File Sumber</a:t>
            </a:r>
          </a:p>
          <a:p>
            <a:r>
              <a:t>- Store | Mock database thread-safe &amp; query counter | internal/blog/store.go</a:t>
            </a:r>
          </a:p>
          <a:p>
            <a:r>
              <a:t>- Repository | Logika query Naive loop vs Eager batching | internal/blog/repository.go</a:t>
            </a:r>
          </a:p>
          <a:p>
            <a:r>
              <a:t>- Demo | Eksekusi CLI &amp; verifikasi statistik I/O | cmd/demo/main.go</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Entitas Domain: Author dan Post</a:t>
            </a:r>
          </a:p>
          <a:p/>
          <a:p>
            <a:r>
              <a:t>Mental Model: Aggregate roots must balance relation completeness with network round-trips.</a:t>
            </a:r>
          </a:p>
          <a:p/>
          <a:p>
            <a:r>
              <a:t>[DOMAIN MODELS]</a:t>
            </a:r>
          </a:p>
          <a:p>
            <a:r>
              <a:t>- type Author struct {</a:t>
            </a:r>
          </a:p>
          <a:p>
            <a:r>
              <a:t>-     ID   int</a:t>
            </a:r>
          </a:p>
          <a:p>
            <a:r>
              <a:t>-     Name string</a:t>
            </a:r>
          </a:p>
          <a:p>
            <a:r>
              <a:t>- }</a:t>
            </a:r>
          </a:p>
          <a:p>
            <a:r>
              <a:t>- </a:t>
            </a:r>
          </a:p>
          <a:p>
            <a:r>
              <a:t>- type Post struct {</a:t>
            </a:r>
          </a:p>
          <a:p>
            <a:r>
              <a:t>-     ID       int</a:t>
            </a:r>
          </a:p>
          <a:p>
            <a:r>
              <a:t>-     AuthorID int</a:t>
            </a:r>
          </a:p>
          <a:p>
            <a:r>
              <a:t>-     Title    string</a:t>
            </a:r>
          </a:p>
          <a:p>
            <a:r>
              <a:t>- }</a:t>
            </a:r>
          </a:p>
          <a:p>
            <a:r>
              <a:t>- </a:t>
            </a:r>
          </a:p>
          <a:p>
            <a:r>
              <a:t>- type AuthorWithPosts struct {</a:t>
            </a:r>
          </a:p>
          <a:p>
            <a:r>
              <a:t>-     Author Author</a:t>
            </a:r>
          </a:p>
          <a:p>
            <a:r>
              <a:t>-     Posts  []Post</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Loop-Driven Data Retrieval</a:t>
            </a:r>
          </a:p>
          <a:p/>
          <a:p>
            <a:r>
              <a:t>Mental Model: Querying inside loops turns iteration into cumulative network latency.</a:t>
            </a:r>
          </a:p>
          <a:p/>
          <a:p>
            <a:r>
              <a:t>[NAIVE REPOSITORY]</a:t>
            </a:r>
          </a:p>
          <a:p>
            <a:r>
              <a:t>- func (r *Repository) GetAuthorsWithPostsNPlusOne() []AuthorWithPosts {</a:t>
            </a:r>
          </a:p>
          <a:p>
            <a:r>
              <a:t>-     authors := r.store.GetAllAuthors()</a:t>
            </a:r>
          </a:p>
          <a:p>
            <a:r>
              <a:t>-     if len(authors) == 0 { return []AuthorWithPosts{} }</a:t>
            </a:r>
          </a:p>
          <a:p>
            <a:r>
              <a:t>- </a:t>
            </a:r>
          </a:p>
          <a:p>
            <a:r>
              <a:t>-     var result []AuthorWithPosts</a:t>
            </a:r>
          </a:p>
          <a:p>
            <a:r>
              <a:t>-     for _, author := range authors {</a:t>
            </a:r>
          </a:p>
          <a:p>
            <a:r>
              <a:t>-         posts := r.store.GetPostsByAuthorID(author.ID)</a:t>
            </a:r>
          </a:p>
          <a:p>
            <a:r>
              <a:t>-         result = append(result, AuthorWithPosts{</a:t>
            </a:r>
          </a:p>
          <a:p>
            <a:r>
              <a:t>-             Author: author,</a:t>
            </a:r>
          </a:p>
          <a:p>
            <a:r>
              <a:t>-             Posts:  posts,</a:t>
            </a:r>
          </a:p>
          <a:p>
            <a:r>
              <a:t>-         })</a:t>
            </a:r>
          </a:p>
          <a:p>
            <a:r>
              <a:t>-     }</a:t>
            </a:r>
          </a:p>
          <a:p>
            <a:r>
              <a:t>-     return result</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Mengapa Slow Query Log Gagal Mendeteksi</a:t>
            </a:r>
          </a:p>
          <a:p/>
          <a:p>
            <a:r>
              <a:t>Mental Model: Sub-millisecond individual queries can aggregate into multi-second latency.</a:t>
            </a:r>
          </a:p>
          <a:p/>
          <a:p>
            <a:r>
              <a:t>[TITIK BUTA DETEKSI]</a:t>
            </a:r>
          </a:p>
          <a:p>
            <a:r>
              <a:t>- Slow query log hanya menandai eksekusi dengan durasi di atas ambang batas (mis. &gt;1000ms).</a:t>
            </a:r>
          </a:p>
          <a:p>
            <a:r>
              <a:t>- Query N+1 masing-masing berjalan sub-milidetik (&lt;1ms) karena memakai primary/foreign key index.</a:t>
            </a:r>
          </a:p>
          <a:p>
            <a:r>
              <a:t>- Database engine menganggap sistem bekerja normal tanpa anomali query berat.</a:t>
            </a:r>
          </a:p>
          <a:p>
            <a:r>
              <a:t>[AKUMULASI WAKTU]</a:t>
            </a:r>
          </a:p>
          <a:p>
            <a:r>
              <a:t>- Development: 3 author memicu 4 query, selesai dalam tempo &lt;5ms.</a:t>
            </a:r>
          </a:p>
          <a:p>
            <a:r>
              <a:t>- Production: 500 author memicu 501 query, menghabiskan waktu 2.4 detik.</a:t>
            </a:r>
          </a:p>
          <a:p>
            <a:r>
              <a:t>- Beban berpindah ke latency transfer jaringan dan serialisasi paket di aplikasi.</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Biaya Tersembunyi: Network Round-Trip Time</a:t>
            </a:r>
          </a:p>
          <a:p/>
          <a:p>
            <a:r>
              <a:t>Mental Model: Network round-trips dominate relational latency over raw query execution.</a:t>
            </a:r>
          </a:p>
          <a:p/>
          <a:p>
            <a:r>
              <a:t>[OVERHEAD JARINGAN]</a:t>
            </a:r>
          </a:p>
          <a:p>
            <a:r>
              <a:t>- Komponen Biaya | 1 Query Batch | 100 Query N+1</a:t>
            </a:r>
          </a:p>
          <a:p>
            <a:r>
              <a:t>- Network RTT | 1 x 2ms = 2ms | 100 x 2ms = 200ms</a:t>
            </a:r>
          </a:p>
          <a:p>
            <a:r>
              <a:t>- TCP Wire Overhead | 1 frame exchange | 100 frame exchanges</a:t>
            </a:r>
          </a:p>
          <a:p>
            <a:r>
              <a:t>- DB Engine Parsing | 1x AST parse | 100x AST parse</a:t>
            </a:r>
          </a:p>
          <a:p>
            <a:r>
              <a:t>- App Context Switch | Minimal | Sangat tinggi (100x I/O)</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Bahaya Connection Pool Exhaustion</a:t>
            </a:r>
          </a:p>
          <a:p/>
          <a:p>
            <a:r>
              <a:t>Mental Model: Sequential queries monopolize connection pools and trigger cascading timeouts.</a:t>
            </a:r>
          </a:p>
          <a:p/>
          <a:p>
            <a:r>
              <a:t>[SEQUENTIAL HOLD]</a:t>
            </a:r>
          </a:p>
          <a:p>
            <a:r>
              <a:t>- Satu HTTP worker menahan koneksi database selama seluruh siklus iterasi loop N.</a:t>
            </a:r>
          </a:p>
          <a:p>
            <a:r>
              <a:t>- Koneksi tidak dapat dipakai oleh worker lain hingga iterasi terakhir selesai.</a:t>
            </a:r>
          </a:p>
          <a:p>
            <a:r>
              <a:t>[POOL STARVATION]</a:t>
            </a:r>
          </a:p>
          <a:p>
            <a:r>
              <a:t>- Kenaikan concurrency membuat kapasitas connection pool langsung habis (exhausted).</a:t>
            </a:r>
          </a:p>
          <a:p>
            <a:r>
              <a:t>- Request baru mengalami blocking queue di pool dan berakhir dengan gateway timeout (504).</a:t>
            </a:r>
          </a:p>
          <a:p>
            <a:r>
              <a:t>[CASCADING FAILURE]</a:t>
            </a:r>
          </a:p>
          <a:p>
            <a:r>
              <a:t>- Satu endpoint lambat melumpuhkan seluruh service yang berbagi connection pool database.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Solusi Eager Loading: Pola Batch Data Retrieval</a:t>
            </a:r>
          </a:p>
          <a:p/>
          <a:p>
            <a:r>
              <a:t>Mental Model: Batch before you iterate: decouple query planning from data association.</a:t>
            </a:r>
          </a:p>
          <a:p/>
          <a:p>
            <a:r>
              <a:t>[ALUR 4 TAHAP EAGER BATCHING]</a:t>
            </a:r>
          </a:p>
          <a:p>
            <a:r>
              <a:t>- TAHAP 1: Ambil Parent ── GetAllAuthors() → [ID: 1, 2, 3] (Query #1)</a:t>
            </a:r>
          </a:p>
          <a:p>
            <a:r>
              <a:t>- TAHAP 2: Ekstraksi Kunci ── authorIDs = [1, 2, 3] di memori</a:t>
            </a:r>
          </a:p>
          <a:p>
            <a:r>
              <a:t>- TAHAP 3: Ambil Child Sekaligus ── GetPostsByAuthorIDs([1, 2, 3]) (Query #2)</a:t>
            </a:r>
          </a:p>
          <a:p>
            <a:r>
              <a:t>- TAHAP 4: Asosiasi Memori ── Kelompokkan posts ke author via map[int][]Post</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Query Batching di Sisi Store</a:t>
            </a:r>
          </a:p>
          <a:p/>
          <a:p>
            <a:r>
              <a:t>Mental Model: A single set-based filter replaces hundreds of point lookups.</a:t>
            </a:r>
          </a:p>
          <a:p/>
          <a:p>
            <a:r>
              <a:t>[BATCH QUERY METHOD]</a:t>
            </a:r>
          </a:p>
          <a:p>
            <a:r>
              <a:t>- func (s *Store) GetPostsByAuthorIDs(authorIDs []int) []Post {</a:t>
            </a:r>
          </a:p>
          <a:p>
            <a:r>
              <a:t>-     s.mu.Lock()</a:t>
            </a:r>
          </a:p>
          <a:p>
            <a:r>
              <a:t>-     defer s.mu.Unlock()</a:t>
            </a:r>
          </a:p>
          <a:p>
            <a:r>
              <a:t>-     s.queryCount++</a:t>
            </a:r>
          </a:p>
          <a:p>
            <a:r>
              <a:t>- </a:t>
            </a:r>
          </a:p>
          <a:p>
            <a:r>
              <a:t>-     idMap := make(map[int]bool)</a:t>
            </a:r>
          </a:p>
          <a:p>
            <a:r>
              <a:t>-     for _, id := range authorIDs { idMap[id] = true }</a:t>
            </a:r>
          </a:p>
          <a:p>
            <a:r>
              <a:t>- </a:t>
            </a:r>
          </a:p>
          <a:p>
            <a:r>
              <a:t>-     var result []Post</a:t>
            </a:r>
          </a:p>
          <a:p>
            <a:r>
              <a:t>-     for _, p := range s.posts {</a:t>
            </a:r>
          </a:p>
          <a:p>
            <a:r>
              <a:t>-         if idMap[p.AuthorID] {</a:t>
            </a:r>
          </a:p>
          <a:p>
            <a:r>
              <a:t>-             result = append(result, p)</a:t>
            </a:r>
          </a:p>
          <a:p>
            <a:r>
              <a:t>-         }</a:t>
            </a:r>
          </a:p>
          <a:p>
            <a:r>
              <a:t>-     }</a:t>
            </a:r>
          </a:p>
          <a:p>
            <a:r>
              <a:t>-     return result</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In-Memory Map Grouping pada Layer Aplikasi</a:t>
            </a:r>
          </a:p>
          <a:p/>
          <a:p>
            <a:r>
              <a:t>Mental Model: Group child entities in memory to preserve O(1) relational association.</a:t>
            </a:r>
          </a:p>
          <a:p/>
          <a:p>
            <a:r>
              <a:t>[REKONSTRUKSI HASH MAP]</a:t>
            </a:r>
          </a:p>
          <a:p>
            <a:r>
              <a:t>- // 1. Kelompokkan posts berdasarkan author ID</a:t>
            </a:r>
          </a:p>
          <a:p>
            <a:r>
              <a:t>- postsByAuthor := make(map[int][]Post)</a:t>
            </a:r>
          </a:p>
          <a:p>
            <a:r>
              <a:t>- for _, post := range allPosts {</a:t>
            </a:r>
          </a:p>
          <a:p>
            <a:r>
              <a:t>-     postsByAuthor[post.AuthorID] = append(</a:t>
            </a:r>
          </a:p>
          <a:p>
            <a:r>
              <a:t>-         postsByAuthor[post.AuthorID], post)</a:t>
            </a:r>
          </a:p>
          <a:p>
            <a:r>
              <a:t>- }</a:t>
            </a:r>
          </a:p>
          <a:p>
            <a:r>
              <a:t>- </a:t>
            </a:r>
          </a:p>
          <a:p>
            <a:r>
              <a:t>- // 2. Susun agregat akhir dengan pencarian O(1)</a:t>
            </a:r>
          </a:p>
          <a:p>
            <a:r>
              <a:t>- var result []AuthorWithPosts</a:t>
            </a:r>
          </a:p>
          <a:p>
            <a:r>
              <a:t>- for _, author := range authors {</a:t>
            </a:r>
          </a:p>
          <a:p>
            <a:r>
              <a:t>-     result = append(result, AuthorWithPosts{</a:t>
            </a:r>
          </a:p>
          <a:p>
            <a:r>
              <a:t>-         Author: author,</a:t>
            </a:r>
          </a:p>
          <a:p>
            <a:r>
              <a:t>-         Posts:  postsByAuthor[author.ID],</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Komparasi Kuantitatif Kompleksitas Sistem</a:t>
            </a:r>
          </a:p>
          <a:p/>
          <a:p>
            <a:r>
              <a:t>Mental Model: Shift complexity from database network I/O into deterministic in-memory grouping.</a:t>
            </a:r>
          </a:p>
          <a:p/>
          <a:p>
            <a:r>
              <a:t>[MATRIKS KOMPARASI]</a:t>
            </a:r>
          </a:p>
          <a:p>
            <a:r>
              <a:t>- Parameter | Naive (Loop) | Eager (Batch)</a:t>
            </a:r>
          </a:p>
          <a:p>
            <a:r>
              <a:t>- Query Count | 1 + N (Linear) | 1 + 1 (Konstan 2)</a:t>
            </a:r>
          </a:p>
          <a:p>
            <a:r>
              <a:t>- Kompleksitas I/O | O(N) relatif record | O(1) relatif record</a:t>
            </a:r>
          </a:p>
          <a:p>
            <a:r>
              <a:t>- Data Transfer | Header repetitif | Single packet payload</a:t>
            </a:r>
          </a:p>
          <a:p>
            <a:r>
              <a:t>- Memory Allocation | Fragmented allocations | Single pre-sized buffer</a:t>
            </a:r>
          </a:p>
          <a:p>
            <a:r>
              <a:t>- Network RTT | N + 1 round-trips | 2 round-trips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SQL Translation: IN Clause vs Single JOIN</a:t>
            </a:r>
          </a:p>
          <a:p/>
          <a:p>
            <a:r>
              <a:t>Mental Model: Split batch queries avoid parent column duplication inherent in wide JOINs.</a:t>
            </a:r>
          </a:p>
          <a:p/>
          <a:p>
            <a:r>
              <a:t>[DUA PENDEKATAN SQL]</a:t>
            </a:r>
          </a:p>
          <a:p>
            <a:r>
              <a:t>- -- Strategi 1: Batching (Dua Query Terpisah)</a:t>
            </a:r>
          </a:p>
          <a:p>
            <a:r>
              <a:t>- SELECT id, name FROM authors;</a:t>
            </a:r>
          </a:p>
          <a:p>
            <a:r>
              <a:t>- SELECT id, author_id, title FROM posts</a:t>
            </a:r>
          </a:p>
          <a:p>
            <a:r>
              <a:t>- WHERE author_id IN (1, 2, 3);</a:t>
            </a:r>
          </a:p>
          <a:p>
            <a:r>
              <a:t>- </a:t>
            </a:r>
          </a:p>
          <a:p>
            <a:r>
              <a:t>- -- Strategi 2: Single JOIN (Satu Query Tunggal)</a:t>
            </a:r>
          </a:p>
          <a:p>
            <a:r>
              <a:t>- SELECT a.id, a.name, p.id, p.title</a:t>
            </a:r>
          </a:p>
          <a:p>
            <a:r>
              <a:t>- FROM authors a</a:t>
            </a:r>
          </a:p>
          <a:p>
            <a:r>
              <a:t>- LEFT JOIN posts p ON a.id = p.author_id;</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Batasan Parameter IN Clause pada RDBMS</a:t>
            </a:r>
          </a:p>
          <a:p/>
          <a:p>
            <a:r>
              <a:t>Mental Model: Unbounded IN clauses choke SQL parsers: chunk bulk IDs into manageable sizes.</a:t>
            </a:r>
          </a:p>
          <a:p/>
          <a:p>
            <a:r>
              <a:t>[BATASAN PARAMETER]</a:t>
            </a:r>
          </a:p>
          <a:p>
            <a:r>
              <a:t>- PostgreSQL &amp; SQLite memiliki limit bind parameter (mis. 65,535 atau 999 parameter).</a:t>
            </a:r>
          </a:p>
          <a:p>
            <a:r>
              <a:t>- Melebihi batas ini menyebabkan error query execution langsung dari driver database.</a:t>
            </a:r>
          </a:p>
          <a:p>
            <a:r>
              <a:t>[OVERHEAD PARSER]</a:t>
            </a:r>
          </a:p>
          <a:p>
            <a:r>
              <a:t>- Statement SQL dengan ribuan literal ID membebani query planner dan parser CPU.</a:t>
            </a:r>
          </a:p>
          <a:p>
            <a:r>
              <a:t>- Waktu penyusunan AST di engine database dapat melebihi waktu eksekusi indeks.</a:t>
            </a:r>
          </a:p>
          <a:p>
            <a:r>
              <a:t>[CHUNKED BATCHING]</a:t>
            </a:r>
          </a:p>
          <a:p>
            <a:r>
              <a:t>- Pecah daftar ID besar menjadi chunk terkendali (misal 200–500 ID per batch query).</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Bahaya Cartesian Product Explosion</a:t>
            </a:r>
          </a:p>
          <a:p/>
          <a:p>
            <a:r>
              <a:t>Mental Model: Multiple relational JOINs cause combinatorial row explosions; use separate batches.</a:t>
            </a:r>
          </a:p>
          <a:p/>
          <a:p>
            <a:r>
              <a:t>[MULTIPLIKASI BARIS]</a:t>
            </a:r>
          </a:p>
          <a:p>
            <a:r>
              <a:t>- Tingkat Relasi | Entitas Record | Total Baris Hasil JOIN</a:t>
            </a:r>
          </a:p>
          <a:p>
            <a:r>
              <a:t>- 1 Author | 1 author | 1 baris</a:t>
            </a:r>
          </a:p>
          <a:p>
            <a:r>
              <a:t>- 10 Posts | 10 post per author | 1 x 10 = 10 baris</a:t>
            </a:r>
          </a:p>
          <a:p>
            <a:r>
              <a:t>- 5 Tags | 5 tag per post | 1 x 10 x 5 = 50 baris</a:t>
            </a:r>
          </a:p>
          <a:p>
            <a:r>
              <a:t>- 10 Comments | 10 komentar per post | 1 x 10 x 5 x 10 = 500 baris!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Mapping-Level Eager vs Query-Level Eager</a:t>
            </a:r>
          </a:p>
          <a:p/>
          <a:p>
            <a:r>
              <a:t>Mental Model: Enforce query-level eager fetching; avoid global schema-level eager mappings.</a:t>
            </a:r>
          </a:p>
          <a:p/>
          <a:p>
            <a:r>
              <a:t>[MAPPING-LEVEL (ANTI-PATTERN)]</a:t>
            </a:r>
          </a:p>
          <a:p>
            <a:r>
              <a:t>- FetchType.EAGER pada schema entity menarik seluruh relasi setiap kali entitas dibaca.</a:t>
            </a:r>
          </a:p>
          <a:p>
            <a:r>
              <a:t>- Operasi sederhana seperti validasi email author terpaksa memuat seluruh riwayat postingan.</a:t>
            </a:r>
          </a:p>
          <a:p>
            <a:r>
              <a:t>- Menimbulkan memory bloat parah dan membebani garbage collector aplikasi.</a:t>
            </a:r>
          </a:p>
          <a:p>
            <a:r>
              <a:t>[QUERY-LEVEL (BEST PRACTICE)]</a:t>
            </a:r>
          </a:p>
          <a:p>
            <a:r>
              <a:t>- Relasi dibiarkan lazy secara default pada level definisi domain model.</a:t>
            </a:r>
          </a:p>
          <a:p>
            <a:r>
              <a:t>- Eager loading hanya diaktifkan secara eksplisit pada query yang benar-benar membutuhkannya.</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Solusi Ekosistem: GraphQL DataLoader Pattern</a:t>
            </a:r>
          </a:p>
          <a:p/>
          <a:p>
            <a:r>
              <a:t>Mental Model: DataLoaders coalesce concurrent point queries across async resolver ticks.</a:t>
            </a:r>
          </a:p>
          <a:p/>
          <a:p>
            <a:r>
              <a:t>[ALUR RESOLVER COALESCING]</a:t>
            </a:r>
          </a:p>
          <a:p>
            <a:r>
              <a:t>- Resolver #1 (Author 1) ──┐</a:t>
            </a:r>
          </a:p>
          <a:p>
            <a:r>
              <a:t>- Resolver #2 (Author 2) ──┼──&gt; [DataLoader Queue] ──&gt; Single Batch Query</a:t>
            </a:r>
          </a:p>
          <a:p>
            <a:r>
              <a:t>- Resolver #3 (Author 3) ──┘        (Tick Event)        WHERE author_id IN (1, 2, 3)</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Column Selection &amp; Aggregation Optimization</a:t>
            </a:r>
          </a:p>
          <a:p/>
          <a:p>
            <a:r>
              <a:t>Mental Model: Push aggregation to the database engine before pulling bulk entities into memory.</a:t>
            </a:r>
          </a:p>
          <a:p/>
          <a:p>
            <a:r>
              <a:t>[AGGREGATION VS FULL ENTITY]</a:t>
            </a:r>
          </a:p>
          <a:p>
            <a:r>
              <a:t>- -- 1. Ambil ringkasan agregasi alih-alih seluruh baris post</a:t>
            </a:r>
          </a:p>
          <a:p>
            <a:r>
              <a:t>- SELECT author_id, COUNT(*) AS post_count</a:t>
            </a:r>
          </a:p>
          <a:p>
            <a:r>
              <a:t>- FROM posts WHERE author_id IN (1, 2, 3)</a:t>
            </a:r>
          </a:p>
          <a:p>
            <a:r>
              <a:t>- GROUP BY author_id;</a:t>
            </a:r>
          </a:p>
          <a:p>
            <a:r>
              <a:t>- </a:t>
            </a:r>
          </a:p>
          <a:p>
            <a:r>
              <a:t>- -- 2. Proyeksikan kolom esensial saja</a:t>
            </a:r>
          </a:p>
          <a:p>
            <a:r>
              <a:t>- SELECT id, author_id, title</a:t>
            </a:r>
          </a:p>
          <a:p>
            <a:r>
              <a:t>- FROM posts WHERE author_id IN (1, 2, 3);</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Demo CLI Execution Output</a:t>
            </a:r>
          </a:p>
          <a:p/>
          <a:p>
            <a:r>
              <a:t>Mental Model: Empirical CLI verification validates algorithmic query reduction.</a:t>
            </a:r>
          </a:p>
          <a:p/>
          <a:p>
            <a:r>
              <a:t>[OUTPUT TERMINAL]</a:t>
            </a:r>
          </a:p>
          <a:p>
            <a:r>
              <a:t>- $ go run ./cmd/demo</a:t>
            </a:r>
          </a:p>
          <a:p>
            <a:r>
              <a:t>- --- 1. Simulating N+1 Query Problem ---</a:t>
            </a:r>
          </a:p>
          <a:p>
            <a:r>
              <a:t>- Loaded 3 authors with their posts.</a:t>
            </a:r>
          </a:p>
          <a:p>
            <a:r>
              <a:t>- Total queries executed: 4 (1 for authors + 3 queries for posts)</a:t>
            </a:r>
          </a:p>
          <a:p>
            <a:r>
              <a:t>- </a:t>
            </a:r>
          </a:p>
          <a:p>
            <a:r>
              <a:t>- --- 2. Simulating Eager Loading (Batching) ---</a:t>
            </a:r>
          </a:p>
          <a:p>
            <a:r>
              <a:t>- Loaded 3 authors with their posts.</a:t>
            </a:r>
          </a:p>
          <a:p>
            <a:r>
              <a:t>- Total queries executed: 2 (1 for authors + 1 batched query for posts)</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Pengujian Otomatis Query Count Invariant</a:t>
            </a:r>
          </a:p>
          <a:p/>
          <a:p>
            <a:r>
              <a:t>Mental Model: Lock query count invariants into CI tests to permanently prevent regressions.</a:t>
            </a:r>
          </a:p>
          <a:p/>
          <a:p>
            <a:r>
              <a:t>[TEST QUERY COUNT]</a:t>
            </a:r>
          </a:p>
          <a:p>
            <a:r>
              <a:t>- func TestGetAuthorsWithPostsNPlusOne(t *testing.T) {</a:t>
            </a:r>
          </a:p>
          <a:p>
            <a:r>
              <a:t>-     store := NewStore()</a:t>
            </a:r>
          </a:p>
          <a:p>
            <a:r>
              <a:t>-     repo := NewRepository(store)</a:t>
            </a:r>
          </a:p>
          <a:p>
            <a:r>
              <a:t>-     store.ResetQueryCount()</a:t>
            </a:r>
          </a:p>
          <a:p>
            <a:r>
              <a:t>- </a:t>
            </a:r>
          </a:p>
          <a:p>
            <a:r>
              <a:t>-     result := repo.GetAuthorsWithPostsNPlusOne()</a:t>
            </a:r>
          </a:p>
          <a:p>
            <a:r>
              <a:t>-     if len(result) != 3 { t.Fatalf("expected 3, got %d", len(result)) }</a:t>
            </a:r>
          </a:p>
          <a:p>
            <a:r>
              <a:t>- </a:t>
            </a:r>
          </a:p>
          <a:p>
            <a:r>
              <a:t>-     queryCount := store.GetQueryCount()</a:t>
            </a:r>
          </a:p>
          <a:p>
            <a:r>
              <a:t>-     if queryCount != 4 {</a:t>
            </a:r>
          </a:p>
          <a:p>
            <a:r>
              <a:t>-         t.Errorf("expected 4 queries (N+1), got %d", queryCount)</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Validasi Kesetaraan Semantik (Deep Equivalence)</a:t>
            </a:r>
          </a:p>
          <a:p/>
          <a:p>
            <a:r>
              <a:t>Mental Model: Performance refactoring must guarantee semantic data equivalence.</a:t>
            </a:r>
          </a:p>
          <a:p/>
          <a:p>
            <a:r>
              <a:t>[DEEP EQUIVALENCE TEST]</a:t>
            </a:r>
          </a:p>
          <a:p>
            <a:r>
              <a:t>- // Memastikan hasil batching 100% identik dengan naive</a:t>
            </a:r>
          </a:p>
          <a:p>
            <a:r>
              <a:t>- nPlusOneResult := repo.GetAuthorsWithPostsNPlusOne()</a:t>
            </a:r>
          </a:p>
          <a:p>
            <a:r>
              <a:t>- if !reflect.DeepEqual(result, nPlusOneResult) {</a:t>
            </a:r>
          </a:p>
          <a:p>
            <a:r>
              <a:t>-     t.Errorf("eager result mismatch with N+1 result:\n"+</a:t>
            </a:r>
          </a:p>
          <a:p>
            <a:r>
              <a:t>-         "Eager: %+v\nN+1: %+v", result, nPlusOneResult)</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Observability &amp; Deteksi N+1 di Production</a:t>
            </a:r>
          </a:p>
          <a:p/>
          <a:p>
            <a:r>
              <a:t>Mental Model: Waterfall APM traces and query-to-request ratios surface hidden runtime loops.</a:t>
            </a:r>
          </a:p>
          <a:p/>
          <a:p>
            <a:r>
              <a:t>[DISTRIBUTED TRACING]</a:t>
            </a:r>
          </a:p>
          <a:p>
            <a:r>
              <a:t>- APM trace menampilkan 'waterfall graph' berisi puluhan span query identik berurutan.</a:t>
            </a:r>
          </a:p>
          <a:p>
            <a:r>
              <a:t>- Waktu tunggu jaringan antar span memperjelas latensi akumulatif yang dialami client.</a:t>
            </a:r>
          </a:p>
          <a:p>
            <a:r>
              <a:t>[MIDDLEWARE AUDITING]</a:t>
            </a:r>
          </a:p>
          <a:p>
            <a:r>
              <a:t>- Pasang query logger di database driver untuk mendeteksi repetisi query template per HTTP request.</a:t>
            </a:r>
          </a:p>
          <a:p>
            <a:r>
              <a:t>- Beri threshold alarm jika satu request mengeksekusi &gt;20 query serupa dalam durasi &lt;50ms.</a:t>
            </a:r>
          </a:p>
          <a:p>
            <a:r>
              <a:t>[STATIC ANALYSIS]</a:t>
            </a:r>
          </a:p>
          <a:p>
            <a:r>
              <a:t>- Gunakan linter kode untuk menandai eksekusi database calls di dalam perulangan loop for.</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Reproduksi Mandiri &amp; Panduan Verifikasi</a:t>
            </a:r>
          </a:p>
          <a:p/>
          <a:p>
            <a:r>
              <a:t>Mental Model: Standard library benchmarks provide reliable, zero-dependency validation.</a:t>
            </a:r>
          </a:p>
          <a:p/>
          <a:p>
            <a:r>
              <a:t>[COMMAND RUNNER]</a:t>
            </a:r>
          </a:p>
          <a:p>
            <a:r>
              <a:t>- cd labs/22-n-plus-one-query-problem</a:t>
            </a:r>
          </a:p>
          <a:p>
            <a:r>
              <a:t>- go test -v ./...</a:t>
            </a:r>
          </a:p>
          <a:p>
            <a:r>
              <a:t>- go test -race ./...</a:t>
            </a:r>
          </a:p>
          <a:p>
            <a:r>
              <a:t>- go run ./cmd/demo</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Eksperimen kecil, eliminasi latensi tersembunyi.</a:t>
            </a:r>
          </a:p>
          <a:p/>
          <a:p>
            <a:r>
              <a:t>Mental Model: N+1 is invisible until it hurts. Batch related queries, don't loop them.</a:t>
            </a:r>
          </a:p>
          <a:p/>
          <a:p>
            <a:r>
              <a:t>[MODUL LAB]</a:t>
            </a:r>
          </a:p>
          <a:p>
            <a:r>
              <a:t>- internal/blog/models.go • internal/blog/store.go</a:t>
            </a:r>
          </a:p>
          <a:p>
            <a:r>
              <a:t>- internal/blog/repository.go • repository_test.go</a:t>
            </a:r>
          </a:p>
          <a:p>
            <a:r>
              <a:t>- cmd/demo/main.go • README.md</a:t>
            </a:r>
          </a:p>
          <a:p>
            <a:r>
              <a:t>[VERIFIKASI &amp; STATUS]</a:t>
            </a:r>
          </a:p>
          <a:p>
            <a:r>
              <a:t>- Sumber: commit 6649acb9</a:t>
            </a:r>
          </a:p>
          <a:p>
            <a:r>
              <a:t>- Test passing dan diverifikasi (Race-Clean Go 1.22).</a:t>
            </a:r>
          </a:p>
          <a:p>
            <a:r>
              <a:t>- Invarian terbukti: 4 query (N+1) dipangkas menjadi 2 query (Batching).</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22</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N+1 Query Problem</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Batching Relasi Data untuk Eliminasi Latensi Tersembunyi</a:t>
            </a:r>
          </a:p>
        </p:txBody>
      </p:sp>
      <p:sp>
        <p:nvSpPr>
          <p:cNvPr id="6" name="Rounded Rectangle 5"/>
          <p:cNvSpPr/>
          <p:nvPr/>
        </p:nvSpPr>
        <p:spPr>
          <a:xfrm>
            <a:off x="914400" y="4389120"/>
            <a:ext cx="10362895" cy="1645920"/>
          </a:xfrm>
          <a:prstGeom prst="roundRect">
            <a:avLst/>
          </a:prstGeom>
          <a:solidFill>
            <a:srgbClr val="1E293B"/>
          </a:solidFill>
          <a:ln>
            <a:solidFill>
              <a:srgbClr val="087F7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a:solidFill>
                  <a:srgbClr val="087F76"/>
                </a:solidFill>
                <a:latin typeface="Courier New"/>
              </a:defRPr>
            </a:pPr>
            <a:r>
              <a:t>&gt; system_check --lab 22 --topic 'n-plus-one-query-problem'</a:t>
            </a:r>
            <a:br/>
            <a:r>
              <a:t>&gt; author: Lukman / lukman-ss | status: PRODUCTION VERIFIED</a:t>
            </a:r>
            <a:br/>
            <a:r>
              <a:t>&gt; commit: 6649acb9 | tests: PASS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Satu Query Awal, Puluhan Query Mengikuti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Pengambilan data berulang di dalam iterasi melipatgandakan latensi jaringan.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MOTIVASI</a:t>
            </a:r>
          </a:p>
          <a:p>
            <a:pPr>
              <a:spcAft>
                <a:spcPts val="400"/>
              </a:spcAft>
              <a:defRPr sz="1200">
                <a:solidFill>
                  <a:srgbClr val="0B1B2D"/>
                </a:solidFill>
              </a:defRPr>
            </a:pPr>
            <a:r>
              <a:t>• Perilaku cepat di local development menipu engineer saat masuk ke beban production.</a:t>
            </a:r>
          </a:p>
          <a:p>
            <a:pPr>
              <a:spcAft>
                <a:spcPts val="400"/>
              </a:spcAft>
              <a:defRPr sz="1200">
                <a:solidFill>
                  <a:srgbClr val="0B1B2D"/>
                </a:solidFill>
              </a:defRPr>
            </a:pPr>
            <a:r>
              <a:t>• Setiap query individu terlihat sub-milidetik, sehingga lolos dari slow query logs.</a:t>
            </a:r>
          </a:p>
          <a:p>
            <a:pPr>
              <a:spcAft>
                <a:spcPts val="400"/>
              </a:spcAft>
              <a:defRPr sz="1200">
                <a:solidFill>
                  <a:srgbClr val="0B1B2D"/>
                </a:solidFill>
              </a:defRPr>
            </a:pPr>
            <a:r>
              <a:t>• Degradasi akumuler: request yang seharusnya 20ms membengkak menjadi beberapa detik.</a:t>
            </a:r>
          </a:p>
          <a:p>
            <a:pPr>
              <a:defRPr sz="1200" b="1">
                <a:solidFill>
                  <a:srgbClr val="087F76"/>
                </a:solidFill>
              </a:defRPr>
            </a:pPr>
            <a:r>
              <a:t>BUKTI LAB</a:t>
            </a:r>
          </a:p>
          <a:p>
            <a:pPr>
              <a:spcAft>
                <a:spcPts val="400"/>
              </a:spcAft>
              <a:defRPr sz="1200">
                <a:solidFill>
                  <a:srgbClr val="0B1B2D"/>
                </a:solidFill>
              </a:defRPr>
            </a:pPr>
            <a:r>
              <a:t>• Store query counter mencatat 1 query author + 3 query post = 4 query total pada 3 data.</a:t>
            </a:r>
          </a:p>
          <a:p>
            <a:pPr>
              <a:spcAft>
                <a:spcPts val="400"/>
              </a:spcAft>
              <a:defRPr sz="1200">
                <a:solidFill>
                  <a:srgbClr val="0B1B2D"/>
                </a:solidFill>
              </a:defRPr>
            </a:pPr>
            <a:r>
              <a:t>• Eager loading memangkas eksekusi menjadi 1 query author + 1 query post = 2 query total.</a:t>
            </a:r>
          </a:p>
          <a:p>
            <a:pPr>
              <a:defRPr sz="1200" b="1">
                <a:solidFill>
                  <a:srgbClr val="087F76"/>
                </a:solidFill>
              </a:defRPr>
            </a:pPr>
            <a:r>
              <a:t>BATASAN SISTEM</a:t>
            </a:r>
          </a:p>
          <a:p>
            <a:pPr>
              <a:spcAft>
                <a:spcPts val="400"/>
              </a:spcAft>
              <a:defRPr sz="1200">
                <a:solidFill>
                  <a:srgbClr val="0B1B2D"/>
                </a:solidFill>
              </a:defRPr>
            </a:pPr>
            <a:r>
              <a:t>• Lab memodelkan in-memory Store; pada RDBMS nyata overhead socket TCP memperparah bottleneck.</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N+1 query problem merupakan anti-pattern performa paling umum pada data access layer karena sifatnya yang tidak kasat mata pada volume data kecil. Ketika backend mengambil daftar entitas induk lalu menerbitkan query anak di dalam loop perulangan, jumlah round-trip jaringan meningkat secara linear O(N). Pada tahap development dengan segelintir data, eksekusi selesai sub-milidetik. Namun begitu memasuki lingkungan production dengan ratusan record, akumulasi latensi I/O dan perebutan connection pool akan langsung melumpuhkan throughput layanan.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N+1 is invisible until it hurts. Batch related queries, don't loop them.</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Arsitektur Tiga Layer Lab 22</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Store terisolasi, Repository data access, dan executable demo runner.</a:t>
            </a:r>
          </a:p>
        </p:txBody>
      </p:sp>
      <p:graphicFrame>
        <p:nvGraphicFramePr>
          <p:cNvPr id="6" name="Table 5"/>
          <p:cNvGraphicFramePr>
            <a:graphicFrameLocks noGrp="1"/>
          </p:cNvGraphicFramePr>
          <p:nvPr/>
        </p:nvGraphicFramePr>
        <p:xfrm>
          <a:off x="731520" y="1828800"/>
          <a:ext cx="5120640" cy="18288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Komponen</a:t>
                      </a:r>
                    </a:p>
                  </a:txBody>
                  <a:tcPr>
                    <a:solidFill>
                      <a:srgbClr val="0B1B2D"/>
                    </a:solidFill>
                  </a:tcPr>
                </a:tc>
                <a:tc>
                  <a:txBody>
                    <a:bodyPr/>
                    <a:lstStyle/>
                    <a:p>
                      <a:pPr>
                        <a:defRPr b="1" sz="1100">
                          <a:solidFill>
                            <a:srgbClr val="FFFFFF"/>
                          </a:solidFill>
                        </a:defRPr>
                      </a:pPr>
                      <a:r>
                        <a:t>Peran</a:t>
                      </a:r>
                    </a:p>
                  </a:txBody>
                  <a:tcPr>
                    <a:solidFill>
                      <a:srgbClr val="0B1B2D"/>
                    </a:solidFill>
                  </a:tcPr>
                </a:tc>
                <a:tc>
                  <a:txBody>
                    <a:bodyPr/>
                    <a:lstStyle/>
                    <a:p>
                      <a:pPr>
                        <a:defRPr b="1" sz="1100">
                          <a:solidFill>
                            <a:srgbClr val="FFFFFF"/>
                          </a:solidFill>
                        </a:defRPr>
                      </a:pPr>
                      <a:r>
                        <a:t>File Sumber</a:t>
                      </a:r>
                    </a:p>
                  </a:txBody>
                  <a:tcPr>
                    <a:solidFill>
                      <a:srgbClr val="0B1B2D"/>
                    </a:solidFill>
                  </a:tcPr>
                </a:tc>
              </a:tr>
              <a:tr h="457200">
                <a:tc>
                  <a:txBody>
                    <a:bodyPr/>
                    <a:lstStyle/>
                    <a:p>
                      <a:pPr>
                        <a:defRPr sz="1000">
                          <a:solidFill>
                            <a:srgbClr val="0B1B2D"/>
                          </a:solidFill>
                        </a:defRPr>
                      </a:pPr>
                      <a:r>
                        <a:t>Store</a:t>
                      </a:r>
                    </a:p>
                  </a:txBody>
                  <a:tcPr>
                    <a:solidFill>
                      <a:srgbClr val="FFFFFF"/>
                    </a:solidFill>
                  </a:tcPr>
                </a:tc>
                <a:tc>
                  <a:txBody>
                    <a:bodyPr/>
                    <a:lstStyle/>
                    <a:p>
                      <a:pPr>
                        <a:defRPr sz="1000">
                          <a:solidFill>
                            <a:srgbClr val="0B1B2D"/>
                          </a:solidFill>
                        </a:defRPr>
                      </a:pPr>
                      <a:r>
                        <a:t>Mock database thread-safe &amp; query counter</a:t>
                      </a:r>
                    </a:p>
                  </a:txBody>
                  <a:tcPr>
                    <a:solidFill>
                      <a:srgbClr val="FFFFFF"/>
                    </a:solidFill>
                  </a:tcPr>
                </a:tc>
                <a:tc>
                  <a:txBody>
                    <a:bodyPr/>
                    <a:lstStyle/>
                    <a:p>
                      <a:pPr>
                        <a:defRPr sz="1000">
                          <a:solidFill>
                            <a:srgbClr val="0B1B2D"/>
                          </a:solidFill>
                        </a:defRPr>
                      </a:pPr>
                      <a:r>
                        <a:t>internal/blog/store.go</a:t>
                      </a:r>
                    </a:p>
                  </a:txBody>
                  <a:tcPr>
                    <a:solidFill>
                      <a:srgbClr val="FFFFFF"/>
                    </a:solidFill>
                  </a:tcPr>
                </a:tc>
              </a:tr>
              <a:tr h="457200">
                <a:tc>
                  <a:txBody>
                    <a:bodyPr/>
                    <a:lstStyle/>
                    <a:p>
                      <a:pPr>
                        <a:defRPr sz="1000">
                          <a:solidFill>
                            <a:srgbClr val="0B1B2D"/>
                          </a:solidFill>
                        </a:defRPr>
                      </a:pPr>
                      <a:r>
                        <a:t>Repository</a:t>
                      </a:r>
                    </a:p>
                  </a:txBody>
                  <a:tcPr>
                    <a:solidFill>
                      <a:srgbClr val="FFFFFF"/>
                    </a:solidFill>
                  </a:tcPr>
                </a:tc>
                <a:tc>
                  <a:txBody>
                    <a:bodyPr/>
                    <a:lstStyle/>
                    <a:p>
                      <a:pPr>
                        <a:defRPr sz="1000">
                          <a:solidFill>
                            <a:srgbClr val="0B1B2D"/>
                          </a:solidFill>
                        </a:defRPr>
                      </a:pPr>
                      <a:r>
                        <a:t>Logika query Naive loop vs Eager batching</a:t>
                      </a:r>
                    </a:p>
                  </a:txBody>
                  <a:tcPr>
                    <a:solidFill>
                      <a:srgbClr val="FFFFFF"/>
                    </a:solidFill>
                  </a:tcPr>
                </a:tc>
                <a:tc>
                  <a:txBody>
                    <a:bodyPr/>
                    <a:lstStyle/>
                    <a:p>
                      <a:pPr>
                        <a:defRPr sz="1000">
                          <a:solidFill>
                            <a:srgbClr val="0B1B2D"/>
                          </a:solidFill>
                        </a:defRPr>
                      </a:pPr>
                      <a:r>
                        <a:t>internal/blog/repository.go</a:t>
                      </a:r>
                    </a:p>
                  </a:txBody>
                  <a:tcPr>
                    <a:solidFill>
                      <a:srgbClr val="FFFFFF"/>
                    </a:solidFill>
                  </a:tcPr>
                </a:tc>
              </a:tr>
              <a:tr h="457200">
                <a:tc>
                  <a:txBody>
                    <a:bodyPr/>
                    <a:lstStyle/>
                    <a:p>
                      <a:pPr>
                        <a:defRPr sz="1000">
                          <a:solidFill>
                            <a:srgbClr val="0B1B2D"/>
                          </a:solidFill>
                        </a:defRPr>
                      </a:pPr>
                      <a:r>
                        <a:t>Demo</a:t>
                      </a:r>
                    </a:p>
                  </a:txBody>
                  <a:tcPr>
                    <a:solidFill>
                      <a:srgbClr val="FFFFFF"/>
                    </a:solidFill>
                  </a:tcPr>
                </a:tc>
                <a:tc>
                  <a:txBody>
                    <a:bodyPr/>
                    <a:lstStyle/>
                    <a:p>
                      <a:pPr>
                        <a:defRPr sz="1000">
                          <a:solidFill>
                            <a:srgbClr val="0B1B2D"/>
                          </a:solidFill>
                        </a:defRPr>
                      </a:pPr>
                      <a:r>
                        <a:t>Eksekusi CLI &amp; verifikasi statistik I/O</a:t>
                      </a:r>
                    </a:p>
                  </a:txBody>
                  <a:tcPr>
                    <a:solidFill>
                      <a:srgbClr val="FFFFFF"/>
                    </a:solidFill>
                  </a:tcPr>
                </a:tc>
                <a:tc>
                  <a:txBody>
                    <a:bodyPr/>
                    <a:lstStyle/>
                    <a:p>
                      <a:pPr>
                        <a:defRPr sz="1000">
                          <a:solidFill>
                            <a:srgbClr val="0B1B2D"/>
                          </a:solidFill>
                        </a:defRPr>
                      </a:pPr>
                      <a:r>
                        <a:t>cmd/demo/main.go</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Arsitektur Lab 22 dibangun dengan pemisahan tanggung jawab yang ketat untuk mengisolasi pengukuran interaksi database. Paket Store bertindak sebagai mock database in-memory yang mencatat setiap operasi baca secara atomik melalui query counter thread-safe. Lapisan Repository mengonsumsi Store untuk menyediakan dua variasi endpoint data access: implementasi naive yang mengeksekusi query di dalam loop, serta implementasi eager yang melakukan batching via filter multi-ID. Pemisahan ini memungkinkan pengujian matematis yang deterministik tanpa dependensi eksternal.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Clean layer isolation enables precise query instrumentation and verification.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internal/blog/store.go • internal/blog/repository.go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Entitas Domain: Author dan Post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Relasi satu-ke-banyak (one-to-many) antara penulis blog dan artikelnya.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Author struct {</a:t>
            </a:r>
            <a:br/>
            <a:r>
              <a:t>    ID   int</a:t>
            </a:r>
            <a:br/>
            <a:r>
              <a:t>    Name string</a:t>
            </a:r>
            <a:br/>
            <a:r>
              <a:t>}</a:t>
            </a:r>
            <a:br/>
            <a:br/>
            <a:r>
              <a:t>type Post struct {</a:t>
            </a:r>
            <a:br/>
            <a:r>
              <a:t>    ID       int</a:t>
            </a:r>
            <a:br/>
            <a:r>
              <a:t>    AuthorID int</a:t>
            </a:r>
            <a:br/>
            <a:r>
              <a:t>    Title    string</a:t>
            </a:r>
            <a:br/>
            <a:r>
              <a:t>}</a:t>
            </a:r>
            <a:br/>
            <a:br/>
            <a:r>
              <a:t>type AuthorWithPosts struct {</a:t>
            </a:r>
            <a:br/>
            <a:r>
              <a:t>    Author Author</a:t>
            </a:r>
            <a:br/>
            <a:r>
              <a:t>    Posts  []Post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Model domain merepresentasikan kasus klasik relational data: satu Author memiliki banyak entitas Post melalui referensi AuthorID. Struktur komposit AuthorWithPosts menjadi agregat yang harus dikembalikan kepada consumer API. Pada relasi one-to-many seperti ini, keputusan arsitektural apakah relasi child diambil secara lazily per item atau secara batched akan menentukan total beban jaringan antara service backend dan database engine.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Aggregate roots must balance relation completeness with network round-trips.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internal/blog/models.go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Loop-Driven Data Retrieval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Mengambil data relasi child satu per satu di dalam perulangan entitas parent.</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(r *Repository) GetAuthorsWithPostsNPlusOne() []AuthorWithPosts {</a:t>
            </a:r>
            <a:br/>
            <a:r>
              <a:t>    authors := r.store.GetAllAuthors()</a:t>
            </a:r>
            <a:br/>
            <a:r>
              <a:t>    if len(authors) == 0 { return []AuthorWithPosts{} }</a:t>
            </a:r>
            <a:br/>
            <a:br/>
            <a:r>
              <a:t>    var result []AuthorWithPosts</a:t>
            </a:r>
            <a:br/>
            <a:r>
              <a:t>    for _, author := range authors {</a:t>
            </a:r>
            <a:br/>
            <a:r>
              <a:t>        posts := r.store.GetPostsByAuthorID(author.ID)</a:t>
            </a:r>
            <a:br/>
            <a:r>
              <a:t>        result = append(result, AuthorWithPosts{</a:t>
            </a:r>
            <a:br/>
            <a:r>
              <a:t>            Author: author,</a:t>
            </a:r>
            <a:br/>
            <a:r>
              <a:t>            Posts:  posts,</a:t>
            </a:r>
            <a:br/>
            <a:r>
              <a:t>        })</a:t>
            </a:r>
            <a:br/>
            <a:r>
              <a:t>    }</a:t>
            </a:r>
            <a:br/>
            <a:r>
              <a:t>    return result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naive pada GetAuthorsWithPostsNPlusOne memperlihatkan bagaimana kode yang tampak bersih dan intuitif dapat menyembunyikan bencana skalabilitas. Pertama, metode memanggil GetAllAuthors yang menghasilkan 1 query. Selanjutnya, perulangan for mengiterasi setiap author dan memanggil GetPostsByAuthorID secara individual. Jika terdapat N author, sistem memicu N query tambahan sehingga total query yang dieksekusi menjadi 1 + N. Pola loop-query ini sangat sering dihasilkan secara otomatis oleh mekanisme lazy loading bawaan ORM.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Querying inside loops turns iteration into cumulative network latency.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internal/blog/repository.go:13-28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Mengapa Slow Query Log Gagal Mendeteksi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query individual sangat cepat, tetapi total durasi request meledak.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TITIK BUTA DETEKSI</a:t>
            </a:r>
          </a:p>
          <a:p>
            <a:pPr>
              <a:spcAft>
                <a:spcPts val="400"/>
              </a:spcAft>
              <a:defRPr sz="1200">
                <a:solidFill>
                  <a:srgbClr val="0B1B2D"/>
                </a:solidFill>
              </a:defRPr>
            </a:pPr>
            <a:r>
              <a:t>• Slow query log hanya menandai eksekusi dengan durasi di atas ambang batas (mis. &gt;1000ms).</a:t>
            </a:r>
          </a:p>
          <a:p>
            <a:pPr>
              <a:spcAft>
                <a:spcPts val="400"/>
              </a:spcAft>
              <a:defRPr sz="1200">
                <a:solidFill>
                  <a:srgbClr val="0B1B2D"/>
                </a:solidFill>
              </a:defRPr>
            </a:pPr>
            <a:r>
              <a:t>• Query N+1 masing-masing berjalan sub-milidetik (&lt;1ms) karena memakai primary/foreign key index.</a:t>
            </a:r>
          </a:p>
          <a:p>
            <a:pPr>
              <a:spcAft>
                <a:spcPts val="400"/>
              </a:spcAft>
              <a:defRPr sz="1200">
                <a:solidFill>
                  <a:srgbClr val="0B1B2D"/>
                </a:solidFill>
              </a:defRPr>
            </a:pPr>
            <a:r>
              <a:t>• Database engine menganggap sistem bekerja normal tanpa anomali query berat.</a:t>
            </a:r>
          </a:p>
          <a:p>
            <a:pPr>
              <a:defRPr sz="1200" b="1">
                <a:solidFill>
                  <a:srgbClr val="087F76"/>
                </a:solidFill>
              </a:defRPr>
            </a:pPr>
            <a:r>
              <a:t>AKUMULASI WAKTU</a:t>
            </a:r>
          </a:p>
          <a:p>
            <a:pPr>
              <a:spcAft>
                <a:spcPts val="400"/>
              </a:spcAft>
              <a:defRPr sz="1200">
                <a:solidFill>
                  <a:srgbClr val="0B1B2D"/>
                </a:solidFill>
              </a:defRPr>
            </a:pPr>
            <a:r>
              <a:t>• Development: 3 author memicu 4 query, selesai dalam tempo &lt;5ms.</a:t>
            </a:r>
          </a:p>
          <a:p>
            <a:pPr>
              <a:spcAft>
                <a:spcPts val="400"/>
              </a:spcAft>
              <a:defRPr sz="1200">
                <a:solidFill>
                  <a:srgbClr val="0B1B2D"/>
                </a:solidFill>
              </a:defRPr>
            </a:pPr>
            <a:r>
              <a:t>• Production: 500 author memicu 501 query, menghabiskan waktu 2.4 detik.</a:t>
            </a:r>
          </a:p>
          <a:p>
            <a:pPr>
              <a:spcAft>
                <a:spcPts val="400"/>
              </a:spcAft>
              <a:defRPr sz="1200">
                <a:solidFill>
                  <a:srgbClr val="0B1B2D"/>
                </a:solidFill>
              </a:defRPr>
            </a:pPr>
            <a:r>
              <a:t>• Beban berpindah ke latency transfer jaringan dan serialisasi paket di aplikasi.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Mekanisme pemantauan database standar seperti slow query log dirancang untuk menangkap eksekusi query tunggal yang tidak efisien—misalnya akibat full table scan atau hilangnya index. Namun, query pada N+1 biasanya berupa pencarian sederhana berbasis index (WHERE author_id = ?) yang selesai dalam waktu 0.5 milidetik. Akibatnya, database engine mencatat performa normal tanpa ada alert. Beban justru terakumulasi pada latensi perjalanan paket bolak-balik di jaringan dan serialisasi data di application server.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Sub-millisecond individual queries can aggregate into multi-second latency.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Biaya Tersembunyi: Network Round-Trip Time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Overhead protokol, packet traversal, dan context switching aplikasi.</a:t>
            </a:r>
          </a:p>
        </p:txBody>
      </p:sp>
      <p:graphicFrame>
        <p:nvGraphicFramePr>
          <p:cNvPr id="6" name="Table 5"/>
          <p:cNvGraphicFramePr>
            <a:graphicFrameLocks noGrp="1"/>
          </p:cNvGraphicFramePr>
          <p:nvPr/>
        </p:nvGraphicFramePr>
        <p:xfrm>
          <a:off x="731520" y="1828800"/>
          <a:ext cx="5120640" cy="22860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Komponen Biaya</a:t>
                      </a:r>
                    </a:p>
                  </a:txBody>
                  <a:tcPr>
                    <a:solidFill>
                      <a:srgbClr val="0B1B2D"/>
                    </a:solidFill>
                  </a:tcPr>
                </a:tc>
                <a:tc>
                  <a:txBody>
                    <a:bodyPr/>
                    <a:lstStyle/>
                    <a:p>
                      <a:pPr>
                        <a:defRPr b="1" sz="1100">
                          <a:solidFill>
                            <a:srgbClr val="FFFFFF"/>
                          </a:solidFill>
                        </a:defRPr>
                      </a:pPr>
                      <a:r>
                        <a:t>1 Query Batch</a:t>
                      </a:r>
                    </a:p>
                  </a:txBody>
                  <a:tcPr>
                    <a:solidFill>
                      <a:srgbClr val="0B1B2D"/>
                    </a:solidFill>
                  </a:tcPr>
                </a:tc>
                <a:tc>
                  <a:txBody>
                    <a:bodyPr/>
                    <a:lstStyle/>
                    <a:p>
                      <a:pPr>
                        <a:defRPr b="1" sz="1100">
                          <a:solidFill>
                            <a:srgbClr val="FFFFFF"/>
                          </a:solidFill>
                        </a:defRPr>
                      </a:pPr>
                      <a:r>
                        <a:t>100 Query N+1</a:t>
                      </a:r>
                    </a:p>
                  </a:txBody>
                  <a:tcPr>
                    <a:solidFill>
                      <a:srgbClr val="0B1B2D"/>
                    </a:solidFill>
                  </a:tcPr>
                </a:tc>
              </a:tr>
              <a:tr h="457200">
                <a:tc>
                  <a:txBody>
                    <a:bodyPr/>
                    <a:lstStyle/>
                    <a:p>
                      <a:pPr>
                        <a:defRPr sz="1000">
                          <a:solidFill>
                            <a:srgbClr val="0B1B2D"/>
                          </a:solidFill>
                        </a:defRPr>
                      </a:pPr>
                      <a:r>
                        <a:t>Network RTT</a:t>
                      </a:r>
                    </a:p>
                  </a:txBody>
                  <a:tcPr>
                    <a:solidFill>
                      <a:srgbClr val="FFFFFF"/>
                    </a:solidFill>
                  </a:tcPr>
                </a:tc>
                <a:tc>
                  <a:txBody>
                    <a:bodyPr/>
                    <a:lstStyle/>
                    <a:p>
                      <a:pPr>
                        <a:defRPr sz="1000">
                          <a:solidFill>
                            <a:srgbClr val="0B1B2D"/>
                          </a:solidFill>
                        </a:defRPr>
                      </a:pPr>
                      <a:r>
                        <a:t>1 x 2ms = 2ms</a:t>
                      </a:r>
                    </a:p>
                  </a:txBody>
                  <a:tcPr>
                    <a:solidFill>
                      <a:srgbClr val="FFFFFF"/>
                    </a:solidFill>
                  </a:tcPr>
                </a:tc>
                <a:tc>
                  <a:txBody>
                    <a:bodyPr/>
                    <a:lstStyle/>
                    <a:p>
                      <a:pPr>
                        <a:defRPr sz="1000">
                          <a:solidFill>
                            <a:srgbClr val="0B1B2D"/>
                          </a:solidFill>
                        </a:defRPr>
                      </a:pPr>
                      <a:r>
                        <a:t>100 x 2ms = 200ms</a:t>
                      </a:r>
                    </a:p>
                  </a:txBody>
                  <a:tcPr>
                    <a:solidFill>
                      <a:srgbClr val="FFFFFF"/>
                    </a:solidFill>
                  </a:tcPr>
                </a:tc>
              </a:tr>
              <a:tr h="457200">
                <a:tc>
                  <a:txBody>
                    <a:bodyPr/>
                    <a:lstStyle/>
                    <a:p>
                      <a:pPr>
                        <a:defRPr sz="1000">
                          <a:solidFill>
                            <a:srgbClr val="0B1B2D"/>
                          </a:solidFill>
                        </a:defRPr>
                      </a:pPr>
                      <a:r>
                        <a:t>TCP Wire Overhead</a:t>
                      </a:r>
                    </a:p>
                  </a:txBody>
                  <a:tcPr>
                    <a:solidFill>
                      <a:srgbClr val="FFFFFF"/>
                    </a:solidFill>
                  </a:tcPr>
                </a:tc>
                <a:tc>
                  <a:txBody>
                    <a:bodyPr/>
                    <a:lstStyle/>
                    <a:p>
                      <a:pPr>
                        <a:defRPr sz="1000">
                          <a:solidFill>
                            <a:srgbClr val="0B1B2D"/>
                          </a:solidFill>
                        </a:defRPr>
                      </a:pPr>
                      <a:r>
                        <a:t>1 frame exchange</a:t>
                      </a:r>
                    </a:p>
                  </a:txBody>
                  <a:tcPr>
                    <a:solidFill>
                      <a:srgbClr val="FFFFFF"/>
                    </a:solidFill>
                  </a:tcPr>
                </a:tc>
                <a:tc>
                  <a:txBody>
                    <a:bodyPr/>
                    <a:lstStyle/>
                    <a:p>
                      <a:pPr>
                        <a:defRPr sz="1000">
                          <a:solidFill>
                            <a:srgbClr val="0B1B2D"/>
                          </a:solidFill>
                        </a:defRPr>
                      </a:pPr>
                      <a:r>
                        <a:t>100 frame exchanges</a:t>
                      </a:r>
                    </a:p>
                  </a:txBody>
                  <a:tcPr>
                    <a:solidFill>
                      <a:srgbClr val="FFFFFF"/>
                    </a:solidFill>
                  </a:tcPr>
                </a:tc>
              </a:tr>
              <a:tr h="457200">
                <a:tc>
                  <a:txBody>
                    <a:bodyPr/>
                    <a:lstStyle/>
                    <a:p>
                      <a:pPr>
                        <a:defRPr sz="1000">
                          <a:solidFill>
                            <a:srgbClr val="0B1B2D"/>
                          </a:solidFill>
                        </a:defRPr>
                      </a:pPr>
                      <a:r>
                        <a:t>DB Engine Parsing</a:t>
                      </a:r>
                    </a:p>
                  </a:txBody>
                  <a:tcPr>
                    <a:solidFill>
                      <a:srgbClr val="FFFFFF"/>
                    </a:solidFill>
                  </a:tcPr>
                </a:tc>
                <a:tc>
                  <a:txBody>
                    <a:bodyPr/>
                    <a:lstStyle/>
                    <a:p>
                      <a:pPr>
                        <a:defRPr sz="1000">
                          <a:solidFill>
                            <a:srgbClr val="0B1B2D"/>
                          </a:solidFill>
                        </a:defRPr>
                      </a:pPr>
                      <a:r>
                        <a:t>1x AST parse</a:t>
                      </a:r>
                    </a:p>
                  </a:txBody>
                  <a:tcPr>
                    <a:solidFill>
                      <a:srgbClr val="FFFFFF"/>
                    </a:solidFill>
                  </a:tcPr>
                </a:tc>
                <a:tc>
                  <a:txBody>
                    <a:bodyPr/>
                    <a:lstStyle/>
                    <a:p>
                      <a:pPr>
                        <a:defRPr sz="1000">
                          <a:solidFill>
                            <a:srgbClr val="0B1B2D"/>
                          </a:solidFill>
                        </a:defRPr>
                      </a:pPr>
                      <a:r>
                        <a:t>100x AST parse</a:t>
                      </a:r>
                    </a:p>
                  </a:txBody>
                  <a:tcPr>
                    <a:solidFill>
                      <a:srgbClr val="FFFFFF"/>
                    </a:solidFill>
                  </a:tcPr>
                </a:tc>
              </a:tr>
              <a:tr h="457200">
                <a:tc>
                  <a:txBody>
                    <a:bodyPr/>
                    <a:lstStyle/>
                    <a:p>
                      <a:pPr>
                        <a:defRPr sz="1000">
                          <a:solidFill>
                            <a:srgbClr val="0B1B2D"/>
                          </a:solidFill>
                        </a:defRPr>
                      </a:pPr>
                      <a:r>
                        <a:t>App Context Switch</a:t>
                      </a:r>
                    </a:p>
                  </a:txBody>
                  <a:tcPr>
                    <a:solidFill>
                      <a:srgbClr val="FFFFFF"/>
                    </a:solidFill>
                  </a:tcPr>
                </a:tc>
                <a:tc>
                  <a:txBody>
                    <a:bodyPr/>
                    <a:lstStyle/>
                    <a:p>
                      <a:pPr>
                        <a:defRPr sz="1000">
                          <a:solidFill>
                            <a:srgbClr val="0B1B2D"/>
                          </a:solidFill>
                        </a:defRPr>
                      </a:pPr>
                      <a:r>
                        <a:t>Minimal</a:t>
                      </a:r>
                    </a:p>
                  </a:txBody>
                  <a:tcPr>
                    <a:solidFill>
                      <a:srgbClr val="FFFFFF"/>
                    </a:solidFill>
                  </a:tcPr>
                </a:tc>
                <a:tc>
                  <a:txBody>
                    <a:bodyPr/>
                    <a:lstStyle/>
                    <a:p>
                      <a:pPr>
                        <a:defRPr sz="1000">
                          <a:solidFill>
                            <a:srgbClr val="0B1B2D"/>
                          </a:solidFill>
                        </a:defRPr>
                      </a:pPr>
                      <a:r>
                        <a:t>Sangat tinggi (100x I/O)</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aplikasi berkomunikasi dengan database melalui jaringan TCP, setiap query harus menanggung biaya Round-Trip Time (RTT), handshake protocol packet, context switching, serta parsing SQL abstract syntax tree di sisi database. Pada topologi cloud modern di mana database berada di server terpisah, RTT tipikal berkisar antara 1 hingga 5 milidetik. Menjalankan 100 query terpisah berarti membuang minimal 200 hingga 500 milidetik murni hanya untuk waktu transit paket jaringan, terlepas dari seberapa cepat mesin database mengeksekusinya.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Network round-trips dominate relational latency over raw query execution.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labs/22-n-plus-one-query-problem/research/03-evidence.md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Bahaya Connection Pool Exhaustion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Rentetan query berurutan menahan koneksi dan memicu antrean thread backend.</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SEQUENTIAL HOLD</a:t>
            </a:r>
          </a:p>
          <a:p>
            <a:pPr>
              <a:spcAft>
                <a:spcPts val="400"/>
              </a:spcAft>
              <a:defRPr sz="1200">
                <a:solidFill>
                  <a:srgbClr val="0B1B2D"/>
                </a:solidFill>
              </a:defRPr>
            </a:pPr>
            <a:r>
              <a:t>• Satu HTTP worker menahan koneksi database selama seluruh siklus iterasi loop N.</a:t>
            </a:r>
          </a:p>
          <a:p>
            <a:pPr>
              <a:spcAft>
                <a:spcPts val="400"/>
              </a:spcAft>
              <a:defRPr sz="1200">
                <a:solidFill>
                  <a:srgbClr val="0B1B2D"/>
                </a:solidFill>
              </a:defRPr>
            </a:pPr>
            <a:r>
              <a:t>• Koneksi tidak dapat dipakai oleh worker lain hingga iterasi terakhir selesai.</a:t>
            </a:r>
          </a:p>
          <a:p>
            <a:pPr>
              <a:defRPr sz="1200" b="1">
                <a:solidFill>
                  <a:srgbClr val="087F76"/>
                </a:solidFill>
              </a:defRPr>
            </a:pPr>
            <a:r>
              <a:t>POOL STARVATION</a:t>
            </a:r>
          </a:p>
          <a:p>
            <a:pPr>
              <a:spcAft>
                <a:spcPts val="400"/>
              </a:spcAft>
              <a:defRPr sz="1200">
                <a:solidFill>
                  <a:srgbClr val="0B1B2D"/>
                </a:solidFill>
              </a:defRPr>
            </a:pPr>
            <a:r>
              <a:t>• Kenaikan concurrency membuat kapasitas connection pool langsung habis (exhausted).</a:t>
            </a:r>
          </a:p>
          <a:p>
            <a:pPr>
              <a:spcAft>
                <a:spcPts val="400"/>
              </a:spcAft>
              <a:defRPr sz="1200">
                <a:solidFill>
                  <a:srgbClr val="0B1B2D"/>
                </a:solidFill>
              </a:defRPr>
            </a:pPr>
            <a:r>
              <a:t>• Request baru mengalami blocking queue di pool dan berakhir dengan gateway timeout (504).</a:t>
            </a:r>
          </a:p>
          <a:p>
            <a:pPr>
              <a:defRPr sz="1200" b="1">
                <a:solidFill>
                  <a:srgbClr val="087F76"/>
                </a:solidFill>
              </a:defRPr>
            </a:pPr>
            <a:r>
              <a:t>CASCADING FAILURE</a:t>
            </a:r>
          </a:p>
          <a:p>
            <a:pPr>
              <a:spcAft>
                <a:spcPts val="400"/>
              </a:spcAft>
              <a:defRPr sz="1200">
                <a:solidFill>
                  <a:srgbClr val="0B1B2D"/>
                </a:solidFill>
              </a:defRPr>
            </a:pPr>
            <a:r>
              <a:t>• Satu endpoint lambat melumpuhkan seluruh service yang berbagi connection pool database.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Dampak sistemik paling destruktif dari N+1 query problem adalah pengurasan connection pool (connection pool starvation). Dalam arsitektur pooling standar, satu thread web request meminjam koneksi database dan menahannya selama iterasi berlangsung. Jika 50 request konkuren masing-masing membutuhkan 100 query berurutan, pool database yang berkapasitas 20 koneksi akan langsung tersaturasi. Request lain yang membutuhkan query kilat 2 milidetik terpaksa mengantre di queue pool hingga timeout, menyebabkan kegagalan berantai di seluruh layanan.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Sequential queries monopolize connection pools and trigger cascading timeouts.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Solusi Eager Loading: Pola Batch Data Retrieval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Ekstraksi seluruh identifier relasi sebelum mengirim satu query gabungan.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ALUR 4 TAHAP EAGER BATCHING</a:t>
            </a:r>
          </a:p>
          <a:p>
            <a:pPr>
              <a:spcAft>
                <a:spcPts val="400"/>
              </a:spcAft>
              <a:defRPr sz="1200">
                <a:solidFill>
                  <a:srgbClr val="0B1B2D"/>
                </a:solidFill>
              </a:defRPr>
            </a:pPr>
            <a:r>
              <a:t>TAHAP 1: Ambil Parent ── GetAllAuthors() → [ID: 1, 2, 3] (Query #1)</a:t>
            </a:r>
          </a:p>
          <a:p>
            <a:pPr>
              <a:spcAft>
                <a:spcPts val="400"/>
              </a:spcAft>
              <a:defRPr sz="1200">
                <a:solidFill>
                  <a:srgbClr val="0B1B2D"/>
                </a:solidFill>
              </a:defRPr>
            </a:pPr>
            <a:r>
              <a:t>• TAHAP 2: Ekstraksi Kunci ── authorIDs = [1, 2, 3] di memori</a:t>
            </a:r>
          </a:p>
          <a:p>
            <a:pPr>
              <a:spcAft>
                <a:spcPts val="400"/>
              </a:spcAft>
              <a:defRPr sz="1200">
                <a:solidFill>
                  <a:srgbClr val="0B1B2D"/>
                </a:solidFill>
              </a:defRPr>
            </a:pPr>
            <a:r>
              <a:t>• TAHAP 3: Ambil Child Sekaligus ── GetPostsByAuthorIDs([1, 2, 3]) (Query #2)</a:t>
            </a:r>
          </a:p>
          <a:p>
            <a:pPr>
              <a:spcAft>
                <a:spcPts val="400"/>
              </a:spcAft>
              <a:defRPr sz="1200">
                <a:solidFill>
                  <a:srgbClr val="0B1B2D"/>
                </a:solidFill>
              </a:defRPr>
            </a:pPr>
            <a:r>
              <a:t>• TAHAP 4: Asosiasi Memori ── Kelompokkan posts ke author via map[int][]Post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utama penyelesaian N+1 adalah memisahkan fase pengumpulan kebutuhan data dari fase eksekusi query database. Pendekatan eager batching membaca seluruh parent record terlebih dahulu, mengekstrak seluruh primary key yang relevan ke dalam slice memori, lalu menerbitkan satu query tunggal untuk mengambil seluruh child record yang cocok. Dengan pola ini, terlepas dari apakah terdapat 3, 50, atau 1000 author, jumlah interaksi database dipangkas secara drastis menjadi tepat dua query I/O.</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Batch before you iterate: decouple query planning from data association.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internal/blog/repository.go:30-58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Query Batching di Sisi Store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Memanfaatkan hash lookup dan filter multi-ID untuk mengambil child records.</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(s *Store) GetPostsByAuthorIDs(authorIDs []int) []Post {</a:t>
            </a:r>
            <a:br/>
            <a:r>
              <a:t>    s.mu.Lock()</a:t>
            </a:r>
            <a:br/>
            <a:r>
              <a:t>    defer s.mu.Unlock()</a:t>
            </a:r>
            <a:br/>
            <a:r>
              <a:t>    s.queryCount++</a:t>
            </a:r>
            <a:br/>
            <a:br/>
            <a:r>
              <a:t>    idMap := make(map[int]bool)</a:t>
            </a:r>
            <a:br/>
            <a:r>
              <a:t>    for _, id := range authorIDs { idMap[id] = true }</a:t>
            </a:r>
            <a:br/>
            <a:br/>
            <a:r>
              <a:t>    var result []Post</a:t>
            </a:r>
            <a:br/>
            <a:r>
              <a:t>    for _, p := range s.posts {</a:t>
            </a:r>
            <a:br/>
            <a:r>
              <a:t>        if idMap[p.AuthorID] {</a:t>
            </a:r>
            <a:br/>
            <a:r>
              <a:t>            result = append(result, p)</a:t>
            </a:r>
            <a:br/>
            <a:r>
              <a:t>        }</a:t>
            </a:r>
            <a:br/>
            <a:r>
              <a:t>    }</a:t>
            </a:r>
            <a:br/>
            <a:r>
              <a:t>    return result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Di level Store, metode GetPostsByAuthorIDs merepresentasikan eksekusi klausa SQL WHERE author_id IN (...). Implementasi in-memory membangun idMap untuk lookup cepat bertipe O(1) sebelum memfilter koleksi posts. Yang paling krusial: fungsi ini hanya menaikkan counter queryCount sebanyak tepat 1 kali untuk seluruh daftar authorIDs. Di sistem produksi, operasi ini diterjemahkan menjadi satu perintah SQL dengan transmisi payload tunggal, menghemat 99% overhead protokol database.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single set-based filter replaces hundreds of point lookups.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internal/blog/store.go:63-80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In-Memory Map Grouping pada Layer Aplikasi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Mengelompokkan hasil batch ke dalam hash map untuk asosiasi instan O(1).</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1. Kelompokkan posts berdasarkan author ID</a:t>
            </a:r>
            <a:br/>
            <a:r>
              <a:t>postsByAuthor := make(map[int][]Post)</a:t>
            </a:r>
            <a:br/>
            <a:r>
              <a:t>for _, post := range allPosts {</a:t>
            </a:r>
            <a:br/>
            <a:r>
              <a:t>    postsByAuthor[post.AuthorID] = append(</a:t>
            </a:r>
            <a:br/>
            <a:r>
              <a:t>        postsByAuthor[post.AuthorID], post)</a:t>
            </a:r>
            <a:br/>
            <a:r>
              <a:t>}</a:t>
            </a:r>
            <a:br/>
            <a:br/>
            <a:r>
              <a:t>// 2. Susun agregat akhir dengan pencarian O(1)</a:t>
            </a:r>
            <a:br/>
            <a:r>
              <a:t>var result []AuthorWithPosts</a:t>
            </a:r>
            <a:br/>
            <a:r>
              <a:t>for _, author := range authors {</a:t>
            </a:r>
            <a:br/>
            <a:r>
              <a:t>    result = append(result, AuthorWithPosts{</a:t>
            </a:r>
            <a:br/>
            <a:r>
              <a:t>        Author: author,</a:t>
            </a:r>
            <a:br/>
            <a:r>
              <a:t>        Posts:  postsByAuthor[author.ID],</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Tantangan setelah mengambil sekumpulan child records adalah merekonstruksi relasi hierarkis ke entitas parent aslinya. Solusi optimal di level aplikasi adalah mengelompokkan hasil batch ke dalam tabel hash lokal map[int][]Post dengan key berupa foreign key AuthorID. Iterasi rekonstruksi kemudian hanya membutuhkan pencarian hash O(1) untuk menyematkan slice posts ke masing-masing author. Menghindari nested loop di memori menjamin kompleksitas waktu pemrosesan aplikasi tetap linear O(N + 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Group child entities in memory to preserve O(1) relational association.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internal/blog/repository.go:45-56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Komparasi Kuantitatif Kompleksitas Sistem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Transformasi kompleksitas I/O dari ketergantungan data O(N) ke deterministik O(1).</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Parameter</a:t>
                      </a:r>
                    </a:p>
                  </a:txBody>
                  <a:tcPr>
                    <a:solidFill>
                      <a:srgbClr val="0B1B2D"/>
                    </a:solidFill>
                  </a:tcPr>
                </a:tc>
                <a:tc>
                  <a:txBody>
                    <a:bodyPr/>
                    <a:lstStyle/>
                    <a:p>
                      <a:pPr>
                        <a:defRPr b="1" sz="1100">
                          <a:solidFill>
                            <a:srgbClr val="FFFFFF"/>
                          </a:solidFill>
                        </a:defRPr>
                      </a:pPr>
                      <a:r>
                        <a:t>Naive (Loop)</a:t>
                      </a:r>
                    </a:p>
                  </a:txBody>
                  <a:tcPr>
                    <a:solidFill>
                      <a:srgbClr val="0B1B2D"/>
                    </a:solidFill>
                  </a:tcPr>
                </a:tc>
                <a:tc>
                  <a:txBody>
                    <a:bodyPr/>
                    <a:lstStyle/>
                    <a:p>
                      <a:pPr>
                        <a:defRPr b="1" sz="1100">
                          <a:solidFill>
                            <a:srgbClr val="FFFFFF"/>
                          </a:solidFill>
                        </a:defRPr>
                      </a:pPr>
                      <a:r>
                        <a:t>Eager (Batch)</a:t>
                      </a:r>
                    </a:p>
                  </a:txBody>
                  <a:tcPr>
                    <a:solidFill>
                      <a:srgbClr val="0B1B2D"/>
                    </a:solidFill>
                  </a:tcPr>
                </a:tc>
              </a:tr>
              <a:tr h="457200">
                <a:tc>
                  <a:txBody>
                    <a:bodyPr/>
                    <a:lstStyle/>
                    <a:p>
                      <a:pPr>
                        <a:defRPr sz="1000">
                          <a:solidFill>
                            <a:srgbClr val="0B1B2D"/>
                          </a:solidFill>
                        </a:defRPr>
                      </a:pPr>
                      <a:r>
                        <a:t>Query Count</a:t>
                      </a:r>
                    </a:p>
                  </a:txBody>
                  <a:tcPr>
                    <a:solidFill>
                      <a:srgbClr val="FFFFFF"/>
                    </a:solidFill>
                  </a:tcPr>
                </a:tc>
                <a:tc>
                  <a:txBody>
                    <a:bodyPr/>
                    <a:lstStyle/>
                    <a:p>
                      <a:pPr>
                        <a:defRPr sz="1000">
                          <a:solidFill>
                            <a:srgbClr val="0B1B2D"/>
                          </a:solidFill>
                        </a:defRPr>
                      </a:pPr>
                      <a:r>
                        <a:t>1 + N (Linear)</a:t>
                      </a:r>
                    </a:p>
                  </a:txBody>
                  <a:tcPr>
                    <a:solidFill>
                      <a:srgbClr val="FFFFFF"/>
                    </a:solidFill>
                  </a:tcPr>
                </a:tc>
                <a:tc>
                  <a:txBody>
                    <a:bodyPr/>
                    <a:lstStyle/>
                    <a:p>
                      <a:pPr>
                        <a:defRPr sz="1000">
                          <a:solidFill>
                            <a:srgbClr val="0B1B2D"/>
                          </a:solidFill>
                        </a:defRPr>
                      </a:pPr>
                      <a:r>
                        <a:t>1 + 1 (Konstan 2)</a:t>
                      </a:r>
                    </a:p>
                  </a:txBody>
                  <a:tcPr>
                    <a:solidFill>
                      <a:srgbClr val="FFFFFF"/>
                    </a:solidFill>
                  </a:tcPr>
                </a:tc>
              </a:tr>
              <a:tr h="457200">
                <a:tc>
                  <a:txBody>
                    <a:bodyPr/>
                    <a:lstStyle/>
                    <a:p>
                      <a:pPr>
                        <a:defRPr sz="1000">
                          <a:solidFill>
                            <a:srgbClr val="0B1B2D"/>
                          </a:solidFill>
                        </a:defRPr>
                      </a:pPr>
                      <a:r>
                        <a:t>Kompleksitas I/O</a:t>
                      </a:r>
                    </a:p>
                  </a:txBody>
                  <a:tcPr>
                    <a:solidFill>
                      <a:srgbClr val="FFFFFF"/>
                    </a:solidFill>
                  </a:tcPr>
                </a:tc>
                <a:tc>
                  <a:txBody>
                    <a:bodyPr/>
                    <a:lstStyle/>
                    <a:p>
                      <a:pPr>
                        <a:defRPr sz="1000">
                          <a:solidFill>
                            <a:srgbClr val="0B1B2D"/>
                          </a:solidFill>
                        </a:defRPr>
                      </a:pPr>
                      <a:r>
                        <a:t>O(N) relatif record</a:t>
                      </a:r>
                    </a:p>
                  </a:txBody>
                  <a:tcPr>
                    <a:solidFill>
                      <a:srgbClr val="FFFFFF"/>
                    </a:solidFill>
                  </a:tcPr>
                </a:tc>
                <a:tc>
                  <a:txBody>
                    <a:bodyPr/>
                    <a:lstStyle/>
                    <a:p>
                      <a:pPr>
                        <a:defRPr sz="1000">
                          <a:solidFill>
                            <a:srgbClr val="0B1B2D"/>
                          </a:solidFill>
                        </a:defRPr>
                      </a:pPr>
                      <a:r>
                        <a:t>O(1) relatif record</a:t>
                      </a:r>
                    </a:p>
                  </a:txBody>
                  <a:tcPr>
                    <a:solidFill>
                      <a:srgbClr val="FFFFFF"/>
                    </a:solidFill>
                  </a:tcPr>
                </a:tc>
              </a:tr>
              <a:tr h="457200">
                <a:tc>
                  <a:txBody>
                    <a:bodyPr/>
                    <a:lstStyle/>
                    <a:p>
                      <a:pPr>
                        <a:defRPr sz="1000">
                          <a:solidFill>
                            <a:srgbClr val="0B1B2D"/>
                          </a:solidFill>
                        </a:defRPr>
                      </a:pPr>
                      <a:r>
                        <a:t>Data Transfer</a:t>
                      </a:r>
                    </a:p>
                  </a:txBody>
                  <a:tcPr>
                    <a:solidFill>
                      <a:srgbClr val="FFFFFF"/>
                    </a:solidFill>
                  </a:tcPr>
                </a:tc>
                <a:tc>
                  <a:txBody>
                    <a:bodyPr/>
                    <a:lstStyle/>
                    <a:p>
                      <a:pPr>
                        <a:defRPr sz="1000">
                          <a:solidFill>
                            <a:srgbClr val="0B1B2D"/>
                          </a:solidFill>
                        </a:defRPr>
                      </a:pPr>
                      <a:r>
                        <a:t>Header repetitif</a:t>
                      </a:r>
                    </a:p>
                  </a:txBody>
                  <a:tcPr>
                    <a:solidFill>
                      <a:srgbClr val="FFFFFF"/>
                    </a:solidFill>
                  </a:tcPr>
                </a:tc>
                <a:tc>
                  <a:txBody>
                    <a:bodyPr/>
                    <a:lstStyle/>
                    <a:p>
                      <a:pPr>
                        <a:defRPr sz="1000">
                          <a:solidFill>
                            <a:srgbClr val="0B1B2D"/>
                          </a:solidFill>
                        </a:defRPr>
                      </a:pPr>
                      <a:r>
                        <a:t>Single packet payload</a:t>
                      </a:r>
                    </a:p>
                  </a:txBody>
                  <a:tcPr>
                    <a:solidFill>
                      <a:srgbClr val="FFFFFF"/>
                    </a:solidFill>
                  </a:tcPr>
                </a:tc>
              </a:tr>
              <a:tr h="457200">
                <a:tc>
                  <a:txBody>
                    <a:bodyPr/>
                    <a:lstStyle/>
                    <a:p>
                      <a:pPr>
                        <a:defRPr sz="1000">
                          <a:solidFill>
                            <a:srgbClr val="0B1B2D"/>
                          </a:solidFill>
                        </a:defRPr>
                      </a:pPr>
                      <a:r>
                        <a:t>Memory Allocation</a:t>
                      </a:r>
                    </a:p>
                  </a:txBody>
                  <a:tcPr>
                    <a:solidFill>
                      <a:srgbClr val="FFFFFF"/>
                    </a:solidFill>
                  </a:tcPr>
                </a:tc>
                <a:tc>
                  <a:txBody>
                    <a:bodyPr/>
                    <a:lstStyle/>
                    <a:p>
                      <a:pPr>
                        <a:defRPr sz="1000">
                          <a:solidFill>
                            <a:srgbClr val="0B1B2D"/>
                          </a:solidFill>
                        </a:defRPr>
                      </a:pPr>
                      <a:r>
                        <a:t>Fragmented allocations</a:t>
                      </a:r>
                    </a:p>
                  </a:txBody>
                  <a:tcPr>
                    <a:solidFill>
                      <a:srgbClr val="FFFFFF"/>
                    </a:solidFill>
                  </a:tcPr>
                </a:tc>
                <a:tc>
                  <a:txBody>
                    <a:bodyPr/>
                    <a:lstStyle/>
                    <a:p>
                      <a:pPr>
                        <a:defRPr sz="1000">
                          <a:solidFill>
                            <a:srgbClr val="0B1B2D"/>
                          </a:solidFill>
                        </a:defRPr>
                      </a:pPr>
                      <a:r>
                        <a:t>Single pre-sized buffer</a:t>
                      </a:r>
                    </a:p>
                  </a:txBody>
                  <a:tcPr>
                    <a:solidFill>
                      <a:srgbClr val="FFFFFF"/>
                    </a:solidFill>
                  </a:tcPr>
                </a:tc>
              </a:tr>
              <a:tr h="457200">
                <a:tc>
                  <a:txBody>
                    <a:bodyPr/>
                    <a:lstStyle/>
                    <a:p>
                      <a:pPr>
                        <a:defRPr sz="1000">
                          <a:solidFill>
                            <a:srgbClr val="0B1B2D"/>
                          </a:solidFill>
                        </a:defRPr>
                      </a:pPr>
                      <a:r>
                        <a:t>Network RTT</a:t>
                      </a:r>
                    </a:p>
                  </a:txBody>
                  <a:tcPr>
                    <a:solidFill>
                      <a:srgbClr val="FFFFFF"/>
                    </a:solidFill>
                  </a:tcPr>
                </a:tc>
                <a:tc>
                  <a:txBody>
                    <a:bodyPr/>
                    <a:lstStyle/>
                    <a:p>
                      <a:pPr>
                        <a:defRPr sz="1000">
                          <a:solidFill>
                            <a:srgbClr val="0B1B2D"/>
                          </a:solidFill>
                        </a:defRPr>
                      </a:pPr>
                      <a:r>
                        <a:t>N + 1 round-trips</a:t>
                      </a:r>
                    </a:p>
                  </a:txBody>
                  <a:tcPr>
                    <a:solidFill>
                      <a:srgbClr val="FFFFFF"/>
                    </a:solidFill>
                  </a:tcPr>
                </a:tc>
                <a:tc>
                  <a:txBody>
                    <a:bodyPr/>
                    <a:lstStyle/>
                    <a:p>
                      <a:pPr>
                        <a:defRPr sz="1000">
                          <a:solidFill>
                            <a:srgbClr val="0B1B2D"/>
                          </a:solidFill>
                        </a:defRPr>
                      </a:pPr>
                      <a:r>
                        <a:t>2 round-trips</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komparasi menggarisbawahi perubahan fundamental pada profil operasional sistem. Dalam pendekatan loop-driven, kompleksitas I/O bersifat O(N), yang berarti setiap penambahan data author di database secara langsung meningkatkan beban I/O jaringan. Sebaliknya, pendekatan eager loading menurunkan kompleksitas interaksi database menjadi O(1) relatif terhadap jumlah baris data—hanya bertambah jika terdapat entitas relasi tambahan (O(k) di mana k adalah jumlah entitas relasional). Ini menghasilkan stabilitas throughput yang terprediksi.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Shift complexity from database network I/O into deterministic in-memory grouping.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SQL Translation: IN Clause vs Single JOIN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Membandingkan strategi batch query terpisah versus query tunggal dengan JOIN.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Strategi 1: Batching (Dua Query Terpisah)</a:t>
            </a:r>
            <a:br/>
            <a:r>
              <a:t>SELECT id, name FROM authors;</a:t>
            </a:r>
            <a:br/>
            <a:r>
              <a:t>SELECT id, author_id, title FROM posts</a:t>
            </a:r>
            <a:br/>
            <a:r>
              <a:t>WHERE author_id IN (1, 2, 3);</a:t>
            </a:r>
            <a:br/>
            <a:br/>
            <a:r>
              <a:t>-- Strategi 2: Single JOIN (Satu Query Tunggal)</a:t>
            </a:r>
            <a:br/>
            <a:r>
              <a:t>SELECT a.id, a.name, p.id, p.title</a:t>
            </a:r>
            <a:br/>
            <a:r>
              <a:t>FROM authors a</a:t>
            </a:r>
            <a:br/>
            <a:r>
              <a:t>LEFT JOIN posts p ON a.id = p.author_id;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Dalam dunia RDBMS, terdapat dua pendekatan utama untuk eager loading: dua query terpisah menggunakan klausa IN (split queries), atau satu query tunggal menggunakan LEFT JOIN. Meskipun single JOIN terdengar menggoda karena hanya membutuhkan 1 query, teknik ini menduplikasi data kolom parent pada setiap baris hasil child yang dikembalikan. Pada relasi one-to-many dengan kolom teks besar, duplikasi ini memboroskan bandwidth jaringan. Split queries via IN clause umumnya menjadi pilihan default ORM modern karena lebih efisien terhadap memori.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Split batch queries avoid parent column duplication inherent in wide JOINs.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labs/22-n-plus-one-query-problem/research/03-evidence.md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Parameter IN Clause pada RDBMS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Batas maksimum parameter dan overhead parsing abstract syntax tree database.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BATASAN PARAMETER</a:t>
            </a:r>
          </a:p>
          <a:p>
            <a:pPr>
              <a:spcAft>
                <a:spcPts val="400"/>
              </a:spcAft>
              <a:defRPr sz="1200">
                <a:solidFill>
                  <a:srgbClr val="0B1B2D"/>
                </a:solidFill>
              </a:defRPr>
            </a:pPr>
            <a:r>
              <a:t>• PostgreSQL &amp; SQLite memiliki limit bind parameter (mis. 65,535 atau 999 parameter).</a:t>
            </a:r>
          </a:p>
          <a:p>
            <a:pPr>
              <a:spcAft>
                <a:spcPts val="400"/>
              </a:spcAft>
              <a:defRPr sz="1200">
                <a:solidFill>
                  <a:srgbClr val="0B1B2D"/>
                </a:solidFill>
              </a:defRPr>
            </a:pPr>
            <a:r>
              <a:t>• Melebihi batas ini menyebabkan error query execution langsung dari driver database.</a:t>
            </a:r>
          </a:p>
          <a:p>
            <a:pPr>
              <a:defRPr sz="1200" b="1">
                <a:solidFill>
                  <a:srgbClr val="087F76"/>
                </a:solidFill>
              </a:defRPr>
            </a:pPr>
            <a:r>
              <a:t>OVERHEAD PARSER</a:t>
            </a:r>
          </a:p>
          <a:p>
            <a:pPr>
              <a:spcAft>
                <a:spcPts val="400"/>
              </a:spcAft>
              <a:defRPr sz="1200">
                <a:solidFill>
                  <a:srgbClr val="0B1B2D"/>
                </a:solidFill>
              </a:defRPr>
            </a:pPr>
            <a:r>
              <a:t>• Statement SQL dengan ribuan literal ID membebani query planner dan parser CPU.</a:t>
            </a:r>
          </a:p>
          <a:p>
            <a:pPr>
              <a:spcAft>
                <a:spcPts val="400"/>
              </a:spcAft>
              <a:defRPr sz="1200">
                <a:solidFill>
                  <a:srgbClr val="0B1B2D"/>
                </a:solidFill>
              </a:defRPr>
            </a:pPr>
            <a:r>
              <a:t>• Waktu penyusunan AST di engine database dapat melebihi waktu eksekusi indeks.</a:t>
            </a:r>
          </a:p>
          <a:p>
            <a:pPr>
              <a:defRPr sz="1200" b="1">
                <a:solidFill>
                  <a:srgbClr val="087F76"/>
                </a:solidFill>
              </a:defRPr>
            </a:pPr>
            <a:r>
              <a:t>CHUNKED BATCHING</a:t>
            </a:r>
          </a:p>
          <a:p>
            <a:pPr>
              <a:spcAft>
                <a:spcPts val="400"/>
              </a:spcAft>
              <a:defRPr sz="1200">
                <a:solidFill>
                  <a:srgbClr val="0B1B2D"/>
                </a:solidFill>
              </a:defRPr>
            </a:pPr>
            <a:r>
              <a:t>• Pecah daftar ID besar menjadi chunk terkendali (misal 200–500 ID per batch query).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Batching menggunakan klausa IN bukan tanpa batas. Database engine memiliki batasan terhadap jumlah parameter bind dalam satu statement (misalnya batas 65.535 parameter pada PostgreSQL atau 999 pada SQLite versi terdahulu). Lebih jauh lagi, statement SQL dengan ribuan literal parameter memaksa query planner menghabiskan waktu CPU berharga hanya untuk mem-parsing sintaks string query. Oleh karena itu, pada skala data masif, aplikasi wajib menerapkan teknik chunked batching—memecah daftar ID menjadi batch terkendali (misal 500 ID per batch).</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Unbounded IN clauses choke SQL parsers: chunk bulk IDs into manageable sizes.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Bahaya Cartesian Product Explosion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Risiko ekspansi baris berlipat ganda saat melakukan eager JOIN multi-relasi.</a:t>
            </a:r>
          </a:p>
        </p:txBody>
      </p:sp>
      <p:graphicFrame>
        <p:nvGraphicFramePr>
          <p:cNvPr id="6" name="Table 5"/>
          <p:cNvGraphicFramePr>
            <a:graphicFrameLocks noGrp="1"/>
          </p:cNvGraphicFramePr>
          <p:nvPr/>
        </p:nvGraphicFramePr>
        <p:xfrm>
          <a:off x="731520" y="1828800"/>
          <a:ext cx="5120640" cy="22860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Tingkat Relasi</a:t>
                      </a:r>
                    </a:p>
                  </a:txBody>
                  <a:tcPr>
                    <a:solidFill>
                      <a:srgbClr val="0B1B2D"/>
                    </a:solidFill>
                  </a:tcPr>
                </a:tc>
                <a:tc>
                  <a:txBody>
                    <a:bodyPr/>
                    <a:lstStyle/>
                    <a:p>
                      <a:pPr>
                        <a:defRPr b="1" sz="1100">
                          <a:solidFill>
                            <a:srgbClr val="FFFFFF"/>
                          </a:solidFill>
                        </a:defRPr>
                      </a:pPr>
                      <a:r>
                        <a:t>Entitas Record</a:t>
                      </a:r>
                    </a:p>
                  </a:txBody>
                  <a:tcPr>
                    <a:solidFill>
                      <a:srgbClr val="0B1B2D"/>
                    </a:solidFill>
                  </a:tcPr>
                </a:tc>
                <a:tc>
                  <a:txBody>
                    <a:bodyPr/>
                    <a:lstStyle/>
                    <a:p>
                      <a:pPr>
                        <a:defRPr b="1" sz="1100">
                          <a:solidFill>
                            <a:srgbClr val="FFFFFF"/>
                          </a:solidFill>
                        </a:defRPr>
                      </a:pPr>
                      <a:r>
                        <a:t>Total Baris Hasil JOIN</a:t>
                      </a:r>
                    </a:p>
                  </a:txBody>
                  <a:tcPr>
                    <a:solidFill>
                      <a:srgbClr val="0B1B2D"/>
                    </a:solidFill>
                  </a:tcPr>
                </a:tc>
              </a:tr>
              <a:tr h="457200">
                <a:tc>
                  <a:txBody>
                    <a:bodyPr/>
                    <a:lstStyle/>
                    <a:p>
                      <a:pPr>
                        <a:defRPr sz="1000">
                          <a:solidFill>
                            <a:srgbClr val="0B1B2D"/>
                          </a:solidFill>
                        </a:defRPr>
                      </a:pPr>
                      <a:r>
                        <a:t>1 Author</a:t>
                      </a:r>
                    </a:p>
                  </a:txBody>
                  <a:tcPr>
                    <a:solidFill>
                      <a:srgbClr val="FFFFFF"/>
                    </a:solidFill>
                  </a:tcPr>
                </a:tc>
                <a:tc>
                  <a:txBody>
                    <a:bodyPr/>
                    <a:lstStyle/>
                    <a:p>
                      <a:pPr>
                        <a:defRPr sz="1000">
                          <a:solidFill>
                            <a:srgbClr val="0B1B2D"/>
                          </a:solidFill>
                        </a:defRPr>
                      </a:pPr>
                      <a:r>
                        <a:t>1 author</a:t>
                      </a:r>
                    </a:p>
                  </a:txBody>
                  <a:tcPr>
                    <a:solidFill>
                      <a:srgbClr val="FFFFFF"/>
                    </a:solidFill>
                  </a:tcPr>
                </a:tc>
                <a:tc>
                  <a:txBody>
                    <a:bodyPr/>
                    <a:lstStyle/>
                    <a:p>
                      <a:pPr>
                        <a:defRPr sz="1000">
                          <a:solidFill>
                            <a:srgbClr val="0B1B2D"/>
                          </a:solidFill>
                        </a:defRPr>
                      </a:pPr>
                      <a:r>
                        <a:t>1 baris</a:t>
                      </a:r>
                    </a:p>
                  </a:txBody>
                  <a:tcPr>
                    <a:solidFill>
                      <a:srgbClr val="FFFFFF"/>
                    </a:solidFill>
                  </a:tcPr>
                </a:tc>
              </a:tr>
              <a:tr h="457200">
                <a:tc>
                  <a:txBody>
                    <a:bodyPr/>
                    <a:lstStyle/>
                    <a:p>
                      <a:pPr>
                        <a:defRPr sz="1000">
                          <a:solidFill>
                            <a:srgbClr val="0B1B2D"/>
                          </a:solidFill>
                        </a:defRPr>
                      </a:pPr>
                      <a:r>
                        <a:t>10 Posts</a:t>
                      </a:r>
                    </a:p>
                  </a:txBody>
                  <a:tcPr>
                    <a:solidFill>
                      <a:srgbClr val="FFFFFF"/>
                    </a:solidFill>
                  </a:tcPr>
                </a:tc>
                <a:tc>
                  <a:txBody>
                    <a:bodyPr/>
                    <a:lstStyle/>
                    <a:p>
                      <a:pPr>
                        <a:defRPr sz="1000">
                          <a:solidFill>
                            <a:srgbClr val="0B1B2D"/>
                          </a:solidFill>
                        </a:defRPr>
                      </a:pPr>
                      <a:r>
                        <a:t>10 post per author</a:t>
                      </a:r>
                    </a:p>
                  </a:txBody>
                  <a:tcPr>
                    <a:solidFill>
                      <a:srgbClr val="FFFFFF"/>
                    </a:solidFill>
                  </a:tcPr>
                </a:tc>
                <a:tc>
                  <a:txBody>
                    <a:bodyPr/>
                    <a:lstStyle/>
                    <a:p>
                      <a:pPr>
                        <a:defRPr sz="1000">
                          <a:solidFill>
                            <a:srgbClr val="0B1B2D"/>
                          </a:solidFill>
                        </a:defRPr>
                      </a:pPr>
                      <a:r>
                        <a:t>1 x 10 = 10 baris</a:t>
                      </a:r>
                    </a:p>
                  </a:txBody>
                  <a:tcPr>
                    <a:solidFill>
                      <a:srgbClr val="FFFFFF"/>
                    </a:solidFill>
                  </a:tcPr>
                </a:tc>
              </a:tr>
              <a:tr h="457200">
                <a:tc>
                  <a:txBody>
                    <a:bodyPr/>
                    <a:lstStyle/>
                    <a:p>
                      <a:pPr>
                        <a:defRPr sz="1000">
                          <a:solidFill>
                            <a:srgbClr val="0B1B2D"/>
                          </a:solidFill>
                        </a:defRPr>
                      </a:pPr>
                      <a:r>
                        <a:t>5 Tags</a:t>
                      </a:r>
                    </a:p>
                  </a:txBody>
                  <a:tcPr>
                    <a:solidFill>
                      <a:srgbClr val="FFFFFF"/>
                    </a:solidFill>
                  </a:tcPr>
                </a:tc>
                <a:tc>
                  <a:txBody>
                    <a:bodyPr/>
                    <a:lstStyle/>
                    <a:p>
                      <a:pPr>
                        <a:defRPr sz="1000">
                          <a:solidFill>
                            <a:srgbClr val="0B1B2D"/>
                          </a:solidFill>
                        </a:defRPr>
                      </a:pPr>
                      <a:r>
                        <a:t>5 tag per post</a:t>
                      </a:r>
                    </a:p>
                  </a:txBody>
                  <a:tcPr>
                    <a:solidFill>
                      <a:srgbClr val="FFFFFF"/>
                    </a:solidFill>
                  </a:tcPr>
                </a:tc>
                <a:tc>
                  <a:txBody>
                    <a:bodyPr/>
                    <a:lstStyle/>
                    <a:p>
                      <a:pPr>
                        <a:defRPr sz="1000">
                          <a:solidFill>
                            <a:srgbClr val="0B1B2D"/>
                          </a:solidFill>
                        </a:defRPr>
                      </a:pPr>
                      <a:r>
                        <a:t>1 x 10 x 5 = 50 baris</a:t>
                      </a:r>
                    </a:p>
                  </a:txBody>
                  <a:tcPr>
                    <a:solidFill>
                      <a:srgbClr val="FFFFFF"/>
                    </a:solidFill>
                  </a:tcPr>
                </a:tc>
              </a:tr>
              <a:tr h="457200">
                <a:tc>
                  <a:txBody>
                    <a:bodyPr/>
                    <a:lstStyle/>
                    <a:p>
                      <a:pPr>
                        <a:defRPr sz="1000">
                          <a:solidFill>
                            <a:srgbClr val="0B1B2D"/>
                          </a:solidFill>
                        </a:defRPr>
                      </a:pPr>
                      <a:r>
                        <a:t>10 Comments</a:t>
                      </a:r>
                    </a:p>
                  </a:txBody>
                  <a:tcPr>
                    <a:solidFill>
                      <a:srgbClr val="FFFFFF"/>
                    </a:solidFill>
                  </a:tcPr>
                </a:tc>
                <a:tc>
                  <a:txBody>
                    <a:bodyPr/>
                    <a:lstStyle/>
                    <a:p>
                      <a:pPr>
                        <a:defRPr sz="1000">
                          <a:solidFill>
                            <a:srgbClr val="0B1B2D"/>
                          </a:solidFill>
                        </a:defRPr>
                      </a:pPr>
                      <a:r>
                        <a:t>10 komentar per post</a:t>
                      </a:r>
                    </a:p>
                  </a:txBody>
                  <a:tcPr>
                    <a:solidFill>
                      <a:srgbClr val="FFFFFF"/>
                    </a:solidFill>
                  </a:tcPr>
                </a:tc>
                <a:tc>
                  <a:txBody>
                    <a:bodyPr/>
                    <a:lstStyle/>
                    <a:p>
                      <a:pPr>
                        <a:defRPr sz="1000">
                          <a:solidFill>
                            <a:srgbClr val="0B1B2D"/>
                          </a:solidFill>
                        </a:defRPr>
                      </a:pPr>
                      <a:r>
                        <a:t>1 x 10 x 5 x 10 = 500 baris!</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pengembang mencoba mengoptimalkan beberapa relasi one-to-many sekaligus (misalnya mengambil Author beserta Posts dan Tags-nya) menggunakan JOIN tunggal, sistem akan terkena fenomena Cartesian Product Explosion. Database mengalikan setiap entitas parent dengan seluruh permutasi child records-nya. Data yang dikembalikan melalui jaringan membengkak ribuan kali lipat dan berpotensi memicu Out-Of-Memory (OOM) pada backend. Solusi arsitektural yang aman adalah membagi relasi menjadi batch queries independen terpisah.</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Multiple relational JOINs cause combinatorial row explosions; use separate batches.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Mapping-Level Eager vs Query-Level Eager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Bahaya anotasi global FetchType.EAGER dibandingkan selective fetching.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MAPPING-LEVEL (ANTI-PATTERN)</a:t>
            </a:r>
          </a:p>
          <a:p>
            <a:pPr>
              <a:spcAft>
                <a:spcPts val="400"/>
              </a:spcAft>
              <a:defRPr sz="1200">
                <a:solidFill>
                  <a:srgbClr val="0B1B2D"/>
                </a:solidFill>
              </a:defRPr>
            </a:pPr>
            <a:r>
              <a:t>• FetchType.EAGER pada schema entity menarik seluruh relasi setiap kali entitas dibaca.</a:t>
            </a:r>
          </a:p>
          <a:p>
            <a:pPr>
              <a:spcAft>
                <a:spcPts val="400"/>
              </a:spcAft>
              <a:defRPr sz="1200">
                <a:solidFill>
                  <a:srgbClr val="0B1B2D"/>
                </a:solidFill>
              </a:defRPr>
            </a:pPr>
            <a:r>
              <a:t>• Operasi sederhana seperti validasi email author terpaksa memuat seluruh riwayat postingan.</a:t>
            </a:r>
          </a:p>
          <a:p>
            <a:pPr>
              <a:spcAft>
                <a:spcPts val="400"/>
              </a:spcAft>
              <a:defRPr sz="1200">
                <a:solidFill>
                  <a:srgbClr val="0B1B2D"/>
                </a:solidFill>
              </a:defRPr>
            </a:pPr>
            <a:r>
              <a:t>• Menimbulkan memory bloat parah dan membebani garbage collector aplikasi.</a:t>
            </a:r>
          </a:p>
          <a:p>
            <a:pPr>
              <a:defRPr sz="1200" b="1">
                <a:solidFill>
                  <a:srgbClr val="087F76"/>
                </a:solidFill>
              </a:defRPr>
            </a:pPr>
            <a:r>
              <a:t>QUERY-LEVEL (BEST PRACTICE)</a:t>
            </a:r>
          </a:p>
          <a:p>
            <a:pPr>
              <a:spcAft>
                <a:spcPts val="400"/>
              </a:spcAft>
              <a:defRPr sz="1200">
                <a:solidFill>
                  <a:srgbClr val="0B1B2D"/>
                </a:solidFill>
              </a:defRPr>
            </a:pPr>
            <a:r>
              <a:t>• Relasi dibiarkan lazy secara default pada level definisi domain model.</a:t>
            </a:r>
          </a:p>
          <a:p>
            <a:pPr>
              <a:spcAft>
                <a:spcPts val="400"/>
              </a:spcAft>
              <a:defRPr sz="1200">
                <a:solidFill>
                  <a:srgbClr val="0B1B2D"/>
                </a:solidFill>
              </a:defRPr>
            </a:pPr>
            <a:r>
              <a:t>• Eager loading hanya diaktifkan secara eksplisit pada query yang benar-benar membutuhkannya.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Kesalahan umum yang sering terjadi di level framework (khususnya JPA/Hibernate) adalah menerapkan mapping-level eager loading (FetchType.EAGER) secara global pada entity schema. Hal ini menyebabkan setiap pembacaan entitas Author otomatis menarik seluruh Posts, Comments, dan Metadata terkait di mana pun dipanggil. Pendekatan profesional menuntut query-level eager loading: biarkan relasi default terisolasi, dan aktifkan batching hanya secara eksplisit pada lapisan repository atau service yang benar-benar membutuhkan agregat data tersebut.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Enforce query-level eager fetching; avoid global schema-level eager mappings.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Solusi Ekosistem: GraphQL DataLoader Pattern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Mengotomatisasi penundaan dan batching query pada resolver independen.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ALUR RESOLVER COALESCING</a:t>
            </a:r>
          </a:p>
          <a:p>
            <a:pPr>
              <a:spcAft>
                <a:spcPts val="400"/>
              </a:spcAft>
              <a:defRPr sz="1200">
                <a:solidFill>
                  <a:srgbClr val="0B1B2D"/>
                </a:solidFill>
              </a:defRPr>
            </a:pPr>
            <a:r>
              <a:t>• Resolver #1 (Author 1) ──┐</a:t>
            </a:r>
          </a:p>
          <a:p>
            <a:pPr>
              <a:spcAft>
                <a:spcPts val="400"/>
              </a:spcAft>
              <a:defRPr sz="1200">
                <a:solidFill>
                  <a:srgbClr val="0B1B2D"/>
                </a:solidFill>
              </a:defRPr>
            </a:pPr>
            <a:r>
              <a:t>• Resolver #2 (Author 2) ──┼──&gt; [DataLoader Queue] ──&gt; Single Batch Query</a:t>
            </a:r>
          </a:p>
          <a:p>
            <a:pPr>
              <a:spcAft>
                <a:spcPts val="400"/>
              </a:spcAft>
              <a:defRPr sz="1200">
                <a:solidFill>
                  <a:srgbClr val="0B1B2D"/>
                </a:solidFill>
              </a:defRPr>
            </a:pPr>
            <a:r>
              <a:t>• Resolver #3 (Author 3) ──┘        (Tick Event)        WHERE author_id IN (1, 2, 3)</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Pada arsitektur GraphQL, masalah N+1 muncul secara alami karena setiap field resolver dieksekusi secara independen. Filosofi batching diwujudkan melalui pola DataLoader. DataLoader bekerja dengan menampung (coalescing) permintaan fetch ID individual yang terjadi dalam satu event loop tick, menunda eksekusi ke database, lalu mengirimkan satu query batch terkonsolidasi. DataLoader membuktikan bahwa prinsip pemisahan pengumpulan kunci dari eksekusi I/O dapat diterapkan secara elegan pada lapisan middleware.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DataLoaders coalesce concurrent point queries across async resolver ticks.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labs/22-n-plus-one-query-problem/research/03-evidence.md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Column Selection &amp; Aggregation Optimization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Memilih kolom spesifik atau kalkulasi database saat entitas penuh tidak diperlukan.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-- 1. Ambil ringkasan agregasi alih-alih seluruh baris post</a:t>
            </a:r>
            <a:br/>
            <a:r>
              <a:t>SELECT author_id, COUNT(*) AS post_count</a:t>
            </a:r>
            <a:br/>
            <a:r>
              <a:t>FROM posts WHERE author_id IN (1, 2, 3)</a:t>
            </a:r>
            <a:br/>
            <a:r>
              <a:t>GROUP BY author_id;</a:t>
            </a:r>
            <a:br/>
            <a:br/>
            <a:r>
              <a:t>-- 2. Proyeksikan kolom esensial saja</a:t>
            </a:r>
            <a:br/>
            <a:r>
              <a:t>SELECT id, author_id, title</a:t>
            </a:r>
            <a:br/>
            <a:r>
              <a:t>FROM posts WHERE author_id IN (1, 2, 3);</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Eager loading penuh tidak selalu menjadi solusi terbaik jika kebutuhan bisnis hanyalah informasi ringkasan atau segelintir kolom. Jika use-case hanya ingin menampilkan jumlah artikel tiap penulis, memuat seluruh objek Post ke dalam memori aplikasi adalah pemborosan besar. Eksekusi agregasi langsung di database melalui GROUP BY atau subquery scalar menghasilkan efisiensi transfer data yang jauh lebih superior, menjaga footprint RAM aplikasi tetap ramping.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Push aggregation to the database engine before pulling bulk entities into memory.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Demo CLI Execution Output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Bukti eksekusi nyata dari cmd/demo/main.go pada dataset 3 author.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go run ./cmd/demo</a:t>
            </a:r>
            <a:br/>
            <a:r>
              <a:t>--- 1. Simulating N+1 Query Problem ---</a:t>
            </a:r>
            <a:br/>
            <a:r>
              <a:t>Loaded 3 authors with their posts.</a:t>
            </a:r>
            <a:br/>
            <a:r>
              <a:t>Total queries executed: 4 (1 for authors + 3 queries for posts)</a:t>
            </a:r>
            <a:br/>
            <a:br/>
            <a:r>
              <a:t>--- 2. Simulating Eager Loading (Batching) ---</a:t>
            </a:r>
            <a:br/>
            <a:r>
              <a:t>Loaded 3 authors with their posts.</a:t>
            </a:r>
            <a:br/>
            <a:r>
              <a:t>Total queries executed: 2 (1 for authors + 1 batched query for posts)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Eksekusi demo pada cmd/demo/main.go mendemonstrasikan kontras performa secara langsung di terminal console. Pada dataset uji dengan 3 author (Alice, Bob, Charlie) dan 5 total post, implementasi naive mencatat tepat 4 query database. Sebaliknya, implementasi eager loading menyelesaikan seluruh pemuatan agregat dengan tepat 2 query. Verifikasi langsung ini menegaskan validitas teori tanpa bergantung pada konfigurasi database pihak ketiga yang rumit.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Empirical CLI verification validates algorithmic query reduction.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Pengujian Otomatis Query Count Invariant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Memverifikasi jumlah query secara deterministik dalam unit test CI/CD.</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TestGetAuthorsWithPostsNPlusOne(t *testing.T) {</a:t>
            </a:r>
            <a:br/>
            <a:r>
              <a:t>    store := NewStore()</a:t>
            </a:r>
            <a:br/>
            <a:r>
              <a:t>    repo := NewRepository(store)</a:t>
            </a:r>
            <a:br/>
            <a:r>
              <a:t>    store.ResetQueryCount()</a:t>
            </a:r>
            <a:br/>
            <a:br/>
            <a:r>
              <a:t>    result := repo.GetAuthorsWithPostsNPlusOne()</a:t>
            </a:r>
            <a:br/>
            <a:r>
              <a:t>    if len(result) != 3 { t.Fatalf("expected 3, got %d", len(result)) }</a:t>
            </a:r>
            <a:br/>
            <a:br/>
            <a:r>
              <a:t>    queryCount := store.GetQueryCount()</a:t>
            </a:r>
            <a:br/>
            <a:r>
              <a:t>    if queryCount != 4 {</a:t>
            </a:r>
            <a:br/>
            <a:r>
              <a:t>        t.Errorf("expected 4 queries (N+1), got %d", queryCount)</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Salah satu tantangan terbesar N+1 adalah kerentanannya terhadap regresi kode di masa depan: seorang engineer baru dapat secara tidak sengaja menambahkan pemanggilan accessor di dalam template atau loop. Lab 22 menunjukkan bagaimana menulis unit test yang memverifikasi query count secara deterministik. Dengan menginstruksikan Store mock untuk menghitung pemanggilan query, pipeline CI/CD dapat secara otomatis menggagalkan build jika jumlah interaksi database melebihi ambang batas invarian.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Lock query count invariants into CI tests to permanently prevent regressions.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internal/blog/repository_test.go:8-25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Kesetaraan Semantik (Deep Equivalence)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Memastikan optimasi query tidak merusak struktur atau kebenaran data bisnis.</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Memastikan hasil batching 100% identik dengan naive</a:t>
            </a:r>
            <a:br/>
            <a:r>
              <a:t>nPlusOneResult := repo.GetAuthorsWithPostsNPlusOne()</a:t>
            </a:r>
            <a:br/>
            <a:r>
              <a:t>if !reflect.DeepEqual(result, nPlusOneResult) {</a:t>
            </a:r>
            <a:br/>
            <a:r>
              <a:t>    t.Errorf("eager result mismatch with N+1 result:\n"+</a:t>
            </a:r>
            <a:br/>
            <a:r>
              <a:t>        "Eager: %+v\nN+1: %+v", result, nPlusOneResult)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Optimasi performa tidak ada artinya jika mengubah integritas atau susunan data yang diterima oleh pemanggil. Dalam TestGetAuthorsWithPostsEager, paket menguji bahwa slice AuthorWithPosts yang dihasilkan oleh algoritma batching identik secara mendalam (deeply equal) dengan hasil algoritma naive menggunakan reflect.DeepEqual. Pengujian ini membuktikan bahwa pengelompokan memori berbasis hash map mempertahankan struktur data bisnis secara sempurna tanpa efek samping.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Performance refactoring must guarantee semantic data equivalence.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internal/blog/repository_test.go:45-50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Observability &amp; Deteksi N+1 di Production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Instrumentasi OpenTelemetry spans, query profiling, dan static linters.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DISTRIBUTED TRACING</a:t>
            </a:r>
          </a:p>
          <a:p>
            <a:pPr>
              <a:spcAft>
                <a:spcPts val="400"/>
              </a:spcAft>
              <a:defRPr sz="1200">
                <a:solidFill>
                  <a:srgbClr val="0B1B2D"/>
                </a:solidFill>
              </a:defRPr>
            </a:pPr>
            <a:r>
              <a:t>• APM trace menampilkan 'waterfall graph' berisi puluhan span query identik berurutan.</a:t>
            </a:r>
          </a:p>
          <a:p>
            <a:pPr>
              <a:spcAft>
                <a:spcPts val="400"/>
              </a:spcAft>
              <a:defRPr sz="1200">
                <a:solidFill>
                  <a:srgbClr val="0B1B2D"/>
                </a:solidFill>
              </a:defRPr>
            </a:pPr>
            <a:r>
              <a:t>• Waktu tunggu jaringan antar span memperjelas latensi akumulatif yang dialami client.</a:t>
            </a:r>
          </a:p>
          <a:p>
            <a:pPr>
              <a:defRPr sz="1200" b="1">
                <a:solidFill>
                  <a:srgbClr val="087F76"/>
                </a:solidFill>
              </a:defRPr>
            </a:pPr>
            <a:r>
              <a:t>MIDDLEWARE AUDITING</a:t>
            </a:r>
          </a:p>
          <a:p>
            <a:pPr>
              <a:spcAft>
                <a:spcPts val="400"/>
              </a:spcAft>
              <a:defRPr sz="1200">
                <a:solidFill>
                  <a:srgbClr val="0B1B2D"/>
                </a:solidFill>
              </a:defRPr>
            </a:pPr>
            <a:r>
              <a:t>• Pasang query logger di database driver untuk mendeteksi repetisi query template per HTTP request.</a:t>
            </a:r>
          </a:p>
          <a:p>
            <a:pPr>
              <a:spcAft>
                <a:spcPts val="400"/>
              </a:spcAft>
              <a:defRPr sz="1200">
                <a:solidFill>
                  <a:srgbClr val="0B1B2D"/>
                </a:solidFill>
              </a:defRPr>
            </a:pPr>
            <a:r>
              <a:t>• Beri threshold alarm jika satu request mengeksekusi &gt;20 query serupa dalam durasi &lt;50ms.</a:t>
            </a:r>
          </a:p>
          <a:p>
            <a:pPr>
              <a:defRPr sz="1200" b="1">
                <a:solidFill>
                  <a:srgbClr val="087F76"/>
                </a:solidFill>
              </a:defRPr>
            </a:pPr>
            <a:r>
              <a:t>STATIC ANALYSIS</a:t>
            </a:r>
          </a:p>
          <a:p>
            <a:pPr>
              <a:spcAft>
                <a:spcPts val="400"/>
              </a:spcAft>
              <a:defRPr sz="1200">
                <a:solidFill>
                  <a:srgbClr val="0B1B2D"/>
                </a:solidFill>
              </a:defRPr>
            </a:pPr>
            <a:r>
              <a:t>• Gunakan linter kode untuk menandai eksekusi database calls di dalam perulangan loop for.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Di lingkungan produksi skala besar, deteksi N+1 dilakukan melalui instrumentasi Application Performance Monitoring (APM) dan OpenTelemetry distributed tracing. Trace visual memperlihatkan serangkaian span database berurutan dengan query template yang sama persis (waterfall trace). Melengkapi tracing dengan query counter middleware dan static code analysis linter memastikan bahwa setiap anomali rasio query terhadap HTTP request langsung memicu notifikasi peringatan sebelum mengganggu ketersediaan sistem.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Waterfall APM traces and query-to-request ratios surface hidden runtime loops.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Reproduksi Mandiri &amp; Panduan Verifikasi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Seluruh implementasi berbasis Go standard library siap dijalankan dan diuji.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labs/22-n-plus-one-query-problem</a:t>
            </a:r>
            <a:br/>
            <a:r>
              <a:t>go test -v ./...</a:t>
            </a:r>
            <a:br/>
            <a:r>
              <a:t>go test -race ./...</a:t>
            </a:r>
            <a:br/>
            <a:r>
              <a:t>go run ./cmd/demo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Modul Lab 22 ditulis menggunakan Go 1.22 standar tanpa framework eksternal, memastikan portabilitas tinggi dan reproduksi instan di mesin apa pun. Perintah go test menjalankan seluruh suite pengujian query count dan edge cases tanpa data race. Perintah demo menjalankan perbandingan langsung antara kedua strategi. Semua artefak pengujian dan catatan audit terdokumentasi lengkap di direktori lab untuk studi arsitektur lebih lanjut.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Standard library benchmarks provide reliable, zero-dependency validation.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labs/22-n-plus-one-query-problem/README.md • go.mod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22</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Eksperimen kecil, eliminasi latensi tersembunyi.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N+1 is invisible until it hurts. Batch related queries, don't loop them.</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22 - N+1 Query Problem</a:t>
            </a:r>
          </a:p>
          <a:p>
            <a:pPr>
              <a:defRPr sz="1200">
                <a:solidFill>
                  <a:srgbClr val="CBD5E1"/>
                </a:solidFill>
              </a:defRPr>
            </a:pPr>
            <a:r>
              <a:t>https://github.com/lukman-ss/software-engineering-lab/tree/main/labs/22-n-plus-one-query-problem</a:t>
            </a:r>
          </a:p>
          <a:p>
            <a:br/>
            <a:pPr>
              <a:defRPr sz="1100" b="1">
                <a:solidFill>
                  <a:srgbClr val="20C997"/>
                </a:solidFill>
              </a:defRPr>
            </a:pPr>
            <a:r>
              <a:t>REPOSITORY</a:t>
            </a:r>
          </a:p>
          <a:p>
            <a:pPr>
              <a:defRPr sz="1100">
                <a:solidFill>
                  <a:srgbClr val="FFFFFF"/>
                </a:solidFill>
                <a:latin typeface="Courier New"/>
              </a:defRPr>
            </a:pPr>
            <a:r>
              <a:t>github.com/lukman-ss/software-engineering-lab/tree/main/labs/22-n-plus-one-query-problem</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6649acb9</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N+1 Query Problem • Batching • Relational Performance • Go</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