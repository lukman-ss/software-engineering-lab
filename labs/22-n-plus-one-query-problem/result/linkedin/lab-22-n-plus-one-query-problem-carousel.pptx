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1: N+1 Query Problem</a:t>
            </a:r>
          </a:p>
          <a:p/>
          <a:p>
            <a:r>
              <a:t>Mental Model: N+1 query problem causes hidden latency accumulation; eager loading batching reduces queries to O(1) relative to record count.</a:t>
            </a:r>
          </a:p>
          <a:p/>
          <a:p>
            <a:r>
              <a:t>[]</a:t>
            </a:r>
          </a:p>
          <a:p>
            <a:r>
              <a:t>- Penulis: Lukman / lukman-ss</a:t>
            </a:r>
          </a:p>
          <a:p>
            <a:r>
              <a:t>- Lab 22: n-plus-one-query-problem</a:t>
            </a:r>
          </a:p>
          <a:p>
            <a:r>
              <a:t>- Repository: https://github.com/lukman-ss/software-engineering-lab/tree/main/labs/22-n-plus-one-query-problem</a:t>
            </a:r>
          </a:p>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2: Masalah Nyata: N+1 Query Menyembunyikan Latensi</a:t>
            </a:r>
          </a:p>
          <a:p/>
          <a:p>
            <a:r>
              <a:t>Mental Model: Small dataset testing hides N+1; production scale exposes accumulated query overhead.</a:t>
            </a:r>
          </a:p>
          <a:p/>
          <a:p>
            <a:r>
              <a:t>[SILENT LATENCY]</a:t>
            </a:r>
          </a:p>
          <a:p>
            <a:r>
              <a:t>- Setiap query individual berlatensi rendah (sub-milidetik).</a:t>
            </a:r>
          </a:p>
          <a:p>
            <a:r>
              <a:t>- Latensi akumulatif tumbuh linear dengan jumlah record.</a:t>
            </a:r>
          </a:p>
          <a:p>
            <a:r>
              <a:t>- Pada dataset besar, request bisa memakan waktu berdetik-detik.</a:t>
            </a:r>
          </a:p>
          <a:p>
            <a:r>
              <a:t>[CONNECTION POOL EXHAUSTION]</a:t>
            </a:r>
          </a:p>
          <a:p>
            <a:r>
              <a:t>- Setiap request N+1 menghabiskan banyak slot koneksi database.</a:t>
            </a:r>
          </a:p>
          <a:p>
            <a:r>
              <a:t>- Under concurrent load, pool terdrain secara sequential.</a:t>
            </a:r>
          </a:p>
          <a:p>
            <a:r>
              <a:t>- Bisa menyebabkan connection timeout cascade.</a:t>
            </a:r>
          </a:p>
          <a:p>
            <a:r>
              <a:t>[HARD TO DETECT]</a:t>
            </a:r>
          </a:p>
          <a:p>
            <a:r>
              <a:t>- Slow query logs tidak menangkap karena tiap query cepat.</a:t>
            </a:r>
          </a:p>
          <a:p>
            <a:r>
              <a:t>- Performa hanya terlihat jelas pada skala produksi.</a:t>
            </a:r>
          </a:p>
          <a:p>
            <a:r>
              <a:t>- Unit test tanpa query counter gagal mendeteksi masalah.</a:t>
            </a:r>
          </a:p>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3: Mengapa Pendekatan Naif Gagal?</a:t>
            </a:r>
          </a:p>
          <a:p/>
          <a:p>
            <a:r>
              <a:t>Mental Model: Naive nested loops produce O(N) queries; batching collapses it to O(1).</a:t>
            </a:r>
          </a:p>
          <a:p/>
          <a:p>
            <a:r>
              <a:t>[NAIVE CODE EXAMPLE]</a:t>
            </a:r>
          </a:p>
          <a:p>
            <a:r>
              <a:t>- func GetAuthorsWithPosts() []AuthorWithPosts {</a:t>
            </a:r>
          </a:p>
          <a:p>
            <a:r>
              <a:t>-     authors := db.GetAllAuthors()</a:t>
            </a:r>
          </a:p>
          <a:p>
            <a:r>
              <a:t>-     var result []AuthorWithPosts</a:t>
            </a:r>
          </a:p>
          <a:p>
            <a:r>
              <a:t>-     for _, author := range authors {</a:t>
            </a:r>
          </a:p>
          <a:p>
            <a:r>
              <a:t>-         posts := db.GetPostsByAuthorID(author.ID)</a:t>
            </a:r>
          </a:p>
          <a:p>
            <a:r>
              <a:t>-         result = append(result, AuthorWithPosts{...})</a:t>
            </a:r>
          </a:p>
          <a:p>
            <a:r>
              <a:t>-     }</a:t>
            </a:r>
          </a:p>
          <a:p>
            <a:r>
              <a:t>-     return result</a:t>
            </a:r>
          </a:p>
          <a:p>
            <a:r>
              <a:t>- }</a:t>
            </a:r>
          </a:p>
          <a:p>
            <a:r>
              <a:t>[FATALITAS]</a:t>
            </a:r>
          </a:p>
          <a:p>
            <a:r>
              <a:t>- Query count = 1 + len(authors).</a:t>
            </a:r>
          </a:p>
          <a:p>
            <a:r>
              <a:t>- Database connection dipakai berulang-ulang.</a:t>
            </a:r>
          </a:p>
          <a:p>
            <a:r>
              <a:t>- Tidak ada batching atau prefetching.</a:t>
            </a:r>
          </a:p>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4: Mental Model: Eager Loading via Batching</a:t>
            </a:r>
          </a:p>
          <a:p/>
          <a:p>
            <a:r>
              <a:t>Mental Model: Collect IDs, run one batch query, group in memory → replace N queries with 2.</a:t>
            </a:r>
          </a:p>
          <a:p/>
          <a:p>
            <a:r>
              <a:t>[DOMAIN SCHEMA]</a:t>
            </a:r>
          </a:p>
          <a:p>
            <a:r>
              <a:t>- type Author struct { ID int; Name string }</a:t>
            </a:r>
          </a:p>
          <a:p>
            <a:r>
              <a:t>- type Post struct { ID int; AuthorID int; Title string }</a:t>
            </a:r>
          </a:p>
          <a:p>
            <a:r>
              <a:t>- type AuthorWithPosts struct {</a:t>
            </a:r>
          </a:p>
          <a:p>
            <a:r>
              <a:t>-     Author Author</a:t>
            </a:r>
          </a:p>
          <a:p>
            <a:r>
              <a:t>-     Posts  []Post</a:t>
            </a:r>
          </a:p>
          <a:p>
            <a:r>
              <a:t>- }</a:t>
            </a:r>
          </a:p>
          <a:p>
            <a:r>
              <a:t>[PRINSIP INTI]</a:t>
            </a:r>
          </a:p>
          <a:p>
            <a:r>
              <a:t>- Batch all related IDs: [author1, author2, ...]</a:t>
            </a:r>
          </a:p>
          <a:p>
            <a:r>
              <a:t>- Single query: SELECT * FROM posts WHERE author_id IN (...)</a:t>
            </a:r>
          </a:p>
          <a:p>
            <a:r>
              <a:t>- Group results in memory by author_id</a:t>
            </a:r>
          </a:p>
          <a:p>
            <a:r>
              <a:t>- Compose final structs without additional queries</a:t>
            </a:r>
          </a:p>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5: Alur Eksekusi: Dari Loop Naif ke Batch Eager</a:t>
            </a:r>
          </a:p>
          <a:p/>
          <a:p>
            <a:r>
              <a:t>Mental Model: Batching consolidates N sequential queries into one parallel fetch.</a:t>
            </a:r>
          </a:p>
          <a:p/>
          <a:p>
            <a:r>
              <a:t>[N+1 PIPELINE]</a:t>
            </a:r>
          </a:p>
          <a:p>
            <a:r>
              <a:t>- 1. App → DB: GetAllAuthors()</a:t>
            </a:r>
          </a:p>
          <a:p>
            <a:r>
              <a:t>-    DB → App: [Alice, Bob, Charlie]</a:t>
            </a:r>
          </a:p>
          <a:p>
            <a:r>
              <a:t>- 2. Loop: for author in authors</a:t>
            </a:r>
          </a:p>
          <a:p>
            <a:r>
              <a:t>-    App → DB: GetPostsByAuthorID(author.ID)</a:t>
            </a:r>
          </a:p>
          <a:p>
            <a:r>
              <a:t>-    DB → App: posts untuk author</a:t>
            </a:r>
          </a:p>
          <a:p>
            <a:r>
              <a:t>- Total: 4 queries (1 + 3)</a:t>
            </a:r>
          </a:p>
          <a:p>
            <a:r>
              <a:t>[EAGER PIPELINE]</a:t>
            </a:r>
          </a:p>
          <a:p>
            <a:r>
              <a:t>- 1. App → DB: GetAllAuthors()</a:t>
            </a:r>
          </a:p>
          <a:p>
            <a:r>
              <a:t>-    DB → App: [Alice, Bob, Charlie]</a:t>
            </a:r>
          </a:p>
          <a:p>
            <a:r>
              <a:t>- 2. Extract IDs: [1, 2, 3]</a:t>
            </a:r>
          </a:p>
          <a:p>
            <a:r>
              <a:t>- 3. App → DB: GetPostsByAuthorIDs([1,2,3])</a:t>
            </a:r>
          </a:p>
          <a:p>
            <a:r>
              <a:t>-    DB → App: ALL posts</a:t>
            </a:r>
          </a:p>
          <a:p>
            <a:r>
              <a:t>- 4. Group by AuthorID in map</a:t>
            </a:r>
          </a:p>
          <a:p>
            <a:r>
              <a:t>- 5. Compose AuthorWithPosts</a:t>
            </a:r>
          </a:p>
          <a:p>
            <a:r>
              <a:t>- Total: 2 queries (1 + 1 batch)</a:t>
            </a:r>
          </a:p>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6: Implementasi Eager Loading Batching</a:t>
            </a:r>
          </a:p>
          <a:p/>
          <a:p>
            <a:r>
              <a:t>Mental Model: Extract IDs → batch query → group in map → compose result = 2 queries total.</a:t>
            </a:r>
          </a:p>
          <a:p/>
          <a:p>
            <a:r>
              <a:t>[EAGER LOADING CODE]</a:t>
            </a:r>
          </a:p>
          <a:p>
            <a:r>
              <a:t>- func (r *Repository) GetAuthorsWithPostsEager() []AuthorWithPosts {</a:t>
            </a:r>
          </a:p>
          <a:p>
            <a:r>
              <a:t>-     authors := r.store.GetAllAuthors()</a:t>
            </a:r>
          </a:p>
          <a:p>
            <a:r>
              <a:t>-     if len(authors) == 0 {</a:t>
            </a:r>
          </a:p>
          <a:p>
            <a:r>
              <a:t>-         return []AuthorWithPosts{}</a:t>
            </a:r>
          </a:p>
          <a:p>
            <a:r>
              <a:t>-     }</a:t>
            </a:r>
          </a:p>
          <a:p>
            <a:r>
              <a:t>- </a:t>
            </a:r>
          </a:p>
          <a:p>
            <a:r>
              <a:t>-     authorIDs := make([]int, len(authors))</a:t>
            </a:r>
          </a:p>
          <a:p>
            <a:r>
              <a:t>-     for i, author := range authors {</a:t>
            </a:r>
          </a:p>
          <a:p>
            <a:r>
              <a:t>-         authorIDs[i] = author.ID</a:t>
            </a:r>
          </a:p>
          <a:p>
            <a:r>
              <a:t>-     }</a:t>
            </a:r>
          </a:p>
          <a:p>
            <a:r>
              <a:t>- </a:t>
            </a:r>
          </a:p>
          <a:p>
            <a:r>
              <a:t>-     allPosts := r.store.GetPostsByAuthorIDs(authorIDs)</a:t>
            </a:r>
          </a:p>
          <a:p>
            <a:r>
              <a:t>- </a:t>
            </a:r>
          </a:p>
          <a:p>
            <a:r>
              <a:t>-     postsByAuthor := make(map[int][]Post)</a:t>
            </a:r>
          </a:p>
          <a:p>
            <a:r>
              <a:t>-     for _, post := range allPosts {</a:t>
            </a:r>
          </a:p>
          <a:p>
            <a:r>
              <a:t>-         postsByAuthor[post.AuthorID] = append(postsByAuthor[post.AuthorID], post)</a:t>
            </a:r>
          </a:p>
          <a:p>
            <a:r>
              <a:t>-     }</a:t>
            </a:r>
          </a:p>
          <a:p>
            <a:r>
              <a:t>- </a:t>
            </a:r>
          </a:p>
          <a:p>
            <a:r>
              <a:t>-     var result []AuthorWithPosts</a:t>
            </a:r>
          </a:p>
          <a:p>
            <a:r>
              <a:t>-     for _, author := range authors {</a:t>
            </a:r>
          </a:p>
          <a:p>
            <a:r>
              <a:t>-         result = append(result, AuthorWithPosts{</a:t>
            </a:r>
          </a:p>
          <a:p>
            <a:r>
              <a:t>-             Author: author,</a:t>
            </a:r>
          </a:p>
          <a:p>
            <a:r>
              <a:t>-             Posts:  postsByAuthor[author.ID],</a:t>
            </a:r>
          </a:p>
          <a:p>
            <a:r>
              <a:t>-         })</a:t>
            </a:r>
          </a:p>
          <a:p>
            <a:r>
              <a:t>-     }</a:t>
            </a:r>
          </a:p>
          <a:p>
            <a:r>
              <a:t>-     return result</a:t>
            </a:r>
          </a:p>
          <a:p>
            <a:r>
              <a:t>- }</a:t>
            </a:r>
          </a:p>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7: Failure Path: N+1 Menghasilkan Query Count Tinggi</a:t>
            </a:r>
          </a:p>
          <a:p/>
          <a:p>
            <a:r>
              <a:t>Mental Model: Linear query growth (1+N) is the fingerprint of N+1 anti-pattern.</a:t>
            </a:r>
          </a:p>
          <a:p/>
          <a:p>
            <a:r>
              <a:t>[TEST ASSERTION]</a:t>
            </a:r>
          </a:p>
          <a:p>
            <a:r>
              <a:t>- func TestGetAuthorsWithPostsNPlusOne(t *testing.T) {</a:t>
            </a:r>
          </a:p>
          <a:p>
            <a:r>
              <a:t>-     store := NewStore()</a:t>
            </a:r>
          </a:p>
          <a:p>
            <a:r>
              <a:t>-     repo := NewRepository(store)</a:t>
            </a:r>
          </a:p>
          <a:p>
            <a:r>
              <a:t>-     store.ResetQueryCount()</a:t>
            </a:r>
          </a:p>
          <a:p>
            <a:r>
              <a:t>-     result := repo.GetAuthorsWithPostsNPlusOne()</a:t>
            </a:r>
          </a:p>
          <a:p>
            <a:r>
              <a:t>-     queryCount := store.GetQueryCount()</a:t>
            </a:r>
          </a:p>
          <a:p>
            <a:r>
              <a:t>-     if queryCount != 4 {</a:t>
            </a:r>
          </a:p>
          <a:p>
            <a:r>
              <a:t>-         t.Errorf("expected 4 queries (N+1), got %d", queryCount)</a:t>
            </a:r>
          </a:p>
          <a:p>
            <a:r>
              <a:t>-     }</a:t>
            </a:r>
          </a:p>
          <a:p>
            <a:r>
              <a:t>- }</a:t>
            </a:r>
          </a:p>
          <a:p>
            <a:r>
              <a:t>[ANALISIS]</a:t>
            </a:r>
          </a:p>
          <a:p>
            <a:r>
              <a:t>- Query count = 1 (getAllAuthors) + 3 (per-author loop).</a:t>
            </a:r>
          </a:p>
          <a:p>
            <a:r>
              <a:t>- Setiap iterasi loop memanggil GetPostsByAuthorID().</a:t>
            </a:r>
          </a:p>
          <a:p>
            <a:r>
              <a:t>- Pola ini akan menjadi 1+N untuk N author.</a:t>
            </a:r>
          </a:p>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8: Mekanisme vs Gejala: N+1 vs Eager Loading</a:t>
            </a:r>
          </a:p>
          <a:p/>
          <a:p>
            <a:r>
              <a:t>Mental Model: Trade-off: fewer queries at the cost of higher memory consumption.</a:t>
            </a:r>
          </a:p>
          <a:p/>
          <a:p>
            <a:r>
              <a:t>[PERBANDINGAN]</a:t>
            </a:r>
          </a:p>
          <a:p>
            <a:r>
              <a:t>- Aspek | N+1 (Naive) | Eager Loading (Batch)</a:t>
            </a:r>
          </a:p>
          <a:p>
            <a:r>
              <a:t>- Query Count | 1 + N | 2</a:t>
            </a:r>
          </a:p>
          <a:p>
            <a:r>
              <a:t>- Time Complexity | O(N) queries | O(1) queries</a:t>
            </a:r>
          </a:p>
          <a:p>
            <a:r>
              <a:t>- Connection Usage | N sequential connections | 2 connections</a:t>
            </a:r>
          </a:p>
          <a:p>
            <a:r>
              <a:t>- Memory Overhead | Lower (streaming) | Higher (batch load)</a:t>
            </a:r>
          </a:p>
          <a:p>
            <a:r>
              <a:t>- Detectability | Hard (each query fast) | Easy (query counter)</a:t>
            </a:r>
          </a:p>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9: 3 Keputusan Desain Kritis untuk Optimasi Query</a:t>
            </a:r>
          </a:p>
          <a:p/>
          <a:p>
            <a:r>
              <a:t>Mental Model: Measure → Batch → Trade-off: the optimization decision triad.</a:t>
            </a:r>
          </a:p>
          <a:p/>
          <a:p>
            <a:r>
              <a:t>[KEPUTUSAN 1: QUERY COUNTER]</a:t>
            </a:r>
          </a:p>
          <a:p>
            <a:r>
              <a:t>- Implementasikan query counter pada data access layer untuk mengukur jumlah query aktual.</a:t>
            </a:r>
          </a:p>
          <a:p>
            <a:r>
              <a:t>- Gunakan counter ini dalam unit test untuk mencegah regressi N+1.</a:t>
            </a:r>
          </a:p>
          <a:p>
            <a:r>
              <a:t>[KEPUTUSAN 2: BATCH STRATEGY]</a:t>
            </a:r>
          </a:p>
          <a:p>
            <a:r>
              <a:t>- Pilih strategi batching: single batch untuk dataset kecil, chunked batch untuk dataset besar.</a:t>
            </a:r>
          </a:p>
          <a:p>
            <a:r>
              <a:t>- Gunakan klausa IN dengan limit ukuran batch untuk menghindari cartesian explosion.</a:t>
            </a:r>
          </a:p>
          <a:p>
            <a:r>
              <a:t>[KEPUTUSAN 3: MEMORY vs QUERY TRADE-OFF]</a:t>
            </a:r>
          </a:p>
          <a:p>
            <a:r>
              <a:t>- Evaluasi trade-off antara jumlah query dan penggunaan memori.</a:t>
            </a:r>
          </a:p>
          <a:p>
            <a:r>
              <a:t>- Untuk relasi one-to-many besar, pertimbangkan column selection atau pagination.</a:t>
            </a:r>
          </a:p>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10: Bukti Eksekusi: Terminal Output Demo</a:t>
            </a:r>
          </a:p>
          <a:p/>
          <a:p>
            <a:r>
              <a:t>Mental Model: Demo output provides concrete evidence of query count reduction from N+1 to 2.</a:t>
            </a:r>
          </a:p>
          <a:p/>
          <a:p>
            <a:r>
              <a:t>[DEMO TERMINAL]</a:t>
            </a:r>
          </a:p>
          <a:p>
            <a:r>
              <a:t>- === 1. Simulating N+1 Query Problem ---</a:t>
            </a:r>
          </a:p>
          <a:p>
            <a:r>
              <a:t>- Loaded 3 authors with their posts.</a:t>
            </a:r>
          </a:p>
          <a:p>
            <a:r>
              <a:t>- Total queries executed: 4 (1 query for authors + 3 queries for posts)</a:t>
            </a:r>
          </a:p>
          <a:p>
            <a:r>
              <a:t>- </a:t>
            </a:r>
          </a:p>
          <a:p>
            <a:r>
              <a:t>- --- 2. Simulating Eager Loading (Batching) ---</a:t>
            </a:r>
          </a:p>
          <a:p>
            <a:r>
              <a:t>- Loaded 3 authors with their posts.</a:t>
            </a:r>
          </a:p>
          <a:p>
            <a:r>
              <a:t>- Total queries executed: 2 (1 query for authors + 1 batched query for posts)</a:t>
            </a:r>
          </a:p>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11: Analisis Batasan: Yang Tidak Dibuktikan Lab Ini</a:t>
            </a:r>
          </a:p>
          <a:p/>
          <a:p>
            <a:r>
              <a:t>Mental Model: Proof covers query count; unproven: scale, memory, join trade-offs.</a:t>
            </a:r>
          </a:p>
          <a:p/>
          <a:p>
            <a:r>
              <a:t>[YANG DIBUKTIKAN]</a:t>
            </a:r>
          </a:p>
          <a:p>
            <a:r>
              <a:t>- Query count reduction dari 4 ke 2 untuk 3 author.</a:t>
            </a:r>
          </a:p>
          <a:p>
            <a:r>
              <a:t>- Deep equality antara hasil N+1 dan eager loading.</a:t>
            </a:r>
          </a:p>
          <a:p>
            <a:r>
              <a:t>- Thread-safety dengan race detector.</a:t>
            </a:r>
          </a:p>
          <a:p>
            <a:r>
              <a:t>- Edge case empty store.</a:t>
            </a:r>
          </a:p>
          <a:p>
            <a:r>
              <a:t>[YANG TIDAK DIBUKTIKAN]</a:t>
            </a:r>
          </a:p>
          <a:p>
            <a:r>
              <a:t>- Cartesian explosion pada relasi one-to-many besar.</a:t>
            </a:r>
          </a:p>
          <a:p>
            <a:r>
              <a:t>- Memory bloat akibat eager loading massive dataset.</a:t>
            </a:r>
          </a:p>
          <a:p>
            <a:r>
              <a:t>- Performa pada database relational sesungguhnya.</a:t>
            </a:r>
          </a:p>
          <a:p>
            <a:r>
              <a:t>- Trade-off dengan join-based eager loading.</a:t>
            </a:r>
          </a:p>
          <a:p>
            <a:r>
              <a:t>- Column selection dan aggregation optimization.</a:t>
            </a:r>
          </a:p>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12: Trade-off Arsitektur: Memory vs Query Count</a:t>
            </a:r>
          </a:p>
          <a:p/>
          <a:p>
            <a:r>
              <a:t>Mental Model: Fewer queries at the cost of higher memory; scale dictates the optimal strategy.</a:t>
            </a:r>
          </a:p>
          <a:p/>
          <a:p>
            <a:r>
              <a:t>[PROS EAGER LOADING]</a:t>
            </a:r>
          </a:p>
          <a:p>
            <a:r>
              <a:t>- Query count konstan (O(1)) terlepas dari ukuran dataset.</a:t>
            </a:r>
          </a:p>
          <a:p>
            <a:r>
              <a:t>- Mengurangi connection pool pressure.</a:t>
            </a:r>
          </a:p>
          <a:p>
            <a:r>
              <a:t>- Menghilangkan latency akumulatif dari banyak round-trip.</a:t>
            </a:r>
          </a:p>
          <a:p>
            <a:r>
              <a:t>[CONS EAGER LOADING]</a:t>
            </a:r>
          </a:p>
          <a:p>
            <a:r>
              <a:t>- Memory usage meningkat karena memuat semua record sekaligus.</a:t>
            </a:r>
          </a:p>
          <a:p>
            <a:r>
              <a:t>- Potensi cartesian explosion pada relasi one-to-many/many-to-many.</a:t>
            </a:r>
          </a:p>
          <a:p>
            <a:r>
              <a:t>- Perlu pagination atau chunking untuk dataset besar.</a:t>
            </a:r>
          </a:p>
          <a:p>
            <a:r>
              <a:t>- Kompleksitas kode lebih tinggi daripada N+1 naive.</a:t>
            </a:r>
          </a:p>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13: Concurrency Safety: Thread-Safe Query Counter</a:t>
            </a:r>
          </a:p>
          <a:p/>
          <a:p>
            <a:r>
              <a:t>Mental Model: Mutex-protected state enables safe concurrent testing and production use.</a:t>
            </a:r>
          </a:p>
          <a:p/>
          <a:p>
            <a:r>
              <a:t>[THREAD-SAFE STORE]</a:t>
            </a:r>
          </a:p>
          <a:p>
            <a:r>
              <a:t>- type Store struct {</a:t>
            </a:r>
          </a:p>
          <a:p>
            <a:r>
              <a:t>-     mu           sync.Mutex</a:t>
            </a:r>
          </a:p>
          <a:p>
            <a:r>
              <a:t>-     authors      []Author</a:t>
            </a:r>
          </a:p>
          <a:p>
            <a:r>
              <a:t>-     posts        []Post</a:t>
            </a:r>
          </a:p>
          <a:p>
            <a:r>
              <a:t>-     queryCount   int</a:t>
            </a:r>
          </a:p>
          <a:p>
            <a:r>
              <a:t>- }</a:t>
            </a:r>
          </a:p>
          <a:p>
            <a:r>
              <a:t>- </a:t>
            </a:r>
          </a:p>
          <a:p>
            <a:r>
              <a:t>- func (s *Store) GetQueryCount() int {</a:t>
            </a:r>
          </a:p>
          <a:p>
            <a:r>
              <a:t>-     s.mu.Lock()</a:t>
            </a:r>
          </a:p>
          <a:p>
            <a:r>
              <a:t>-     defer s.mu.Unlock()</a:t>
            </a:r>
          </a:p>
          <a:p>
            <a:r>
              <a:t>-     return s.queryCount</a:t>
            </a:r>
          </a:p>
          <a:p>
            <a:r>
              <a:t>- }</a:t>
            </a:r>
          </a:p>
          <a:p>
            <a:r>
              <a:t>[RACE DETECTOR]</a:t>
            </a:r>
          </a:p>
          <a:p>
            <a:r>
              <a:t>- $ go test -race ./...</a:t>
            </a:r>
          </a:p>
          <a:p>
            <a:r>
              <a:t>- PASS</a:t>
            </a:r>
          </a:p>
          <a:p>
            <a:r>
              <a:t>- ok      github.com/.../internal/blog    (cached)</a:t>
            </a:r>
          </a:p>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14: Before vs After: N+1 vs Eager Loading</a:t>
            </a:r>
          </a:p>
          <a:p/>
          <a:p>
            <a:r>
              <a:t>Mental Model: Before: 4 queries O(N); After: 2 queries O(1). Scale dictates the winner.</a:t>
            </a:r>
          </a:p>
          <a:p/>
          <a:p>
            <a:r>
              <a:t>[BEFORE: N+1 (NAIVE)]</a:t>
            </a:r>
          </a:p>
          <a:p>
            <a:r>
              <a:t>- Query Count: 4</a:t>
            </a:r>
          </a:p>
          <a:p>
            <a:r>
              <a:t>- Time Complexity: O(N)</a:t>
            </a:r>
          </a:p>
          <a:p>
            <a:r>
              <a:t>- Code Simplicity: High</a:t>
            </a:r>
          </a:p>
          <a:p>
            <a:r>
              <a:t>- Scalability: Poor</a:t>
            </a:r>
          </a:p>
          <a:p>
            <a:r>
              <a:t>- Memory Usage: Low</a:t>
            </a:r>
          </a:p>
          <a:p>
            <a:r>
              <a:t>[AFTER: EAGER LOADING]</a:t>
            </a:r>
          </a:p>
          <a:p>
            <a:r>
              <a:t>- Query Count: 2</a:t>
            </a:r>
          </a:p>
          <a:p>
            <a:r>
              <a:t>- Time Complexity: O(1)</a:t>
            </a:r>
          </a:p>
          <a:p>
            <a:r>
              <a:t>- Code Simplicity: Medium</a:t>
            </a:r>
          </a:p>
          <a:p>
            <a:r>
              <a:t>- Scalability: Good</a:t>
            </a:r>
          </a:p>
          <a:p>
            <a:r>
              <a:t>- Memory Usage: Higher</a:t>
            </a:r>
          </a:p>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15: Analisis Mendalam: TestGetAuthorsWithPostsEager</a:t>
            </a:r>
          </a:p>
          <a:p/>
          <a:p>
            <a:r>
              <a:t>Mental Model: Query count assertion + deep equality = correctness proof for batching.</a:t>
            </a:r>
          </a:p>
          <a:p/>
          <a:p>
            <a:r>
              <a:t>[TEST LOGIC]</a:t>
            </a:r>
          </a:p>
          <a:p>
            <a:r>
              <a:t>- func TestGetAuthorsWithPostsEager(t *testing.T) {</a:t>
            </a:r>
          </a:p>
          <a:p>
            <a:r>
              <a:t>-     store := NewStore()</a:t>
            </a:r>
          </a:p>
          <a:p>
            <a:r>
              <a:t>-     repo := NewRepository(store)</a:t>
            </a:r>
          </a:p>
          <a:p>
            <a:r>
              <a:t>-     store.ResetQueryCount()</a:t>
            </a:r>
          </a:p>
          <a:p>
            <a:r>
              <a:t>-     result := repo.GetAuthorsWithPostsEager()</a:t>
            </a:r>
          </a:p>
          <a:p>
            <a:r>
              <a:t>-     queryCount := store.GetQueryCount()</a:t>
            </a:r>
          </a:p>
          <a:p>
            <a:r>
              <a:t>-     if queryCount != 2 {</a:t>
            </a:r>
          </a:p>
          <a:p>
            <a:r>
              <a:t>-         t.Errorf("expected 2 queries (eager loading), got %d", queryCount)</a:t>
            </a:r>
          </a:p>
          <a:p>
            <a:r>
              <a:t>-     }</a:t>
            </a:r>
          </a:p>
          <a:p>
            <a:r>
              <a:t>-     nPlusOneResult := repo.GetAuthorsWithPostsNPlusOne()</a:t>
            </a:r>
          </a:p>
          <a:p>
            <a:r>
              <a:t>-     if !reflect.DeepEqual(result, nPlusOneResult) {</a:t>
            </a:r>
          </a:p>
          <a:p>
            <a:r>
              <a:t>-         t.Errorf("eager result mismatch with N+1 result")</a:t>
            </a:r>
          </a:p>
          <a:p>
            <a:r>
              <a:t>-     }</a:t>
            </a:r>
          </a:p>
          <a:p>
            <a:r>
              <a:t>- }</a:t>
            </a:r>
          </a:p>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16: Analisis Mendalam: TestEmptyStore</a:t>
            </a:r>
          </a:p>
          <a:p/>
          <a:p>
            <a:r>
              <a:t>Mental Model: Empty collection edge case must yield identical nil/empty results.</a:t>
            </a:r>
          </a:p>
          <a:p/>
          <a:p>
            <a:r>
              <a:t>[EDGE CASE TEST]</a:t>
            </a:r>
          </a:p>
          <a:p>
            <a:r>
              <a:t>- func TestEmptyStore(t *testing.T) {</a:t>
            </a:r>
          </a:p>
          <a:p>
            <a:r>
              <a:t>-     store := &amp;Store{authors: nil, posts: nil}</a:t>
            </a:r>
          </a:p>
          <a:p>
            <a:r>
              <a:t>-     repo := NewRepository(store)</a:t>
            </a:r>
          </a:p>
          <a:p>
            <a:r>
              <a:t>-     n1 := repo.GetAuthorsWithPostsNPlusOne()</a:t>
            </a:r>
          </a:p>
          <a:p>
            <a:r>
              <a:t>-     eager := repo.GetAuthorsWithPostsEager()</a:t>
            </a:r>
          </a:p>
          <a:p>
            <a:r>
              <a:t>-     if len(n1) != 0 || len(eager) != 0 {</a:t>
            </a:r>
          </a:p>
          <a:p>
            <a:r>
              <a:t>-         t.Fatalf("expected empty results")</a:t>
            </a:r>
          </a:p>
          <a:p>
            <a:r>
              <a:t>-     }</a:t>
            </a:r>
          </a:p>
          <a:p>
            <a:r>
              <a:t>-     if !reflect.DeepEqual(n1, eager) {</a:t>
            </a:r>
          </a:p>
          <a:p>
            <a:r>
              <a:t>-         t.Errorf("empty result mismatch")</a:t>
            </a:r>
          </a:p>
          <a:p>
            <a:r>
              <a:t>-     }</a:t>
            </a:r>
          </a:p>
          <a:p>
            <a:r>
              <a:t>- }</a:t>
            </a:r>
          </a:p>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17: Analisis Mendalam: Race Detector Verification</a:t>
            </a:r>
          </a:p>
          <a:p/>
          <a:p>
            <a:r>
              <a:t>Mental Model: Mutex protection + race detector = production-ready concurrency.</a:t>
            </a:r>
          </a:p>
          <a:p/>
          <a:p>
            <a:r>
              <a:t>[RACE DETECTION]</a:t>
            </a:r>
          </a:p>
          <a:p>
            <a:r>
              <a:t>- $ go test -race ./...</a:t>
            </a:r>
          </a:p>
          <a:p>
            <a:r>
              <a:t>- === RUN   TestGetAuthorsWithPostsNPlusOne</a:t>
            </a:r>
          </a:p>
          <a:p>
            <a:r>
              <a:t>- --- PASS: TestGetAuthorsWithPostsNPlusOne (0.00s)</a:t>
            </a:r>
          </a:p>
          <a:p>
            <a:r>
              <a:t>- === RUN   TestGetAuthorsWithPostsEager</a:t>
            </a:r>
          </a:p>
          <a:p>
            <a:r>
              <a:t>- --- PASS: TestGetAuthorsWithPostsEager (0.00s)</a:t>
            </a:r>
          </a:p>
          <a:p>
            <a:r>
              <a:t>- === RUN   TestEmptyStore</a:t>
            </a:r>
          </a:p>
          <a:p>
            <a:r>
              <a:t>- --- PASS: TestEmptyStore (0.00s)</a:t>
            </a:r>
          </a:p>
          <a:p>
            <a:r>
              <a:t>- PASS</a:t>
            </a:r>
          </a:p>
          <a:p>
            <a:r>
              <a:t>- ok      github.com/lukman/.../internal/blog</a:t>
            </a:r>
          </a:p>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18: Analisis Mendalam: Query Counter sebagai Test Double</a:t>
            </a:r>
          </a:p>
          <a:p/>
          <a:p>
            <a:r>
              <a:t>Mental Model: Test double with query counter provides measurable proof of optimization.</a:t>
            </a:r>
          </a:p>
          <a:p/>
          <a:p>
            <a:r>
              <a:t>[QUERY COUNTER PATTERN]</a:t>
            </a:r>
          </a:p>
          <a:p>
            <a:r>
              <a:t>- type Store struct {</a:t>
            </a:r>
          </a:p>
          <a:p>
            <a:r>
              <a:t>-     mu         sync.Mutex</a:t>
            </a:r>
          </a:p>
          <a:p>
            <a:r>
              <a:t>-     queryCount int</a:t>
            </a:r>
          </a:p>
          <a:p>
            <a:r>
              <a:t>- }</a:t>
            </a:r>
          </a:p>
          <a:p>
            <a:r>
              <a:t>- </a:t>
            </a:r>
          </a:p>
          <a:p>
            <a:r>
              <a:t>- func (s *Store) GetAllAuthors() []Author {</a:t>
            </a:r>
          </a:p>
          <a:p>
            <a:r>
              <a:t>-     s.mu.Lock()</a:t>
            </a:r>
          </a:p>
          <a:p>
            <a:r>
              <a:t>-     defer s.mu.Unlock()</a:t>
            </a:r>
          </a:p>
          <a:p>
            <a:r>
              <a:t>-     s.queryCount++</a:t>
            </a:r>
          </a:p>
          <a:p>
            <a:r>
              <a:t>-     return s.authors</a:t>
            </a:r>
          </a:p>
          <a:p>
            <a:r>
              <a:t>- }</a:t>
            </a:r>
          </a:p>
          <a:p>
            <a:r>
              <a:t>- </a:t>
            </a:r>
          </a:p>
          <a:p>
            <a:r>
              <a:t>- func (s *Store) GetQueryCount() int {</a:t>
            </a:r>
          </a:p>
          <a:p>
            <a:r>
              <a:t>-     s.mu.Lock()</a:t>
            </a:r>
          </a:p>
          <a:p>
            <a:r>
              <a:t>-     defer s.mu.Unlock()</a:t>
            </a:r>
          </a:p>
          <a:p>
            <a:r>
              <a:t>-     return s.queryCount</a:t>
            </a:r>
          </a:p>
          <a:p>
            <a:r>
              <a:t>- }</a:t>
            </a:r>
          </a:p>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19: Analisis Mendalam: Deep Equality Assurance</a:t>
            </a:r>
          </a:p>
          <a:p/>
          <a:p>
            <a:r>
              <a:t>Mental Model: Deep equality = behavioral equivalence between naive and optimized approaches.</a:t>
            </a:r>
          </a:p>
          <a:p/>
          <a:p>
            <a:r>
              <a:t>[EQUALITY CHECK]</a:t>
            </a:r>
          </a:p>
          <a:p>
            <a:r>
              <a:t>- if !reflect.DeepEqual(result, nPlusOneResult) {</a:t>
            </a:r>
          </a:p>
          <a:p>
            <a:r>
              <a:t>-     t.Errorf("eager result mismatch with N+1 result:\nEager: %+v\nN+1: %+v", result, nPlusOneResult)</a:t>
            </a:r>
          </a:p>
          <a:p>
            <a:r>
              <a:t>- }</a:t>
            </a:r>
          </a:p>
          <a:p>
            <a:r>
              <a:t>[MAKNA ASSERTION]</a:t>
            </a:r>
          </a:p>
          <a:p>
            <a:r>
              <a:t>- Structural equality: semua field Author dan Posts harus sama.</a:t>
            </a:r>
          </a:p>
          <a:p>
            <a:r>
              <a:t>- Order preservation: slice order harus identik.</a:t>
            </a:r>
          </a:p>
          <a:p>
            <a:r>
              <a:t>- Nil safety: empty slice vs nil slice dianggap berbeda.</a:t>
            </a:r>
          </a:p>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20: Checklist Implementasi Eager Loading</a:t>
            </a:r>
          </a:p>
          <a:p/>
          <a:p>
            <a:r>
              <a:t>Mental Model: Checklist ensures systematic adoption of eager loading best practices.</a:t>
            </a:r>
          </a:p>
          <a:p/>
          <a:p>
            <a:r>
              <a:t>[IMPLEMENTATION CHECKLIST]</a:t>
            </a:r>
          </a:p>
          <a:p>
            <a:r>
              <a:t>- [ ] Profiling query count dilakukan sebelum deploy ke production</a:t>
            </a:r>
          </a:p>
          <a:p>
            <a:r>
              <a:t>- [ ] Lazy loading dalam loop diaudit dan diganti dengan batch/eager loading</a:t>
            </a:r>
          </a:p>
          <a:p>
            <a:r>
              <a:t>- [ ] Eager loading dilakukan per-query, bukan per-mapping (hindari FetchType.EAGER global)</a:t>
            </a:r>
          </a:p>
          <a:p>
            <a:r>
              <a:t>- [ ] Cartesian explosion dicek untuk relasi one-to-many/many-to-many</a:t>
            </a:r>
          </a:p>
          <a:p>
            <a:r>
              <a:t>- [ ] Column selection (SELECT col1, col2) digunakan ketika full entity tidak dibutuhkan</a:t>
            </a:r>
          </a:p>
          <a:p>
            <a:r>
              <a:t>- [ ] Pagination diterapkan untuk hasil yang besar</a:t>
            </a:r>
          </a:p>
          <a:p>
            <a:r>
              <a:t>- [ ] Query count diuji otomatis (unit/integration test)</a:t>
            </a:r>
          </a:p>
          <a:p>
            <a:r>
              <a:t>- [ ] Strict loading mode dipertimbangkan untuk ORM yang mendukungnya</a:t>
            </a:r>
          </a:p>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21: Anti-Pattern: Mapping-Level Eager Loading</a:t>
            </a:r>
          </a:p>
          <a:p/>
          <a:p>
            <a:r>
              <a:t>Mental Model: Global eager fetching causes memory bloat; prefer query-level selective batching.</a:t>
            </a:r>
          </a:p>
          <a:p/>
          <a:p>
            <a:r>
              <a:t>[ANTI-PATTERN CODE]</a:t>
            </a:r>
          </a:p>
          <a:p>
            <a:r>
              <a:t>- @Entity</a:t>
            </a:r>
          </a:p>
          <a:p>
            <a:r>
              <a:t>- public class Author {</a:t>
            </a:r>
          </a:p>
          <a:p>
            <a:r>
              <a:t>-     @Id</a:t>
            </a:r>
          </a:p>
          <a:p>
            <a:r>
              <a:t>-     private Long id;</a:t>
            </a:r>
          </a:p>
          <a:p>
            <a:r>
              <a:t>- </a:t>
            </a:r>
          </a:p>
          <a:p>
            <a:r>
              <a:t>-     @OneToMany(fetch = FetchType.EAGER)  // ANTI-PATTERN</a:t>
            </a:r>
          </a:p>
          <a:p>
            <a:r>
              <a:t>-     private List&lt;Post&gt; posts;</a:t>
            </a:r>
          </a:p>
          <a:p>
            <a:r>
              <a:t>- }</a:t>
            </a:r>
          </a:p>
          <a:p>
            <a:r>
              <a:t>[DAMPAK]</a:t>
            </a:r>
          </a:p>
          <a:p>
            <a:r>
              <a:t>- Semua relasi dideklarasikan eager secara global.</a:t>
            </a:r>
          </a:p>
          <a:p>
            <a:r>
              <a:t>- Entitas tidak relevan ikut ter-load.</a:t>
            </a:r>
          </a:p>
          <a:p>
            <a:r>
              <a:t>- Memory bloat dan kemungkinan OOM pada dataset besar.</a:t>
            </a:r>
          </a:p>
          <a:p>
            <a:r>
              <a:t>- Berbeda dengan query-level eager loading yang selektif.</a:t>
            </a:r>
          </a:p>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22: Takeaway Praktis: Cara Mencegah N+1</a:t>
            </a:r>
          </a:p>
          <a:p/>
          <a:p>
            <a:r>
              <a:t>Mental Model: Profile → Verify → Integrate: make query counting part of your CI.</a:t>
            </a:r>
          </a:p>
          <a:p/>
          <a:p>
            <a:r>
              <a:t>[COMMAND BLOCK]</a:t>
            </a:r>
          </a:p>
          <a:p>
            <a:r>
              <a:t>- # Jalankan demo N+1 vs Eager Loading</a:t>
            </a:r>
          </a:p>
          <a:p>
            <a:r>
              <a:t>- go run ./cmd/demo</a:t>
            </a:r>
          </a:p>
          <a:p>
            <a:r>
              <a:t>- </a:t>
            </a:r>
          </a:p>
          <a:p>
            <a:r>
              <a:t>- # Jalankan test dengan query counter</a:t>
            </a:r>
          </a:p>
          <a:p>
            <a:r>
              <a:t>- go test -v ./internal/blog</a:t>
            </a:r>
          </a:p>
          <a:p>
            <a:r>
              <a:t>- </a:t>
            </a:r>
          </a:p>
          <a:p>
            <a:r>
              <a:t>- # Race detection</a:t>
            </a:r>
          </a:p>
          <a:p>
            <a:r>
              <a:t>- go test -race ./...</a:t>
            </a:r>
          </a:p>
          <a:p>
            <a:r>
              <a:t>- </a:t>
            </a:r>
          </a:p>
          <a:p>
            <a:r>
              <a:t>- # Profile query count</a:t>
            </a:r>
          </a:p>
          <a:p>
            <a:r>
              <a:t>- go test -count=10 ./internal/blog</a:t>
            </a:r>
          </a:p>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23: Prinsip Arsitektural Jangka Panjang</a:t>
            </a:r>
          </a:p>
          <a:p/>
          <a:p>
            <a:r>
              <a:t>Mental Model: Batching is fundamental; measure, trade memory for latency, integrate into CI.</a:t>
            </a:r>
          </a:p>
          <a:p/>
          <a:p>
            <a:r>
              <a:t>[PRINSIP UTAMA]</a:t>
            </a:r>
          </a:p>
          <a:p>
            <a:r>
              <a:t>- Minimize database round-trips: batching &gt; sequential queries.</a:t>
            </a:r>
          </a:p>
          <a:p>
            <a:r>
              <a:t>- Measure before optimizing: query counter provides concrete evidence.</a:t>
            </a:r>
          </a:p>
          <a:p>
            <a:r>
              <a:t>- Trade memory for latency: accept higher memory usage for lower query count.</a:t>
            </a:r>
          </a:p>
          <a:p>
            <a:r>
              <a:t>- Prefer query-level over mapping-level: selective vs global eager loading.</a:t>
            </a:r>
          </a:p>
          <a:p>
            <a:r>
              <a:t>- Integrate into CI: automated query count tests prevent regressions.</a:t>
            </a:r>
          </a:p>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24: Terima Kasih</a:t>
            </a:r>
          </a:p>
          <a:p/>
          <a:p>
            <a:r>
              <a:t>Mental Model: N+1 solved through measurement, batching, and automated verification.</a:t>
            </a:r>
          </a:p>
          <a:p/>
          <a:p>
            <a:r>
              <a:t>[CLOSING INFO]</a:t>
            </a:r>
          </a:p>
          <a:p>
            <a:r>
              <a:t>- Repo: https://github.com/lukman-ss/software-engineering-lab/tree/main/labs/22-n-plus-one-query-problem</a:t>
            </a:r>
          </a:p>
          <a:p>
            <a:r>
              <a:t>- Commit: 13224b48a35ba08f4a350b7d160ae4826f9e1f55</a:t>
            </a:r>
          </a:p>
          <a:p>
            <a:r>
              <a:t>- Author: Lukman / lukman-ss</a:t>
            </a:r>
          </a:p>
          <a:p>
            <a:r>
              <a:t>- </a:t>
            </a:r>
          </a:p>
          <a:p>
            <a:r>
              <a:t>- Lab seri Software Engineering Lab</a:t>
            </a:r>
          </a:p>
          <a:p>
            <a:r>
              <a:t>- Oleh: Lukman / lukman-ss</a:t>
            </a:r>
          </a:p>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1B2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14400" y="914400"/>
            <a:ext cx="10362895" cy="548640"/>
          </a:xfrm>
          <a:prstGeom prst="rect">
            <a:avLst/>
          </a:prstGeom>
          <a:noFill/>
        </p:spPr>
        <p:txBody>
          <a:bodyPr wrap="square">
            <a:spAutoFit/>
          </a:bodyPr>
          <a:lstStyle/>
          <a:p>
            <a:pPr>
              <a:defRPr sz="1600" b="1">
                <a:solidFill>
                  <a:srgbClr val="087F76"/>
                </a:solidFill>
              </a:defRPr>
            </a:pPr>
            <a:r>
              <a:t>SOFTWARE ENGINEERING LAB | LAB 22</a:t>
            </a:r>
          </a:p>
        </p:txBody>
      </p:sp>
      <p:sp>
        <p:nvSpPr>
          <p:cNvPr id="4" name="TextBox 3"/>
          <p:cNvSpPr txBox="1"/>
          <p:nvPr/>
        </p:nvSpPr>
        <p:spPr>
          <a:xfrm>
            <a:off x="914400" y="1645920"/>
            <a:ext cx="10362895" cy="1463040"/>
          </a:xfrm>
          <a:prstGeom prst="rect">
            <a:avLst/>
          </a:prstGeom>
          <a:noFill/>
        </p:spPr>
        <p:txBody>
          <a:bodyPr wrap="square">
            <a:spAutoFit/>
          </a:bodyPr>
          <a:lstStyle/>
          <a:p>
            <a:pPr>
              <a:defRPr sz="4400" b="1">
                <a:solidFill>
                  <a:srgbClr val="FFFFFF"/>
                </a:solidFill>
              </a:defRPr>
            </a:pPr>
            <a:r>
              <a:t>N+1 Query Problem</a:t>
            </a:r>
          </a:p>
        </p:txBody>
      </p:sp>
      <p:sp>
        <p:nvSpPr>
          <p:cNvPr id="5" name="TextBox 4"/>
          <p:cNvSpPr txBox="1"/>
          <p:nvPr/>
        </p:nvSpPr>
        <p:spPr>
          <a:xfrm>
            <a:off x="914400" y="3291840"/>
            <a:ext cx="10362895" cy="914400"/>
          </a:xfrm>
          <a:prstGeom prst="rect">
            <a:avLst/>
          </a:prstGeom>
          <a:noFill/>
        </p:spPr>
        <p:txBody>
          <a:bodyPr wrap="square">
            <a:spAutoFit/>
          </a:bodyPr>
          <a:lstStyle/>
          <a:p>
            <a:pPr>
              <a:defRPr sz="2200">
                <a:solidFill>
                  <a:srgbClr val="F4F1E8"/>
                </a:solidFill>
              </a:defRPr>
            </a:pPr>
            <a:r>
              <a:t>Membunuh Latensi Tersembunyi dengan Eager Loading</a:t>
            </a:r>
          </a:p>
        </p:txBody>
      </p:sp>
      <p:sp>
        <p:nvSpPr>
          <p:cNvPr id="6" name="TextBox 5"/>
          <p:cNvSpPr txBox="1"/>
          <p:nvPr/>
        </p:nvSpPr>
        <p:spPr>
          <a:xfrm>
            <a:off x="914400" y="5303520"/>
            <a:ext cx="5486400" cy="548640"/>
          </a:xfrm>
          <a:prstGeom prst="rect">
            <a:avLst/>
          </a:prstGeom>
          <a:noFill/>
        </p:spPr>
        <p:txBody>
          <a:bodyPr wrap="none">
            <a:spAutoFit/>
          </a:bodyPr>
          <a:lstStyle/>
          <a:p>
            <a:pPr>
              <a:defRPr sz="1800" b="1">
                <a:solidFill>
                  <a:srgbClr val="D97706"/>
                </a:solidFill>
              </a:defRPr>
            </a:pPr>
            <a:r>
              <a:t>Lukman / lukman-ss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1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728655" cy="365760"/>
          </a:xfrm>
          <a:prstGeom prst="rect">
            <a:avLst/>
          </a:prstGeom>
          <a:noFill/>
        </p:spPr>
        <p:txBody>
          <a:bodyPr wrap="none">
            <a:spAutoFit/>
          </a:bodyPr>
          <a:lstStyle/>
          <a:p>
            <a:pPr>
              <a:defRPr sz="1300" b="1">
                <a:solidFill>
                  <a:srgbClr val="087F76"/>
                </a:solidFill>
              </a:defRPr>
            </a:pPr>
            <a:r>
              <a:t>SOFTWARE ENGINEERING LAB | LAB 22</a:t>
            </a:r>
          </a:p>
        </p:txBody>
      </p:sp>
      <p:sp>
        <p:nvSpPr>
          <p:cNvPr id="4" name="TextBox 3"/>
          <p:cNvSpPr txBox="1"/>
          <p:nvPr/>
        </p:nvSpPr>
        <p:spPr>
          <a:xfrm>
            <a:off x="731520" y="685800"/>
            <a:ext cx="10728655" cy="640080"/>
          </a:xfrm>
          <a:prstGeom prst="rect">
            <a:avLst/>
          </a:prstGeom>
          <a:noFill/>
        </p:spPr>
        <p:txBody>
          <a:bodyPr wrap="square">
            <a:spAutoFit/>
          </a:bodyPr>
          <a:lstStyle/>
          <a:p>
            <a:pPr>
              <a:defRPr sz="2400" b="1">
                <a:solidFill>
                  <a:srgbClr val="0B1B2D"/>
                </a:solidFill>
              </a:defRPr>
            </a:pPr>
            <a:r>
              <a:t>Masalah Nyata: N+1 Query Menyembunyikan Latensi</a:t>
            </a:r>
          </a:p>
        </p:txBody>
      </p:sp>
      <p:sp>
        <p:nvSpPr>
          <p:cNvPr id="5" name="TextBox 4"/>
          <p:cNvSpPr txBox="1"/>
          <p:nvPr/>
        </p:nvSpPr>
        <p:spPr>
          <a:xfrm>
            <a:off x="731520" y="1280160"/>
            <a:ext cx="10728655" cy="457200"/>
          </a:xfrm>
          <a:prstGeom prst="rect">
            <a:avLst/>
          </a:prstGeom>
          <a:noFill/>
        </p:spPr>
        <p:txBody>
          <a:bodyPr wrap="square">
            <a:spAutoFit/>
          </a:bodyPr>
          <a:lstStyle/>
          <a:p>
            <a:pPr>
              <a:defRPr sz="1300">
                <a:solidFill>
                  <a:srgbClr val="52606B"/>
                </a:solidFill>
              </a:defRPr>
            </a:pPr>
            <a:r>
              <a:t>Kode berfungsi sempurna pada data kecil, tetapi anjlok di produksi.</a:t>
            </a:r>
          </a:p>
        </p:txBody>
      </p:sp>
      <p:sp>
        <p:nvSpPr>
          <p:cNvPr id="6" name="TextBox 5"/>
          <p:cNvSpPr txBox="1"/>
          <p:nvPr/>
        </p:nvSpPr>
        <p:spPr>
          <a:xfrm>
            <a:off x="731520" y="1828800"/>
            <a:ext cx="5120640" cy="3383280"/>
          </a:xfrm>
          <a:prstGeom prst="rect">
            <a:avLst/>
          </a:prstGeom>
          <a:noFill/>
        </p:spPr>
        <p:txBody>
          <a:bodyPr wrap="square">
            <a:spAutoFit/>
          </a:bodyPr>
          <a:lstStyle/>
          <a:p>
            <a:pPr>
              <a:defRPr sz="1200" b="1">
                <a:solidFill>
                  <a:srgbClr val="087F76"/>
                </a:solidFill>
              </a:defRPr>
            </a:pPr>
            <a:r>
              <a:t>SILENT LATENCY</a:t>
            </a:r>
          </a:p>
          <a:p>
            <a:pPr>
              <a:spcAft>
                <a:spcPts val="400"/>
              </a:spcAft>
              <a:defRPr sz="1200">
                <a:solidFill>
                  <a:srgbClr val="0B1B2D"/>
                </a:solidFill>
              </a:defRPr>
            </a:pPr>
            <a:r>
              <a:t>• Setiap query individual berlatensi rendah (sub-milidetik).</a:t>
            </a:r>
          </a:p>
          <a:p>
            <a:pPr>
              <a:spcAft>
                <a:spcPts val="400"/>
              </a:spcAft>
              <a:defRPr sz="1200">
                <a:solidFill>
                  <a:srgbClr val="0B1B2D"/>
                </a:solidFill>
              </a:defRPr>
            </a:pPr>
            <a:r>
              <a:t>• Latensi akumulatif tumbuh linear dengan jumlah record.</a:t>
            </a:r>
          </a:p>
          <a:p>
            <a:pPr>
              <a:spcAft>
                <a:spcPts val="400"/>
              </a:spcAft>
              <a:defRPr sz="1200">
                <a:solidFill>
                  <a:srgbClr val="0B1B2D"/>
                </a:solidFill>
              </a:defRPr>
            </a:pPr>
            <a:r>
              <a:t>• Pada dataset besar, request bisa memakan waktu berdetik-detik.</a:t>
            </a:r>
          </a:p>
          <a:p>
            <a:pPr>
              <a:defRPr sz="1200" b="1">
                <a:solidFill>
                  <a:srgbClr val="087F76"/>
                </a:solidFill>
              </a:defRPr>
            </a:pPr>
            <a:r>
              <a:t>CONNECTION POOL EXHAUSTION</a:t>
            </a:r>
          </a:p>
          <a:p>
            <a:pPr>
              <a:spcAft>
                <a:spcPts val="400"/>
              </a:spcAft>
              <a:defRPr sz="1200">
                <a:solidFill>
                  <a:srgbClr val="0B1B2D"/>
                </a:solidFill>
              </a:defRPr>
            </a:pPr>
            <a:r>
              <a:t>• Setiap request N+1 menghabiskan banyak slot koneksi database.</a:t>
            </a:r>
          </a:p>
          <a:p>
            <a:pPr>
              <a:spcAft>
                <a:spcPts val="400"/>
              </a:spcAft>
              <a:defRPr sz="1200">
                <a:solidFill>
                  <a:srgbClr val="0B1B2D"/>
                </a:solidFill>
              </a:defRPr>
            </a:pPr>
            <a:r>
              <a:t>• Under concurrent load, pool terdrain secara sequential.</a:t>
            </a:r>
          </a:p>
          <a:p>
            <a:pPr>
              <a:spcAft>
                <a:spcPts val="400"/>
              </a:spcAft>
              <a:defRPr sz="1200">
                <a:solidFill>
                  <a:srgbClr val="0B1B2D"/>
                </a:solidFill>
              </a:defRPr>
            </a:pPr>
            <a:r>
              <a:t>• Bisa menyebabkan connection timeout cascade.</a:t>
            </a:r>
          </a:p>
          <a:p>
            <a:pPr>
              <a:defRPr sz="1200" b="1">
                <a:solidFill>
                  <a:srgbClr val="087F76"/>
                </a:solidFill>
              </a:defRPr>
            </a:pPr>
            <a:r>
              <a:t>HARD TO DETECT</a:t>
            </a:r>
          </a:p>
          <a:p>
            <a:pPr>
              <a:spcAft>
                <a:spcPts val="400"/>
              </a:spcAft>
              <a:defRPr sz="1200">
                <a:solidFill>
                  <a:srgbClr val="0B1B2D"/>
                </a:solidFill>
              </a:defRPr>
            </a:pPr>
            <a:r>
              <a:t>• Slow query logs tidak menangkap karena tiap query cepat.</a:t>
            </a:r>
          </a:p>
          <a:p>
            <a:pPr>
              <a:spcAft>
                <a:spcPts val="400"/>
              </a:spcAft>
              <a:defRPr sz="1200">
                <a:solidFill>
                  <a:srgbClr val="0B1B2D"/>
                </a:solidFill>
              </a:defRPr>
            </a:pPr>
            <a:r>
              <a:t>• Performa hanya terlihat jelas pada skala produksi.</a:t>
            </a:r>
          </a:p>
          <a:p>
            <a:pPr>
              <a:spcAft>
                <a:spcPts val="400"/>
              </a:spcAft>
              <a:defRPr sz="1200">
                <a:solidFill>
                  <a:srgbClr val="0B1B2D"/>
                </a:solidFill>
              </a:defRPr>
            </a:pPr>
            <a:r>
              <a:t>• Unit test tanpa query counter gagal mendeteksi masalah.</a:t>
            </a:r>
          </a:p>
        </p:txBody>
      </p:sp>
      <p:sp>
        <p:nvSpPr>
          <p:cNvPr id="7" name="TextBox 6"/>
          <p:cNvSpPr txBox="1"/>
          <p:nvPr/>
        </p:nvSpPr>
        <p:spPr>
          <a:xfrm>
            <a:off x="6217920" y="1828800"/>
            <a:ext cx="5303520" cy="3383280"/>
          </a:xfrm>
          <a:prstGeom prst="rect">
            <a:avLst/>
          </a:prstGeom>
          <a:noFill/>
        </p:spPr>
        <p:txBody>
          <a:bodyPr wrap="square">
            <a:spAutoFit/>
          </a:bodyPr>
          <a:lstStyle/>
          <a:p>
            <a:pPr>
              <a:lnSpc>
                <a:spcPct val="135000"/>
              </a:lnSpc>
              <a:defRPr sz="1300">
                <a:solidFill>
                  <a:srgbClr val="0B1B2D"/>
                </a:solidFill>
              </a:defRPr>
            </a:pPr>
            <a:r>
              <a:t>Masalah N+1 query sering lolos dari deteksi selama pengembangan karena dataset uji coba berukuran kecil. Setiap query individual berjalan cepat, sehingga developer tidak menyadari bahwa pola loop dengan query di dalamnya akan menghasilkan N kali round-trip ke database. Pada produksi dengan ribuan record, latensi akumulatif ini dapat meningkatkan response time dari ratusan milidetik menjadi beberapa detik. Selain itu, pola ini juga menekan connection pool database karena setiap request memerlukan banyak koneksi sequential.</a:t>
            </a:r>
          </a:p>
        </p:txBody>
      </p:sp>
      <p:sp>
        <p:nvSpPr>
          <p:cNvPr id="8" name="Rectangle 7"/>
          <p:cNvSpPr/>
          <p:nvPr/>
        </p:nvSpPr>
        <p:spPr>
          <a:xfrm>
            <a:off x="731520" y="5394960"/>
            <a:ext cx="10728655" cy="594360"/>
          </a:xfrm>
          <a:prstGeom prst="rect">
            <a:avLst/>
          </a:prstGeom>
          <a:solidFill>
            <a:srgbClr val="087F7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300" b="1">
                <a:solidFill>
                  <a:srgbClr val="FFFFFF"/>
                </a:solidFill>
              </a:defRPr>
            </a:pPr>
            <a:r>
              <a:t>Small dataset testing hides N+1; production scale exposes accumulated query overhead.</a:t>
            </a:r>
          </a:p>
        </p:txBody>
      </p:sp>
      <p:sp>
        <p:nvSpPr>
          <p:cNvPr id="9" name="TextBox 8"/>
          <p:cNvSpPr txBox="1"/>
          <p:nvPr/>
        </p:nvSpPr>
        <p:spPr>
          <a:xfrm>
            <a:off x="731520" y="6263640"/>
            <a:ext cx="7315200" cy="320040"/>
          </a:xfrm>
          <a:prstGeom prst="rect">
            <a:avLst/>
          </a:prstGeom>
          <a:noFill/>
        </p:spPr>
        <p:txBody>
          <a:bodyPr wrap="none">
            <a:spAutoFit/>
          </a:bodyPr>
          <a:lstStyle/>
          <a:p>
            <a:pPr>
              <a:defRPr sz="1000">
                <a:solidFill>
                  <a:srgbClr val="52606B"/>
                </a:solidFill>
              </a:defRPr>
            </a:pPr>
            <a:r>
              <a:t>labs/22-n-plus-one-query-problem/content/02-master-draft.md</a:t>
            </a:r>
          </a:p>
        </p:txBody>
      </p:sp>
      <p:sp>
        <p:nvSpPr>
          <p:cNvPr id="10" name="TextBox 9"/>
          <p:cNvSpPr txBox="1"/>
          <p:nvPr/>
        </p:nvSpPr>
        <p:spPr>
          <a:xfrm>
            <a:off x="8686800" y="6263640"/>
            <a:ext cx="2743200" cy="320040"/>
          </a:xfrm>
          <a:prstGeom prst="rect">
            <a:avLst/>
          </a:prstGeom>
          <a:noFill/>
        </p:spPr>
        <p:txBody>
          <a:bodyPr wrap="none">
            <a:spAutoFit/>
          </a:bodyPr>
          <a:lstStyle/>
          <a:p>
            <a:pPr algn="r">
              <a:defRPr sz="1000" b="1">
                <a:solidFill>
                  <a:srgbClr val="52606B"/>
                </a:solidFill>
              </a:defRPr>
            </a:pPr>
            <a:r>
              <a:t>02 / 24</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1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728655" cy="365760"/>
          </a:xfrm>
          <a:prstGeom prst="rect">
            <a:avLst/>
          </a:prstGeom>
          <a:noFill/>
        </p:spPr>
        <p:txBody>
          <a:bodyPr wrap="none">
            <a:spAutoFit/>
          </a:bodyPr>
          <a:lstStyle/>
          <a:p>
            <a:pPr>
              <a:defRPr sz="1300" b="1">
                <a:solidFill>
                  <a:srgbClr val="087F76"/>
                </a:solidFill>
              </a:defRPr>
            </a:pPr>
            <a:r>
              <a:t>SOFTWARE ENGINEERING LAB | LAB 22</a:t>
            </a:r>
          </a:p>
        </p:txBody>
      </p:sp>
      <p:sp>
        <p:nvSpPr>
          <p:cNvPr id="4" name="TextBox 3"/>
          <p:cNvSpPr txBox="1"/>
          <p:nvPr/>
        </p:nvSpPr>
        <p:spPr>
          <a:xfrm>
            <a:off x="731520" y="685800"/>
            <a:ext cx="10728655" cy="640080"/>
          </a:xfrm>
          <a:prstGeom prst="rect">
            <a:avLst/>
          </a:prstGeom>
          <a:noFill/>
        </p:spPr>
        <p:txBody>
          <a:bodyPr wrap="square">
            <a:spAutoFit/>
          </a:bodyPr>
          <a:lstStyle/>
          <a:p>
            <a:pPr>
              <a:defRPr sz="2400" b="1">
                <a:solidFill>
                  <a:srgbClr val="0B1B2D"/>
                </a:solidFill>
              </a:defRPr>
            </a:pPr>
            <a:r>
              <a:t>Mengapa Pendekatan Naif Gagal?</a:t>
            </a:r>
          </a:p>
        </p:txBody>
      </p:sp>
      <p:sp>
        <p:nvSpPr>
          <p:cNvPr id="5" name="TextBox 4"/>
          <p:cNvSpPr txBox="1"/>
          <p:nvPr/>
        </p:nvSpPr>
        <p:spPr>
          <a:xfrm>
            <a:off x="731520" y="1280160"/>
            <a:ext cx="10728655" cy="457200"/>
          </a:xfrm>
          <a:prstGeom prst="rect">
            <a:avLst/>
          </a:prstGeom>
          <a:noFill/>
        </p:spPr>
        <p:txBody>
          <a:bodyPr wrap="square">
            <a:spAutoFit/>
          </a:bodyPr>
          <a:lstStyle/>
          <a:p>
            <a:pPr>
              <a:defRPr sz="1300">
                <a:solidFill>
                  <a:srgbClr val="52606B"/>
                </a:solidFill>
              </a:defRPr>
            </a:pPr>
            <a:r>
              <a:t>Kode N+1 terlihat sederhana tetapi tidak scalable.</a:t>
            </a:r>
          </a:p>
        </p:txBody>
      </p:sp>
      <p:sp>
        <p:nvSpPr>
          <p:cNvPr id="6" name="Rounded Rectangle 5"/>
          <p:cNvSpPr/>
          <p:nvPr/>
        </p:nvSpPr>
        <p:spPr>
          <a:xfrm>
            <a:off x="731520" y="1828800"/>
            <a:ext cx="5120640" cy="3383280"/>
          </a:xfrm>
          <a:prstGeom prst="roundRect">
            <a:avLst/>
          </a:prstGeom>
          <a:solidFill>
            <a:srgbClr val="0B1B2D"/>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100">
                <a:solidFill>
                  <a:srgbClr val="E2E8F0"/>
                </a:solidFill>
                <a:latin typeface="Courier New"/>
              </a:defRPr>
            </a:pPr>
            <a:r>
              <a:t>func GetAuthorsWithPosts() []AuthorWithPosts {</a:t>
            </a:r>
            <a:br/>
            <a:r>
              <a:t>    authors := db.GetAllAuthors()</a:t>
            </a:r>
            <a:br/>
            <a:r>
              <a:t>    var result []AuthorWithPosts</a:t>
            </a:r>
            <a:br/>
            <a:r>
              <a:t>    for _, author := range authors {</a:t>
            </a:r>
            <a:br/>
            <a:r>
              <a:t>        posts := db.GetPostsByAuthorID(author.ID)</a:t>
            </a:r>
            <a:br/>
            <a:r>
              <a:t>        result = append(result, AuthorWithPosts{...})</a:t>
            </a:r>
            <a:br/>
            <a:r>
              <a:t>    }</a:t>
            </a:r>
            <a:br/>
            <a:r>
              <a:t>    return result</a:t>
            </a:r>
            <a:br/>
            <a:r>
              <a:t>}</a:t>
            </a:r>
          </a:p>
        </p:txBody>
      </p:sp>
      <p:sp>
        <p:nvSpPr>
          <p:cNvPr id="7" name="TextBox 6"/>
          <p:cNvSpPr txBox="1"/>
          <p:nvPr/>
        </p:nvSpPr>
        <p:spPr>
          <a:xfrm>
            <a:off x="6217920" y="1828800"/>
            <a:ext cx="5303520" cy="3383280"/>
          </a:xfrm>
          <a:prstGeom prst="rect">
            <a:avLst/>
          </a:prstGeom>
          <a:noFill/>
        </p:spPr>
        <p:txBody>
          <a:bodyPr wrap="square">
            <a:spAutoFit/>
          </a:bodyPr>
          <a:lstStyle/>
          <a:p>
            <a:pPr>
              <a:lnSpc>
                <a:spcPct val="135000"/>
              </a:lnSpc>
              <a:defRPr sz="1300">
                <a:solidFill>
                  <a:srgbClr val="0B1B2D"/>
                </a:solidFill>
              </a:defRPr>
            </a:pPr>
            <a:r>
              <a:t>Implementasi naive N+1 query tampaknya intuitif dan mudah dibaca: ambil semua author, lalu iterasi setiap author untuk mengambil posts-nya satu per satu. Namun, pendekatan ini menghasilkan jumlah query yang linear terhadap jumlah record parent. Pada sistem dengan 1000 author, akan terjadi 1001 query tunggal. Setiap query memerlukan handshake TCP, parsing SQL, eksekusi, dan pengiriman hasil. Akumulasi overhead ini menyebabkan latensi yang dapat ditoleransi pada dataset kecil tetapi menjadi bottlenecks serius pada skala produksi.</a:t>
            </a:r>
          </a:p>
        </p:txBody>
      </p:sp>
      <p:sp>
        <p:nvSpPr>
          <p:cNvPr id="8" name="Rectangle 7"/>
          <p:cNvSpPr/>
          <p:nvPr/>
        </p:nvSpPr>
        <p:spPr>
          <a:xfrm>
            <a:off x="731520" y="5394960"/>
            <a:ext cx="10728655" cy="594360"/>
          </a:xfrm>
          <a:prstGeom prst="rect">
            <a:avLst/>
          </a:prstGeom>
          <a:solidFill>
            <a:srgbClr val="087F7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300" b="1">
                <a:solidFill>
                  <a:srgbClr val="FFFFFF"/>
                </a:solidFill>
              </a:defRPr>
            </a:pPr>
            <a:r>
              <a:t>Naive nested loops produce O(N) queries; batching collapses it to O(1).</a:t>
            </a:r>
          </a:p>
        </p:txBody>
      </p:sp>
      <p:sp>
        <p:nvSpPr>
          <p:cNvPr id="9" name="TextBox 8"/>
          <p:cNvSpPr txBox="1"/>
          <p:nvPr/>
        </p:nvSpPr>
        <p:spPr>
          <a:xfrm>
            <a:off x="731520" y="6263640"/>
            <a:ext cx="7315200" cy="320040"/>
          </a:xfrm>
          <a:prstGeom prst="rect">
            <a:avLst/>
          </a:prstGeom>
          <a:noFill/>
        </p:spPr>
        <p:txBody>
          <a:bodyPr wrap="none">
            <a:spAutoFit/>
          </a:bodyPr>
          <a:lstStyle/>
          <a:p>
            <a:pPr>
              <a:defRPr sz="1000">
                <a:solidFill>
                  <a:srgbClr val="52606B"/>
                </a:solidFill>
              </a:defRPr>
            </a:pPr>
            <a:r>
              <a:t>internal/blog/repository.go:12-28</a:t>
            </a:r>
          </a:p>
        </p:txBody>
      </p:sp>
      <p:sp>
        <p:nvSpPr>
          <p:cNvPr id="10" name="TextBox 9"/>
          <p:cNvSpPr txBox="1"/>
          <p:nvPr/>
        </p:nvSpPr>
        <p:spPr>
          <a:xfrm>
            <a:off x="8686800" y="6263640"/>
            <a:ext cx="2743200" cy="320040"/>
          </a:xfrm>
          <a:prstGeom prst="rect">
            <a:avLst/>
          </a:prstGeom>
          <a:noFill/>
        </p:spPr>
        <p:txBody>
          <a:bodyPr wrap="none">
            <a:spAutoFit/>
          </a:bodyPr>
          <a:lstStyle/>
          <a:p>
            <a:pPr algn="r">
              <a:defRPr sz="1000" b="1">
                <a:solidFill>
                  <a:srgbClr val="52606B"/>
                </a:solidFill>
              </a:defRPr>
            </a:pPr>
            <a:r>
              <a:t>03 / 24</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1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728655" cy="365760"/>
          </a:xfrm>
          <a:prstGeom prst="rect">
            <a:avLst/>
          </a:prstGeom>
          <a:noFill/>
        </p:spPr>
        <p:txBody>
          <a:bodyPr wrap="none">
            <a:spAutoFit/>
          </a:bodyPr>
          <a:lstStyle/>
          <a:p>
            <a:pPr>
              <a:defRPr sz="1300" b="1">
                <a:solidFill>
                  <a:srgbClr val="087F76"/>
                </a:solidFill>
              </a:defRPr>
            </a:pPr>
            <a:r>
              <a:t>SOFTWARE ENGINEERING LAB | LAB 22</a:t>
            </a:r>
          </a:p>
        </p:txBody>
      </p:sp>
      <p:sp>
        <p:nvSpPr>
          <p:cNvPr id="4" name="TextBox 3"/>
          <p:cNvSpPr txBox="1"/>
          <p:nvPr/>
        </p:nvSpPr>
        <p:spPr>
          <a:xfrm>
            <a:off x="731520" y="685800"/>
            <a:ext cx="10728655" cy="640080"/>
          </a:xfrm>
          <a:prstGeom prst="rect">
            <a:avLst/>
          </a:prstGeom>
          <a:noFill/>
        </p:spPr>
        <p:txBody>
          <a:bodyPr wrap="square">
            <a:spAutoFit/>
          </a:bodyPr>
          <a:lstStyle/>
          <a:p>
            <a:pPr>
              <a:defRPr sz="2400" b="1">
                <a:solidFill>
                  <a:srgbClr val="0B1B2D"/>
                </a:solidFill>
              </a:defRPr>
            </a:pPr>
            <a:r>
              <a:t>Mental Model: Eager Loading via Batching</a:t>
            </a:r>
          </a:p>
        </p:txBody>
      </p:sp>
      <p:sp>
        <p:nvSpPr>
          <p:cNvPr id="5" name="TextBox 4"/>
          <p:cNvSpPr txBox="1"/>
          <p:nvPr/>
        </p:nvSpPr>
        <p:spPr>
          <a:xfrm>
            <a:off x="731520" y="1280160"/>
            <a:ext cx="10728655" cy="457200"/>
          </a:xfrm>
          <a:prstGeom prst="rect">
            <a:avLst/>
          </a:prstGeom>
          <a:noFill/>
        </p:spPr>
        <p:txBody>
          <a:bodyPr wrap="square">
            <a:spAutoFit/>
          </a:bodyPr>
          <a:lstStyle/>
          <a:p>
            <a:pPr>
              <a:defRPr sz="1300">
                <a:solidFill>
                  <a:srgbClr val="52606B"/>
                </a:solidFill>
              </a:defRPr>
            </a:pPr>
            <a:r>
              <a:t>Kumpulkan semua ID relasi, jalankan satu query batch, kelompokkan di memori.</a:t>
            </a:r>
          </a:p>
        </p:txBody>
      </p:sp>
      <p:sp>
        <p:nvSpPr>
          <p:cNvPr id="6" name="Rounded Rectangle 5"/>
          <p:cNvSpPr/>
          <p:nvPr/>
        </p:nvSpPr>
        <p:spPr>
          <a:xfrm>
            <a:off x="731520" y="1828800"/>
            <a:ext cx="5120640" cy="3383280"/>
          </a:xfrm>
          <a:prstGeom prst="roundRect">
            <a:avLst/>
          </a:prstGeom>
          <a:solidFill>
            <a:srgbClr val="0B1B2D"/>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100">
                <a:solidFill>
                  <a:srgbClr val="E2E8F0"/>
                </a:solidFill>
                <a:latin typeface="Courier New"/>
              </a:defRPr>
            </a:pPr>
            <a:r>
              <a:t>type Author struct { ID int; Name string }</a:t>
            </a:r>
            <a:br/>
            <a:r>
              <a:t>type Post struct { ID int; AuthorID int; Title string }</a:t>
            </a:r>
            <a:br/>
            <a:r>
              <a:t>type AuthorWithPosts struct {</a:t>
            </a:r>
            <a:br/>
            <a:r>
              <a:t>    Author Author</a:t>
            </a:r>
            <a:br/>
            <a:r>
              <a:t>    Posts  []Post</a:t>
            </a:r>
            <a:br/>
            <a:r>
              <a:t>}</a:t>
            </a:r>
          </a:p>
        </p:txBody>
      </p:sp>
      <p:sp>
        <p:nvSpPr>
          <p:cNvPr id="7" name="TextBox 6"/>
          <p:cNvSpPr txBox="1"/>
          <p:nvPr/>
        </p:nvSpPr>
        <p:spPr>
          <a:xfrm>
            <a:off x="6217920" y="1828800"/>
            <a:ext cx="5303520" cy="3383280"/>
          </a:xfrm>
          <a:prstGeom prst="rect">
            <a:avLst/>
          </a:prstGeom>
          <a:noFill/>
        </p:spPr>
        <p:txBody>
          <a:bodyPr wrap="square">
            <a:spAutoFit/>
          </a:bodyPr>
          <a:lstStyle/>
          <a:p>
            <a:pPr>
              <a:lnSpc>
                <a:spcPct val="135000"/>
              </a:lnSpc>
              <a:defRPr sz="1300">
                <a:solidFill>
                  <a:srgbClr val="0B1B2D"/>
                </a:solidFill>
              </a:defRPr>
            </a:pPr>
            <a:r>
              <a:t>Mental model inti untuk menyelesaikan N+1 query problem adalah eager loading melalui batching. Alih-alih melakukan query terpisah untuk setiap entitas parent, kita mengumpulkan semua identifier relasi yang dibutuhkan dalam satu slice. Kemudian kita menjalankan satu query batch dengan klausa IN yang mengambil semua record child sekaligus. Setelah hasil dikembalikan, kita mengelompokkannya di memori menggunakan map, lalu menyusun struktur data akhir tanpa query tambahan. Pendekatan ini mengubah kompleksitas query dari O(N) menjadi O(1).</a:t>
            </a:r>
          </a:p>
        </p:txBody>
      </p:sp>
      <p:sp>
        <p:nvSpPr>
          <p:cNvPr id="8" name="Rectangle 7"/>
          <p:cNvSpPr/>
          <p:nvPr/>
        </p:nvSpPr>
        <p:spPr>
          <a:xfrm>
            <a:off x="731520" y="5394960"/>
            <a:ext cx="10728655" cy="594360"/>
          </a:xfrm>
          <a:prstGeom prst="rect">
            <a:avLst/>
          </a:prstGeom>
          <a:solidFill>
            <a:srgbClr val="087F7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300" b="1">
                <a:solidFill>
                  <a:srgbClr val="FFFFFF"/>
                </a:solidFill>
              </a:defRPr>
            </a:pPr>
            <a:r>
              <a:t>Collect IDs, run one batch query, group in memory → replace N queries with 2.</a:t>
            </a:r>
          </a:p>
        </p:txBody>
      </p:sp>
      <p:sp>
        <p:nvSpPr>
          <p:cNvPr id="9" name="TextBox 8"/>
          <p:cNvSpPr txBox="1"/>
          <p:nvPr/>
        </p:nvSpPr>
        <p:spPr>
          <a:xfrm>
            <a:off x="731520" y="6263640"/>
            <a:ext cx="7315200" cy="320040"/>
          </a:xfrm>
          <a:prstGeom prst="rect">
            <a:avLst/>
          </a:prstGeom>
          <a:noFill/>
        </p:spPr>
        <p:txBody>
          <a:bodyPr wrap="none">
            <a:spAutoFit/>
          </a:bodyPr>
          <a:lstStyle/>
          <a:p>
            <a:pPr>
              <a:defRPr sz="1000">
                <a:solidFill>
                  <a:srgbClr val="52606B"/>
                </a:solidFill>
              </a:defRPr>
            </a:pPr>
            <a:r>
              <a:t>internal/blog/models.go • internal/blog/repository.go:32-58</a:t>
            </a:r>
          </a:p>
        </p:txBody>
      </p:sp>
      <p:sp>
        <p:nvSpPr>
          <p:cNvPr id="10" name="TextBox 9"/>
          <p:cNvSpPr txBox="1"/>
          <p:nvPr/>
        </p:nvSpPr>
        <p:spPr>
          <a:xfrm>
            <a:off x="8686800" y="6263640"/>
            <a:ext cx="2743200" cy="320040"/>
          </a:xfrm>
          <a:prstGeom prst="rect">
            <a:avLst/>
          </a:prstGeom>
          <a:noFill/>
        </p:spPr>
        <p:txBody>
          <a:bodyPr wrap="none">
            <a:spAutoFit/>
          </a:bodyPr>
          <a:lstStyle/>
          <a:p>
            <a:pPr algn="r">
              <a:defRPr sz="1000" b="1">
                <a:solidFill>
                  <a:srgbClr val="52606B"/>
                </a:solidFill>
              </a:defRPr>
            </a:pPr>
            <a:r>
              <a:t>04 / 24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1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728655" cy="365760"/>
          </a:xfrm>
          <a:prstGeom prst="rect">
            <a:avLst/>
          </a:prstGeom>
          <a:noFill/>
        </p:spPr>
        <p:txBody>
          <a:bodyPr wrap="none">
            <a:spAutoFit/>
          </a:bodyPr>
          <a:lstStyle/>
          <a:p>
            <a:pPr>
              <a:defRPr sz="1300" b="1">
                <a:solidFill>
                  <a:srgbClr val="087F76"/>
                </a:solidFill>
              </a:defRPr>
            </a:pPr>
            <a:r>
              <a:t>SOFTWARE ENGINEERING LAB | LAB 22</a:t>
            </a:r>
          </a:p>
        </p:txBody>
      </p:sp>
      <p:sp>
        <p:nvSpPr>
          <p:cNvPr id="4" name="TextBox 3"/>
          <p:cNvSpPr txBox="1"/>
          <p:nvPr/>
        </p:nvSpPr>
        <p:spPr>
          <a:xfrm>
            <a:off x="731520" y="685800"/>
            <a:ext cx="10728655" cy="640080"/>
          </a:xfrm>
          <a:prstGeom prst="rect">
            <a:avLst/>
          </a:prstGeom>
          <a:noFill/>
        </p:spPr>
        <p:txBody>
          <a:bodyPr wrap="square">
            <a:spAutoFit/>
          </a:bodyPr>
          <a:lstStyle/>
          <a:p>
            <a:pPr>
              <a:defRPr sz="2400" b="1">
                <a:solidFill>
                  <a:srgbClr val="0B1B2D"/>
                </a:solidFill>
              </a:defRPr>
            </a:pPr>
            <a:r>
              <a:t>Alur Eksekusi: Dari Loop Naif ke Batch Eager</a:t>
            </a:r>
          </a:p>
        </p:txBody>
      </p:sp>
      <p:sp>
        <p:nvSpPr>
          <p:cNvPr id="5" name="TextBox 4"/>
          <p:cNvSpPr txBox="1"/>
          <p:nvPr/>
        </p:nvSpPr>
        <p:spPr>
          <a:xfrm>
            <a:off x="731520" y="1280160"/>
            <a:ext cx="10728655" cy="457200"/>
          </a:xfrm>
          <a:prstGeom prst="rect">
            <a:avLst/>
          </a:prstGeom>
          <a:noFill/>
        </p:spPr>
        <p:txBody>
          <a:bodyPr wrap="square">
            <a:spAutoFit/>
          </a:bodyPr>
          <a:lstStyle/>
          <a:p>
            <a:pPr>
              <a:defRPr sz="1300">
                <a:solidFill>
                  <a:srgbClr val="52606B"/>
                </a:solidFill>
              </a:defRPr>
            </a:pPr>
            <a:r>
              <a:t>Komparasi pipeline N+1 versus eager loading batching.</a:t>
            </a:r>
          </a:p>
        </p:txBody>
      </p:sp>
      <p:sp>
        <p:nvSpPr>
          <p:cNvPr id="6" name="TextBox 5"/>
          <p:cNvSpPr txBox="1"/>
          <p:nvPr/>
        </p:nvSpPr>
        <p:spPr>
          <a:xfrm>
            <a:off x="731520" y="1828800"/>
            <a:ext cx="5120640" cy="3383280"/>
          </a:xfrm>
          <a:prstGeom prst="rect">
            <a:avLst/>
          </a:prstGeom>
          <a:noFill/>
        </p:spPr>
        <p:txBody>
          <a:bodyPr wrap="square">
            <a:spAutoFit/>
          </a:bodyPr>
          <a:lstStyle/>
          <a:p>
            <a:pPr>
              <a:defRPr sz="1200" b="1">
                <a:solidFill>
                  <a:srgbClr val="087F76"/>
                </a:solidFill>
              </a:defRPr>
            </a:pPr>
            <a:r>
              <a:t>N+1 PIPELINE</a:t>
            </a:r>
          </a:p>
          <a:p>
            <a:pPr>
              <a:spcAft>
                <a:spcPts val="400"/>
              </a:spcAft>
              <a:defRPr sz="1200">
                <a:solidFill>
                  <a:srgbClr val="0B1B2D"/>
                </a:solidFill>
              </a:defRPr>
            </a:pPr>
            <a:r>
              <a:t>1. App → DB: GetAllAuthors()</a:t>
            </a:r>
          </a:p>
          <a:p>
            <a:pPr>
              <a:spcAft>
                <a:spcPts val="400"/>
              </a:spcAft>
              <a:defRPr sz="1200">
                <a:solidFill>
                  <a:srgbClr val="0B1B2D"/>
                </a:solidFill>
              </a:defRPr>
            </a:pPr>
            <a:r>
              <a:t>   DB → App: [Alice, Bob, Charlie]</a:t>
            </a:r>
          </a:p>
          <a:p>
            <a:pPr>
              <a:spcAft>
                <a:spcPts val="400"/>
              </a:spcAft>
              <a:defRPr sz="1200">
                <a:solidFill>
                  <a:srgbClr val="0B1B2D"/>
                </a:solidFill>
              </a:defRPr>
            </a:pPr>
            <a:r>
              <a:t>• 2. Loop: for author in authors</a:t>
            </a:r>
          </a:p>
          <a:p>
            <a:pPr>
              <a:spcAft>
                <a:spcPts val="400"/>
              </a:spcAft>
              <a:defRPr sz="1200">
                <a:solidFill>
                  <a:srgbClr val="0B1B2D"/>
                </a:solidFill>
              </a:defRPr>
            </a:pPr>
            <a:r>
              <a:t>   App → DB: GetPostsByAuthorID(author.ID)</a:t>
            </a:r>
          </a:p>
          <a:p>
            <a:pPr>
              <a:spcAft>
                <a:spcPts val="400"/>
              </a:spcAft>
              <a:defRPr sz="1200">
                <a:solidFill>
                  <a:srgbClr val="0B1B2D"/>
                </a:solidFill>
              </a:defRPr>
            </a:pPr>
            <a:r>
              <a:t>   DB → App: posts untuk author</a:t>
            </a:r>
          </a:p>
          <a:p>
            <a:pPr>
              <a:spcAft>
                <a:spcPts val="400"/>
              </a:spcAft>
              <a:defRPr sz="1200">
                <a:solidFill>
                  <a:srgbClr val="0B1B2D"/>
                </a:solidFill>
              </a:defRPr>
            </a:pPr>
            <a:r>
              <a:t>• Total: 4 queries (1 + 3)</a:t>
            </a:r>
          </a:p>
          <a:p>
            <a:pPr>
              <a:defRPr sz="1200" b="1">
                <a:solidFill>
                  <a:srgbClr val="087F76"/>
                </a:solidFill>
              </a:defRPr>
            </a:pPr>
            <a:r>
              <a:t>EAGER PIPELINE</a:t>
            </a:r>
          </a:p>
          <a:p>
            <a:pPr>
              <a:spcAft>
                <a:spcPts val="400"/>
              </a:spcAft>
              <a:defRPr sz="1200">
                <a:solidFill>
                  <a:srgbClr val="0B1B2D"/>
                </a:solidFill>
              </a:defRPr>
            </a:pPr>
            <a:r>
              <a:t>1. App → DB: GetAllAuthors()</a:t>
            </a:r>
          </a:p>
          <a:p>
            <a:pPr>
              <a:spcAft>
                <a:spcPts val="400"/>
              </a:spcAft>
              <a:defRPr sz="1200">
                <a:solidFill>
                  <a:srgbClr val="0B1B2D"/>
                </a:solidFill>
              </a:defRPr>
            </a:pPr>
            <a:r>
              <a:t>   DB → App: [Alice, Bob, Charlie]</a:t>
            </a:r>
          </a:p>
          <a:p>
            <a:pPr>
              <a:spcAft>
                <a:spcPts val="400"/>
              </a:spcAft>
              <a:defRPr sz="1200">
                <a:solidFill>
                  <a:srgbClr val="0B1B2D"/>
                </a:solidFill>
              </a:defRPr>
            </a:pPr>
            <a:r>
              <a:t>• 2. Extract IDs: [1, 2, 3]</a:t>
            </a:r>
          </a:p>
          <a:p>
            <a:pPr>
              <a:spcAft>
                <a:spcPts val="400"/>
              </a:spcAft>
              <a:defRPr sz="1200">
                <a:solidFill>
                  <a:srgbClr val="0B1B2D"/>
                </a:solidFill>
              </a:defRPr>
            </a:pPr>
            <a:r>
              <a:t>3. App → DB: GetPostsByAuthorIDs([1,2,3])</a:t>
            </a:r>
          </a:p>
          <a:p>
            <a:pPr>
              <a:spcAft>
                <a:spcPts val="400"/>
              </a:spcAft>
              <a:defRPr sz="1200">
                <a:solidFill>
                  <a:srgbClr val="0B1B2D"/>
                </a:solidFill>
              </a:defRPr>
            </a:pPr>
            <a:r>
              <a:t>   DB → App: ALL posts</a:t>
            </a:r>
          </a:p>
          <a:p>
            <a:pPr>
              <a:spcAft>
                <a:spcPts val="400"/>
              </a:spcAft>
              <a:defRPr sz="1200">
                <a:solidFill>
                  <a:srgbClr val="0B1B2D"/>
                </a:solidFill>
              </a:defRPr>
            </a:pPr>
            <a:r>
              <a:t>• 4. Group by AuthorID in map</a:t>
            </a:r>
          </a:p>
          <a:p>
            <a:pPr>
              <a:spcAft>
                <a:spcPts val="400"/>
              </a:spcAft>
              <a:defRPr sz="1200">
                <a:solidFill>
                  <a:srgbClr val="0B1B2D"/>
                </a:solidFill>
              </a:defRPr>
            </a:pPr>
            <a:r>
              <a:t>• 5. Compose AuthorWithPosts</a:t>
            </a:r>
          </a:p>
          <a:p>
            <a:pPr>
              <a:spcAft>
                <a:spcPts val="400"/>
              </a:spcAft>
              <a:defRPr sz="1200">
                <a:solidFill>
                  <a:srgbClr val="0B1B2D"/>
                </a:solidFill>
              </a:defRPr>
            </a:pPr>
            <a:r>
              <a:t>• Total: 2 queries (1 + 1 batch)</a:t>
            </a:r>
          </a:p>
        </p:txBody>
      </p:sp>
      <p:sp>
        <p:nvSpPr>
          <p:cNvPr id="7" name="TextBox 6"/>
          <p:cNvSpPr txBox="1"/>
          <p:nvPr/>
        </p:nvSpPr>
        <p:spPr>
          <a:xfrm>
            <a:off x="6217920" y="1828800"/>
            <a:ext cx="5303520" cy="3383280"/>
          </a:xfrm>
          <a:prstGeom prst="rect">
            <a:avLst/>
          </a:prstGeom>
          <a:noFill/>
        </p:spPr>
        <p:txBody>
          <a:bodyPr wrap="square">
            <a:spAutoFit/>
          </a:bodyPr>
          <a:lstStyle/>
          <a:p>
            <a:pPr>
              <a:lnSpc>
                <a:spcPct val="135000"/>
              </a:lnSpc>
              <a:defRPr sz="1300">
                <a:solidFill>
                  <a:srgbClr val="0B1B2D"/>
                </a:solidFill>
              </a:defRPr>
            </a:pPr>
            <a:r>
              <a:t>Pipeline eksekusi N+1 dimulai dengan satu query untuk mengambil semua author, kemudian masuk ke loop untuk mengambil posts setiap author secara individual. Setiap iterasi loop menghasilkan satu round-trip database tambahan. Sebaliknya, pipeline eager loading juga memulai dengan query authors yang sama, tetapi kemudian mengekstrak semua author ID dan melakukan satu query batch menggunakan klausa IN. Hasil batch dikelompokkan dalam map memori sebelum akhirnya disusun ke struktur AuthorWithPosts. Perbedaan mendasar terletak pada pengurangan round-trip dari N menjadi 1.</a:t>
            </a:r>
          </a:p>
        </p:txBody>
      </p:sp>
      <p:sp>
        <p:nvSpPr>
          <p:cNvPr id="8" name="Rectangle 7"/>
          <p:cNvSpPr/>
          <p:nvPr/>
        </p:nvSpPr>
        <p:spPr>
          <a:xfrm>
            <a:off x="731520" y="5394960"/>
            <a:ext cx="10728655" cy="594360"/>
          </a:xfrm>
          <a:prstGeom prst="rect">
            <a:avLst/>
          </a:prstGeom>
          <a:solidFill>
            <a:srgbClr val="087F7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300" b="1">
                <a:solidFill>
                  <a:srgbClr val="FFFFFF"/>
                </a:solidFill>
              </a:defRPr>
            </a:pPr>
            <a:r>
              <a:t>Batching consolidates N sequential queries into one parallel fetch.</a:t>
            </a:r>
          </a:p>
        </p:txBody>
      </p:sp>
      <p:sp>
        <p:nvSpPr>
          <p:cNvPr id="9" name="TextBox 8"/>
          <p:cNvSpPr txBox="1"/>
          <p:nvPr/>
        </p:nvSpPr>
        <p:spPr>
          <a:xfrm>
            <a:off x="731520" y="6263640"/>
            <a:ext cx="7315200" cy="320040"/>
          </a:xfrm>
          <a:prstGeom prst="rect">
            <a:avLst/>
          </a:prstGeom>
          <a:noFill/>
        </p:spPr>
        <p:txBody>
          <a:bodyPr wrap="none">
            <a:spAutoFit/>
          </a:bodyPr>
          <a:lstStyle/>
          <a:p>
            <a:pPr>
              <a:defRPr sz="1000">
                <a:solidFill>
                  <a:srgbClr val="52606B"/>
                </a:solidFill>
              </a:defRPr>
            </a:pPr>
            <a:r>
              <a:t>internal/blog/store.go • internal/blog/repository.go</a:t>
            </a:r>
          </a:p>
        </p:txBody>
      </p:sp>
      <p:sp>
        <p:nvSpPr>
          <p:cNvPr id="10" name="TextBox 9"/>
          <p:cNvSpPr txBox="1"/>
          <p:nvPr/>
        </p:nvSpPr>
        <p:spPr>
          <a:xfrm>
            <a:off x="8686800" y="6263640"/>
            <a:ext cx="2743200" cy="320040"/>
          </a:xfrm>
          <a:prstGeom prst="rect">
            <a:avLst/>
          </a:prstGeom>
          <a:noFill/>
        </p:spPr>
        <p:txBody>
          <a:bodyPr wrap="none">
            <a:spAutoFit/>
          </a:bodyPr>
          <a:lstStyle/>
          <a:p>
            <a:pPr algn="r">
              <a:defRPr sz="1000" b="1">
                <a:solidFill>
                  <a:srgbClr val="52606B"/>
                </a:solidFill>
              </a:defRPr>
            </a:pPr>
            <a:r>
              <a:t>05 / 24</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1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728655" cy="365760"/>
          </a:xfrm>
          <a:prstGeom prst="rect">
            <a:avLst/>
          </a:prstGeom>
          <a:noFill/>
        </p:spPr>
        <p:txBody>
          <a:bodyPr wrap="none">
            <a:spAutoFit/>
          </a:bodyPr>
          <a:lstStyle/>
          <a:p>
            <a:pPr>
              <a:defRPr sz="1300" b="1">
                <a:solidFill>
                  <a:srgbClr val="087F76"/>
                </a:solidFill>
              </a:defRPr>
            </a:pPr>
            <a:r>
              <a:t>SOFTWARE ENGINEERING LAB | LAB 22</a:t>
            </a:r>
          </a:p>
        </p:txBody>
      </p:sp>
      <p:sp>
        <p:nvSpPr>
          <p:cNvPr id="4" name="TextBox 3"/>
          <p:cNvSpPr txBox="1"/>
          <p:nvPr/>
        </p:nvSpPr>
        <p:spPr>
          <a:xfrm>
            <a:off x="731520" y="685800"/>
            <a:ext cx="10728655" cy="640080"/>
          </a:xfrm>
          <a:prstGeom prst="rect">
            <a:avLst/>
          </a:prstGeom>
          <a:noFill/>
        </p:spPr>
        <p:txBody>
          <a:bodyPr wrap="square">
            <a:spAutoFit/>
          </a:bodyPr>
          <a:lstStyle/>
          <a:p>
            <a:pPr>
              <a:defRPr sz="2400" b="1">
                <a:solidFill>
                  <a:srgbClr val="0B1B2D"/>
                </a:solidFill>
              </a:defRPr>
            </a:pPr>
            <a:r>
              <a:t>Implementasi Eager Loading Batching</a:t>
            </a:r>
          </a:p>
        </p:txBody>
      </p:sp>
      <p:sp>
        <p:nvSpPr>
          <p:cNvPr id="5" name="TextBox 4"/>
          <p:cNvSpPr txBox="1"/>
          <p:nvPr/>
        </p:nvSpPr>
        <p:spPr>
          <a:xfrm>
            <a:off x="731520" y="1280160"/>
            <a:ext cx="10728655" cy="457200"/>
          </a:xfrm>
          <a:prstGeom prst="rect">
            <a:avLst/>
          </a:prstGeom>
          <a:noFill/>
        </p:spPr>
        <p:txBody>
          <a:bodyPr wrap="square">
            <a:spAutoFit/>
          </a:bodyPr>
          <a:lstStyle/>
          <a:p>
            <a:pPr>
              <a:defRPr sz="1300">
                <a:solidFill>
                  <a:srgbClr val="52606B"/>
                </a:solidFill>
              </a:defRPr>
            </a:pPr>
            <a:r>
              <a:t>Repository.go: GetAuthorsWithPostsEager — batch query + in-memory grouping.</a:t>
            </a:r>
          </a:p>
        </p:txBody>
      </p:sp>
      <p:sp>
        <p:nvSpPr>
          <p:cNvPr id="6" name="Rounded Rectangle 5"/>
          <p:cNvSpPr/>
          <p:nvPr/>
        </p:nvSpPr>
        <p:spPr>
          <a:xfrm>
            <a:off x="731520" y="1828800"/>
            <a:ext cx="5120640" cy="3383280"/>
          </a:xfrm>
          <a:prstGeom prst="roundRect">
            <a:avLst/>
          </a:prstGeom>
          <a:solidFill>
            <a:srgbClr val="0B1B2D"/>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100">
                <a:solidFill>
                  <a:srgbClr val="E2E8F0"/>
                </a:solidFill>
                <a:latin typeface="Courier New"/>
              </a:defRPr>
            </a:pPr>
            <a:r>
              <a:t>func (r *Repository) GetAuthorsWithPostsEager() []AuthorWithPosts {</a:t>
            </a:r>
            <a:br/>
            <a:r>
              <a:t>    authors := r.store.GetAllAuthors()</a:t>
            </a:r>
            <a:br/>
            <a:r>
              <a:t>    if len(authors) == 0 {</a:t>
            </a:r>
            <a:br/>
            <a:r>
              <a:t>        return []AuthorWithPosts{}</a:t>
            </a:r>
            <a:br/>
            <a:r>
              <a:t>    }</a:t>
            </a:r>
            <a:br/>
            <a:br/>
            <a:r>
              <a:t>    authorIDs := make([]int, len(authors))</a:t>
            </a:r>
            <a:br/>
            <a:r>
              <a:t>    for i, author := range authors {</a:t>
            </a:r>
            <a:br/>
            <a:r>
              <a:t>        authorIDs[i] = author.ID</a:t>
            </a:r>
            <a:br/>
            <a:r>
              <a:t>    }</a:t>
            </a:r>
            <a:br/>
            <a:br/>
            <a:r>
              <a:t>    allPosts := r.store.GetPostsByAuthorIDs(authorIDs)</a:t>
            </a:r>
            <a:br/>
            <a:br/>
            <a:r>
              <a:t>    postsByAuthor := make(map[int][]Post)</a:t>
            </a:r>
            <a:br/>
            <a:r>
              <a:t>    for _, post := range allPosts {</a:t>
            </a:r>
            <a:br/>
            <a:r>
              <a:t>        postsByAuthor[post.AuthorID] = append(postsByAuthor[post.AuthorID], post)</a:t>
            </a:r>
            <a:br/>
            <a:r>
              <a:t>    }</a:t>
            </a:r>
            <a:br/>
            <a:br/>
            <a:r>
              <a:t>    var result []AuthorWithPosts</a:t>
            </a:r>
            <a:br/>
            <a:r>
              <a:t>    for _, author := range authors {</a:t>
            </a:r>
            <a:br/>
            <a:r>
              <a:t>        result = append(result, AuthorWithPosts{</a:t>
            </a:r>
            <a:br/>
            <a:r>
              <a:t>            Author: author,</a:t>
            </a:r>
            <a:br/>
            <a:r>
              <a:t>            Posts:  postsByAuthor[author.ID],</a:t>
            </a:r>
            <a:br/>
            <a:r>
              <a:t>        })</a:t>
            </a:r>
            <a:br/>
            <a:r>
              <a:t>    }</a:t>
            </a:r>
            <a:br/>
            <a:r>
              <a:t>    return result</a:t>
            </a:r>
            <a:br/>
            <a:r>
              <a:t>}</a:t>
            </a:r>
          </a:p>
        </p:txBody>
      </p:sp>
      <p:sp>
        <p:nvSpPr>
          <p:cNvPr id="7" name="TextBox 6"/>
          <p:cNvSpPr txBox="1"/>
          <p:nvPr/>
        </p:nvSpPr>
        <p:spPr>
          <a:xfrm>
            <a:off x="6217920" y="1828800"/>
            <a:ext cx="5303520" cy="3383280"/>
          </a:xfrm>
          <a:prstGeom prst="rect">
            <a:avLst/>
          </a:prstGeom>
          <a:noFill/>
        </p:spPr>
        <p:txBody>
          <a:bodyPr wrap="square">
            <a:spAutoFit/>
          </a:bodyPr>
          <a:lstStyle/>
          <a:p>
            <a:pPr>
              <a:lnSpc>
                <a:spcPct val="135000"/>
              </a:lnSpc>
              <a:defRPr sz="1300">
                <a:solidFill>
                  <a:srgbClr val="0B1B2D"/>
                </a:solidFill>
              </a:defRPr>
            </a:pPr>
            <a:r>
              <a:t>Implementasi eager loading batching pada method GetAuthorsWithPostsEager terdiri dari lima tahap utama. Pertama, mengambil semua author dari store. Kedua, mengekstrak semua author ID ke dalam slice integer. Ketiga, menjalankan satu query batch GetPostsByAuthorIDs dengan slice ID tersebut. Keempat, mengelompokkan semua post yang dikembalikan ke dalam map berdasarkan author_id. Kelima, menyusun struktur AuthorWithPosts akhir dengan iterasi author dan mengambil slice post dari map. Total query yang dieksekusi hanya dua: satu untuk authors dan satu untuk semua posts.</a:t>
            </a:r>
          </a:p>
        </p:txBody>
      </p:sp>
      <p:sp>
        <p:nvSpPr>
          <p:cNvPr id="8" name="Rectangle 7"/>
          <p:cNvSpPr/>
          <p:nvPr/>
        </p:nvSpPr>
        <p:spPr>
          <a:xfrm>
            <a:off x="731520" y="5394960"/>
            <a:ext cx="10728655" cy="594360"/>
          </a:xfrm>
          <a:prstGeom prst="rect">
            <a:avLst/>
          </a:prstGeom>
          <a:solidFill>
            <a:srgbClr val="087F7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300" b="1">
                <a:solidFill>
                  <a:srgbClr val="FFFFFF"/>
                </a:solidFill>
              </a:defRPr>
            </a:pPr>
            <a:r>
              <a:t>Extract IDs → batch query → group in map → compose result = 2 queries total.</a:t>
            </a:r>
          </a:p>
        </p:txBody>
      </p:sp>
      <p:sp>
        <p:nvSpPr>
          <p:cNvPr id="9" name="TextBox 8"/>
          <p:cNvSpPr txBox="1"/>
          <p:nvPr/>
        </p:nvSpPr>
        <p:spPr>
          <a:xfrm>
            <a:off x="731520" y="6263640"/>
            <a:ext cx="7315200" cy="320040"/>
          </a:xfrm>
          <a:prstGeom prst="rect">
            <a:avLst/>
          </a:prstGeom>
          <a:noFill/>
        </p:spPr>
        <p:txBody>
          <a:bodyPr wrap="none">
            <a:spAutoFit/>
          </a:bodyPr>
          <a:lstStyle/>
          <a:p>
            <a:pPr>
              <a:defRPr sz="1000">
                <a:solidFill>
                  <a:srgbClr val="52606B"/>
                </a:solidFill>
              </a:defRPr>
            </a:pPr>
            <a:r>
              <a:t>internal/blog/repository.go:32-58</a:t>
            </a:r>
          </a:p>
        </p:txBody>
      </p:sp>
      <p:sp>
        <p:nvSpPr>
          <p:cNvPr id="10" name="TextBox 9"/>
          <p:cNvSpPr txBox="1"/>
          <p:nvPr/>
        </p:nvSpPr>
        <p:spPr>
          <a:xfrm>
            <a:off x="8686800" y="6263640"/>
            <a:ext cx="2743200" cy="320040"/>
          </a:xfrm>
          <a:prstGeom prst="rect">
            <a:avLst/>
          </a:prstGeom>
          <a:noFill/>
        </p:spPr>
        <p:txBody>
          <a:bodyPr wrap="none">
            <a:spAutoFit/>
          </a:bodyPr>
          <a:lstStyle/>
          <a:p>
            <a:pPr algn="r">
              <a:defRPr sz="1000" b="1">
                <a:solidFill>
                  <a:srgbClr val="52606B"/>
                </a:solidFill>
              </a:defRPr>
            </a:pPr>
            <a:r>
              <a:t>06 / 24</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1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728655" cy="365760"/>
          </a:xfrm>
          <a:prstGeom prst="rect">
            <a:avLst/>
          </a:prstGeom>
          <a:noFill/>
        </p:spPr>
        <p:txBody>
          <a:bodyPr wrap="none">
            <a:spAutoFit/>
          </a:bodyPr>
          <a:lstStyle/>
          <a:p>
            <a:pPr>
              <a:defRPr sz="1300" b="1">
                <a:solidFill>
                  <a:srgbClr val="087F76"/>
                </a:solidFill>
              </a:defRPr>
            </a:pPr>
            <a:r>
              <a:t>SOFTWARE ENGINEERING LAB | LAB 22</a:t>
            </a:r>
          </a:p>
        </p:txBody>
      </p:sp>
      <p:sp>
        <p:nvSpPr>
          <p:cNvPr id="4" name="TextBox 3"/>
          <p:cNvSpPr txBox="1"/>
          <p:nvPr/>
        </p:nvSpPr>
        <p:spPr>
          <a:xfrm>
            <a:off x="731520" y="685800"/>
            <a:ext cx="10728655" cy="640080"/>
          </a:xfrm>
          <a:prstGeom prst="rect">
            <a:avLst/>
          </a:prstGeom>
          <a:noFill/>
        </p:spPr>
        <p:txBody>
          <a:bodyPr wrap="square">
            <a:spAutoFit/>
          </a:bodyPr>
          <a:lstStyle/>
          <a:p>
            <a:pPr>
              <a:defRPr sz="2400" b="1">
                <a:solidFill>
                  <a:srgbClr val="0B1B2D"/>
                </a:solidFill>
              </a:defRPr>
            </a:pPr>
            <a:r>
              <a:t>Failure Path: N+1 Menghasilkan Query Count Tinggi</a:t>
            </a:r>
          </a:p>
        </p:txBody>
      </p:sp>
      <p:sp>
        <p:nvSpPr>
          <p:cNvPr id="5" name="TextBox 4"/>
          <p:cNvSpPr txBox="1"/>
          <p:nvPr/>
        </p:nvSpPr>
        <p:spPr>
          <a:xfrm>
            <a:off x="731520" y="1280160"/>
            <a:ext cx="10728655" cy="457200"/>
          </a:xfrm>
          <a:prstGeom prst="rect">
            <a:avLst/>
          </a:prstGeom>
          <a:noFill/>
        </p:spPr>
        <p:txBody>
          <a:bodyPr wrap="square">
            <a:spAutoFit/>
          </a:bodyPr>
          <a:lstStyle/>
          <a:p>
            <a:pPr>
              <a:defRPr sz="1300">
                <a:solidFill>
                  <a:srgbClr val="52606B"/>
                </a:solidFill>
              </a:defRPr>
            </a:pPr>
            <a:r>
              <a:t>Bukti dari TestGetAuthorsWithPostsNPlusOne: 4 queries untuk 3 authors.</a:t>
            </a:r>
          </a:p>
        </p:txBody>
      </p:sp>
      <p:sp>
        <p:nvSpPr>
          <p:cNvPr id="6" name="Rounded Rectangle 5"/>
          <p:cNvSpPr/>
          <p:nvPr/>
        </p:nvSpPr>
        <p:spPr>
          <a:xfrm>
            <a:off x="731520" y="1828800"/>
            <a:ext cx="5120640" cy="3383280"/>
          </a:xfrm>
          <a:prstGeom prst="roundRect">
            <a:avLst/>
          </a:prstGeom>
          <a:solidFill>
            <a:srgbClr val="0B1B2D"/>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100">
                <a:solidFill>
                  <a:srgbClr val="E2E8F0"/>
                </a:solidFill>
                <a:latin typeface="Courier New"/>
              </a:defRPr>
            </a:pPr>
            <a:r>
              <a:t>func TestGetAuthorsWithPostsNPlusOne(t *testing.T) {</a:t>
            </a:r>
            <a:br/>
            <a:r>
              <a:t>    store := NewStore()</a:t>
            </a:r>
            <a:br/>
            <a:r>
              <a:t>    repo := NewRepository(store)</a:t>
            </a:r>
            <a:br/>
            <a:r>
              <a:t>    store.ResetQueryCount()</a:t>
            </a:r>
            <a:br/>
            <a:r>
              <a:t>    result := repo.GetAuthorsWithPostsNPlusOne()</a:t>
            </a:r>
            <a:br/>
            <a:r>
              <a:t>    queryCount := store.GetQueryCount()</a:t>
            </a:r>
            <a:br/>
            <a:r>
              <a:t>    if queryCount != 4 {</a:t>
            </a:r>
            <a:br/>
            <a:r>
              <a:t>        t.Errorf("expected 4 queries (N+1), got %d", queryCount)</a:t>
            </a:r>
            <a:br/>
            <a:r>
              <a:t>    }</a:t>
            </a:r>
            <a:br/>
            <a:r>
              <a:t>}</a:t>
            </a:r>
          </a:p>
        </p:txBody>
      </p:sp>
      <p:sp>
        <p:nvSpPr>
          <p:cNvPr id="7" name="TextBox 6"/>
          <p:cNvSpPr txBox="1"/>
          <p:nvPr/>
        </p:nvSpPr>
        <p:spPr>
          <a:xfrm>
            <a:off x="6217920" y="1828800"/>
            <a:ext cx="5303520" cy="3383280"/>
          </a:xfrm>
          <a:prstGeom prst="rect">
            <a:avLst/>
          </a:prstGeom>
          <a:noFill/>
        </p:spPr>
        <p:txBody>
          <a:bodyPr wrap="square">
            <a:spAutoFit/>
          </a:bodyPr>
          <a:lstStyle/>
          <a:p>
            <a:pPr>
              <a:lnSpc>
                <a:spcPct val="135000"/>
              </a:lnSpc>
              <a:defRPr sz="1300">
                <a:solidFill>
                  <a:srgbClr val="0B1B2D"/>
                </a:solidFill>
              </a:defRPr>
            </a:pPr>
            <a:r>
              <a:t>Failure path N+1 query problem termanifestasi sebagai query count yang tumbuh linear seiring bertambahnya jumlah record parent. Test GetAuthorsWithPostsNPlusOne secara eksplisit mengassert bahwa untuk 3 author, total query yang dieksekusi adalah 4. Angka ini berasal dari satu query GetAllAuthors ditambah tiga query GetPostsByAuthorID dalam loop. Pada skala produksi dengan ribuan author, pola ini akan menghasilkan ribuan query tambahan yang secara signifikan membebani database dan connection pool.</a:t>
            </a:r>
          </a:p>
        </p:txBody>
      </p:sp>
      <p:sp>
        <p:nvSpPr>
          <p:cNvPr id="8" name="Rectangle 7"/>
          <p:cNvSpPr/>
          <p:nvPr/>
        </p:nvSpPr>
        <p:spPr>
          <a:xfrm>
            <a:off x="731520" y="5394960"/>
            <a:ext cx="10728655" cy="594360"/>
          </a:xfrm>
          <a:prstGeom prst="rect">
            <a:avLst/>
          </a:prstGeom>
          <a:solidFill>
            <a:srgbClr val="087F7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300" b="1">
                <a:solidFill>
                  <a:srgbClr val="FFFFFF"/>
                </a:solidFill>
              </a:defRPr>
            </a:pPr>
            <a:r>
              <a:t>Linear query growth (1+N) is the fingerprint of N+1 anti-pattern.</a:t>
            </a:r>
          </a:p>
        </p:txBody>
      </p:sp>
      <p:sp>
        <p:nvSpPr>
          <p:cNvPr id="9" name="TextBox 8"/>
          <p:cNvSpPr txBox="1"/>
          <p:nvPr/>
        </p:nvSpPr>
        <p:spPr>
          <a:xfrm>
            <a:off x="731520" y="6263640"/>
            <a:ext cx="7315200" cy="320040"/>
          </a:xfrm>
          <a:prstGeom prst="rect">
            <a:avLst/>
          </a:prstGeom>
          <a:noFill/>
        </p:spPr>
        <p:txBody>
          <a:bodyPr wrap="none">
            <a:spAutoFit/>
          </a:bodyPr>
          <a:lstStyle/>
          <a:p>
            <a:pPr>
              <a:defRPr sz="1000">
                <a:solidFill>
                  <a:srgbClr val="52606B"/>
                </a:solidFill>
              </a:defRPr>
            </a:pPr>
            <a:r>
              <a:t>internal/blog/repository_test.go:8-25</a:t>
            </a:r>
          </a:p>
        </p:txBody>
      </p:sp>
      <p:sp>
        <p:nvSpPr>
          <p:cNvPr id="10" name="TextBox 9"/>
          <p:cNvSpPr txBox="1"/>
          <p:nvPr/>
        </p:nvSpPr>
        <p:spPr>
          <a:xfrm>
            <a:off x="8686800" y="6263640"/>
            <a:ext cx="2743200" cy="320040"/>
          </a:xfrm>
          <a:prstGeom prst="rect">
            <a:avLst/>
          </a:prstGeom>
          <a:noFill/>
        </p:spPr>
        <p:txBody>
          <a:bodyPr wrap="none">
            <a:spAutoFit/>
          </a:bodyPr>
          <a:lstStyle/>
          <a:p>
            <a:pPr algn="r">
              <a:defRPr sz="1000" b="1">
                <a:solidFill>
                  <a:srgbClr val="52606B"/>
                </a:solidFill>
              </a:defRPr>
            </a:pPr>
            <a:r>
              <a:t>07 / 24</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1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728655" cy="365760"/>
          </a:xfrm>
          <a:prstGeom prst="rect">
            <a:avLst/>
          </a:prstGeom>
          <a:noFill/>
        </p:spPr>
        <p:txBody>
          <a:bodyPr wrap="none">
            <a:spAutoFit/>
          </a:bodyPr>
          <a:lstStyle/>
          <a:p>
            <a:pPr>
              <a:defRPr sz="1300" b="1">
                <a:solidFill>
                  <a:srgbClr val="087F76"/>
                </a:solidFill>
              </a:defRPr>
            </a:pPr>
            <a:r>
              <a:t>SOFTWARE ENGINEERING LAB | LAB 22</a:t>
            </a:r>
          </a:p>
        </p:txBody>
      </p:sp>
      <p:sp>
        <p:nvSpPr>
          <p:cNvPr id="4" name="TextBox 3"/>
          <p:cNvSpPr txBox="1"/>
          <p:nvPr/>
        </p:nvSpPr>
        <p:spPr>
          <a:xfrm>
            <a:off x="731520" y="685800"/>
            <a:ext cx="10728655" cy="640080"/>
          </a:xfrm>
          <a:prstGeom prst="rect">
            <a:avLst/>
          </a:prstGeom>
          <a:noFill/>
        </p:spPr>
        <p:txBody>
          <a:bodyPr wrap="square">
            <a:spAutoFit/>
          </a:bodyPr>
          <a:lstStyle/>
          <a:p>
            <a:pPr>
              <a:defRPr sz="2400" b="1">
                <a:solidFill>
                  <a:srgbClr val="0B1B2D"/>
                </a:solidFill>
              </a:defRPr>
            </a:pPr>
            <a:r>
              <a:t>Mekanisme vs Gejala: N+1 vs Eager Loading</a:t>
            </a:r>
          </a:p>
        </p:txBody>
      </p:sp>
      <p:sp>
        <p:nvSpPr>
          <p:cNvPr id="5" name="TextBox 4"/>
          <p:cNvSpPr txBox="1"/>
          <p:nvPr/>
        </p:nvSpPr>
        <p:spPr>
          <a:xfrm>
            <a:off x="731520" y="1280160"/>
            <a:ext cx="10728655" cy="457200"/>
          </a:xfrm>
          <a:prstGeom prst="rect">
            <a:avLst/>
          </a:prstGeom>
          <a:noFill/>
        </p:spPr>
        <p:txBody>
          <a:bodyPr wrap="square">
            <a:spAutoFit/>
          </a:bodyPr>
          <a:lstStyle/>
          <a:p>
            <a:pPr>
              <a:defRPr sz="1300">
                <a:solidFill>
                  <a:srgbClr val="52606B"/>
                </a:solidFill>
              </a:defRPr>
            </a:pPr>
            <a:r>
              <a:t>Tabel perbandingan perilaku kuantitatif kedua pendekatan.</a:t>
            </a:r>
          </a:p>
        </p:txBody>
      </p:sp>
      <p:graphicFrame>
        <p:nvGraphicFramePr>
          <p:cNvPr id="6" name="Table 5"/>
          <p:cNvGraphicFramePr>
            <a:graphicFrameLocks noGrp="1"/>
          </p:cNvGraphicFramePr>
          <p:nvPr/>
        </p:nvGraphicFramePr>
        <p:xfrm>
          <a:off x="731520" y="1828800"/>
          <a:ext cx="5120640" cy="2743200"/>
        </p:xfrm>
        <a:graphic>
          <a:graphicData uri="http://schemas.openxmlformats.org/drawingml/2006/table">
            <a:tbl>
              <a:tblPr firstRow="1" bandRow="1">
                <a:tableStyleId>{5C22544A-7EE6-4342-B048-85BDC9FD1C3A}</a:tableStyleId>
              </a:tblPr>
              <a:tblGrid>
                <a:gridCol w="1706880"/>
                <a:gridCol w="1706880"/>
                <a:gridCol w="1706880"/>
              </a:tblGrid>
              <a:tr h="457200">
                <a:tc>
                  <a:txBody>
                    <a:bodyPr/>
                    <a:lstStyle/>
                    <a:p>
                      <a:pPr>
                        <a:defRPr b="1" sz="1100">
                          <a:solidFill>
                            <a:srgbClr val="FFFFFF"/>
                          </a:solidFill>
                        </a:defRPr>
                      </a:pPr>
                      <a:r>
                        <a:t>Aspek</a:t>
                      </a:r>
                    </a:p>
                  </a:txBody>
                  <a:tcPr>
                    <a:solidFill>
                      <a:srgbClr val="0B1B2D"/>
                    </a:solidFill>
                  </a:tcPr>
                </a:tc>
                <a:tc>
                  <a:txBody>
                    <a:bodyPr/>
                    <a:lstStyle/>
                    <a:p>
                      <a:pPr>
                        <a:defRPr b="1" sz="1100">
                          <a:solidFill>
                            <a:srgbClr val="FFFFFF"/>
                          </a:solidFill>
                        </a:defRPr>
                      </a:pPr>
                      <a:r>
                        <a:t>N+1 (Naive)</a:t>
                      </a:r>
                    </a:p>
                  </a:txBody>
                  <a:tcPr>
                    <a:solidFill>
                      <a:srgbClr val="0B1B2D"/>
                    </a:solidFill>
                  </a:tcPr>
                </a:tc>
                <a:tc>
                  <a:txBody>
                    <a:bodyPr/>
                    <a:lstStyle/>
                    <a:p>
                      <a:pPr>
                        <a:defRPr b="1" sz="1100">
                          <a:solidFill>
                            <a:srgbClr val="FFFFFF"/>
                          </a:solidFill>
                        </a:defRPr>
                      </a:pPr>
                      <a:r>
                        <a:t>Eager Loading (Batch)</a:t>
                      </a:r>
                    </a:p>
                  </a:txBody>
                  <a:tcPr>
                    <a:solidFill>
                      <a:srgbClr val="0B1B2D"/>
                    </a:solidFill>
                  </a:tcPr>
                </a:tc>
              </a:tr>
              <a:tr h="457200">
                <a:tc>
                  <a:txBody>
                    <a:bodyPr/>
                    <a:lstStyle/>
                    <a:p>
                      <a:pPr>
                        <a:defRPr sz="1000">
                          <a:solidFill>
                            <a:srgbClr val="0B1B2D"/>
                          </a:solidFill>
                        </a:defRPr>
                      </a:pPr>
                      <a:r>
                        <a:t>Query Count</a:t>
                      </a:r>
                    </a:p>
                  </a:txBody>
                  <a:tcPr>
                    <a:solidFill>
                      <a:srgbClr val="FFFFFF"/>
                    </a:solidFill>
                  </a:tcPr>
                </a:tc>
                <a:tc>
                  <a:txBody>
                    <a:bodyPr/>
                    <a:lstStyle/>
                    <a:p>
                      <a:pPr>
                        <a:defRPr sz="1000">
                          <a:solidFill>
                            <a:srgbClr val="0B1B2D"/>
                          </a:solidFill>
                        </a:defRPr>
                      </a:pPr>
                      <a:r>
                        <a:t>1 + N</a:t>
                      </a:r>
                    </a:p>
                  </a:txBody>
                  <a:tcPr>
                    <a:solidFill>
                      <a:srgbClr val="FFFFFF"/>
                    </a:solidFill>
                  </a:tcPr>
                </a:tc>
                <a:tc>
                  <a:txBody>
                    <a:bodyPr/>
                    <a:lstStyle/>
                    <a:p>
                      <a:pPr>
                        <a:defRPr sz="1000">
                          <a:solidFill>
                            <a:srgbClr val="0B1B2D"/>
                          </a:solidFill>
                        </a:defRPr>
                      </a:pPr>
                      <a:r>
                        <a:t>2</a:t>
                      </a:r>
                    </a:p>
                  </a:txBody>
                  <a:tcPr>
                    <a:solidFill>
                      <a:srgbClr val="FFFFFF"/>
                    </a:solidFill>
                  </a:tcPr>
                </a:tc>
              </a:tr>
              <a:tr h="457200">
                <a:tc>
                  <a:txBody>
                    <a:bodyPr/>
                    <a:lstStyle/>
                    <a:p>
                      <a:pPr>
                        <a:defRPr sz="1000">
                          <a:solidFill>
                            <a:srgbClr val="0B1B2D"/>
                          </a:solidFill>
                        </a:defRPr>
                      </a:pPr>
                      <a:r>
                        <a:t>Time Complexity</a:t>
                      </a:r>
                    </a:p>
                  </a:txBody>
                  <a:tcPr>
                    <a:solidFill>
                      <a:srgbClr val="FFFFFF"/>
                    </a:solidFill>
                  </a:tcPr>
                </a:tc>
                <a:tc>
                  <a:txBody>
                    <a:bodyPr/>
                    <a:lstStyle/>
                    <a:p>
                      <a:pPr>
                        <a:defRPr sz="1000">
                          <a:solidFill>
                            <a:srgbClr val="0B1B2D"/>
                          </a:solidFill>
                        </a:defRPr>
                      </a:pPr>
                      <a:r>
                        <a:t>O(N) queries</a:t>
                      </a:r>
                    </a:p>
                  </a:txBody>
                  <a:tcPr>
                    <a:solidFill>
                      <a:srgbClr val="FFFFFF"/>
                    </a:solidFill>
                  </a:tcPr>
                </a:tc>
                <a:tc>
                  <a:txBody>
                    <a:bodyPr/>
                    <a:lstStyle/>
                    <a:p>
                      <a:pPr>
                        <a:defRPr sz="1000">
                          <a:solidFill>
                            <a:srgbClr val="0B1B2D"/>
                          </a:solidFill>
                        </a:defRPr>
                      </a:pPr>
                      <a:r>
                        <a:t>O(1) queries</a:t>
                      </a:r>
                    </a:p>
                  </a:txBody>
                  <a:tcPr>
                    <a:solidFill>
                      <a:srgbClr val="FFFFFF"/>
                    </a:solidFill>
                  </a:tcPr>
                </a:tc>
              </a:tr>
              <a:tr h="457200">
                <a:tc>
                  <a:txBody>
                    <a:bodyPr/>
                    <a:lstStyle/>
                    <a:p>
                      <a:pPr>
                        <a:defRPr sz="1000">
                          <a:solidFill>
                            <a:srgbClr val="0B1B2D"/>
                          </a:solidFill>
                        </a:defRPr>
                      </a:pPr>
                      <a:r>
                        <a:t>Connection Usage</a:t>
                      </a:r>
                    </a:p>
                  </a:txBody>
                  <a:tcPr>
                    <a:solidFill>
                      <a:srgbClr val="FFFFFF"/>
                    </a:solidFill>
                  </a:tcPr>
                </a:tc>
                <a:tc>
                  <a:txBody>
                    <a:bodyPr/>
                    <a:lstStyle/>
                    <a:p>
                      <a:pPr>
                        <a:defRPr sz="1000">
                          <a:solidFill>
                            <a:srgbClr val="0B1B2D"/>
                          </a:solidFill>
                        </a:defRPr>
                      </a:pPr>
                      <a:r>
                        <a:t>N sequential connections</a:t>
                      </a:r>
                    </a:p>
                  </a:txBody>
                  <a:tcPr>
                    <a:solidFill>
                      <a:srgbClr val="FFFFFF"/>
                    </a:solidFill>
                  </a:tcPr>
                </a:tc>
                <a:tc>
                  <a:txBody>
                    <a:bodyPr/>
                    <a:lstStyle/>
                    <a:p>
                      <a:pPr>
                        <a:defRPr sz="1000">
                          <a:solidFill>
                            <a:srgbClr val="0B1B2D"/>
                          </a:solidFill>
                        </a:defRPr>
                      </a:pPr>
                      <a:r>
                        <a:t>2 connections</a:t>
                      </a:r>
                    </a:p>
                  </a:txBody>
                  <a:tcPr>
                    <a:solidFill>
                      <a:srgbClr val="FFFFFF"/>
                    </a:solidFill>
                  </a:tcPr>
                </a:tc>
              </a:tr>
              <a:tr h="457200">
                <a:tc>
                  <a:txBody>
                    <a:bodyPr/>
                    <a:lstStyle/>
                    <a:p>
                      <a:pPr>
                        <a:defRPr sz="1000">
                          <a:solidFill>
                            <a:srgbClr val="0B1B2D"/>
                          </a:solidFill>
                        </a:defRPr>
                      </a:pPr>
                      <a:r>
                        <a:t>Memory Overhead</a:t>
                      </a:r>
                    </a:p>
                  </a:txBody>
                  <a:tcPr>
                    <a:solidFill>
                      <a:srgbClr val="FFFFFF"/>
                    </a:solidFill>
                  </a:tcPr>
                </a:tc>
                <a:tc>
                  <a:txBody>
                    <a:bodyPr/>
                    <a:lstStyle/>
                    <a:p>
                      <a:pPr>
                        <a:defRPr sz="1000">
                          <a:solidFill>
                            <a:srgbClr val="0B1B2D"/>
                          </a:solidFill>
                        </a:defRPr>
                      </a:pPr>
                      <a:r>
                        <a:t>Lower (streaming)</a:t>
                      </a:r>
                    </a:p>
                  </a:txBody>
                  <a:tcPr>
                    <a:solidFill>
                      <a:srgbClr val="FFFFFF"/>
                    </a:solidFill>
                  </a:tcPr>
                </a:tc>
                <a:tc>
                  <a:txBody>
                    <a:bodyPr/>
                    <a:lstStyle/>
                    <a:p>
                      <a:pPr>
                        <a:defRPr sz="1000">
                          <a:solidFill>
                            <a:srgbClr val="0B1B2D"/>
                          </a:solidFill>
                        </a:defRPr>
                      </a:pPr>
                      <a:r>
                        <a:t>Higher (batch load)</a:t>
                      </a:r>
                    </a:p>
                  </a:txBody>
                  <a:tcPr>
                    <a:solidFill>
                      <a:srgbClr val="FFFFFF"/>
                    </a:solidFill>
                  </a:tcPr>
                </a:tc>
              </a:tr>
              <a:tr h="457200">
                <a:tc>
                  <a:txBody>
                    <a:bodyPr/>
                    <a:lstStyle/>
                    <a:p>
                      <a:pPr>
                        <a:defRPr sz="1000">
                          <a:solidFill>
                            <a:srgbClr val="0B1B2D"/>
                          </a:solidFill>
                        </a:defRPr>
                      </a:pPr>
                      <a:r>
                        <a:t>Detectability</a:t>
                      </a:r>
                    </a:p>
                  </a:txBody>
                  <a:tcPr>
                    <a:solidFill>
                      <a:srgbClr val="FFFFFF"/>
                    </a:solidFill>
                  </a:tcPr>
                </a:tc>
                <a:tc>
                  <a:txBody>
                    <a:bodyPr/>
                    <a:lstStyle/>
                    <a:p>
                      <a:pPr>
                        <a:defRPr sz="1000">
                          <a:solidFill>
                            <a:srgbClr val="0B1B2D"/>
                          </a:solidFill>
                        </a:defRPr>
                      </a:pPr>
                      <a:r>
                        <a:t>Hard (each query fast)</a:t>
                      </a:r>
                    </a:p>
                  </a:txBody>
                  <a:tcPr>
                    <a:solidFill>
                      <a:srgbClr val="FFFFFF"/>
                    </a:solidFill>
                  </a:tcPr>
                </a:tc>
                <a:tc>
                  <a:txBody>
                    <a:bodyPr/>
                    <a:lstStyle/>
                    <a:p>
                      <a:pPr>
                        <a:defRPr sz="1000">
                          <a:solidFill>
                            <a:srgbClr val="0B1B2D"/>
                          </a:solidFill>
                        </a:defRPr>
                      </a:pPr>
                      <a:r>
                        <a:t>Easy (query counter)</a:t>
                      </a:r>
                    </a:p>
                  </a:txBody>
                  <a:tcPr>
                    <a:solidFill>
                      <a:srgbClr val="FFFFFF"/>
                    </a:solidFill>
                  </a:tcPr>
                </a:tc>
              </a:tr>
            </a:tbl>
          </a:graphicData>
        </a:graphic>
      </p:graphicFrame>
      <p:sp>
        <p:nvSpPr>
          <p:cNvPr id="7" name="TextBox 6"/>
          <p:cNvSpPr txBox="1"/>
          <p:nvPr/>
        </p:nvSpPr>
        <p:spPr>
          <a:xfrm>
            <a:off x="6217920" y="1828800"/>
            <a:ext cx="5303520" cy="3383280"/>
          </a:xfrm>
          <a:prstGeom prst="rect">
            <a:avLst/>
          </a:prstGeom>
          <a:noFill/>
        </p:spPr>
        <p:txBody>
          <a:bodyPr wrap="square">
            <a:spAutoFit/>
          </a:bodyPr>
          <a:lstStyle/>
          <a:p>
            <a:pPr>
              <a:lnSpc>
                <a:spcPct val="135000"/>
              </a:lnSpc>
              <a:defRPr sz="1300">
                <a:solidFill>
                  <a:srgbClr val="0B1B2D"/>
                </a:solidFill>
              </a:defRPr>
            </a:pPr>
            <a:r>
              <a:t>Tabel perbandingan ini menyoroti perbedaan fundamental antara pendekatan N+1 naive dan eager loading batching. Dari segi kuantitas query, N+1 menghasilkan 1+N query sedangkan eager loading hanya 2 query terlepas dari ukuran dataset. Kompleksitas waktu dalam hal jumlah query juga berbeda: O(N) versus O(1). Penggunaan koneksi database pun berbeda secara signifikan; N+1 membutuhkan N koneksi sequential sedangkan eager loading hanya 2 koneksi. Namun, eager loading memiliki overhead memori yang lebih tinggi karena memuat semua record sekaligus ke dalam memori.</a:t>
            </a:r>
          </a:p>
        </p:txBody>
      </p:sp>
      <p:sp>
        <p:nvSpPr>
          <p:cNvPr id="8" name="Rectangle 7"/>
          <p:cNvSpPr/>
          <p:nvPr/>
        </p:nvSpPr>
        <p:spPr>
          <a:xfrm>
            <a:off x="731520" y="5394960"/>
            <a:ext cx="10728655" cy="594360"/>
          </a:xfrm>
          <a:prstGeom prst="rect">
            <a:avLst/>
          </a:prstGeom>
          <a:solidFill>
            <a:srgbClr val="087F7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300" b="1">
                <a:solidFill>
                  <a:srgbClr val="FFFFFF"/>
                </a:solidFill>
              </a:defRPr>
            </a:pPr>
            <a:r>
              <a:t>Trade-off: fewer queries at the cost of higher memory consumption.</a:t>
            </a:r>
          </a:p>
        </p:txBody>
      </p:sp>
      <p:sp>
        <p:nvSpPr>
          <p:cNvPr id="9" name="TextBox 8"/>
          <p:cNvSpPr txBox="1"/>
          <p:nvPr/>
        </p:nvSpPr>
        <p:spPr>
          <a:xfrm>
            <a:off x="731520" y="6263640"/>
            <a:ext cx="7315200" cy="320040"/>
          </a:xfrm>
          <a:prstGeom prst="rect">
            <a:avLst/>
          </a:prstGeom>
          <a:noFill/>
        </p:spPr>
        <p:txBody>
          <a:bodyPr wrap="none">
            <a:spAutoFit/>
          </a:bodyPr>
          <a:lstStyle/>
          <a:p>
            <a:pPr>
              <a:defRPr sz="1000">
                <a:solidFill>
                  <a:srgbClr val="52606B"/>
                </a:solidFill>
              </a:defRPr>
            </a:pPr>
            <a:r>
              <a:t>internal/blog/repository_test.go • content/04-diagrams.md</a:t>
            </a:r>
          </a:p>
        </p:txBody>
      </p:sp>
      <p:sp>
        <p:nvSpPr>
          <p:cNvPr id="10" name="TextBox 9"/>
          <p:cNvSpPr txBox="1"/>
          <p:nvPr/>
        </p:nvSpPr>
        <p:spPr>
          <a:xfrm>
            <a:off x="8686800" y="6263640"/>
            <a:ext cx="2743200" cy="320040"/>
          </a:xfrm>
          <a:prstGeom prst="rect">
            <a:avLst/>
          </a:prstGeom>
          <a:noFill/>
        </p:spPr>
        <p:txBody>
          <a:bodyPr wrap="none">
            <a:spAutoFit/>
          </a:bodyPr>
          <a:lstStyle/>
          <a:p>
            <a:pPr algn="r">
              <a:defRPr sz="1000" b="1">
                <a:solidFill>
                  <a:srgbClr val="52606B"/>
                </a:solidFill>
              </a:defRPr>
            </a:pPr>
            <a:r>
              <a:t>08 / 24</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1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728655" cy="365760"/>
          </a:xfrm>
          <a:prstGeom prst="rect">
            <a:avLst/>
          </a:prstGeom>
          <a:noFill/>
        </p:spPr>
        <p:txBody>
          <a:bodyPr wrap="none">
            <a:spAutoFit/>
          </a:bodyPr>
          <a:lstStyle/>
          <a:p>
            <a:pPr>
              <a:defRPr sz="1300" b="1">
                <a:solidFill>
                  <a:srgbClr val="087F76"/>
                </a:solidFill>
              </a:defRPr>
            </a:pPr>
            <a:r>
              <a:t>SOFTWARE ENGINEERING LAB | LAB 22</a:t>
            </a:r>
          </a:p>
        </p:txBody>
      </p:sp>
      <p:sp>
        <p:nvSpPr>
          <p:cNvPr id="4" name="TextBox 3"/>
          <p:cNvSpPr txBox="1"/>
          <p:nvPr/>
        </p:nvSpPr>
        <p:spPr>
          <a:xfrm>
            <a:off x="731520" y="685800"/>
            <a:ext cx="10728655" cy="640080"/>
          </a:xfrm>
          <a:prstGeom prst="rect">
            <a:avLst/>
          </a:prstGeom>
          <a:noFill/>
        </p:spPr>
        <p:txBody>
          <a:bodyPr wrap="square">
            <a:spAutoFit/>
          </a:bodyPr>
          <a:lstStyle/>
          <a:p>
            <a:pPr>
              <a:defRPr sz="2400" b="1">
                <a:solidFill>
                  <a:srgbClr val="0B1B2D"/>
                </a:solidFill>
              </a:defRPr>
            </a:pPr>
            <a:r>
              <a:t>3 Keputusan Desain Kritis untuk Optimasi Query</a:t>
            </a:r>
          </a:p>
        </p:txBody>
      </p:sp>
      <p:sp>
        <p:nvSpPr>
          <p:cNvPr id="5" name="TextBox 4"/>
          <p:cNvSpPr txBox="1"/>
          <p:nvPr/>
        </p:nvSpPr>
        <p:spPr>
          <a:xfrm>
            <a:off x="731520" y="1280160"/>
            <a:ext cx="10728655" cy="457200"/>
          </a:xfrm>
          <a:prstGeom prst="rect">
            <a:avLst/>
          </a:prstGeom>
          <a:noFill/>
        </p:spPr>
        <p:txBody>
          <a:bodyPr wrap="square">
            <a:spAutoFit/>
          </a:bodyPr>
          <a:lstStyle/>
          <a:p>
            <a:pPr>
              <a:defRPr sz="1300">
                <a:solidFill>
                  <a:srgbClr val="52606B"/>
                </a:solidFill>
              </a:defRPr>
            </a:pPr>
            <a:r>
              <a:t>Urutan keputusan arsitektural yang harus diambil saat mengatasi N+1.</a:t>
            </a:r>
          </a:p>
        </p:txBody>
      </p:sp>
      <p:sp>
        <p:nvSpPr>
          <p:cNvPr id="6" name="TextBox 5"/>
          <p:cNvSpPr txBox="1"/>
          <p:nvPr/>
        </p:nvSpPr>
        <p:spPr>
          <a:xfrm>
            <a:off x="731520" y="1828800"/>
            <a:ext cx="5120640" cy="3383280"/>
          </a:xfrm>
          <a:prstGeom prst="rect">
            <a:avLst/>
          </a:prstGeom>
          <a:noFill/>
        </p:spPr>
        <p:txBody>
          <a:bodyPr wrap="square">
            <a:spAutoFit/>
          </a:bodyPr>
          <a:lstStyle/>
          <a:p>
            <a:pPr>
              <a:defRPr sz="1200" b="1">
                <a:solidFill>
                  <a:srgbClr val="087F76"/>
                </a:solidFill>
              </a:defRPr>
            </a:pPr>
            <a:r>
              <a:t>KEPUTUSAN 1: QUERY COUNTER</a:t>
            </a:r>
          </a:p>
          <a:p>
            <a:pPr>
              <a:spcAft>
                <a:spcPts val="400"/>
              </a:spcAft>
              <a:defRPr sz="1200">
                <a:solidFill>
                  <a:srgbClr val="0B1B2D"/>
                </a:solidFill>
              </a:defRPr>
            </a:pPr>
            <a:r>
              <a:t>• Implementasikan query counter pada data access layer untuk mengukur jumlah query aktual.</a:t>
            </a:r>
          </a:p>
          <a:p>
            <a:pPr>
              <a:spcAft>
                <a:spcPts val="400"/>
              </a:spcAft>
              <a:defRPr sz="1200">
                <a:solidFill>
                  <a:srgbClr val="0B1B2D"/>
                </a:solidFill>
              </a:defRPr>
            </a:pPr>
            <a:r>
              <a:t>• Gunakan counter ini dalam unit test untuk mencegah regressi N+1.</a:t>
            </a:r>
          </a:p>
          <a:p>
            <a:pPr>
              <a:defRPr sz="1200" b="1">
                <a:solidFill>
                  <a:srgbClr val="087F76"/>
                </a:solidFill>
              </a:defRPr>
            </a:pPr>
            <a:r>
              <a:t>KEPUTUSAN 2: BATCH STRATEGY</a:t>
            </a:r>
          </a:p>
          <a:p>
            <a:pPr>
              <a:spcAft>
                <a:spcPts val="400"/>
              </a:spcAft>
              <a:defRPr sz="1200">
                <a:solidFill>
                  <a:srgbClr val="0B1B2D"/>
                </a:solidFill>
              </a:defRPr>
            </a:pPr>
            <a:r>
              <a:t>• Pilih strategi batching: single batch untuk dataset kecil, chunked batch untuk dataset besar.</a:t>
            </a:r>
          </a:p>
          <a:p>
            <a:pPr>
              <a:spcAft>
                <a:spcPts val="400"/>
              </a:spcAft>
              <a:defRPr sz="1200">
                <a:solidFill>
                  <a:srgbClr val="0B1B2D"/>
                </a:solidFill>
              </a:defRPr>
            </a:pPr>
            <a:r>
              <a:t>• Gunakan klausa IN dengan limit ukuran batch untuk menghindari cartesian explosion.</a:t>
            </a:r>
          </a:p>
          <a:p>
            <a:pPr>
              <a:defRPr sz="1200" b="1">
                <a:solidFill>
                  <a:srgbClr val="087F76"/>
                </a:solidFill>
              </a:defRPr>
            </a:pPr>
            <a:r>
              <a:t>KEPUTUSAN 3: MEMORY VS QUERY TRADE-OFF</a:t>
            </a:r>
          </a:p>
          <a:p>
            <a:pPr>
              <a:spcAft>
                <a:spcPts val="400"/>
              </a:spcAft>
              <a:defRPr sz="1200">
                <a:solidFill>
                  <a:srgbClr val="0B1B2D"/>
                </a:solidFill>
              </a:defRPr>
            </a:pPr>
            <a:r>
              <a:t>• Evaluasi trade-off antara jumlah query dan penggunaan memori.</a:t>
            </a:r>
          </a:p>
          <a:p>
            <a:pPr>
              <a:spcAft>
                <a:spcPts val="400"/>
              </a:spcAft>
              <a:defRPr sz="1200">
                <a:solidFill>
                  <a:srgbClr val="0B1B2D"/>
                </a:solidFill>
              </a:defRPr>
            </a:pPr>
            <a:r>
              <a:t>• Untuk relasi one-to-many besar, pertimbangkan column selection atau pagination.</a:t>
            </a:r>
          </a:p>
        </p:txBody>
      </p:sp>
      <p:sp>
        <p:nvSpPr>
          <p:cNvPr id="7" name="TextBox 6"/>
          <p:cNvSpPr txBox="1"/>
          <p:nvPr/>
        </p:nvSpPr>
        <p:spPr>
          <a:xfrm>
            <a:off x="6217920" y="1828800"/>
            <a:ext cx="5303520" cy="3383280"/>
          </a:xfrm>
          <a:prstGeom prst="rect">
            <a:avLst/>
          </a:prstGeom>
          <a:noFill/>
        </p:spPr>
        <p:txBody>
          <a:bodyPr wrap="square">
            <a:spAutoFit/>
          </a:bodyPr>
          <a:lstStyle/>
          <a:p>
            <a:pPr>
              <a:lnSpc>
                <a:spcPct val="135000"/>
              </a:lnSpc>
              <a:defRPr sz="1300">
                <a:solidFill>
                  <a:srgbClr val="0B1B2D"/>
                </a:solidFill>
              </a:defRPr>
            </a:pPr>
            <a:r>
              <a:t>Tiga keputusan desain kritis ini membentuk fondasi implementasi optimasi N+1 query yang robust. Keputusan pertama menetapkan mechanisme pengukuran kuantitatif melalui query counter yang terintegrasi dengan test suite. Keputusan kedua memilih strategi batching yang sesuai dengan karakteristik dataset dan batasan memori. Keputusan ketiga mengevaluasi trade-off antara pengurangan query dan peningkatan penggunaan memori, yang menjadi pertimbangan penting saat menangani relasi one-to-many dalam skala besar.</a:t>
            </a:r>
          </a:p>
        </p:txBody>
      </p:sp>
      <p:sp>
        <p:nvSpPr>
          <p:cNvPr id="8" name="Rectangle 7"/>
          <p:cNvSpPr/>
          <p:nvPr/>
        </p:nvSpPr>
        <p:spPr>
          <a:xfrm>
            <a:off x="731520" y="5394960"/>
            <a:ext cx="10728655" cy="594360"/>
          </a:xfrm>
          <a:prstGeom prst="rect">
            <a:avLst/>
          </a:prstGeom>
          <a:solidFill>
            <a:srgbClr val="087F7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300" b="1">
                <a:solidFill>
                  <a:srgbClr val="FFFFFF"/>
                </a:solidFill>
              </a:defRPr>
            </a:pPr>
            <a:r>
              <a:t>Measure → Batch → Trade-off: the optimization decision triad.</a:t>
            </a:r>
          </a:p>
        </p:txBody>
      </p:sp>
      <p:sp>
        <p:nvSpPr>
          <p:cNvPr id="9" name="TextBox 8"/>
          <p:cNvSpPr txBox="1"/>
          <p:nvPr/>
        </p:nvSpPr>
        <p:spPr>
          <a:xfrm>
            <a:off x="731520" y="6263640"/>
            <a:ext cx="7315200" cy="320040"/>
          </a:xfrm>
          <a:prstGeom prst="rect">
            <a:avLst/>
          </a:prstGeom>
          <a:noFill/>
        </p:spPr>
        <p:txBody>
          <a:bodyPr wrap="none">
            <a:spAutoFit/>
          </a:bodyPr>
          <a:lstStyle/>
          <a:p>
            <a:pPr>
              <a:defRPr sz="1000">
                <a:solidFill>
                  <a:srgbClr val="52606B"/>
                </a:solidFill>
              </a:defRPr>
            </a:pPr>
            <a:r>
              <a:t>labs/22-n-plus-one-query-problem/content/05-key-takeaways.md</a:t>
            </a:r>
          </a:p>
        </p:txBody>
      </p:sp>
      <p:sp>
        <p:nvSpPr>
          <p:cNvPr id="10" name="TextBox 9"/>
          <p:cNvSpPr txBox="1"/>
          <p:nvPr/>
        </p:nvSpPr>
        <p:spPr>
          <a:xfrm>
            <a:off x="8686800" y="6263640"/>
            <a:ext cx="2743200" cy="320040"/>
          </a:xfrm>
          <a:prstGeom prst="rect">
            <a:avLst/>
          </a:prstGeom>
          <a:noFill/>
        </p:spPr>
        <p:txBody>
          <a:bodyPr wrap="none">
            <a:spAutoFit/>
          </a:bodyPr>
          <a:lstStyle/>
          <a:p>
            <a:pPr algn="r">
              <a:defRPr sz="1000" b="1">
                <a:solidFill>
                  <a:srgbClr val="52606B"/>
                </a:solidFill>
              </a:defRPr>
            </a:pPr>
            <a:r>
              <a:t>09 / 24</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1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728655" cy="365760"/>
          </a:xfrm>
          <a:prstGeom prst="rect">
            <a:avLst/>
          </a:prstGeom>
          <a:noFill/>
        </p:spPr>
        <p:txBody>
          <a:bodyPr wrap="none">
            <a:spAutoFit/>
          </a:bodyPr>
          <a:lstStyle/>
          <a:p>
            <a:pPr>
              <a:defRPr sz="1300" b="1">
                <a:solidFill>
                  <a:srgbClr val="087F76"/>
                </a:solidFill>
              </a:defRPr>
            </a:pPr>
            <a:r>
              <a:t>SOFTWARE ENGINEERING LAB | LAB 22</a:t>
            </a:r>
          </a:p>
        </p:txBody>
      </p:sp>
      <p:sp>
        <p:nvSpPr>
          <p:cNvPr id="4" name="TextBox 3"/>
          <p:cNvSpPr txBox="1"/>
          <p:nvPr/>
        </p:nvSpPr>
        <p:spPr>
          <a:xfrm>
            <a:off x="731520" y="685800"/>
            <a:ext cx="10728655" cy="640080"/>
          </a:xfrm>
          <a:prstGeom prst="rect">
            <a:avLst/>
          </a:prstGeom>
          <a:noFill/>
        </p:spPr>
        <p:txBody>
          <a:bodyPr wrap="square">
            <a:spAutoFit/>
          </a:bodyPr>
          <a:lstStyle/>
          <a:p>
            <a:pPr>
              <a:defRPr sz="2400" b="1">
                <a:solidFill>
                  <a:srgbClr val="0B1B2D"/>
                </a:solidFill>
              </a:defRPr>
            </a:pPr>
            <a:r>
              <a:t>Bukti Eksekusi: Terminal Output Demo</a:t>
            </a:r>
          </a:p>
        </p:txBody>
      </p:sp>
      <p:sp>
        <p:nvSpPr>
          <p:cNvPr id="5" name="TextBox 4"/>
          <p:cNvSpPr txBox="1"/>
          <p:nvPr/>
        </p:nvSpPr>
        <p:spPr>
          <a:xfrm>
            <a:off x="731520" y="1280160"/>
            <a:ext cx="10728655" cy="457200"/>
          </a:xfrm>
          <a:prstGeom prst="rect">
            <a:avLst/>
          </a:prstGeom>
          <a:noFill/>
        </p:spPr>
        <p:txBody>
          <a:bodyPr wrap="square">
            <a:spAutoFit/>
          </a:bodyPr>
          <a:lstStyle/>
          <a:p>
            <a:pPr>
              <a:defRPr sz="1300">
                <a:solidFill>
                  <a:srgbClr val="52606B"/>
                </a:solidFill>
              </a:defRPr>
            </a:pPr>
            <a:r>
              <a:t>Output langsung dari go run ./cmd/demo yang menunjukkan perbedaan query count.</a:t>
            </a:r>
          </a:p>
        </p:txBody>
      </p:sp>
      <p:sp>
        <p:nvSpPr>
          <p:cNvPr id="6" name="TextBox 5"/>
          <p:cNvSpPr txBox="1"/>
          <p:nvPr/>
        </p:nvSpPr>
        <p:spPr>
          <a:xfrm>
            <a:off x="731520" y="1828800"/>
            <a:ext cx="5120640" cy="3383280"/>
          </a:xfrm>
          <a:prstGeom prst="rect">
            <a:avLst/>
          </a:prstGeom>
          <a:noFill/>
        </p:spPr>
        <p:txBody>
          <a:bodyPr wrap="square">
            <a:spAutoFit/>
          </a:bodyPr>
          <a:lstStyle/>
          <a:p>
            <a:pPr>
              <a:defRPr sz="1200" b="1">
                <a:solidFill>
                  <a:srgbClr val="087F76"/>
                </a:solidFill>
              </a:defRPr>
            </a:pPr>
            <a:r>
              <a:t>DEMO TERMINAL</a:t>
            </a:r>
          </a:p>
          <a:p>
            <a:pPr>
              <a:spcAft>
                <a:spcPts val="400"/>
              </a:spcAft>
              <a:defRPr sz="1200">
                <a:solidFill>
                  <a:srgbClr val="0B1B2D"/>
                </a:solidFill>
              </a:defRPr>
            </a:pPr>
            <a:r>
              <a:t>• === 1. Simulating N+1 Query Problem ---</a:t>
            </a:r>
          </a:p>
          <a:p>
            <a:pPr>
              <a:spcAft>
                <a:spcPts val="400"/>
              </a:spcAft>
              <a:defRPr sz="1200">
                <a:solidFill>
                  <a:srgbClr val="0B1B2D"/>
                </a:solidFill>
              </a:defRPr>
            </a:pPr>
            <a:r>
              <a:t>• Loaded 3 authors with their posts.</a:t>
            </a:r>
          </a:p>
          <a:p>
            <a:pPr>
              <a:spcAft>
                <a:spcPts val="400"/>
              </a:spcAft>
              <a:defRPr sz="1200">
                <a:solidFill>
                  <a:srgbClr val="0B1B2D"/>
                </a:solidFill>
              </a:defRPr>
            </a:pPr>
            <a:r>
              <a:t>• Total queries executed: 4 (1 query for authors + 3 queries for posts)</a:t>
            </a:r>
          </a:p>
          <a:p>
            <a:pPr>
              <a:spcAft>
                <a:spcPts val="400"/>
              </a:spcAft>
              <a:defRPr sz="1200">
                <a:solidFill>
                  <a:srgbClr val="0B1B2D"/>
                </a:solidFill>
              </a:defRPr>
            </a:pPr>
            <a:r>
              <a:t>• </a:t>
            </a:r>
          </a:p>
          <a:p>
            <a:pPr>
              <a:spcAft>
                <a:spcPts val="400"/>
              </a:spcAft>
              <a:defRPr sz="1200">
                <a:solidFill>
                  <a:srgbClr val="0B1B2D"/>
                </a:solidFill>
              </a:defRPr>
            </a:pPr>
            <a:r>
              <a:t>• --- 2. Simulating Eager Loading (Batching) ---</a:t>
            </a:r>
          </a:p>
          <a:p>
            <a:pPr>
              <a:spcAft>
                <a:spcPts val="400"/>
              </a:spcAft>
              <a:defRPr sz="1200">
                <a:solidFill>
                  <a:srgbClr val="0B1B2D"/>
                </a:solidFill>
              </a:defRPr>
            </a:pPr>
            <a:r>
              <a:t>• Loaded 3 authors with their posts.</a:t>
            </a:r>
          </a:p>
          <a:p>
            <a:pPr>
              <a:spcAft>
                <a:spcPts val="400"/>
              </a:spcAft>
              <a:defRPr sz="1200">
                <a:solidFill>
                  <a:srgbClr val="0B1B2D"/>
                </a:solidFill>
              </a:defRPr>
            </a:pPr>
            <a:r>
              <a:t>• Total queries executed: 2 (1 query for authors + 1 batched query for posts)</a:t>
            </a:r>
          </a:p>
        </p:txBody>
      </p:sp>
      <p:sp>
        <p:nvSpPr>
          <p:cNvPr id="7" name="TextBox 6"/>
          <p:cNvSpPr txBox="1"/>
          <p:nvPr/>
        </p:nvSpPr>
        <p:spPr>
          <a:xfrm>
            <a:off x="6217920" y="1828800"/>
            <a:ext cx="5303520" cy="3383280"/>
          </a:xfrm>
          <a:prstGeom prst="rect">
            <a:avLst/>
          </a:prstGeom>
          <a:noFill/>
        </p:spPr>
        <p:txBody>
          <a:bodyPr wrap="square">
            <a:spAutoFit/>
          </a:bodyPr>
          <a:lstStyle/>
          <a:p>
            <a:pPr>
              <a:lnSpc>
                <a:spcPct val="135000"/>
              </a:lnSpc>
              <a:defRPr sz="1300">
                <a:solidFill>
                  <a:srgbClr val="0B1B2D"/>
                </a:solidFill>
              </a:defRPr>
            </a:pPr>
            <a:r>
              <a:t>Terminal output dari demo CLI secara eksplisit menunjukkan perbedaan kuantitatif antara pendekatan N+1 dan eager loading. Untuk 3 author, pendekatan N+1 menghasilkan 4 query total, sedangkan eager loading hanya 2 query. Perbedaan ini terlihat jelas meskipun pada dataset kecil; pada skala produksi dengan ratusan atau ribuan record, gap antara 1+N query versus 2 query akan menjadi sangat signifikan. Demo ini membuktikan bahwa batching dapat mengurangi jumlah database round-trip hingga separuhnya.</a:t>
            </a:r>
          </a:p>
        </p:txBody>
      </p:sp>
      <p:sp>
        <p:nvSpPr>
          <p:cNvPr id="8" name="Rectangle 7"/>
          <p:cNvSpPr/>
          <p:nvPr/>
        </p:nvSpPr>
        <p:spPr>
          <a:xfrm>
            <a:off x="731520" y="5394960"/>
            <a:ext cx="10728655" cy="594360"/>
          </a:xfrm>
          <a:prstGeom prst="rect">
            <a:avLst/>
          </a:prstGeom>
          <a:solidFill>
            <a:srgbClr val="087F7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300" b="1">
                <a:solidFill>
                  <a:srgbClr val="FFFFFF"/>
                </a:solidFill>
              </a:defRPr>
            </a:pPr>
            <a:r>
              <a:t>Demo output provides concrete evidence of query count reduction from N+1 to 2.</a:t>
            </a:r>
          </a:p>
        </p:txBody>
      </p:sp>
      <p:sp>
        <p:nvSpPr>
          <p:cNvPr id="9" name="TextBox 8"/>
          <p:cNvSpPr txBox="1"/>
          <p:nvPr/>
        </p:nvSpPr>
        <p:spPr>
          <a:xfrm>
            <a:off x="731520" y="6263640"/>
            <a:ext cx="7315200" cy="320040"/>
          </a:xfrm>
          <a:prstGeom prst="rect">
            <a:avLst/>
          </a:prstGeom>
          <a:noFill/>
        </p:spPr>
        <p:txBody>
          <a:bodyPr wrap="none">
            <a:spAutoFit/>
          </a:bodyPr>
          <a:lstStyle/>
          <a:p>
            <a:pPr>
              <a:defRPr sz="1000">
                <a:solidFill>
                  <a:srgbClr val="52606B"/>
                </a:solidFill>
              </a:defRPr>
            </a:pPr>
            <a:r>
              <a:t>cmd/demo/main.go • engineering/03-execution-result.md</a:t>
            </a:r>
          </a:p>
        </p:txBody>
      </p:sp>
      <p:sp>
        <p:nvSpPr>
          <p:cNvPr id="10" name="TextBox 9"/>
          <p:cNvSpPr txBox="1"/>
          <p:nvPr/>
        </p:nvSpPr>
        <p:spPr>
          <a:xfrm>
            <a:off x="8686800" y="6263640"/>
            <a:ext cx="2743200" cy="320040"/>
          </a:xfrm>
          <a:prstGeom prst="rect">
            <a:avLst/>
          </a:prstGeom>
          <a:noFill/>
        </p:spPr>
        <p:txBody>
          <a:bodyPr wrap="none">
            <a:spAutoFit/>
          </a:bodyPr>
          <a:lstStyle/>
          <a:p>
            <a:pPr algn="r">
              <a:defRPr sz="1000" b="1">
                <a:solidFill>
                  <a:srgbClr val="52606B"/>
                </a:solidFill>
              </a:defRPr>
            </a:pPr>
            <a:r>
              <a:t>10 / 24</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1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728655" cy="365760"/>
          </a:xfrm>
          <a:prstGeom prst="rect">
            <a:avLst/>
          </a:prstGeom>
          <a:noFill/>
        </p:spPr>
        <p:txBody>
          <a:bodyPr wrap="none">
            <a:spAutoFit/>
          </a:bodyPr>
          <a:lstStyle/>
          <a:p>
            <a:pPr>
              <a:defRPr sz="1300" b="1">
                <a:solidFill>
                  <a:srgbClr val="087F76"/>
                </a:solidFill>
              </a:defRPr>
            </a:pPr>
            <a:r>
              <a:t>SOFTWARE ENGINEERING LAB | LAB 22</a:t>
            </a:r>
          </a:p>
        </p:txBody>
      </p:sp>
      <p:sp>
        <p:nvSpPr>
          <p:cNvPr id="4" name="TextBox 3"/>
          <p:cNvSpPr txBox="1"/>
          <p:nvPr/>
        </p:nvSpPr>
        <p:spPr>
          <a:xfrm>
            <a:off x="731520" y="685800"/>
            <a:ext cx="10728655" cy="640080"/>
          </a:xfrm>
          <a:prstGeom prst="rect">
            <a:avLst/>
          </a:prstGeom>
          <a:noFill/>
        </p:spPr>
        <p:txBody>
          <a:bodyPr wrap="square">
            <a:spAutoFit/>
          </a:bodyPr>
          <a:lstStyle/>
          <a:p>
            <a:pPr>
              <a:defRPr sz="2400" b="1">
                <a:solidFill>
                  <a:srgbClr val="0B1B2D"/>
                </a:solidFill>
              </a:defRPr>
            </a:pPr>
            <a:r>
              <a:t>Analisis Batasan: Yang Tidak Dibuktikan Lab Ini</a:t>
            </a:r>
          </a:p>
        </p:txBody>
      </p:sp>
      <p:sp>
        <p:nvSpPr>
          <p:cNvPr id="5" name="TextBox 4"/>
          <p:cNvSpPr txBox="1"/>
          <p:nvPr/>
        </p:nvSpPr>
        <p:spPr>
          <a:xfrm>
            <a:off x="731520" y="1280160"/>
            <a:ext cx="10728655" cy="457200"/>
          </a:xfrm>
          <a:prstGeom prst="rect">
            <a:avLst/>
          </a:prstGeom>
          <a:noFill/>
        </p:spPr>
        <p:txBody>
          <a:bodyPr wrap="square">
            <a:spAutoFit/>
          </a:bodyPr>
          <a:lstStyle/>
          <a:p>
            <a:pPr>
              <a:defRPr sz="1300">
                <a:solidFill>
                  <a:srgbClr val="52606B"/>
                </a:solidFill>
              </a:defRPr>
            </a:pPr>
            <a:r>
              <a:t>Heading kanan: YANG TIDAK DIBUKTIKAN — batasan tegas dari demonstrasi.</a:t>
            </a:r>
          </a:p>
        </p:txBody>
      </p:sp>
      <p:sp>
        <p:nvSpPr>
          <p:cNvPr id="6" name="TextBox 5"/>
          <p:cNvSpPr txBox="1"/>
          <p:nvPr/>
        </p:nvSpPr>
        <p:spPr>
          <a:xfrm>
            <a:off x="731520" y="1828800"/>
            <a:ext cx="5120640" cy="3383280"/>
          </a:xfrm>
          <a:prstGeom prst="rect">
            <a:avLst/>
          </a:prstGeom>
          <a:noFill/>
        </p:spPr>
        <p:txBody>
          <a:bodyPr wrap="square">
            <a:spAutoFit/>
          </a:bodyPr>
          <a:lstStyle/>
          <a:p>
            <a:pPr>
              <a:defRPr sz="1200" b="1">
                <a:solidFill>
                  <a:srgbClr val="087F76"/>
                </a:solidFill>
              </a:defRPr>
            </a:pPr>
            <a:r>
              <a:t>YANG DIBUKTIKAN</a:t>
            </a:r>
          </a:p>
          <a:p>
            <a:pPr>
              <a:spcAft>
                <a:spcPts val="400"/>
              </a:spcAft>
              <a:defRPr sz="1200">
                <a:solidFill>
                  <a:srgbClr val="0B1B2D"/>
                </a:solidFill>
              </a:defRPr>
            </a:pPr>
            <a:r>
              <a:t>• Query count reduction dari 4 ke 2 untuk 3 author.</a:t>
            </a:r>
          </a:p>
          <a:p>
            <a:pPr>
              <a:spcAft>
                <a:spcPts val="400"/>
              </a:spcAft>
              <a:defRPr sz="1200">
                <a:solidFill>
                  <a:srgbClr val="0B1B2D"/>
                </a:solidFill>
              </a:defRPr>
            </a:pPr>
            <a:r>
              <a:t>• Deep equality antara hasil N+1 dan eager loading.</a:t>
            </a:r>
          </a:p>
          <a:p>
            <a:pPr>
              <a:spcAft>
                <a:spcPts val="400"/>
              </a:spcAft>
              <a:defRPr sz="1200">
                <a:solidFill>
                  <a:srgbClr val="0B1B2D"/>
                </a:solidFill>
              </a:defRPr>
            </a:pPr>
            <a:r>
              <a:t>• Thread-safety dengan race detector.</a:t>
            </a:r>
          </a:p>
          <a:p>
            <a:pPr>
              <a:spcAft>
                <a:spcPts val="400"/>
              </a:spcAft>
              <a:defRPr sz="1200">
                <a:solidFill>
                  <a:srgbClr val="0B1B2D"/>
                </a:solidFill>
              </a:defRPr>
            </a:pPr>
            <a:r>
              <a:t>• Edge case empty store.</a:t>
            </a:r>
          </a:p>
          <a:p>
            <a:pPr>
              <a:defRPr sz="1200" b="1">
                <a:solidFill>
                  <a:srgbClr val="087F76"/>
                </a:solidFill>
              </a:defRPr>
            </a:pPr>
            <a:r>
              <a:t>YANG TIDAK DIBUKTIKAN</a:t>
            </a:r>
          </a:p>
          <a:p>
            <a:pPr>
              <a:spcAft>
                <a:spcPts val="400"/>
              </a:spcAft>
              <a:defRPr sz="1200">
                <a:solidFill>
                  <a:srgbClr val="0B1B2D"/>
                </a:solidFill>
              </a:defRPr>
            </a:pPr>
            <a:r>
              <a:t>• Cartesian explosion pada relasi one-to-many besar.</a:t>
            </a:r>
          </a:p>
          <a:p>
            <a:pPr>
              <a:spcAft>
                <a:spcPts val="400"/>
              </a:spcAft>
              <a:defRPr sz="1200">
                <a:solidFill>
                  <a:srgbClr val="0B1B2D"/>
                </a:solidFill>
              </a:defRPr>
            </a:pPr>
            <a:r>
              <a:t>• Memory bloat akibat eager loading massive dataset.</a:t>
            </a:r>
          </a:p>
          <a:p>
            <a:pPr>
              <a:spcAft>
                <a:spcPts val="400"/>
              </a:spcAft>
              <a:defRPr sz="1200">
                <a:solidFill>
                  <a:srgbClr val="0B1B2D"/>
                </a:solidFill>
              </a:defRPr>
            </a:pPr>
            <a:r>
              <a:t>• Performa pada database relational sesungguhnya.</a:t>
            </a:r>
          </a:p>
          <a:p>
            <a:pPr>
              <a:spcAft>
                <a:spcPts val="400"/>
              </a:spcAft>
              <a:defRPr sz="1200">
                <a:solidFill>
                  <a:srgbClr val="0B1B2D"/>
                </a:solidFill>
              </a:defRPr>
            </a:pPr>
            <a:r>
              <a:t>• Trade-off dengan join-based eager loading.</a:t>
            </a:r>
          </a:p>
          <a:p>
            <a:pPr>
              <a:spcAft>
                <a:spcPts val="400"/>
              </a:spcAft>
              <a:defRPr sz="1200">
                <a:solidFill>
                  <a:srgbClr val="0B1B2D"/>
                </a:solidFill>
              </a:defRPr>
            </a:pPr>
            <a:r>
              <a:t>• Column selection dan aggregation optimization.</a:t>
            </a:r>
          </a:p>
        </p:txBody>
      </p:sp>
      <p:sp>
        <p:nvSpPr>
          <p:cNvPr id="7" name="TextBox 6"/>
          <p:cNvSpPr txBox="1"/>
          <p:nvPr/>
        </p:nvSpPr>
        <p:spPr>
          <a:xfrm>
            <a:off x="6217920" y="1828800"/>
            <a:ext cx="5303520" cy="3383280"/>
          </a:xfrm>
          <a:prstGeom prst="rect">
            <a:avLst/>
          </a:prstGeom>
          <a:noFill/>
        </p:spPr>
        <p:txBody>
          <a:bodyPr wrap="square">
            <a:spAutoFit/>
          </a:bodyPr>
          <a:lstStyle/>
          <a:p>
            <a:pPr>
              <a:lnSpc>
                <a:spcPct val="135000"/>
              </a:lnSpc>
              <a:defRPr sz="1300">
                <a:solidFill>
                  <a:srgbClr val="0B1B2D"/>
                </a:solidFill>
              </a:defRPr>
            </a:pPr>
            <a:r>
              <a:t>Laboratorium ini memiliki batasan-batasan tegas yang perlu dipahami agar klaim tidak berlebihan. Yang dibuktikan adalah reduksi query count pada dataset kecil, kesamaan semantik hasil, thread-safety, dan penanganan edge case kosong. Yang tidak dibuktikan meliputi cartesian explosion pada relasi one-to-many berskala besar, memory bloat akibat memuat dataset massive secara eager, performa aktual pada database relational sesungguhnya, trade-off dengan strategi eager loading berbasis join, serta optimasi column selection dan aggregation.</a:t>
            </a:r>
          </a:p>
        </p:txBody>
      </p:sp>
      <p:sp>
        <p:nvSpPr>
          <p:cNvPr id="8" name="Rectangle 7"/>
          <p:cNvSpPr/>
          <p:nvPr/>
        </p:nvSpPr>
        <p:spPr>
          <a:xfrm>
            <a:off x="731520" y="5394960"/>
            <a:ext cx="10728655" cy="594360"/>
          </a:xfrm>
          <a:prstGeom prst="rect">
            <a:avLst/>
          </a:prstGeom>
          <a:solidFill>
            <a:srgbClr val="087F7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300" b="1">
                <a:solidFill>
                  <a:srgbClr val="FFFFFF"/>
                </a:solidFill>
              </a:defRPr>
            </a:pPr>
            <a:r>
              <a:t>Proof covers query count; unproven: scale, memory, join trade-offs.</a:t>
            </a:r>
          </a:p>
        </p:txBody>
      </p:sp>
      <p:sp>
        <p:nvSpPr>
          <p:cNvPr id="9" name="TextBox 8"/>
          <p:cNvSpPr txBox="1"/>
          <p:nvPr/>
        </p:nvSpPr>
        <p:spPr>
          <a:xfrm>
            <a:off x="731520" y="6263640"/>
            <a:ext cx="7315200" cy="320040"/>
          </a:xfrm>
          <a:prstGeom prst="rect">
            <a:avLst/>
          </a:prstGeom>
          <a:noFill/>
        </p:spPr>
        <p:txBody>
          <a:bodyPr wrap="none">
            <a:spAutoFit/>
          </a:bodyPr>
          <a:lstStyle/>
          <a:p>
            <a:pPr>
              <a:defRPr sz="1000">
                <a:solidFill>
                  <a:srgbClr val="52606B"/>
                </a:solidFill>
              </a:defRPr>
            </a:pPr>
            <a:r>
              <a:t>labs/22-n-plus-one-query-problem/content/01-content-brief.md</a:t>
            </a:r>
          </a:p>
        </p:txBody>
      </p:sp>
      <p:sp>
        <p:nvSpPr>
          <p:cNvPr id="10" name="TextBox 9"/>
          <p:cNvSpPr txBox="1"/>
          <p:nvPr/>
        </p:nvSpPr>
        <p:spPr>
          <a:xfrm>
            <a:off x="8686800" y="6263640"/>
            <a:ext cx="2743200" cy="320040"/>
          </a:xfrm>
          <a:prstGeom prst="rect">
            <a:avLst/>
          </a:prstGeom>
          <a:noFill/>
        </p:spPr>
        <p:txBody>
          <a:bodyPr wrap="none">
            <a:spAutoFit/>
          </a:bodyPr>
          <a:lstStyle/>
          <a:p>
            <a:pPr algn="r">
              <a:defRPr sz="1000" b="1">
                <a:solidFill>
                  <a:srgbClr val="52606B"/>
                </a:solidFill>
              </a:defRPr>
            </a:pPr>
            <a:r>
              <a:t>11 / 24</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1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728655" cy="365760"/>
          </a:xfrm>
          <a:prstGeom prst="rect">
            <a:avLst/>
          </a:prstGeom>
          <a:noFill/>
        </p:spPr>
        <p:txBody>
          <a:bodyPr wrap="none">
            <a:spAutoFit/>
          </a:bodyPr>
          <a:lstStyle/>
          <a:p>
            <a:pPr>
              <a:defRPr sz="1300" b="1">
                <a:solidFill>
                  <a:srgbClr val="087F76"/>
                </a:solidFill>
              </a:defRPr>
            </a:pPr>
            <a:r>
              <a:t>SOFTWARE ENGINEERING LAB | LAB 22</a:t>
            </a:r>
          </a:p>
        </p:txBody>
      </p:sp>
      <p:sp>
        <p:nvSpPr>
          <p:cNvPr id="4" name="TextBox 3"/>
          <p:cNvSpPr txBox="1"/>
          <p:nvPr/>
        </p:nvSpPr>
        <p:spPr>
          <a:xfrm>
            <a:off x="731520" y="685800"/>
            <a:ext cx="10728655" cy="640080"/>
          </a:xfrm>
          <a:prstGeom prst="rect">
            <a:avLst/>
          </a:prstGeom>
          <a:noFill/>
        </p:spPr>
        <p:txBody>
          <a:bodyPr wrap="square">
            <a:spAutoFit/>
          </a:bodyPr>
          <a:lstStyle/>
          <a:p>
            <a:pPr>
              <a:defRPr sz="2400" b="1">
                <a:solidFill>
                  <a:srgbClr val="0B1B2D"/>
                </a:solidFill>
              </a:defRPr>
            </a:pPr>
            <a:r>
              <a:t>Trade-off Arsitektur: Memory vs Query Count</a:t>
            </a:r>
          </a:p>
        </p:txBody>
      </p:sp>
      <p:sp>
        <p:nvSpPr>
          <p:cNvPr id="5" name="TextBox 4"/>
          <p:cNvSpPr txBox="1"/>
          <p:nvPr/>
        </p:nvSpPr>
        <p:spPr>
          <a:xfrm>
            <a:off x="731520" y="1280160"/>
            <a:ext cx="10728655" cy="457200"/>
          </a:xfrm>
          <a:prstGeom prst="rect">
            <a:avLst/>
          </a:prstGeom>
          <a:noFill/>
        </p:spPr>
        <p:txBody>
          <a:bodyPr wrap="square">
            <a:spAutoFit/>
          </a:bodyPr>
          <a:lstStyle/>
          <a:p>
            <a:pPr>
              <a:defRPr sz="1300">
                <a:solidFill>
                  <a:srgbClr val="52606B"/>
                </a:solidFill>
              </a:defRPr>
            </a:pPr>
            <a:r>
              <a:t>Eager loading mengurangi query tetapi meningkatkan memori dan potensi cartesian explosion.</a:t>
            </a:r>
          </a:p>
        </p:txBody>
      </p:sp>
      <p:sp>
        <p:nvSpPr>
          <p:cNvPr id="6" name="TextBox 5"/>
          <p:cNvSpPr txBox="1"/>
          <p:nvPr/>
        </p:nvSpPr>
        <p:spPr>
          <a:xfrm>
            <a:off x="731520" y="1828800"/>
            <a:ext cx="5120640" cy="3383280"/>
          </a:xfrm>
          <a:prstGeom prst="rect">
            <a:avLst/>
          </a:prstGeom>
          <a:noFill/>
        </p:spPr>
        <p:txBody>
          <a:bodyPr wrap="square">
            <a:spAutoFit/>
          </a:bodyPr>
          <a:lstStyle/>
          <a:p>
            <a:pPr>
              <a:defRPr sz="1200" b="1">
                <a:solidFill>
                  <a:srgbClr val="087F76"/>
                </a:solidFill>
              </a:defRPr>
            </a:pPr>
            <a:r>
              <a:t>PROS EAGER LOADING</a:t>
            </a:r>
          </a:p>
          <a:p>
            <a:pPr>
              <a:spcAft>
                <a:spcPts val="400"/>
              </a:spcAft>
              <a:defRPr sz="1200">
                <a:solidFill>
                  <a:srgbClr val="0B1B2D"/>
                </a:solidFill>
              </a:defRPr>
            </a:pPr>
            <a:r>
              <a:t>• Query count konstan (O(1)) terlepas dari ukuran dataset.</a:t>
            </a:r>
          </a:p>
          <a:p>
            <a:pPr>
              <a:spcAft>
                <a:spcPts val="400"/>
              </a:spcAft>
              <a:defRPr sz="1200">
                <a:solidFill>
                  <a:srgbClr val="0B1B2D"/>
                </a:solidFill>
              </a:defRPr>
            </a:pPr>
            <a:r>
              <a:t>• Mengurangi connection pool pressure.</a:t>
            </a:r>
          </a:p>
          <a:p>
            <a:pPr>
              <a:spcAft>
                <a:spcPts val="400"/>
              </a:spcAft>
              <a:defRPr sz="1200">
                <a:solidFill>
                  <a:srgbClr val="0B1B2D"/>
                </a:solidFill>
              </a:defRPr>
            </a:pPr>
            <a:r>
              <a:t>• Menghilangkan latency akumulatif dari banyak round-trip.</a:t>
            </a:r>
          </a:p>
          <a:p>
            <a:pPr>
              <a:defRPr sz="1200" b="1">
                <a:solidFill>
                  <a:srgbClr val="087F76"/>
                </a:solidFill>
              </a:defRPr>
            </a:pPr>
            <a:r>
              <a:t>CONS EAGER LOADING</a:t>
            </a:r>
          </a:p>
          <a:p>
            <a:pPr>
              <a:spcAft>
                <a:spcPts val="400"/>
              </a:spcAft>
              <a:defRPr sz="1200">
                <a:solidFill>
                  <a:srgbClr val="0B1B2D"/>
                </a:solidFill>
              </a:defRPr>
            </a:pPr>
            <a:r>
              <a:t>• Memory usage meningkat karena memuat semua record sekaligus.</a:t>
            </a:r>
          </a:p>
          <a:p>
            <a:pPr>
              <a:spcAft>
                <a:spcPts val="400"/>
              </a:spcAft>
              <a:defRPr sz="1200">
                <a:solidFill>
                  <a:srgbClr val="0B1B2D"/>
                </a:solidFill>
              </a:defRPr>
            </a:pPr>
            <a:r>
              <a:t>• Potensi cartesian explosion pada relasi one-to-many/many-to-many.</a:t>
            </a:r>
          </a:p>
          <a:p>
            <a:pPr>
              <a:spcAft>
                <a:spcPts val="400"/>
              </a:spcAft>
              <a:defRPr sz="1200">
                <a:solidFill>
                  <a:srgbClr val="0B1B2D"/>
                </a:solidFill>
              </a:defRPr>
            </a:pPr>
            <a:r>
              <a:t>• Perlu pagination atau chunking untuk dataset besar.</a:t>
            </a:r>
          </a:p>
          <a:p>
            <a:pPr>
              <a:spcAft>
                <a:spcPts val="400"/>
              </a:spcAft>
              <a:defRPr sz="1200">
                <a:solidFill>
                  <a:srgbClr val="0B1B2D"/>
                </a:solidFill>
              </a:defRPr>
            </a:pPr>
            <a:r>
              <a:t>• Kompleksitas kode lebih tinggi daripada N+1 naive.</a:t>
            </a:r>
          </a:p>
        </p:txBody>
      </p:sp>
      <p:sp>
        <p:nvSpPr>
          <p:cNvPr id="7" name="TextBox 6"/>
          <p:cNvSpPr txBox="1"/>
          <p:nvPr/>
        </p:nvSpPr>
        <p:spPr>
          <a:xfrm>
            <a:off x="6217920" y="1828800"/>
            <a:ext cx="5303520" cy="3383280"/>
          </a:xfrm>
          <a:prstGeom prst="rect">
            <a:avLst/>
          </a:prstGeom>
          <a:noFill/>
        </p:spPr>
        <p:txBody>
          <a:bodyPr wrap="square">
            <a:spAutoFit/>
          </a:bodyPr>
          <a:lstStyle/>
          <a:p>
            <a:pPr>
              <a:lnSpc>
                <a:spcPct val="135000"/>
              </a:lnSpc>
              <a:defRPr sz="1300">
                <a:solidFill>
                  <a:srgbClr val="0B1B2D"/>
                </a:solidFill>
              </a:defRPr>
            </a:pPr>
            <a:r>
              <a:t>Trade-off arsitektural antara N+1 naive dan eager loading batching melibatkan pertukaran antara penggunaan query dan konsumsi memori. Eager loading secara signifikan mengurangi jumlah query database dari linear menjadi konstan, yang menghasilkan penghematan latency jaringan dan pengurangan tekanan pada connection pool. Namun, pengorbanannya adalah peningkatan penggunaan memori karena semua record dimuat sekaligus ke dalam memori aplikasi. Pada relasi one-to-many berskala besar, ini dapat menyebabkan cartesian product explosion jika tidak ditangani dengan chunking atau pagination yang tepat.</a:t>
            </a:r>
          </a:p>
        </p:txBody>
      </p:sp>
      <p:sp>
        <p:nvSpPr>
          <p:cNvPr id="8" name="Rectangle 7"/>
          <p:cNvSpPr/>
          <p:nvPr/>
        </p:nvSpPr>
        <p:spPr>
          <a:xfrm>
            <a:off x="731520" y="5394960"/>
            <a:ext cx="10728655" cy="594360"/>
          </a:xfrm>
          <a:prstGeom prst="rect">
            <a:avLst/>
          </a:prstGeom>
          <a:solidFill>
            <a:srgbClr val="087F7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300" b="1">
                <a:solidFill>
                  <a:srgbClr val="FFFFFF"/>
                </a:solidFill>
              </a:defRPr>
            </a:pPr>
            <a:r>
              <a:t>Fewer queries at the cost of higher memory; scale dictates the optimal strategy.</a:t>
            </a:r>
          </a:p>
        </p:txBody>
      </p:sp>
      <p:sp>
        <p:nvSpPr>
          <p:cNvPr id="9" name="TextBox 8"/>
          <p:cNvSpPr txBox="1"/>
          <p:nvPr/>
        </p:nvSpPr>
        <p:spPr>
          <a:xfrm>
            <a:off x="731520" y="6263640"/>
            <a:ext cx="7315200" cy="320040"/>
          </a:xfrm>
          <a:prstGeom prst="rect">
            <a:avLst/>
          </a:prstGeom>
          <a:noFill/>
        </p:spPr>
        <p:txBody>
          <a:bodyPr wrap="none">
            <a:spAutoFit/>
          </a:bodyPr>
          <a:lstStyle/>
          <a:p>
            <a:pPr>
              <a:defRPr sz="1000">
                <a:solidFill>
                  <a:srgbClr val="52606B"/>
                </a:solidFill>
              </a:defRPr>
            </a:pPr>
            <a:r>
              <a:t>labs/22-n-plus-one-query-problem/content/02-master-draft.md</a:t>
            </a:r>
          </a:p>
        </p:txBody>
      </p:sp>
      <p:sp>
        <p:nvSpPr>
          <p:cNvPr id="10" name="TextBox 9"/>
          <p:cNvSpPr txBox="1"/>
          <p:nvPr/>
        </p:nvSpPr>
        <p:spPr>
          <a:xfrm>
            <a:off x="8686800" y="6263640"/>
            <a:ext cx="2743200" cy="320040"/>
          </a:xfrm>
          <a:prstGeom prst="rect">
            <a:avLst/>
          </a:prstGeom>
          <a:noFill/>
        </p:spPr>
        <p:txBody>
          <a:bodyPr wrap="none">
            <a:spAutoFit/>
          </a:bodyPr>
          <a:lstStyle/>
          <a:p>
            <a:pPr algn="r">
              <a:defRPr sz="1000" b="1">
                <a:solidFill>
                  <a:srgbClr val="52606B"/>
                </a:solidFill>
              </a:defRPr>
            </a:pPr>
            <a:r>
              <a:t>12 / 24</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1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728655" cy="365760"/>
          </a:xfrm>
          <a:prstGeom prst="rect">
            <a:avLst/>
          </a:prstGeom>
          <a:noFill/>
        </p:spPr>
        <p:txBody>
          <a:bodyPr wrap="none">
            <a:spAutoFit/>
          </a:bodyPr>
          <a:lstStyle/>
          <a:p>
            <a:pPr>
              <a:defRPr sz="1300" b="1">
                <a:solidFill>
                  <a:srgbClr val="087F76"/>
                </a:solidFill>
              </a:defRPr>
            </a:pPr>
            <a:r>
              <a:t>SOFTWARE ENGINEERING LAB | LAB 22</a:t>
            </a:r>
          </a:p>
        </p:txBody>
      </p:sp>
      <p:sp>
        <p:nvSpPr>
          <p:cNvPr id="4" name="TextBox 3"/>
          <p:cNvSpPr txBox="1"/>
          <p:nvPr/>
        </p:nvSpPr>
        <p:spPr>
          <a:xfrm>
            <a:off x="731520" y="685800"/>
            <a:ext cx="10728655" cy="640080"/>
          </a:xfrm>
          <a:prstGeom prst="rect">
            <a:avLst/>
          </a:prstGeom>
          <a:noFill/>
        </p:spPr>
        <p:txBody>
          <a:bodyPr wrap="square">
            <a:spAutoFit/>
          </a:bodyPr>
          <a:lstStyle/>
          <a:p>
            <a:pPr>
              <a:defRPr sz="2400" b="1">
                <a:solidFill>
                  <a:srgbClr val="0B1B2D"/>
                </a:solidFill>
              </a:defRPr>
            </a:pPr>
            <a:r>
              <a:t>Concurrency Safety: Thread-Safe Query Counter</a:t>
            </a:r>
          </a:p>
        </p:txBody>
      </p:sp>
      <p:sp>
        <p:nvSpPr>
          <p:cNvPr id="5" name="TextBox 4"/>
          <p:cNvSpPr txBox="1"/>
          <p:nvPr/>
        </p:nvSpPr>
        <p:spPr>
          <a:xfrm>
            <a:off x="731520" y="1280160"/>
            <a:ext cx="10728655" cy="457200"/>
          </a:xfrm>
          <a:prstGeom prst="rect">
            <a:avLst/>
          </a:prstGeom>
          <a:noFill/>
        </p:spPr>
        <p:txBody>
          <a:bodyPr wrap="square">
            <a:spAutoFit/>
          </a:bodyPr>
          <a:lstStyle/>
          <a:p>
            <a:pPr>
              <a:defRPr sz="1300">
                <a:solidFill>
                  <a:srgbClr val="52606B"/>
                </a:solidFill>
              </a:defRPr>
            </a:pPr>
            <a:r>
              <a:t>Store.go menggunakan sync.Mutex untuk melindungi queryCount dan data.</a:t>
            </a:r>
          </a:p>
        </p:txBody>
      </p:sp>
      <p:sp>
        <p:nvSpPr>
          <p:cNvPr id="6" name="Rounded Rectangle 5"/>
          <p:cNvSpPr/>
          <p:nvPr/>
        </p:nvSpPr>
        <p:spPr>
          <a:xfrm>
            <a:off x="731520" y="1828800"/>
            <a:ext cx="5120640" cy="3383280"/>
          </a:xfrm>
          <a:prstGeom prst="roundRect">
            <a:avLst/>
          </a:prstGeom>
          <a:solidFill>
            <a:srgbClr val="0B1B2D"/>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100">
                <a:solidFill>
                  <a:srgbClr val="E2E8F0"/>
                </a:solidFill>
                <a:latin typeface="Courier New"/>
              </a:defRPr>
            </a:pPr>
            <a:r>
              <a:t>type Store struct {</a:t>
            </a:r>
            <a:br/>
            <a:r>
              <a:t>    mu           sync.Mutex</a:t>
            </a:r>
            <a:br/>
            <a:r>
              <a:t>    authors      []Author</a:t>
            </a:r>
            <a:br/>
            <a:r>
              <a:t>    posts        []Post</a:t>
            </a:r>
            <a:br/>
            <a:r>
              <a:t>    queryCount   int</a:t>
            </a:r>
            <a:br/>
            <a:r>
              <a:t>}</a:t>
            </a:r>
            <a:br/>
            <a:br/>
            <a:r>
              <a:t>func (s *Store) GetQueryCount() int {</a:t>
            </a:r>
            <a:br/>
            <a:r>
              <a:t>    s.mu.Lock()</a:t>
            </a:r>
            <a:br/>
            <a:r>
              <a:t>    defer s.mu.Unlock()</a:t>
            </a:r>
            <a:br/>
            <a:r>
              <a:t>    return s.queryCount</a:t>
            </a:r>
            <a:br/>
            <a:r>
              <a:t>}</a:t>
            </a:r>
          </a:p>
        </p:txBody>
      </p:sp>
      <p:sp>
        <p:nvSpPr>
          <p:cNvPr id="7" name="TextBox 6"/>
          <p:cNvSpPr txBox="1"/>
          <p:nvPr/>
        </p:nvSpPr>
        <p:spPr>
          <a:xfrm>
            <a:off x="6217920" y="1828800"/>
            <a:ext cx="5303520" cy="3383280"/>
          </a:xfrm>
          <a:prstGeom prst="rect">
            <a:avLst/>
          </a:prstGeom>
          <a:noFill/>
        </p:spPr>
        <p:txBody>
          <a:bodyPr wrap="square">
            <a:spAutoFit/>
          </a:bodyPr>
          <a:lstStyle/>
          <a:p>
            <a:pPr>
              <a:lnSpc>
                <a:spcPct val="135000"/>
              </a:lnSpc>
              <a:defRPr sz="1300">
                <a:solidFill>
                  <a:srgbClr val="0B1B2D"/>
                </a:solidFill>
              </a:defRPr>
            </a:pPr>
            <a:r>
              <a:t>Implementasi store menggunakan sync.Mutex untuk memastikan thread-safety saat mengakses dan memodifikasi queryCount serta data koleksi. Setiap metode retrieval seperti GetAllAuthors, GetPostsByAuthorID, dan GetPostsByAuthorIDs mengunci mutex sebelum increment queryCount dan membebek hasilnya. Race detector Go mengonfirmasi bahwa tidak ada data race pada implementasi ini. Sifat thread-safe ini penting karena unit test dapat dijalankan secara paralel dan demo dapat diakses dari multiple goroutine.</a:t>
            </a:r>
          </a:p>
        </p:txBody>
      </p:sp>
      <p:sp>
        <p:nvSpPr>
          <p:cNvPr id="8" name="Rectangle 7"/>
          <p:cNvSpPr/>
          <p:nvPr/>
        </p:nvSpPr>
        <p:spPr>
          <a:xfrm>
            <a:off x="731520" y="5394960"/>
            <a:ext cx="10728655" cy="594360"/>
          </a:xfrm>
          <a:prstGeom prst="rect">
            <a:avLst/>
          </a:prstGeom>
          <a:solidFill>
            <a:srgbClr val="087F7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300" b="1">
                <a:solidFill>
                  <a:srgbClr val="FFFFFF"/>
                </a:solidFill>
              </a:defRPr>
            </a:pPr>
            <a:r>
              <a:t>Mutex-protected state enables safe concurrent testing and production use.</a:t>
            </a:r>
          </a:p>
        </p:txBody>
      </p:sp>
      <p:sp>
        <p:nvSpPr>
          <p:cNvPr id="9" name="TextBox 8"/>
          <p:cNvSpPr txBox="1"/>
          <p:nvPr/>
        </p:nvSpPr>
        <p:spPr>
          <a:xfrm>
            <a:off x="731520" y="6263640"/>
            <a:ext cx="7315200" cy="320040"/>
          </a:xfrm>
          <a:prstGeom prst="rect">
            <a:avLst/>
          </a:prstGeom>
          <a:noFill/>
        </p:spPr>
        <p:txBody>
          <a:bodyPr wrap="none">
            <a:spAutoFit/>
          </a:bodyPr>
          <a:lstStyle/>
          <a:p>
            <a:pPr>
              <a:defRPr sz="1000">
                <a:solidFill>
                  <a:srgbClr val="52606B"/>
                </a:solidFill>
              </a:defRPr>
            </a:pPr>
            <a:r>
              <a:t>internal/blog/store.go:1-80</a:t>
            </a:r>
          </a:p>
        </p:txBody>
      </p:sp>
      <p:sp>
        <p:nvSpPr>
          <p:cNvPr id="10" name="TextBox 9"/>
          <p:cNvSpPr txBox="1"/>
          <p:nvPr/>
        </p:nvSpPr>
        <p:spPr>
          <a:xfrm>
            <a:off x="8686800" y="6263640"/>
            <a:ext cx="2743200" cy="320040"/>
          </a:xfrm>
          <a:prstGeom prst="rect">
            <a:avLst/>
          </a:prstGeom>
          <a:noFill/>
        </p:spPr>
        <p:txBody>
          <a:bodyPr wrap="none">
            <a:spAutoFit/>
          </a:bodyPr>
          <a:lstStyle/>
          <a:p>
            <a:pPr algn="r">
              <a:defRPr sz="1000" b="1">
                <a:solidFill>
                  <a:srgbClr val="52606B"/>
                </a:solidFill>
              </a:defRPr>
            </a:pPr>
            <a:r>
              <a:t>13 / 24</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1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728655" cy="365760"/>
          </a:xfrm>
          <a:prstGeom prst="rect">
            <a:avLst/>
          </a:prstGeom>
          <a:noFill/>
        </p:spPr>
        <p:txBody>
          <a:bodyPr wrap="none">
            <a:spAutoFit/>
          </a:bodyPr>
          <a:lstStyle/>
          <a:p>
            <a:pPr>
              <a:defRPr sz="1300" b="1">
                <a:solidFill>
                  <a:srgbClr val="087F76"/>
                </a:solidFill>
              </a:defRPr>
            </a:pPr>
            <a:r>
              <a:t>SOFTWARE ENGINEERING LAB | LAB 22</a:t>
            </a:r>
          </a:p>
        </p:txBody>
      </p:sp>
      <p:sp>
        <p:nvSpPr>
          <p:cNvPr id="4" name="TextBox 3"/>
          <p:cNvSpPr txBox="1"/>
          <p:nvPr/>
        </p:nvSpPr>
        <p:spPr>
          <a:xfrm>
            <a:off x="731520" y="685800"/>
            <a:ext cx="10728655" cy="640080"/>
          </a:xfrm>
          <a:prstGeom prst="rect">
            <a:avLst/>
          </a:prstGeom>
          <a:noFill/>
        </p:spPr>
        <p:txBody>
          <a:bodyPr wrap="square">
            <a:spAutoFit/>
          </a:bodyPr>
          <a:lstStyle/>
          <a:p>
            <a:pPr>
              <a:defRPr sz="2400" b="1">
                <a:solidFill>
                  <a:srgbClr val="0B1B2D"/>
                </a:solidFill>
              </a:defRPr>
            </a:pPr>
            <a:r>
              <a:t>Before vs After: N+1 vs Eager Loading</a:t>
            </a:r>
          </a:p>
        </p:txBody>
      </p:sp>
      <p:sp>
        <p:nvSpPr>
          <p:cNvPr id="5" name="TextBox 4"/>
          <p:cNvSpPr txBox="1"/>
          <p:nvPr/>
        </p:nvSpPr>
        <p:spPr>
          <a:xfrm>
            <a:off x="731520" y="1280160"/>
            <a:ext cx="10728655" cy="457200"/>
          </a:xfrm>
          <a:prstGeom prst="rect">
            <a:avLst/>
          </a:prstGeom>
          <a:noFill/>
        </p:spPr>
        <p:txBody>
          <a:bodyPr wrap="square">
            <a:spAutoFit/>
          </a:bodyPr>
          <a:lstStyle/>
          <a:p>
            <a:pPr>
              <a:defRPr sz="1300">
                <a:solidFill>
                  <a:srgbClr val="52606B"/>
                </a:solidFill>
              </a:defRPr>
            </a:pPr>
            <a:r>
              <a:t>Perbandingan visual antara dua pendekatan pada dataset identik.</a:t>
            </a:r>
          </a:p>
        </p:txBody>
      </p:sp>
      <p:sp>
        <p:nvSpPr>
          <p:cNvPr id="6" name="TextBox 5"/>
          <p:cNvSpPr txBox="1"/>
          <p:nvPr/>
        </p:nvSpPr>
        <p:spPr>
          <a:xfrm>
            <a:off x="731520" y="1828800"/>
            <a:ext cx="5120640" cy="3383280"/>
          </a:xfrm>
          <a:prstGeom prst="rect">
            <a:avLst/>
          </a:prstGeom>
          <a:noFill/>
        </p:spPr>
        <p:txBody>
          <a:bodyPr wrap="square">
            <a:spAutoFit/>
          </a:bodyPr>
          <a:lstStyle/>
          <a:p>
            <a:pPr>
              <a:defRPr sz="1200" b="1">
                <a:solidFill>
                  <a:srgbClr val="087F76"/>
                </a:solidFill>
              </a:defRPr>
            </a:pPr>
            <a:r>
              <a:t>BEFORE: N+1 (NAIVE)</a:t>
            </a:r>
          </a:p>
          <a:p>
            <a:pPr>
              <a:spcAft>
                <a:spcPts val="400"/>
              </a:spcAft>
              <a:defRPr sz="1200">
                <a:solidFill>
                  <a:srgbClr val="0B1B2D"/>
                </a:solidFill>
              </a:defRPr>
            </a:pPr>
            <a:r>
              <a:t>• Query Count: 4</a:t>
            </a:r>
          </a:p>
          <a:p>
            <a:pPr>
              <a:spcAft>
                <a:spcPts val="400"/>
              </a:spcAft>
              <a:defRPr sz="1200">
                <a:solidFill>
                  <a:srgbClr val="0B1B2D"/>
                </a:solidFill>
              </a:defRPr>
            </a:pPr>
            <a:r>
              <a:t>• Time Complexity: O(N)</a:t>
            </a:r>
          </a:p>
          <a:p>
            <a:pPr>
              <a:spcAft>
                <a:spcPts val="400"/>
              </a:spcAft>
              <a:defRPr sz="1200">
                <a:solidFill>
                  <a:srgbClr val="0B1B2D"/>
                </a:solidFill>
              </a:defRPr>
            </a:pPr>
            <a:r>
              <a:t>• Code Simplicity: High</a:t>
            </a:r>
          </a:p>
          <a:p>
            <a:pPr>
              <a:spcAft>
                <a:spcPts val="400"/>
              </a:spcAft>
              <a:defRPr sz="1200">
                <a:solidFill>
                  <a:srgbClr val="0B1B2D"/>
                </a:solidFill>
              </a:defRPr>
            </a:pPr>
            <a:r>
              <a:t>• Scalability: Poor</a:t>
            </a:r>
          </a:p>
          <a:p>
            <a:pPr>
              <a:spcAft>
                <a:spcPts val="400"/>
              </a:spcAft>
              <a:defRPr sz="1200">
                <a:solidFill>
                  <a:srgbClr val="0B1B2D"/>
                </a:solidFill>
              </a:defRPr>
            </a:pPr>
            <a:r>
              <a:t>• Memory Usage: Low</a:t>
            </a:r>
          </a:p>
          <a:p>
            <a:pPr>
              <a:defRPr sz="1200" b="1">
                <a:solidFill>
                  <a:srgbClr val="087F76"/>
                </a:solidFill>
              </a:defRPr>
            </a:pPr>
            <a:r>
              <a:t>AFTER: EAGER LOADING</a:t>
            </a:r>
          </a:p>
          <a:p>
            <a:pPr>
              <a:spcAft>
                <a:spcPts val="400"/>
              </a:spcAft>
              <a:defRPr sz="1200">
                <a:solidFill>
                  <a:srgbClr val="0B1B2D"/>
                </a:solidFill>
              </a:defRPr>
            </a:pPr>
            <a:r>
              <a:t>• Query Count: 2</a:t>
            </a:r>
          </a:p>
          <a:p>
            <a:pPr>
              <a:spcAft>
                <a:spcPts val="400"/>
              </a:spcAft>
              <a:defRPr sz="1200">
                <a:solidFill>
                  <a:srgbClr val="0B1B2D"/>
                </a:solidFill>
              </a:defRPr>
            </a:pPr>
            <a:r>
              <a:t>• Time Complexity: O(1)</a:t>
            </a:r>
          </a:p>
          <a:p>
            <a:pPr>
              <a:spcAft>
                <a:spcPts val="400"/>
              </a:spcAft>
              <a:defRPr sz="1200">
                <a:solidFill>
                  <a:srgbClr val="0B1B2D"/>
                </a:solidFill>
              </a:defRPr>
            </a:pPr>
            <a:r>
              <a:t>• Code Simplicity: Medium</a:t>
            </a:r>
          </a:p>
          <a:p>
            <a:pPr>
              <a:spcAft>
                <a:spcPts val="400"/>
              </a:spcAft>
              <a:defRPr sz="1200">
                <a:solidFill>
                  <a:srgbClr val="0B1B2D"/>
                </a:solidFill>
              </a:defRPr>
            </a:pPr>
            <a:r>
              <a:t>• Scalability: Good</a:t>
            </a:r>
          </a:p>
          <a:p>
            <a:pPr>
              <a:spcAft>
                <a:spcPts val="400"/>
              </a:spcAft>
              <a:defRPr sz="1200">
                <a:solidFill>
                  <a:srgbClr val="0B1B2D"/>
                </a:solidFill>
              </a:defRPr>
            </a:pPr>
            <a:r>
              <a:t>• Memory Usage: Higher</a:t>
            </a:r>
          </a:p>
        </p:txBody>
      </p:sp>
      <p:sp>
        <p:nvSpPr>
          <p:cNvPr id="7" name="TextBox 6"/>
          <p:cNvSpPr txBox="1"/>
          <p:nvPr/>
        </p:nvSpPr>
        <p:spPr>
          <a:xfrm>
            <a:off x="6217920" y="1828800"/>
            <a:ext cx="5303520" cy="3383280"/>
          </a:xfrm>
          <a:prstGeom prst="rect">
            <a:avLst/>
          </a:prstGeom>
          <a:noFill/>
        </p:spPr>
        <p:txBody>
          <a:bodyPr wrap="square">
            <a:spAutoFit/>
          </a:bodyPr>
          <a:lstStyle/>
          <a:p>
            <a:pPr>
              <a:lnSpc>
                <a:spcPct val="135000"/>
              </a:lnSpc>
              <a:defRPr sz="1300">
                <a:solidFill>
                  <a:srgbClr val="0B1B2D"/>
                </a:solidFill>
              </a:defRPr>
            </a:pPr>
            <a:r>
              <a:t>Perbandingan before dan after menunjukkan transformasi dari pendekatan N+1 naive ke eager loading batching. Sebelum optimasi, query count sebesar 4 dengan kompleksitas waktu O(N) yang berarti skalabilitas buruk pada dataset besar. Setelah optimasi, query count turun menjadi 2 dengan kompleksitas waktu O(1) yang menjamin performa konsisten terlepas dari ukuran dataset. Pertukaran utamanya adalah peningkatan memory usage dan sedikit penurunan code simplicity karena perlu logic batching dan grouping.</a:t>
            </a:r>
          </a:p>
        </p:txBody>
      </p:sp>
      <p:sp>
        <p:nvSpPr>
          <p:cNvPr id="8" name="Rectangle 7"/>
          <p:cNvSpPr/>
          <p:nvPr/>
        </p:nvSpPr>
        <p:spPr>
          <a:xfrm>
            <a:off x="731520" y="5394960"/>
            <a:ext cx="10728655" cy="594360"/>
          </a:xfrm>
          <a:prstGeom prst="rect">
            <a:avLst/>
          </a:prstGeom>
          <a:solidFill>
            <a:srgbClr val="087F7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300" b="1">
                <a:solidFill>
                  <a:srgbClr val="FFFFFF"/>
                </a:solidFill>
              </a:defRPr>
            </a:pPr>
            <a:r>
              <a:t>Before: 4 queries O(N); After: 2 queries O(1). Scale dictates the winner.</a:t>
            </a:r>
          </a:p>
        </p:txBody>
      </p:sp>
      <p:sp>
        <p:nvSpPr>
          <p:cNvPr id="9" name="TextBox 8"/>
          <p:cNvSpPr txBox="1"/>
          <p:nvPr/>
        </p:nvSpPr>
        <p:spPr>
          <a:xfrm>
            <a:off x="731520" y="6263640"/>
            <a:ext cx="7315200" cy="320040"/>
          </a:xfrm>
          <a:prstGeom prst="rect">
            <a:avLst/>
          </a:prstGeom>
          <a:noFill/>
        </p:spPr>
        <p:txBody>
          <a:bodyPr wrap="none">
            <a:spAutoFit/>
          </a:bodyPr>
          <a:lstStyle/>
          <a:p>
            <a:pPr>
              <a:defRPr sz="1000">
                <a:solidFill>
                  <a:srgbClr val="52606B"/>
                </a:solidFill>
              </a:defRPr>
            </a:pPr>
            <a:r>
              <a:t>internal/blog/repository_test.go:27-50</a:t>
            </a:r>
          </a:p>
        </p:txBody>
      </p:sp>
      <p:sp>
        <p:nvSpPr>
          <p:cNvPr id="10" name="TextBox 9"/>
          <p:cNvSpPr txBox="1"/>
          <p:nvPr/>
        </p:nvSpPr>
        <p:spPr>
          <a:xfrm>
            <a:off x="8686800" y="6263640"/>
            <a:ext cx="2743200" cy="320040"/>
          </a:xfrm>
          <a:prstGeom prst="rect">
            <a:avLst/>
          </a:prstGeom>
          <a:noFill/>
        </p:spPr>
        <p:txBody>
          <a:bodyPr wrap="none">
            <a:spAutoFit/>
          </a:bodyPr>
          <a:lstStyle/>
          <a:p>
            <a:pPr algn="r">
              <a:defRPr sz="1000" b="1">
                <a:solidFill>
                  <a:srgbClr val="52606B"/>
                </a:solidFill>
              </a:defRPr>
            </a:pPr>
            <a:r>
              <a:t>14 / 24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1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728655" cy="365760"/>
          </a:xfrm>
          <a:prstGeom prst="rect">
            <a:avLst/>
          </a:prstGeom>
          <a:noFill/>
        </p:spPr>
        <p:txBody>
          <a:bodyPr wrap="none">
            <a:spAutoFit/>
          </a:bodyPr>
          <a:lstStyle/>
          <a:p>
            <a:pPr>
              <a:defRPr sz="1300" b="1">
                <a:solidFill>
                  <a:srgbClr val="087F76"/>
                </a:solidFill>
              </a:defRPr>
            </a:pPr>
            <a:r>
              <a:t>SOFTWARE ENGINEERING LAB | LAB 22</a:t>
            </a:r>
          </a:p>
        </p:txBody>
      </p:sp>
      <p:sp>
        <p:nvSpPr>
          <p:cNvPr id="4" name="TextBox 3"/>
          <p:cNvSpPr txBox="1"/>
          <p:nvPr/>
        </p:nvSpPr>
        <p:spPr>
          <a:xfrm>
            <a:off x="731520" y="685800"/>
            <a:ext cx="10728655" cy="640080"/>
          </a:xfrm>
          <a:prstGeom prst="rect">
            <a:avLst/>
          </a:prstGeom>
          <a:noFill/>
        </p:spPr>
        <p:txBody>
          <a:bodyPr wrap="square">
            <a:spAutoFit/>
          </a:bodyPr>
          <a:lstStyle/>
          <a:p>
            <a:pPr>
              <a:defRPr sz="2400" b="1">
                <a:solidFill>
                  <a:srgbClr val="0B1B2D"/>
                </a:solidFill>
              </a:defRPr>
            </a:pPr>
            <a:r>
              <a:t>Analisis Mendalam: TestGetAuthorsWithPostsEager</a:t>
            </a:r>
          </a:p>
        </p:txBody>
      </p:sp>
      <p:sp>
        <p:nvSpPr>
          <p:cNvPr id="5" name="TextBox 4"/>
          <p:cNvSpPr txBox="1"/>
          <p:nvPr/>
        </p:nvSpPr>
        <p:spPr>
          <a:xfrm>
            <a:off x="731520" y="1280160"/>
            <a:ext cx="10728655" cy="457200"/>
          </a:xfrm>
          <a:prstGeom prst="rect">
            <a:avLst/>
          </a:prstGeom>
          <a:noFill/>
        </p:spPr>
        <p:txBody>
          <a:bodyPr wrap="square">
            <a:spAutoFit/>
          </a:bodyPr>
          <a:lstStyle/>
          <a:p>
            <a:pPr>
              <a:defRPr sz="1300">
                <a:solidFill>
                  <a:srgbClr val="52606B"/>
                </a:solidFill>
              </a:defRPr>
            </a:pPr>
            <a:r>
              <a:t>Verifikasi query count, deep equality, dan edge case kosong.</a:t>
            </a:r>
          </a:p>
        </p:txBody>
      </p:sp>
      <p:sp>
        <p:nvSpPr>
          <p:cNvPr id="6" name="Rounded Rectangle 5"/>
          <p:cNvSpPr/>
          <p:nvPr/>
        </p:nvSpPr>
        <p:spPr>
          <a:xfrm>
            <a:off x="731520" y="1828800"/>
            <a:ext cx="5120640" cy="3383280"/>
          </a:xfrm>
          <a:prstGeom prst="roundRect">
            <a:avLst/>
          </a:prstGeom>
          <a:solidFill>
            <a:srgbClr val="0B1B2D"/>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100">
                <a:solidFill>
                  <a:srgbClr val="E2E8F0"/>
                </a:solidFill>
                <a:latin typeface="Courier New"/>
              </a:defRPr>
            </a:pPr>
            <a:r>
              <a:t>func TestGetAuthorsWithPostsEager(t *testing.T) {</a:t>
            </a:r>
            <a:br/>
            <a:r>
              <a:t>    store := NewStore()</a:t>
            </a:r>
            <a:br/>
            <a:r>
              <a:t>    repo := NewRepository(store)</a:t>
            </a:r>
            <a:br/>
            <a:r>
              <a:t>    store.ResetQueryCount()</a:t>
            </a:r>
            <a:br/>
            <a:r>
              <a:t>    result := repo.GetAuthorsWithPostsEager()</a:t>
            </a:r>
            <a:br/>
            <a:r>
              <a:t>    queryCount := store.GetQueryCount()</a:t>
            </a:r>
            <a:br/>
            <a:r>
              <a:t>    if queryCount != 2 {</a:t>
            </a:r>
            <a:br/>
            <a:r>
              <a:t>        t.Errorf("expected 2 queries (eager loading), got %d", queryCount)</a:t>
            </a:r>
            <a:br/>
            <a:r>
              <a:t>    }</a:t>
            </a:r>
            <a:br/>
            <a:r>
              <a:t>    nPlusOneResult := repo.GetAuthorsWithPostsNPlusOne()</a:t>
            </a:r>
            <a:br/>
            <a:r>
              <a:t>    if !reflect.DeepEqual(result, nPlusOneResult) {</a:t>
            </a:r>
            <a:br/>
            <a:r>
              <a:t>        t.Errorf("eager result mismatch with N+1 result")</a:t>
            </a:r>
            <a:br/>
            <a:r>
              <a:t>    }</a:t>
            </a:r>
            <a:br/>
            <a:r>
              <a:t>}</a:t>
            </a:r>
          </a:p>
        </p:txBody>
      </p:sp>
      <p:sp>
        <p:nvSpPr>
          <p:cNvPr id="7" name="TextBox 6"/>
          <p:cNvSpPr txBox="1"/>
          <p:nvPr/>
        </p:nvSpPr>
        <p:spPr>
          <a:xfrm>
            <a:off x="6217920" y="1828800"/>
            <a:ext cx="5303520" cy="3383280"/>
          </a:xfrm>
          <a:prstGeom prst="rect">
            <a:avLst/>
          </a:prstGeom>
          <a:noFill/>
        </p:spPr>
        <p:txBody>
          <a:bodyPr wrap="square">
            <a:spAutoFit/>
          </a:bodyPr>
          <a:lstStyle/>
          <a:p>
            <a:pPr>
              <a:lnSpc>
                <a:spcPct val="135000"/>
              </a:lnSpc>
              <a:defRPr sz="1300">
                <a:solidFill>
                  <a:srgbClr val="0B1B2D"/>
                </a:solidFill>
              </a:defRPr>
            </a:pPr>
            <a:r>
              <a:t>Test GetAuthorsWithPostsEager melakukan tiga verifikasi sekaligus. Pertama, memastikan query count tepat 2 setelah eksekusi eager loading. Kedua, membandingkan hasil eager loading dengan hasil N+1 menggunakan reflect.DeepEqual untuk menjamin kesamaan semantik. Ketiga, implicitly menguji bahwa hasil tidak berubah meskipun mekanisme fetching berbeda. Kombinasi verifikasi kuantitatif dan kualitatif ini memberikan confidence tinggi bahwa optimasi tidak mengubah perilaku bisnis.</a:t>
            </a:r>
          </a:p>
        </p:txBody>
      </p:sp>
      <p:sp>
        <p:nvSpPr>
          <p:cNvPr id="8" name="Rectangle 7"/>
          <p:cNvSpPr/>
          <p:nvPr/>
        </p:nvSpPr>
        <p:spPr>
          <a:xfrm>
            <a:off x="731520" y="5394960"/>
            <a:ext cx="10728655" cy="594360"/>
          </a:xfrm>
          <a:prstGeom prst="rect">
            <a:avLst/>
          </a:prstGeom>
          <a:solidFill>
            <a:srgbClr val="087F7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300" b="1">
                <a:solidFill>
                  <a:srgbClr val="FFFFFF"/>
                </a:solidFill>
              </a:defRPr>
            </a:pPr>
            <a:r>
              <a:t>Query count assertion + deep equality = correctness proof for batching.</a:t>
            </a:r>
          </a:p>
        </p:txBody>
      </p:sp>
      <p:sp>
        <p:nvSpPr>
          <p:cNvPr id="9" name="TextBox 8"/>
          <p:cNvSpPr txBox="1"/>
          <p:nvPr/>
        </p:nvSpPr>
        <p:spPr>
          <a:xfrm>
            <a:off x="731520" y="6263640"/>
            <a:ext cx="7315200" cy="320040"/>
          </a:xfrm>
          <a:prstGeom prst="rect">
            <a:avLst/>
          </a:prstGeom>
          <a:noFill/>
        </p:spPr>
        <p:txBody>
          <a:bodyPr wrap="none">
            <a:spAutoFit/>
          </a:bodyPr>
          <a:lstStyle/>
          <a:p>
            <a:pPr>
              <a:defRPr sz="1000">
                <a:solidFill>
                  <a:srgbClr val="52606B"/>
                </a:solidFill>
              </a:defRPr>
            </a:pPr>
            <a:r>
              <a:t>internal/blog/repository_test.go:27-50</a:t>
            </a:r>
          </a:p>
        </p:txBody>
      </p:sp>
      <p:sp>
        <p:nvSpPr>
          <p:cNvPr id="10" name="TextBox 9"/>
          <p:cNvSpPr txBox="1"/>
          <p:nvPr/>
        </p:nvSpPr>
        <p:spPr>
          <a:xfrm>
            <a:off x="8686800" y="6263640"/>
            <a:ext cx="2743200" cy="320040"/>
          </a:xfrm>
          <a:prstGeom prst="rect">
            <a:avLst/>
          </a:prstGeom>
          <a:noFill/>
        </p:spPr>
        <p:txBody>
          <a:bodyPr wrap="none">
            <a:spAutoFit/>
          </a:bodyPr>
          <a:lstStyle/>
          <a:p>
            <a:pPr algn="r">
              <a:defRPr sz="1000" b="1">
                <a:solidFill>
                  <a:srgbClr val="52606B"/>
                </a:solidFill>
              </a:defRPr>
            </a:pPr>
            <a:r>
              <a:t>15 / 24</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1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728655" cy="365760"/>
          </a:xfrm>
          <a:prstGeom prst="rect">
            <a:avLst/>
          </a:prstGeom>
          <a:noFill/>
        </p:spPr>
        <p:txBody>
          <a:bodyPr wrap="none">
            <a:spAutoFit/>
          </a:bodyPr>
          <a:lstStyle/>
          <a:p>
            <a:pPr>
              <a:defRPr sz="1300" b="1">
                <a:solidFill>
                  <a:srgbClr val="087F76"/>
                </a:solidFill>
              </a:defRPr>
            </a:pPr>
            <a:r>
              <a:t>SOFTWARE ENGINEERING LAB | LAB 22</a:t>
            </a:r>
          </a:p>
        </p:txBody>
      </p:sp>
      <p:sp>
        <p:nvSpPr>
          <p:cNvPr id="4" name="TextBox 3"/>
          <p:cNvSpPr txBox="1"/>
          <p:nvPr/>
        </p:nvSpPr>
        <p:spPr>
          <a:xfrm>
            <a:off x="731520" y="685800"/>
            <a:ext cx="10728655" cy="640080"/>
          </a:xfrm>
          <a:prstGeom prst="rect">
            <a:avLst/>
          </a:prstGeom>
          <a:noFill/>
        </p:spPr>
        <p:txBody>
          <a:bodyPr wrap="square">
            <a:spAutoFit/>
          </a:bodyPr>
          <a:lstStyle/>
          <a:p>
            <a:pPr>
              <a:defRPr sz="2400" b="1">
                <a:solidFill>
                  <a:srgbClr val="0B1B2D"/>
                </a:solidFill>
              </a:defRPr>
            </a:pPr>
            <a:r>
              <a:t>Analisis Mendalam: TestEmptyStore</a:t>
            </a:r>
          </a:p>
        </p:txBody>
      </p:sp>
      <p:sp>
        <p:nvSpPr>
          <p:cNvPr id="5" name="TextBox 4"/>
          <p:cNvSpPr txBox="1"/>
          <p:nvPr/>
        </p:nvSpPr>
        <p:spPr>
          <a:xfrm>
            <a:off x="731520" y="1280160"/>
            <a:ext cx="10728655" cy="457200"/>
          </a:xfrm>
          <a:prstGeom prst="rect">
            <a:avLst/>
          </a:prstGeom>
          <a:noFill/>
        </p:spPr>
        <p:txBody>
          <a:bodyPr wrap="square">
            <a:spAutoFit/>
          </a:bodyPr>
          <a:lstStyle/>
          <a:p>
            <a:pPr>
              <a:defRPr sz="1300">
                <a:solidFill>
                  <a:srgbClr val="52606B"/>
                </a:solidFill>
              </a:defRPr>
            </a:pPr>
            <a:r>
              <a:t>Edge case kosong diuji untuk kedua pendekatan simultan.</a:t>
            </a:r>
          </a:p>
        </p:txBody>
      </p:sp>
      <p:sp>
        <p:nvSpPr>
          <p:cNvPr id="6" name="Rounded Rectangle 5"/>
          <p:cNvSpPr/>
          <p:nvPr/>
        </p:nvSpPr>
        <p:spPr>
          <a:xfrm>
            <a:off x="731520" y="1828800"/>
            <a:ext cx="5120640" cy="3383280"/>
          </a:xfrm>
          <a:prstGeom prst="roundRect">
            <a:avLst/>
          </a:prstGeom>
          <a:solidFill>
            <a:srgbClr val="0B1B2D"/>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100">
                <a:solidFill>
                  <a:srgbClr val="E2E8F0"/>
                </a:solidFill>
                <a:latin typeface="Courier New"/>
              </a:defRPr>
            </a:pPr>
            <a:r>
              <a:t>func TestEmptyStore(t *testing.T) {</a:t>
            </a:r>
            <a:br/>
            <a:r>
              <a:t>    store := &amp;Store{authors: nil, posts: nil}</a:t>
            </a:r>
            <a:br/>
            <a:r>
              <a:t>    repo := NewRepository(store)</a:t>
            </a:r>
            <a:br/>
            <a:r>
              <a:t>    n1 := repo.GetAuthorsWithPostsNPlusOne()</a:t>
            </a:r>
            <a:br/>
            <a:r>
              <a:t>    eager := repo.GetAuthorsWithPostsEager()</a:t>
            </a:r>
            <a:br/>
            <a:r>
              <a:t>    if len(n1) != 0 || len(eager) != 0 {</a:t>
            </a:r>
            <a:br/>
            <a:r>
              <a:t>        t.Fatalf("expected empty results")</a:t>
            </a:r>
            <a:br/>
            <a:r>
              <a:t>    }</a:t>
            </a:r>
            <a:br/>
            <a:r>
              <a:t>    if !reflect.DeepEqual(n1, eager) {</a:t>
            </a:r>
            <a:br/>
            <a:r>
              <a:t>        t.Errorf("empty result mismatch")</a:t>
            </a:r>
            <a:br/>
            <a:r>
              <a:t>    }</a:t>
            </a:r>
            <a:br/>
            <a:r>
              <a:t>}</a:t>
            </a:r>
          </a:p>
        </p:txBody>
      </p:sp>
      <p:sp>
        <p:nvSpPr>
          <p:cNvPr id="7" name="TextBox 6"/>
          <p:cNvSpPr txBox="1"/>
          <p:nvPr/>
        </p:nvSpPr>
        <p:spPr>
          <a:xfrm>
            <a:off x="6217920" y="1828800"/>
            <a:ext cx="5303520" cy="3383280"/>
          </a:xfrm>
          <a:prstGeom prst="rect">
            <a:avLst/>
          </a:prstGeom>
          <a:noFill/>
        </p:spPr>
        <p:txBody>
          <a:bodyPr wrap="square">
            <a:spAutoFit/>
          </a:bodyPr>
          <a:lstStyle/>
          <a:p>
            <a:pPr>
              <a:lnSpc>
                <a:spcPct val="135000"/>
              </a:lnSpc>
              <a:defRPr sz="1300">
                <a:solidFill>
                  <a:srgbClr val="0B1B2D"/>
                </a:solidFill>
              </a:defRPr>
            </a:pPr>
            <a:r>
              <a:t>Test EmptyStore menguji edge case ketika store tidak memiliki author maupun post. Kedua pendekatan, N+1 dan eager loading, harus mengembalikan slice kosong dengan panjang nol. Selain itu, deep equality antara hasil keduanya juga diverifikasi. Test ini memastikan bahwa optimasi batching tidak memperkenalkan bug pada kasus ekstrem di mana koleksi sumber kosong. Empty check pada awal method GetAuthorsWithPostsEager mencegahpanic akibat iterasi slice kosong.</a:t>
            </a:r>
          </a:p>
        </p:txBody>
      </p:sp>
      <p:sp>
        <p:nvSpPr>
          <p:cNvPr id="8" name="Rectangle 7"/>
          <p:cNvSpPr/>
          <p:nvPr/>
        </p:nvSpPr>
        <p:spPr>
          <a:xfrm>
            <a:off x="731520" y="5394960"/>
            <a:ext cx="10728655" cy="594360"/>
          </a:xfrm>
          <a:prstGeom prst="rect">
            <a:avLst/>
          </a:prstGeom>
          <a:solidFill>
            <a:srgbClr val="087F7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300" b="1">
                <a:solidFill>
                  <a:srgbClr val="FFFFFF"/>
                </a:solidFill>
              </a:defRPr>
            </a:pPr>
            <a:r>
              <a:t>Empty collection edge case must yield identical nil/empty results.</a:t>
            </a:r>
          </a:p>
        </p:txBody>
      </p:sp>
      <p:sp>
        <p:nvSpPr>
          <p:cNvPr id="9" name="TextBox 8"/>
          <p:cNvSpPr txBox="1"/>
          <p:nvPr/>
        </p:nvSpPr>
        <p:spPr>
          <a:xfrm>
            <a:off x="731520" y="6263640"/>
            <a:ext cx="7315200" cy="320040"/>
          </a:xfrm>
          <a:prstGeom prst="rect">
            <a:avLst/>
          </a:prstGeom>
          <a:noFill/>
        </p:spPr>
        <p:txBody>
          <a:bodyPr wrap="none">
            <a:spAutoFit/>
          </a:bodyPr>
          <a:lstStyle/>
          <a:p>
            <a:pPr>
              <a:defRPr sz="1000">
                <a:solidFill>
                  <a:srgbClr val="52606B"/>
                </a:solidFill>
              </a:defRPr>
            </a:pPr>
            <a:r>
              <a:t>internal/blog/repository_test.go:52-65</a:t>
            </a:r>
          </a:p>
        </p:txBody>
      </p:sp>
      <p:sp>
        <p:nvSpPr>
          <p:cNvPr id="10" name="TextBox 9"/>
          <p:cNvSpPr txBox="1"/>
          <p:nvPr/>
        </p:nvSpPr>
        <p:spPr>
          <a:xfrm>
            <a:off x="8686800" y="6263640"/>
            <a:ext cx="2743200" cy="320040"/>
          </a:xfrm>
          <a:prstGeom prst="rect">
            <a:avLst/>
          </a:prstGeom>
          <a:noFill/>
        </p:spPr>
        <p:txBody>
          <a:bodyPr wrap="none">
            <a:spAutoFit/>
          </a:bodyPr>
          <a:lstStyle/>
          <a:p>
            <a:pPr algn="r">
              <a:defRPr sz="1000" b="1">
                <a:solidFill>
                  <a:srgbClr val="52606B"/>
                </a:solidFill>
              </a:defRPr>
            </a:pPr>
            <a:r>
              <a:t>16 / 24</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1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728655" cy="365760"/>
          </a:xfrm>
          <a:prstGeom prst="rect">
            <a:avLst/>
          </a:prstGeom>
          <a:noFill/>
        </p:spPr>
        <p:txBody>
          <a:bodyPr wrap="none">
            <a:spAutoFit/>
          </a:bodyPr>
          <a:lstStyle/>
          <a:p>
            <a:pPr>
              <a:defRPr sz="1300" b="1">
                <a:solidFill>
                  <a:srgbClr val="087F76"/>
                </a:solidFill>
              </a:defRPr>
            </a:pPr>
            <a:r>
              <a:t>SOFTWARE ENGINEERING LAB | LAB 22</a:t>
            </a:r>
          </a:p>
        </p:txBody>
      </p:sp>
      <p:sp>
        <p:nvSpPr>
          <p:cNvPr id="4" name="TextBox 3"/>
          <p:cNvSpPr txBox="1"/>
          <p:nvPr/>
        </p:nvSpPr>
        <p:spPr>
          <a:xfrm>
            <a:off x="731520" y="685800"/>
            <a:ext cx="10728655" cy="640080"/>
          </a:xfrm>
          <a:prstGeom prst="rect">
            <a:avLst/>
          </a:prstGeom>
          <a:noFill/>
        </p:spPr>
        <p:txBody>
          <a:bodyPr wrap="square">
            <a:spAutoFit/>
          </a:bodyPr>
          <a:lstStyle/>
          <a:p>
            <a:pPr>
              <a:defRPr sz="2400" b="1">
                <a:solidFill>
                  <a:srgbClr val="0B1B2D"/>
                </a:solidFill>
              </a:defRPr>
            </a:pPr>
            <a:r>
              <a:t>Analisis Mendalam: Race Detector Verification</a:t>
            </a:r>
          </a:p>
        </p:txBody>
      </p:sp>
      <p:sp>
        <p:nvSpPr>
          <p:cNvPr id="5" name="TextBox 4"/>
          <p:cNvSpPr txBox="1"/>
          <p:nvPr/>
        </p:nvSpPr>
        <p:spPr>
          <a:xfrm>
            <a:off x="731520" y="1280160"/>
            <a:ext cx="10728655" cy="457200"/>
          </a:xfrm>
          <a:prstGeom prst="rect">
            <a:avLst/>
          </a:prstGeom>
          <a:noFill/>
        </p:spPr>
        <p:txBody>
          <a:bodyPr wrap="square">
            <a:spAutoFit/>
          </a:bodyPr>
          <a:lstStyle/>
          <a:p>
            <a:pPr>
              <a:defRPr sz="1300">
                <a:solidFill>
                  <a:srgbClr val="52606B"/>
                </a:solidFill>
              </a:defRPr>
            </a:pPr>
            <a:r>
              <a:t>Go race detector memastikan thread-safety tanpa data race.</a:t>
            </a:r>
          </a:p>
        </p:txBody>
      </p:sp>
      <p:sp>
        <p:nvSpPr>
          <p:cNvPr id="6" name="TextBox 5"/>
          <p:cNvSpPr txBox="1"/>
          <p:nvPr/>
        </p:nvSpPr>
        <p:spPr>
          <a:xfrm>
            <a:off x="731520" y="1828800"/>
            <a:ext cx="5120640" cy="3383280"/>
          </a:xfrm>
          <a:prstGeom prst="rect">
            <a:avLst/>
          </a:prstGeom>
          <a:noFill/>
        </p:spPr>
        <p:txBody>
          <a:bodyPr wrap="square">
            <a:spAutoFit/>
          </a:bodyPr>
          <a:lstStyle/>
          <a:p>
            <a:pPr>
              <a:defRPr sz="1200" b="1">
                <a:solidFill>
                  <a:srgbClr val="087F76"/>
                </a:solidFill>
              </a:defRPr>
            </a:pPr>
            <a:r>
              <a:t>RACE DETECTION</a:t>
            </a:r>
          </a:p>
          <a:p>
            <a:pPr>
              <a:spcAft>
                <a:spcPts val="400"/>
              </a:spcAft>
              <a:defRPr sz="1200">
                <a:solidFill>
                  <a:srgbClr val="0B1B2D"/>
                </a:solidFill>
              </a:defRPr>
            </a:pPr>
            <a:r>
              <a:t>• $ go test -race ./...</a:t>
            </a:r>
          </a:p>
          <a:p>
            <a:pPr>
              <a:spcAft>
                <a:spcPts val="400"/>
              </a:spcAft>
              <a:defRPr sz="1200">
                <a:solidFill>
                  <a:srgbClr val="0B1B2D"/>
                </a:solidFill>
              </a:defRPr>
            </a:pPr>
            <a:r>
              <a:t>• === RUN   TestGetAuthorsWithPostsNPlusOne</a:t>
            </a:r>
          </a:p>
          <a:p>
            <a:pPr>
              <a:spcAft>
                <a:spcPts val="400"/>
              </a:spcAft>
              <a:defRPr sz="1200">
                <a:solidFill>
                  <a:srgbClr val="0B1B2D"/>
                </a:solidFill>
              </a:defRPr>
            </a:pPr>
            <a:r>
              <a:t>• --- PASS: TestGetAuthorsWithPostsNPlusOne (0.00s)</a:t>
            </a:r>
          </a:p>
          <a:p>
            <a:pPr>
              <a:spcAft>
                <a:spcPts val="400"/>
              </a:spcAft>
              <a:defRPr sz="1200">
                <a:solidFill>
                  <a:srgbClr val="0B1B2D"/>
                </a:solidFill>
              </a:defRPr>
            </a:pPr>
            <a:r>
              <a:t>• === RUN   TestGetAuthorsWithPostsEager</a:t>
            </a:r>
          </a:p>
          <a:p>
            <a:pPr>
              <a:spcAft>
                <a:spcPts val="400"/>
              </a:spcAft>
              <a:defRPr sz="1200">
                <a:solidFill>
                  <a:srgbClr val="0B1B2D"/>
                </a:solidFill>
              </a:defRPr>
            </a:pPr>
            <a:r>
              <a:t>• --- PASS: TestGetAuthorsWithPostsEager (0.00s)</a:t>
            </a:r>
          </a:p>
          <a:p>
            <a:pPr>
              <a:spcAft>
                <a:spcPts val="400"/>
              </a:spcAft>
              <a:defRPr sz="1200">
                <a:solidFill>
                  <a:srgbClr val="0B1B2D"/>
                </a:solidFill>
              </a:defRPr>
            </a:pPr>
            <a:r>
              <a:t>• === RUN   TestEmptyStore</a:t>
            </a:r>
          </a:p>
          <a:p>
            <a:pPr>
              <a:spcAft>
                <a:spcPts val="400"/>
              </a:spcAft>
              <a:defRPr sz="1200">
                <a:solidFill>
                  <a:srgbClr val="0B1B2D"/>
                </a:solidFill>
              </a:defRPr>
            </a:pPr>
            <a:r>
              <a:t>• --- PASS: TestEmptyStore (0.00s)</a:t>
            </a:r>
          </a:p>
          <a:p>
            <a:pPr>
              <a:spcAft>
                <a:spcPts val="400"/>
              </a:spcAft>
              <a:defRPr sz="1200">
                <a:solidFill>
                  <a:srgbClr val="0B1B2D"/>
                </a:solidFill>
              </a:defRPr>
            </a:pPr>
            <a:r>
              <a:t>• PASS</a:t>
            </a:r>
          </a:p>
          <a:p>
            <a:pPr>
              <a:spcAft>
                <a:spcPts val="400"/>
              </a:spcAft>
              <a:defRPr sz="1200">
                <a:solidFill>
                  <a:srgbClr val="0B1B2D"/>
                </a:solidFill>
              </a:defRPr>
            </a:pPr>
            <a:r>
              <a:t>• ok      github.com/lukman/.../internal/blog</a:t>
            </a:r>
          </a:p>
        </p:txBody>
      </p:sp>
      <p:sp>
        <p:nvSpPr>
          <p:cNvPr id="7" name="TextBox 6"/>
          <p:cNvSpPr txBox="1"/>
          <p:nvPr/>
        </p:nvSpPr>
        <p:spPr>
          <a:xfrm>
            <a:off x="6217920" y="1828800"/>
            <a:ext cx="5303520" cy="3383280"/>
          </a:xfrm>
          <a:prstGeom prst="rect">
            <a:avLst/>
          </a:prstGeom>
          <a:noFill/>
        </p:spPr>
        <p:txBody>
          <a:bodyPr wrap="square">
            <a:spAutoFit/>
          </a:bodyPr>
          <a:lstStyle/>
          <a:p>
            <a:pPr>
              <a:lnSpc>
                <a:spcPct val="135000"/>
              </a:lnSpc>
              <a:defRPr sz="1300">
                <a:solidFill>
                  <a:srgbClr val="0B1B2D"/>
                </a:solidFill>
              </a:defRPr>
            </a:pPr>
            <a:r>
              <a:t>Go race detector dijalankan untuk memverifikasi bahwa tidak ada data race pada akses concurrent ke store. Hasilnya menunjukkan semua test pass tanpa warning apapun. Thread-safety dijamin oleh penggunaan sync.Mutex pada setiap metode store yang mengakses atau memodifikasi queryCount dan slice data. Sifat ini memungkinkan test dijalankan secara paralel dan metode repository dapat dipanggil dari multiple goroutine tanpa risiko concurrent map write atau slice corruption.</a:t>
            </a:r>
          </a:p>
        </p:txBody>
      </p:sp>
      <p:sp>
        <p:nvSpPr>
          <p:cNvPr id="8" name="Rectangle 7"/>
          <p:cNvSpPr/>
          <p:nvPr/>
        </p:nvSpPr>
        <p:spPr>
          <a:xfrm>
            <a:off x="731520" y="5394960"/>
            <a:ext cx="10728655" cy="594360"/>
          </a:xfrm>
          <a:prstGeom prst="rect">
            <a:avLst/>
          </a:prstGeom>
          <a:solidFill>
            <a:srgbClr val="087F7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300" b="1">
                <a:solidFill>
                  <a:srgbClr val="FFFFFF"/>
                </a:solidFill>
              </a:defRPr>
            </a:pPr>
            <a:r>
              <a:t>Mutex protection + race detector = production-ready concurrency.</a:t>
            </a:r>
          </a:p>
        </p:txBody>
      </p:sp>
      <p:sp>
        <p:nvSpPr>
          <p:cNvPr id="9" name="TextBox 8"/>
          <p:cNvSpPr txBox="1"/>
          <p:nvPr/>
        </p:nvSpPr>
        <p:spPr>
          <a:xfrm>
            <a:off x="731520" y="6263640"/>
            <a:ext cx="7315200" cy="320040"/>
          </a:xfrm>
          <a:prstGeom prst="rect">
            <a:avLst/>
          </a:prstGeom>
          <a:noFill/>
        </p:spPr>
        <p:txBody>
          <a:bodyPr wrap="none">
            <a:spAutoFit/>
          </a:bodyPr>
          <a:lstStyle/>
          <a:p>
            <a:pPr>
              <a:defRPr sz="1000">
                <a:solidFill>
                  <a:srgbClr val="52606B"/>
                </a:solidFill>
              </a:defRPr>
            </a:pPr>
            <a:r>
              <a:t>internal/blog/store.go • engineering/03-execution-result.md</a:t>
            </a:r>
          </a:p>
        </p:txBody>
      </p:sp>
      <p:sp>
        <p:nvSpPr>
          <p:cNvPr id="10" name="TextBox 9"/>
          <p:cNvSpPr txBox="1"/>
          <p:nvPr/>
        </p:nvSpPr>
        <p:spPr>
          <a:xfrm>
            <a:off x="8686800" y="6263640"/>
            <a:ext cx="2743200" cy="320040"/>
          </a:xfrm>
          <a:prstGeom prst="rect">
            <a:avLst/>
          </a:prstGeom>
          <a:noFill/>
        </p:spPr>
        <p:txBody>
          <a:bodyPr wrap="none">
            <a:spAutoFit/>
          </a:bodyPr>
          <a:lstStyle/>
          <a:p>
            <a:pPr algn="r">
              <a:defRPr sz="1000" b="1">
                <a:solidFill>
                  <a:srgbClr val="52606B"/>
                </a:solidFill>
              </a:defRPr>
            </a:pPr>
            <a:r>
              <a:t>17 / 24</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1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728655" cy="365760"/>
          </a:xfrm>
          <a:prstGeom prst="rect">
            <a:avLst/>
          </a:prstGeom>
          <a:noFill/>
        </p:spPr>
        <p:txBody>
          <a:bodyPr wrap="none">
            <a:spAutoFit/>
          </a:bodyPr>
          <a:lstStyle/>
          <a:p>
            <a:pPr>
              <a:defRPr sz="1300" b="1">
                <a:solidFill>
                  <a:srgbClr val="087F76"/>
                </a:solidFill>
              </a:defRPr>
            </a:pPr>
            <a:r>
              <a:t>SOFTWARE ENGINEERING LAB | LAB 22</a:t>
            </a:r>
          </a:p>
        </p:txBody>
      </p:sp>
      <p:sp>
        <p:nvSpPr>
          <p:cNvPr id="4" name="TextBox 3"/>
          <p:cNvSpPr txBox="1"/>
          <p:nvPr/>
        </p:nvSpPr>
        <p:spPr>
          <a:xfrm>
            <a:off x="731520" y="685800"/>
            <a:ext cx="10728655" cy="640080"/>
          </a:xfrm>
          <a:prstGeom prst="rect">
            <a:avLst/>
          </a:prstGeom>
          <a:noFill/>
        </p:spPr>
        <p:txBody>
          <a:bodyPr wrap="square">
            <a:spAutoFit/>
          </a:bodyPr>
          <a:lstStyle/>
          <a:p>
            <a:pPr>
              <a:defRPr sz="2400" b="1">
                <a:solidFill>
                  <a:srgbClr val="0B1B2D"/>
                </a:solidFill>
              </a:defRPr>
            </a:pPr>
            <a:r>
              <a:t>Analisis Mendalam: Query Counter sebagai Test Double</a:t>
            </a:r>
          </a:p>
        </p:txBody>
      </p:sp>
      <p:sp>
        <p:nvSpPr>
          <p:cNvPr id="5" name="TextBox 4"/>
          <p:cNvSpPr txBox="1"/>
          <p:nvPr/>
        </p:nvSpPr>
        <p:spPr>
          <a:xfrm>
            <a:off x="731520" y="1280160"/>
            <a:ext cx="10728655" cy="457200"/>
          </a:xfrm>
          <a:prstGeom prst="rect">
            <a:avLst/>
          </a:prstGeom>
          <a:noFill/>
        </p:spPr>
        <p:txBody>
          <a:bodyPr wrap="square">
            <a:spAutoFit/>
          </a:bodyPr>
          <a:lstStyle/>
          <a:p>
            <a:pPr>
              <a:defRPr sz="1300">
                <a:solidFill>
                  <a:srgbClr val="52606B"/>
                </a:solidFill>
              </a:defRPr>
            </a:pPr>
            <a:r>
              <a:t>Store.go mensimulasikan database dengan query counter untuk verifikasi kuantitatif.</a:t>
            </a:r>
          </a:p>
        </p:txBody>
      </p:sp>
      <p:sp>
        <p:nvSpPr>
          <p:cNvPr id="6" name="Rounded Rectangle 5"/>
          <p:cNvSpPr/>
          <p:nvPr/>
        </p:nvSpPr>
        <p:spPr>
          <a:xfrm>
            <a:off x="731520" y="1828800"/>
            <a:ext cx="5120640" cy="3383280"/>
          </a:xfrm>
          <a:prstGeom prst="roundRect">
            <a:avLst/>
          </a:prstGeom>
          <a:solidFill>
            <a:srgbClr val="0B1B2D"/>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100">
                <a:solidFill>
                  <a:srgbClr val="E2E8F0"/>
                </a:solidFill>
                <a:latin typeface="Courier New"/>
              </a:defRPr>
            </a:pPr>
            <a:r>
              <a:t>type Store struct {</a:t>
            </a:r>
            <a:br/>
            <a:r>
              <a:t>    mu         sync.Mutex</a:t>
            </a:r>
            <a:br/>
            <a:r>
              <a:t>    queryCount int</a:t>
            </a:r>
            <a:br/>
            <a:r>
              <a:t>}</a:t>
            </a:r>
            <a:br/>
            <a:br/>
            <a:r>
              <a:t>func (s *Store) GetAllAuthors() []Author {</a:t>
            </a:r>
            <a:br/>
            <a:r>
              <a:t>    s.mu.Lock()</a:t>
            </a:r>
            <a:br/>
            <a:r>
              <a:t>    defer s.mu.Unlock()</a:t>
            </a:r>
            <a:br/>
            <a:r>
              <a:t>    s.queryCount++</a:t>
            </a:r>
            <a:br/>
            <a:r>
              <a:t>    return s.authors</a:t>
            </a:r>
            <a:br/>
            <a:r>
              <a:t>}</a:t>
            </a:r>
            <a:br/>
            <a:br/>
            <a:r>
              <a:t>func (s *Store) GetQueryCount() int {</a:t>
            </a:r>
            <a:br/>
            <a:r>
              <a:t>    s.mu.Lock()</a:t>
            </a:r>
            <a:br/>
            <a:r>
              <a:t>    defer s.mu.Unlock()</a:t>
            </a:r>
            <a:br/>
            <a:r>
              <a:t>    return s.queryCount</a:t>
            </a:r>
            <a:br/>
            <a:r>
              <a:t>}</a:t>
            </a:r>
          </a:p>
        </p:txBody>
      </p:sp>
      <p:sp>
        <p:nvSpPr>
          <p:cNvPr id="7" name="TextBox 6"/>
          <p:cNvSpPr txBox="1"/>
          <p:nvPr/>
        </p:nvSpPr>
        <p:spPr>
          <a:xfrm>
            <a:off x="6217920" y="1828800"/>
            <a:ext cx="5303520" cy="3383280"/>
          </a:xfrm>
          <a:prstGeom prst="rect">
            <a:avLst/>
          </a:prstGeom>
          <a:noFill/>
        </p:spPr>
        <p:txBody>
          <a:bodyPr wrap="square">
            <a:spAutoFit/>
          </a:bodyPr>
          <a:lstStyle/>
          <a:p>
            <a:pPr>
              <a:lnSpc>
                <a:spcPct val="135000"/>
              </a:lnSpc>
              <a:defRPr sz="1300">
                <a:solidFill>
                  <a:srgbClr val="0B1B2D"/>
                </a:solidFill>
              </a:defRPr>
            </a:pPr>
            <a:r>
              <a:t>Query counter pattern pada Store.go berfungsi sebagai test double yang mensimulasikan database dengan kemampuan pelacakan query. Setiap metode retrieval meningkatkan queryCount setelah mengambil lock. Method GetQueryCount memungkinkan test mengakses jumlah query aktual tanpa mengganggu state internal. Pola ini memungkinkan verifikasi kuantitatif atas optimasi query tanpa perlu instrumentasi database sesungguhnya. Implementasi ini juga thread-safe berkat penggunaan mutex.</a:t>
            </a:r>
          </a:p>
        </p:txBody>
      </p:sp>
      <p:sp>
        <p:nvSpPr>
          <p:cNvPr id="8" name="Rectangle 7"/>
          <p:cNvSpPr/>
          <p:nvPr/>
        </p:nvSpPr>
        <p:spPr>
          <a:xfrm>
            <a:off x="731520" y="5394960"/>
            <a:ext cx="10728655" cy="594360"/>
          </a:xfrm>
          <a:prstGeom prst="rect">
            <a:avLst/>
          </a:prstGeom>
          <a:solidFill>
            <a:srgbClr val="087F7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300" b="1">
                <a:solidFill>
                  <a:srgbClr val="FFFFFF"/>
                </a:solidFill>
              </a:defRPr>
            </a:pPr>
            <a:r>
              <a:t>Test double with query counter provides measurable proof of optimization.</a:t>
            </a:r>
          </a:p>
        </p:txBody>
      </p:sp>
      <p:sp>
        <p:nvSpPr>
          <p:cNvPr id="9" name="TextBox 8"/>
          <p:cNvSpPr txBox="1"/>
          <p:nvPr/>
        </p:nvSpPr>
        <p:spPr>
          <a:xfrm>
            <a:off x="731520" y="6263640"/>
            <a:ext cx="7315200" cy="320040"/>
          </a:xfrm>
          <a:prstGeom prst="rect">
            <a:avLst/>
          </a:prstGeom>
          <a:noFill/>
        </p:spPr>
        <p:txBody>
          <a:bodyPr wrap="none">
            <a:spAutoFit/>
          </a:bodyPr>
          <a:lstStyle/>
          <a:p>
            <a:pPr>
              <a:defRPr sz="1000">
                <a:solidFill>
                  <a:srgbClr val="52606B"/>
                </a:solidFill>
              </a:defRPr>
            </a:pPr>
            <a:r>
              <a:t>internal/blog/store.go:1-40</a:t>
            </a:r>
          </a:p>
        </p:txBody>
      </p:sp>
      <p:sp>
        <p:nvSpPr>
          <p:cNvPr id="10" name="TextBox 9"/>
          <p:cNvSpPr txBox="1"/>
          <p:nvPr/>
        </p:nvSpPr>
        <p:spPr>
          <a:xfrm>
            <a:off x="8686800" y="6263640"/>
            <a:ext cx="2743200" cy="320040"/>
          </a:xfrm>
          <a:prstGeom prst="rect">
            <a:avLst/>
          </a:prstGeom>
          <a:noFill/>
        </p:spPr>
        <p:txBody>
          <a:bodyPr wrap="none">
            <a:spAutoFit/>
          </a:bodyPr>
          <a:lstStyle/>
          <a:p>
            <a:pPr algn="r">
              <a:defRPr sz="1000" b="1">
                <a:solidFill>
                  <a:srgbClr val="52606B"/>
                </a:solidFill>
              </a:defRPr>
            </a:pPr>
            <a:r>
              <a:t>18 / 24</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1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728655" cy="365760"/>
          </a:xfrm>
          <a:prstGeom prst="rect">
            <a:avLst/>
          </a:prstGeom>
          <a:noFill/>
        </p:spPr>
        <p:txBody>
          <a:bodyPr wrap="none">
            <a:spAutoFit/>
          </a:bodyPr>
          <a:lstStyle/>
          <a:p>
            <a:pPr>
              <a:defRPr sz="1300" b="1">
                <a:solidFill>
                  <a:srgbClr val="087F76"/>
                </a:solidFill>
              </a:defRPr>
            </a:pPr>
            <a:r>
              <a:t>SOFTWARE ENGINEERING LAB | LAB 22</a:t>
            </a:r>
          </a:p>
        </p:txBody>
      </p:sp>
      <p:sp>
        <p:nvSpPr>
          <p:cNvPr id="4" name="TextBox 3"/>
          <p:cNvSpPr txBox="1"/>
          <p:nvPr/>
        </p:nvSpPr>
        <p:spPr>
          <a:xfrm>
            <a:off x="731520" y="685800"/>
            <a:ext cx="10728655" cy="640080"/>
          </a:xfrm>
          <a:prstGeom prst="rect">
            <a:avLst/>
          </a:prstGeom>
          <a:noFill/>
        </p:spPr>
        <p:txBody>
          <a:bodyPr wrap="square">
            <a:spAutoFit/>
          </a:bodyPr>
          <a:lstStyle/>
          <a:p>
            <a:pPr>
              <a:defRPr sz="2400" b="1">
                <a:solidFill>
                  <a:srgbClr val="0B1B2D"/>
                </a:solidFill>
              </a:defRPr>
            </a:pPr>
            <a:r>
              <a:t>Analisis Mendalam: Deep Equality Assurance</a:t>
            </a:r>
          </a:p>
        </p:txBody>
      </p:sp>
      <p:sp>
        <p:nvSpPr>
          <p:cNvPr id="5" name="TextBox 4"/>
          <p:cNvSpPr txBox="1"/>
          <p:nvPr/>
        </p:nvSpPr>
        <p:spPr>
          <a:xfrm>
            <a:off x="731520" y="1280160"/>
            <a:ext cx="10728655" cy="457200"/>
          </a:xfrm>
          <a:prstGeom prst="rect">
            <a:avLst/>
          </a:prstGeom>
          <a:noFill/>
        </p:spPr>
        <p:txBody>
          <a:bodyPr wrap="square">
            <a:spAutoFit/>
          </a:bodyPr>
          <a:lstStyle/>
          <a:p>
            <a:pPr>
              <a:defRPr sz="1300">
                <a:solidFill>
                  <a:srgbClr val="52606B"/>
                </a:solidFill>
              </a:defRPr>
            </a:pPr>
            <a:r>
              <a:t>Reflect.DeepEqual memastikan hasil eager loading identik dengan N+1.</a:t>
            </a:r>
          </a:p>
        </p:txBody>
      </p:sp>
      <p:sp>
        <p:nvSpPr>
          <p:cNvPr id="6" name="Rounded Rectangle 5"/>
          <p:cNvSpPr/>
          <p:nvPr/>
        </p:nvSpPr>
        <p:spPr>
          <a:xfrm>
            <a:off x="731520" y="1828800"/>
            <a:ext cx="5120640" cy="3383280"/>
          </a:xfrm>
          <a:prstGeom prst="roundRect">
            <a:avLst/>
          </a:prstGeom>
          <a:solidFill>
            <a:srgbClr val="0B1B2D"/>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100">
                <a:solidFill>
                  <a:srgbClr val="E2E8F0"/>
                </a:solidFill>
                <a:latin typeface="Courier New"/>
              </a:defRPr>
            </a:pPr>
            <a:r>
              <a:t>if !reflect.DeepEqual(result, nPlusOneResult) {</a:t>
            </a:r>
            <a:br/>
            <a:r>
              <a:t>    t.Errorf("eager result mismatch with N+1 result:\nEager: %+v\nN+1: %+v", result, nPlusOneResult)</a:t>
            </a:r>
            <a:br/>
            <a:r>
              <a:t>}</a:t>
            </a:r>
          </a:p>
        </p:txBody>
      </p:sp>
      <p:sp>
        <p:nvSpPr>
          <p:cNvPr id="7" name="TextBox 6"/>
          <p:cNvSpPr txBox="1"/>
          <p:nvPr/>
        </p:nvSpPr>
        <p:spPr>
          <a:xfrm>
            <a:off x="6217920" y="1828800"/>
            <a:ext cx="5303520" cy="3383280"/>
          </a:xfrm>
          <a:prstGeom prst="rect">
            <a:avLst/>
          </a:prstGeom>
          <a:noFill/>
        </p:spPr>
        <p:txBody>
          <a:bodyPr wrap="square">
            <a:spAutoFit/>
          </a:bodyPr>
          <a:lstStyle/>
          <a:p>
            <a:pPr>
              <a:lnSpc>
                <a:spcPct val="135000"/>
              </a:lnSpc>
              <a:defRPr sz="1300">
                <a:solidFill>
                  <a:srgbClr val="0B1B2D"/>
                </a:solidFill>
              </a:defRPr>
            </a:pPr>
            <a:r>
              <a:t>Deep equality check menggunakan reflect.DeepEqual memastikan bahwa hasil eager loading secara struktural identik dengan hasil N+1. Assertion ini memverifikasi bahwa semua field pada struct Author dan slice Posts memiliki nilai yang sama. Order preservation juga dijamin karena kedua pendekatan mengiterasi author dalam urutan yang sama. Hal ini penting untuk membuktikan bahwa optimasi hanya mengubah mekanisme fetching, bukan mengubah semantik hasil.</a:t>
            </a:r>
          </a:p>
        </p:txBody>
      </p:sp>
      <p:sp>
        <p:nvSpPr>
          <p:cNvPr id="8" name="Rectangle 7"/>
          <p:cNvSpPr/>
          <p:nvPr/>
        </p:nvSpPr>
        <p:spPr>
          <a:xfrm>
            <a:off x="731520" y="5394960"/>
            <a:ext cx="10728655" cy="594360"/>
          </a:xfrm>
          <a:prstGeom prst="rect">
            <a:avLst/>
          </a:prstGeom>
          <a:solidFill>
            <a:srgbClr val="087F7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300" b="1">
                <a:solidFill>
                  <a:srgbClr val="FFFFFF"/>
                </a:solidFill>
              </a:defRPr>
            </a:pPr>
            <a:r>
              <a:t>Deep equality = behavioral equivalence between naive and optimized approaches.</a:t>
            </a:r>
          </a:p>
        </p:txBody>
      </p:sp>
      <p:sp>
        <p:nvSpPr>
          <p:cNvPr id="9" name="TextBox 8"/>
          <p:cNvSpPr txBox="1"/>
          <p:nvPr/>
        </p:nvSpPr>
        <p:spPr>
          <a:xfrm>
            <a:off x="731520" y="6263640"/>
            <a:ext cx="7315200" cy="320040"/>
          </a:xfrm>
          <a:prstGeom prst="rect">
            <a:avLst/>
          </a:prstGeom>
          <a:noFill/>
        </p:spPr>
        <p:txBody>
          <a:bodyPr wrap="none">
            <a:spAutoFit/>
          </a:bodyPr>
          <a:lstStyle/>
          <a:p>
            <a:pPr>
              <a:defRPr sz="1000">
                <a:solidFill>
                  <a:srgbClr val="52606B"/>
                </a:solidFill>
              </a:defRPr>
            </a:pPr>
            <a:r>
              <a:t>internal/blog/repository_test.go:45-49</a:t>
            </a:r>
          </a:p>
        </p:txBody>
      </p:sp>
      <p:sp>
        <p:nvSpPr>
          <p:cNvPr id="10" name="TextBox 9"/>
          <p:cNvSpPr txBox="1"/>
          <p:nvPr/>
        </p:nvSpPr>
        <p:spPr>
          <a:xfrm>
            <a:off x="8686800" y="6263640"/>
            <a:ext cx="2743200" cy="320040"/>
          </a:xfrm>
          <a:prstGeom prst="rect">
            <a:avLst/>
          </a:prstGeom>
          <a:noFill/>
        </p:spPr>
        <p:txBody>
          <a:bodyPr wrap="none">
            <a:spAutoFit/>
          </a:bodyPr>
          <a:lstStyle/>
          <a:p>
            <a:pPr algn="r">
              <a:defRPr sz="1000" b="1">
                <a:solidFill>
                  <a:srgbClr val="52606B"/>
                </a:solidFill>
              </a:defRPr>
            </a:pPr>
            <a:r>
              <a:t>19 / 24</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1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728655" cy="365760"/>
          </a:xfrm>
          <a:prstGeom prst="rect">
            <a:avLst/>
          </a:prstGeom>
          <a:noFill/>
        </p:spPr>
        <p:txBody>
          <a:bodyPr wrap="none">
            <a:spAutoFit/>
          </a:bodyPr>
          <a:lstStyle/>
          <a:p>
            <a:pPr>
              <a:defRPr sz="1300" b="1">
                <a:solidFill>
                  <a:srgbClr val="087F76"/>
                </a:solidFill>
              </a:defRPr>
            </a:pPr>
            <a:r>
              <a:t>SOFTWARE ENGINEERING LAB | LAB 22</a:t>
            </a:r>
          </a:p>
        </p:txBody>
      </p:sp>
      <p:sp>
        <p:nvSpPr>
          <p:cNvPr id="4" name="TextBox 3"/>
          <p:cNvSpPr txBox="1"/>
          <p:nvPr/>
        </p:nvSpPr>
        <p:spPr>
          <a:xfrm>
            <a:off x="731520" y="685800"/>
            <a:ext cx="10728655" cy="640080"/>
          </a:xfrm>
          <a:prstGeom prst="rect">
            <a:avLst/>
          </a:prstGeom>
          <a:noFill/>
        </p:spPr>
        <p:txBody>
          <a:bodyPr wrap="square">
            <a:spAutoFit/>
          </a:bodyPr>
          <a:lstStyle/>
          <a:p>
            <a:pPr>
              <a:defRPr sz="2400" b="1">
                <a:solidFill>
                  <a:srgbClr val="0B1B2D"/>
                </a:solidFill>
              </a:defRPr>
            </a:pPr>
            <a:r>
              <a:t>Checklist Implementasi Eager Loading</a:t>
            </a:r>
          </a:p>
        </p:txBody>
      </p:sp>
      <p:sp>
        <p:nvSpPr>
          <p:cNvPr id="5" name="TextBox 4"/>
          <p:cNvSpPr txBox="1"/>
          <p:nvPr/>
        </p:nvSpPr>
        <p:spPr>
          <a:xfrm>
            <a:off x="731520" y="1280160"/>
            <a:ext cx="10728655" cy="457200"/>
          </a:xfrm>
          <a:prstGeom prst="rect">
            <a:avLst/>
          </a:prstGeom>
          <a:noFill/>
        </p:spPr>
        <p:txBody>
          <a:bodyPr wrap="square">
            <a:spAutoFit/>
          </a:bodyPr>
          <a:lstStyle/>
          <a:p>
            <a:pPr>
              <a:defRPr sz="1300">
                <a:solidFill>
                  <a:srgbClr val="52606B"/>
                </a:solidFill>
              </a:defRPr>
            </a:pPr>
            <a:r>
              <a:t>Daftar kontrol sebelum deploy ke production.</a:t>
            </a:r>
          </a:p>
        </p:txBody>
      </p:sp>
      <p:sp>
        <p:nvSpPr>
          <p:cNvPr id="6" name="TextBox 5"/>
          <p:cNvSpPr txBox="1"/>
          <p:nvPr/>
        </p:nvSpPr>
        <p:spPr>
          <a:xfrm>
            <a:off x="731520" y="1828800"/>
            <a:ext cx="5120640" cy="3383280"/>
          </a:xfrm>
          <a:prstGeom prst="rect">
            <a:avLst/>
          </a:prstGeom>
          <a:noFill/>
        </p:spPr>
        <p:txBody>
          <a:bodyPr wrap="square">
            <a:spAutoFit/>
          </a:bodyPr>
          <a:lstStyle/>
          <a:p>
            <a:pPr>
              <a:defRPr sz="1200" b="1">
                <a:solidFill>
                  <a:srgbClr val="087F76"/>
                </a:solidFill>
              </a:defRPr>
            </a:pPr>
            <a:r>
              <a:t>IMPLEMENTATION CHECKLIST</a:t>
            </a:r>
          </a:p>
          <a:p>
            <a:pPr>
              <a:spcAft>
                <a:spcPts val="400"/>
              </a:spcAft>
              <a:defRPr sz="1200">
                <a:solidFill>
                  <a:srgbClr val="0B1B2D"/>
                </a:solidFill>
              </a:defRPr>
            </a:pPr>
            <a:r>
              <a:t>• [ ] Profiling query count dilakukan sebelum deploy ke production</a:t>
            </a:r>
          </a:p>
          <a:p>
            <a:pPr>
              <a:spcAft>
                <a:spcPts val="400"/>
              </a:spcAft>
              <a:defRPr sz="1200">
                <a:solidFill>
                  <a:srgbClr val="0B1B2D"/>
                </a:solidFill>
              </a:defRPr>
            </a:pPr>
            <a:r>
              <a:t>• [ ] Lazy loading dalam loop diaudit dan diganti dengan batch/eager loading</a:t>
            </a:r>
          </a:p>
          <a:p>
            <a:pPr>
              <a:spcAft>
                <a:spcPts val="400"/>
              </a:spcAft>
              <a:defRPr sz="1200">
                <a:solidFill>
                  <a:srgbClr val="0B1B2D"/>
                </a:solidFill>
              </a:defRPr>
            </a:pPr>
            <a:r>
              <a:t>• [ ] Eager loading dilakukan per-query, bukan per-mapping (hindari FetchType.EAGER global)</a:t>
            </a:r>
          </a:p>
          <a:p>
            <a:pPr>
              <a:spcAft>
                <a:spcPts val="400"/>
              </a:spcAft>
              <a:defRPr sz="1200">
                <a:solidFill>
                  <a:srgbClr val="0B1B2D"/>
                </a:solidFill>
              </a:defRPr>
            </a:pPr>
            <a:r>
              <a:t>• [ ] Cartesian explosion dicek untuk relasi one-to-many/many-to-many</a:t>
            </a:r>
          </a:p>
          <a:p>
            <a:pPr>
              <a:spcAft>
                <a:spcPts val="400"/>
              </a:spcAft>
              <a:defRPr sz="1200">
                <a:solidFill>
                  <a:srgbClr val="0B1B2D"/>
                </a:solidFill>
              </a:defRPr>
            </a:pPr>
            <a:r>
              <a:t>• [ ] Column selection (SELECT col1, col2) digunakan ketika full entity tidak dibutuhkan</a:t>
            </a:r>
          </a:p>
          <a:p>
            <a:pPr>
              <a:spcAft>
                <a:spcPts val="400"/>
              </a:spcAft>
              <a:defRPr sz="1200">
                <a:solidFill>
                  <a:srgbClr val="0B1B2D"/>
                </a:solidFill>
              </a:defRPr>
            </a:pPr>
            <a:r>
              <a:t>• [ ] Pagination diterapkan untuk hasil yang besar</a:t>
            </a:r>
          </a:p>
          <a:p>
            <a:pPr>
              <a:spcAft>
                <a:spcPts val="400"/>
              </a:spcAft>
              <a:defRPr sz="1200">
                <a:solidFill>
                  <a:srgbClr val="0B1B2D"/>
                </a:solidFill>
              </a:defRPr>
            </a:pPr>
            <a:r>
              <a:t>• [ ] Query count diuji otomatis (unit/integration test)</a:t>
            </a:r>
          </a:p>
          <a:p>
            <a:pPr>
              <a:spcAft>
                <a:spcPts val="400"/>
              </a:spcAft>
              <a:defRPr sz="1200">
                <a:solidFill>
                  <a:srgbClr val="0B1B2D"/>
                </a:solidFill>
              </a:defRPr>
            </a:pPr>
            <a:r>
              <a:t>• [ ] Strict loading mode dipertimbangkan untuk ORM yang mendukungnya</a:t>
            </a:r>
          </a:p>
        </p:txBody>
      </p:sp>
      <p:sp>
        <p:nvSpPr>
          <p:cNvPr id="7" name="TextBox 6"/>
          <p:cNvSpPr txBox="1"/>
          <p:nvPr/>
        </p:nvSpPr>
        <p:spPr>
          <a:xfrm>
            <a:off x="6217920" y="1828800"/>
            <a:ext cx="5303520" cy="3383280"/>
          </a:xfrm>
          <a:prstGeom prst="rect">
            <a:avLst/>
          </a:prstGeom>
          <a:noFill/>
        </p:spPr>
        <p:txBody>
          <a:bodyPr wrap="square">
            <a:spAutoFit/>
          </a:bodyPr>
          <a:lstStyle/>
          <a:p>
            <a:pPr>
              <a:lnSpc>
                <a:spcPct val="135000"/>
              </a:lnSpc>
              <a:defRPr sz="1300">
                <a:solidFill>
                  <a:srgbClr val="0B1B2D"/>
                </a:solidFill>
              </a:defRPr>
            </a:pPr>
            <a:r>
              <a:t>Checklist implementasi eager loading ini mencakup delapan poin kontrol penting sebelum deployed ke production. Poin pertama menekankan profiling query count sebagai langkah preventif. Poin kedua mengaudit lazy loading dalam loop. Poin ketiga membedakan query-level eager loading dari mapping-level eager loading yang dapat menyebabkan memory bloat. Poin keempat memperingatkan tentang cartesian explosion. Poin kelima menyarankan column selection ketika full entity tidak diperlukan.</a:t>
            </a:r>
          </a:p>
        </p:txBody>
      </p:sp>
      <p:sp>
        <p:nvSpPr>
          <p:cNvPr id="8" name="Rectangle 7"/>
          <p:cNvSpPr/>
          <p:nvPr/>
        </p:nvSpPr>
        <p:spPr>
          <a:xfrm>
            <a:off x="731520" y="5394960"/>
            <a:ext cx="10728655" cy="594360"/>
          </a:xfrm>
          <a:prstGeom prst="rect">
            <a:avLst/>
          </a:prstGeom>
          <a:solidFill>
            <a:srgbClr val="087F7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300" b="1">
                <a:solidFill>
                  <a:srgbClr val="FFFFFF"/>
                </a:solidFill>
              </a:defRPr>
            </a:pPr>
            <a:r>
              <a:t>Checklist ensures systematic adoption of eager loading best practices.</a:t>
            </a:r>
          </a:p>
        </p:txBody>
      </p:sp>
      <p:sp>
        <p:nvSpPr>
          <p:cNvPr id="9" name="TextBox 8"/>
          <p:cNvSpPr txBox="1"/>
          <p:nvPr/>
        </p:nvSpPr>
        <p:spPr>
          <a:xfrm>
            <a:off x="731520" y="6263640"/>
            <a:ext cx="7315200" cy="320040"/>
          </a:xfrm>
          <a:prstGeom prst="rect">
            <a:avLst/>
          </a:prstGeom>
          <a:noFill/>
        </p:spPr>
        <p:txBody>
          <a:bodyPr wrap="none">
            <a:spAutoFit/>
          </a:bodyPr>
          <a:lstStyle/>
          <a:p>
            <a:pPr>
              <a:defRPr sz="1000">
                <a:solidFill>
                  <a:srgbClr val="52606B"/>
                </a:solidFill>
              </a:defRPr>
            </a:pPr>
            <a:r>
              <a:t>labs/22-n-plus-one-query-problem/content/02-master-draft.md</a:t>
            </a:r>
          </a:p>
        </p:txBody>
      </p:sp>
      <p:sp>
        <p:nvSpPr>
          <p:cNvPr id="10" name="TextBox 9"/>
          <p:cNvSpPr txBox="1"/>
          <p:nvPr/>
        </p:nvSpPr>
        <p:spPr>
          <a:xfrm>
            <a:off x="8686800" y="6263640"/>
            <a:ext cx="2743200" cy="320040"/>
          </a:xfrm>
          <a:prstGeom prst="rect">
            <a:avLst/>
          </a:prstGeom>
          <a:noFill/>
        </p:spPr>
        <p:txBody>
          <a:bodyPr wrap="none">
            <a:spAutoFit/>
          </a:bodyPr>
          <a:lstStyle/>
          <a:p>
            <a:pPr algn="r">
              <a:defRPr sz="1000" b="1">
                <a:solidFill>
                  <a:srgbClr val="52606B"/>
                </a:solidFill>
              </a:defRPr>
            </a:pPr>
            <a:r>
              <a:t>20 / 24</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1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728655" cy="365760"/>
          </a:xfrm>
          <a:prstGeom prst="rect">
            <a:avLst/>
          </a:prstGeom>
          <a:noFill/>
        </p:spPr>
        <p:txBody>
          <a:bodyPr wrap="none">
            <a:spAutoFit/>
          </a:bodyPr>
          <a:lstStyle/>
          <a:p>
            <a:pPr>
              <a:defRPr sz="1300" b="1">
                <a:solidFill>
                  <a:srgbClr val="087F76"/>
                </a:solidFill>
              </a:defRPr>
            </a:pPr>
            <a:r>
              <a:t>SOFTWARE ENGINEERING LAB | LAB 22</a:t>
            </a:r>
          </a:p>
        </p:txBody>
      </p:sp>
      <p:sp>
        <p:nvSpPr>
          <p:cNvPr id="4" name="TextBox 3"/>
          <p:cNvSpPr txBox="1"/>
          <p:nvPr/>
        </p:nvSpPr>
        <p:spPr>
          <a:xfrm>
            <a:off x="731520" y="685800"/>
            <a:ext cx="10728655" cy="640080"/>
          </a:xfrm>
          <a:prstGeom prst="rect">
            <a:avLst/>
          </a:prstGeom>
          <a:noFill/>
        </p:spPr>
        <p:txBody>
          <a:bodyPr wrap="square">
            <a:spAutoFit/>
          </a:bodyPr>
          <a:lstStyle/>
          <a:p>
            <a:pPr>
              <a:defRPr sz="2400" b="1">
                <a:solidFill>
                  <a:srgbClr val="0B1B2D"/>
                </a:solidFill>
              </a:defRPr>
            </a:pPr>
            <a:r>
              <a:t>Anti-Pattern: Mapping-Level Eager Loading</a:t>
            </a:r>
          </a:p>
        </p:txBody>
      </p:sp>
      <p:sp>
        <p:nvSpPr>
          <p:cNvPr id="5" name="TextBox 4"/>
          <p:cNvSpPr txBox="1"/>
          <p:nvPr/>
        </p:nvSpPr>
        <p:spPr>
          <a:xfrm>
            <a:off x="731520" y="1280160"/>
            <a:ext cx="10728655" cy="457200"/>
          </a:xfrm>
          <a:prstGeom prst="rect">
            <a:avLst/>
          </a:prstGeom>
          <a:noFill/>
        </p:spPr>
        <p:txBody>
          <a:bodyPr wrap="square">
            <a:spAutoFit/>
          </a:bodyPr>
          <a:lstStyle/>
          <a:p>
            <a:pPr>
              <a:defRPr sz="1300">
                <a:solidFill>
                  <a:srgbClr val="52606B"/>
                </a:solidFill>
              </a:defRPr>
            </a:pPr>
            <a:r>
              <a:t>FetchType.EAGER global menyebabkan memory bloat, berbeda dengan query-level batching.</a:t>
            </a:r>
          </a:p>
        </p:txBody>
      </p:sp>
      <p:sp>
        <p:nvSpPr>
          <p:cNvPr id="6" name="Rounded Rectangle 5"/>
          <p:cNvSpPr/>
          <p:nvPr/>
        </p:nvSpPr>
        <p:spPr>
          <a:xfrm>
            <a:off x="731520" y="1828800"/>
            <a:ext cx="5120640" cy="3383280"/>
          </a:xfrm>
          <a:prstGeom prst="roundRect">
            <a:avLst/>
          </a:prstGeom>
          <a:solidFill>
            <a:srgbClr val="0B1B2D"/>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100">
                <a:solidFill>
                  <a:srgbClr val="E2E8F0"/>
                </a:solidFill>
                <a:latin typeface="Courier New"/>
              </a:defRPr>
            </a:pPr>
            <a:r>
              <a:t>@Entity</a:t>
            </a:r>
            <a:br/>
            <a:r>
              <a:t>public class Author {</a:t>
            </a:r>
            <a:br/>
            <a:r>
              <a:t>    @Id</a:t>
            </a:r>
            <a:br/>
            <a:r>
              <a:t>    private Long id;</a:t>
            </a:r>
            <a:br/>
            <a:br/>
            <a:r>
              <a:t>    @OneToMany(fetch = FetchType.EAGER)  // ANTI-PATTERN</a:t>
            </a:r>
            <a:br/>
            <a:r>
              <a:t>    private List&lt;Post&gt; posts;</a:t>
            </a:r>
            <a:br/>
            <a:r>
              <a:t>}</a:t>
            </a:r>
          </a:p>
        </p:txBody>
      </p:sp>
      <p:sp>
        <p:nvSpPr>
          <p:cNvPr id="7" name="TextBox 6"/>
          <p:cNvSpPr txBox="1"/>
          <p:nvPr/>
        </p:nvSpPr>
        <p:spPr>
          <a:xfrm>
            <a:off x="6217920" y="1828800"/>
            <a:ext cx="5303520" cy="3383280"/>
          </a:xfrm>
          <a:prstGeom prst="rect">
            <a:avLst/>
          </a:prstGeom>
          <a:noFill/>
        </p:spPr>
        <p:txBody>
          <a:bodyPr wrap="square">
            <a:spAutoFit/>
          </a:bodyPr>
          <a:lstStyle/>
          <a:p>
            <a:pPr>
              <a:lnSpc>
                <a:spcPct val="135000"/>
              </a:lnSpc>
              <a:defRPr sz="1300">
                <a:solidFill>
                  <a:srgbClr val="0B1B2D"/>
                </a:solidFill>
              </a:defRPr>
            </a:pPr>
            <a:r>
              <a:t>Mapping-level eager loading seperti FetchType.EAGER pada JPA adalah anti-pattern yang sering disalahpahami sebagai solusi N+1. Meskipun memang mengurangi jumlah query, pendekatan ini memuat semua relasi yang dideklarasikan secara global tanpa seleksi. Akibatnya, entitas yang tidak relevan juga ikut ter-load ke memori, menyebabkan memory bloat dan potensi out-of-memory error pada dataset besar. Lab ini mendemonstrasikan query-level eager loading yang selektif dan dapat dikontrol per-request.</a:t>
            </a:r>
          </a:p>
        </p:txBody>
      </p:sp>
      <p:sp>
        <p:nvSpPr>
          <p:cNvPr id="8" name="Rectangle 7"/>
          <p:cNvSpPr/>
          <p:nvPr/>
        </p:nvSpPr>
        <p:spPr>
          <a:xfrm>
            <a:off x="731520" y="5394960"/>
            <a:ext cx="10728655" cy="594360"/>
          </a:xfrm>
          <a:prstGeom prst="rect">
            <a:avLst/>
          </a:prstGeom>
          <a:solidFill>
            <a:srgbClr val="087F7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300" b="1">
                <a:solidFill>
                  <a:srgbClr val="FFFFFF"/>
                </a:solidFill>
              </a:defRPr>
            </a:pPr>
            <a:r>
              <a:t>Global eager fetching causes memory bloat; prefer query-level selective batching.</a:t>
            </a:r>
          </a:p>
        </p:txBody>
      </p:sp>
      <p:sp>
        <p:nvSpPr>
          <p:cNvPr id="9" name="TextBox 8"/>
          <p:cNvSpPr txBox="1"/>
          <p:nvPr/>
        </p:nvSpPr>
        <p:spPr>
          <a:xfrm>
            <a:off x="731520" y="6263640"/>
            <a:ext cx="7315200" cy="320040"/>
          </a:xfrm>
          <a:prstGeom prst="rect">
            <a:avLst/>
          </a:prstGeom>
          <a:noFill/>
        </p:spPr>
        <p:txBody>
          <a:bodyPr wrap="none">
            <a:spAutoFit/>
          </a:bodyPr>
          <a:lstStyle/>
          <a:p>
            <a:pPr>
              <a:defRPr sz="1000">
                <a:solidFill>
                  <a:srgbClr val="52606B"/>
                </a:solidFill>
              </a:defRPr>
            </a:pPr>
            <a:r>
              <a:t>labs/22-n-plus-one-query-problem/content/02-master-draft.md</a:t>
            </a:r>
          </a:p>
        </p:txBody>
      </p:sp>
      <p:sp>
        <p:nvSpPr>
          <p:cNvPr id="10" name="TextBox 9"/>
          <p:cNvSpPr txBox="1"/>
          <p:nvPr/>
        </p:nvSpPr>
        <p:spPr>
          <a:xfrm>
            <a:off x="8686800" y="6263640"/>
            <a:ext cx="2743200" cy="320040"/>
          </a:xfrm>
          <a:prstGeom prst="rect">
            <a:avLst/>
          </a:prstGeom>
          <a:noFill/>
        </p:spPr>
        <p:txBody>
          <a:bodyPr wrap="none">
            <a:spAutoFit/>
          </a:bodyPr>
          <a:lstStyle/>
          <a:p>
            <a:pPr algn="r">
              <a:defRPr sz="1000" b="1">
                <a:solidFill>
                  <a:srgbClr val="52606B"/>
                </a:solidFill>
              </a:defRPr>
            </a:pPr>
            <a:r>
              <a:t>21 / 24</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1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728655" cy="365760"/>
          </a:xfrm>
          <a:prstGeom prst="rect">
            <a:avLst/>
          </a:prstGeom>
          <a:noFill/>
        </p:spPr>
        <p:txBody>
          <a:bodyPr wrap="none">
            <a:spAutoFit/>
          </a:bodyPr>
          <a:lstStyle/>
          <a:p>
            <a:pPr>
              <a:defRPr sz="1300" b="1">
                <a:solidFill>
                  <a:srgbClr val="087F76"/>
                </a:solidFill>
              </a:defRPr>
            </a:pPr>
            <a:r>
              <a:t>SOFTWARE ENGINEERING LAB | LAB 22</a:t>
            </a:r>
          </a:p>
        </p:txBody>
      </p:sp>
      <p:sp>
        <p:nvSpPr>
          <p:cNvPr id="4" name="TextBox 3"/>
          <p:cNvSpPr txBox="1"/>
          <p:nvPr/>
        </p:nvSpPr>
        <p:spPr>
          <a:xfrm>
            <a:off x="731520" y="685800"/>
            <a:ext cx="10728655" cy="640080"/>
          </a:xfrm>
          <a:prstGeom prst="rect">
            <a:avLst/>
          </a:prstGeom>
          <a:noFill/>
        </p:spPr>
        <p:txBody>
          <a:bodyPr wrap="square">
            <a:spAutoFit/>
          </a:bodyPr>
          <a:lstStyle/>
          <a:p>
            <a:pPr>
              <a:defRPr sz="2400" b="1">
                <a:solidFill>
                  <a:srgbClr val="0B1B2D"/>
                </a:solidFill>
              </a:defRPr>
            </a:pPr>
            <a:r>
              <a:t>Takeaway Praktis: Cara Mencegah N+1</a:t>
            </a:r>
          </a:p>
        </p:txBody>
      </p:sp>
      <p:sp>
        <p:nvSpPr>
          <p:cNvPr id="5" name="TextBox 4"/>
          <p:cNvSpPr txBox="1"/>
          <p:nvPr/>
        </p:nvSpPr>
        <p:spPr>
          <a:xfrm>
            <a:off x="731520" y="1280160"/>
            <a:ext cx="10728655" cy="457200"/>
          </a:xfrm>
          <a:prstGeom prst="rect">
            <a:avLst/>
          </a:prstGeom>
          <a:noFill/>
        </p:spPr>
        <p:txBody>
          <a:bodyPr wrap="square">
            <a:spAutoFit/>
          </a:bodyPr>
          <a:lstStyle/>
          <a:p>
            <a:pPr>
              <a:defRPr sz="1300">
                <a:solidFill>
                  <a:srgbClr val="52606B"/>
                </a:solidFill>
              </a:defRPr>
            </a:pPr>
            <a:r>
              <a:t>Command block untuk menjalankan demo dan test validasi.</a:t>
            </a:r>
          </a:p>
        </p:txBody>
      </p:sp>
      <p:sp>
        <p:nvSpPr>
          <p:cNvPr id="6" name="TextBox 5"/>
          <p:cNvSpPr txBox="1"/>
          <p:nvPr/>
        </p:nvSpPr>
        <p:spPr>
          <a:xfrm>
            <a:off x="731520" y="1828800"/>
            <a:ext cx="5120640" cy="3383280"/>
          </a:xfrm>
          <a:prstGeom prst="rect">
            <a:avLst/>
          </a:prstGeom>
          <a:noFill/>
        </p:spPr>
        <p:txBody>
          <a:bodyPr wrap="square">
            <a:spAutoFit/>
          </a:bodyPr>
          <a:lstStyle/>
          <a:p>
            <a:pPr>
              <a:defRPr sz="1200" b="1">
                <a:solidFill>
                  <a:srgbClr val="087F76"/>
                </a:solidFill>
              </a:defRPr>
            </a:pPr>
            <a:r>
              <a:t>COMMAND BLOCK</a:t>
            </a:r>
          </a:p>
          <a:p>
            <a:pPr>
              <a:spcAft>
                <a:spcPts val="400"/>
              </a:spcAft>
              <a:defRPr sz="1200">
                <a:solidFill>
                  <a:srgbClr val="0B1B2D"/>
                </a:solidFill>
              </a:defRPr>
            </a:pPr>
            <a:r>
              <a:t>• # Jalankan demo N+1 vs Eager Loading</a:t>
            </a:r>
          </a:p>
          <a:p>
            <a:pPr>
              <a:spcAft>
                <a:spcPts val="400"/>
              </a:spcAft>
              <a:defRPr sz="1200">
                <a:solidFill>
                  <a:srgbClr val="0B1B2D"/>
                </a:solidFill>
              </a:defRPr>
            </a:pPr>
            <a:r>
              <a:t>• go run ./cmd/demo</a:t>
            </a:r>
          </a:p>
          <a:p>
            <a:pPr>
              <a:spcAft>
                <a:spcPts val="400"/>
              </a:spcAft>
              <a:defRPr sz="1200">
                <a:solidFill>
                  <a:srgbClr val="0B1B2D"/>
                </a:solidFill>
              </a:defRPr>
            </a:pPr>
            <a:r>
              <a:t>• </a:t>
            </a:r>
          </a:p>
          <a:p>
            <a:pPr>
              <a:spcAft>
                <a:spcPts val="400"/>
              </a:spcAft>
              <a:defRPr sz="1200">
                <a:solidFill>
                  <a:srgbClr val="0B1B2D"/>
                </a:solidFill>
              </a:defRPr>
            </a:pPr>
            <a:r>
              <a:t>• # Jalankan test dengan query counter</a:t>
            </a:r>
          </a:p>
          <a:p>
            <a:pPr>
              <a:spcAft>
                <a:spcPts val="400"/>
              </a:spcAft>
              <a:defRPr sz="1200">
                <a:solidFill>
                  <a:srgbClr val="0B1B2D"/>
                </a:solidFill>
              </a:defRPr>
            </a:pPr>
            <a:r>
              <a:t>• go test -v ./internal/blog</a:t>
            </a:r>
          </a:p>
          <a:p>
            <a:pPr>
              <a:spcAft>
                <a:spcPts val="400"/>
              </a:spcAft>
              <a:defRPr sz="1200">
                <a:solidFill>
                  <a:srgbClr val="0B1B2D"/>
                </a:solidFill>
              </a:defRPr>
            </a:pPr>
            <a:r>
              <a:t>• </a:t>
            </a:r>
          </a:p>
          <a:p>
            <a:pPr>
              <a:spcAft>
                <a:spcPts val="400"/>
              </a:spcAft>
              <a:defRPr sz="1200">
                <a:solidFill>
                  <a:srgbClr val="0B1B2D"/>
                </a:solidFill>
              </a:defRPr>
            </a:pPr>
            <a:r>
              <a:t>• # Race detection</a:t>
            </a:r>
          </a:p>
          <a:p>
            <a:pPr>
              <a:spcAft>
                <a:spcPts val="400"/>
              </a:spcAft>
              <a:defRPr sz="1200">
                <a:solidFill>
                  <a:srgbClr val="0B1B2D"/>
                </a:solidFill>
              </a:defRPr>
            </a:pPr>
            <a:r>
              <a:t>• go test -race ./...</a:t>
            </a:r>
          </a:p>
          <a:p>
            <a:pPr>
              <a:spcAft>
                <a:spcPts val="400"/>
              </a:spcAft>
              <a:defRPr sz="1200">
                <a:solidFill>
                  <a:srgbClr val="0B1B2D"/>
                </a:solidFill>
              </a:defRPr>
            </a:pPr>
            <a:r>
              <a:t>• </a:t>
            </a:r>
          </a:p>
          <a:p>
            <a:pPr>
              <a:spcAft>
                <a:spcPts val="400"/>
              </a:spcAft>
              <a:defRPr sz="1200">
                <a:solidFill>
                  <a:srgbClr val="0B1B2D"/>
                </a:solidFill>
              </a:defRPr>
            </a:pPr>
            <a:r>
              <a:t>• # Profile query count</a:t>
            </a:r>
          </a:p>
          <a:p>
            <a:pPr>
              <a:spcAft>
                <a:spcPts val="400"/>
              </a:spcAft>
              <a:defRPr sz="1200">
                <a:solidFill>
                  <a:srgbClr val="0B1B2D"/>
                </a:solidFill>
              </a:defRPr>
            </a:pPr>
            <a:r>
              <a:t>• go test -count=10 ./internal/blog</a:t>
            </a:r>
          </a:p>
        </p:txBody>
      </p:sp>
      <p:sp>
        <p:nvSpPr>
          <p:cNvPr id="7" name="TextBox 6"/>
          <p:cNvSpPr txBox="1"/>
          <p:nvPr/>
        </p:nvSpPr>
        <p:spPr>
          <a:xfrm>
            <a:off x="6217920" y="1828800"/>
            <a:ext cx="5303520" cy="3383280"/>
          </a:xfrm>
          <a:prstGeom prst="rect">
            <a:avLst/>
          </a:prstGeom>
          <a:noFill/>
        </p:spPr>
        <p:txBody>
          <a:bodyPr wrap="square">
            <a:spAutoFit/>
          </a:bodyPr>
          <a:lstStyle/>
          <a:p>
            <a:pPr>
              <a:lnSpc>
                <a:spcPct val="135000"/>
              </a:lnSpc>
              <a:defRPr sz="1300">
                <a:solidFill>
                  <a:srgbClr val="0B1B2D"/>
                </a:solidFill>
              </a:defRPr>
            </a:pPr>
            <a:r>
              <a:t>Takeaway praktis untuk mencegah N+1 query problem adalah menerapkan profiling query count sebagai bagian dari workflow development. Command demo menunjukkan perbandingan kuantitatif antara pendekatan naive dan eager loading. Command test dengan flag verbose menampilkan detail eksekusi setiap test case. Race detection memastikan thread-safety, sedangkan repeated test counting membantu mengidentifikasi flaky test. Integrasi query counter ke dalam CI/CD pipeline akan mencegah regressi N+1 secara otomatis.</a:t>
            </a:r>
          </a:p>
        </p:txBody>
      </p:sp>
      <p:sp>
        <p:nvSpPr>
          <p:cNvPr id="8" name="Rectangle 7"/>
          <p:cNvSpPr/>
          <p:nvPr/>
        </p:nvSpPr>
        <p:spPr>
          <a:xfrm>
            <a:off x="731520" y="5394960"/>
            <a:ext cx="10728655" cy="594360"/>
          </a:xfrm>
          <a:prstGeom prst="rect">
            <a:avLst/>
          </a:prstGeom>
          <a:solidFill>
            <a:srgbClr val="087F7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300" b="1">
                <a:solidFill>
                  <a:srgbClr val="FFFFFF"/>
                </a:solidFill>
              </a:defRPr>
            </a:pPr>
            <a:r>
              <a:t>Profile → Verify → Integrate: make query counting part of your CI.</a:t>
            </a:r>
          </a:p>
        </p:txBody>
      </p:sp>
      <p:sp>
        <p:nvSpPr>
          <p:cNvPr id="9" name="TextBox 8"/>
          <p:cNvSpPr txBox="1"/>
          <p:nvPr/>
        </p:nvSpPr>
        <p:spPr>
          <a:xfrm>
            <a:off x="731520" y="6263640"/>
            <a:ext cx="7315200" cy="320040"/>
          </a:xfrm>
          <a:prstGeom prst="rect">
            <a:avLst/>
          </a:prstGeom>
          <a:noFill/>
        </p:spPr>
        <p:txBody>
          <a:bodyPr wrap="none">
            <a:spAutoFit/>
          </a:bodyPr>
          <a:lstStyle/>
          <a:p>
            <a:pPr>
              <a:defRPr sz="1000">
                <a:solidFill>
                  <a:srgbClr val="52606B"/>
                </a:solidFill>
              </a:defRPr>
            </a:pPr>
            <a:r>
              <a:t>cmd/demo/main.go • internal/blog/repository_test.go</a:t>
            </a:r>
          </a:p>
        </p:txBody>
      </p:sp>
      <p:sp>
        <p:nvSpPr>
          <p:cNvPr id="10" name="TextBox 9"/>
          <p:cNvSpPr txBox="1"/>
          <p:nvPr/>
        </p:nvSpPr>
        <p:spPr>
          <a:xfrm>
            <a:off x="8686800" y="6263640"/>
            <a:ext cx="2743200" cy="320040"/>
          </a:xfrm>
          <a:prstGeom prst="rect">
            <a:avLst/>
          </a:prstGeom>
          <a:noFill/>
        </p:spPr>
        <p:txBody>
          <a:bodyPr wrap="none">
            <a:spAutoFit/>
          </a:bodyPr>
          <a:lstStyle/>
          <a:p>
            <a:pPr algn="r">
              <a:defRPr sz="1000" b="1">
                <a:solidFill>
                  <a:srgbClr val="52606B"/>
                </a:solidFill>
              </a:defRPr>
            </a:pPr>
            <a:r>
              <a:t>22 / 24</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1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728655" cy="365760"/>
          </a:xfrm>
          <a:prstGeom prst="rect">
            <a:avLst/>
          </a:prstGeom>
          <a:noFill/>
        </p:spPr>
        <p:txBody>
          <a:bodyPr wrap="none">
            <a:spAutoFit/>
          </a:bodyPr>
          <a:lstStyle/>
          <a:p>
            <a:pPr>
              <a:defRPr sz="1300" b="1">
                <a:solidFill>
                  <a:srgbClr val="087F76"/>
                </a:solidFill>
              </a:defRPr>
            </a:pPr>
            <a:r>
              <a:t>SOFTWARE ENGINEERING LAB | LAB 22</a:t>
            </a:r>
          </a:p>
        </p:txBody>
      </p:sp>
      <p:sp>
        <p:nvSpPr>
          <p:cNvPr id="4" name="TextBox 3"/>
          <p:cNvSpPr txBox="1"/>
          <p:nvPr/>
        </p:nvSpPr>
        <p:spPr>
          <a:xfrm>
            <a:off x="731520" y="685800"/>
            <a:ext cx="10728655" cy="640080"/>
          </a:xfrm>
          <a:prstGeom prst="rect">
            <a:avLst/>
          </a:prstGeom>
          <a:noFill/>
        </p:spPr>
        <p:txBody>
          <a:bodyPr wrap="square">
            <a:spAutoFit/>
          </a:bodyPr>
          <a:lstStyle/>
          <a:p>
            <a:pPr>
              <a:defRPr sz="2400" b="1">
                <a:solidFill>
                  <a:srgbClr val="0B1B2D"/>
                </a:solidFill>
              </a:defRPr>
            </a:pPr>
            <a:r>
              <a:t>Prinsip Arsitektural Jangka Panjang</a:t>
            </a:r>
          </a:p>
        </p:txBody>
      </p:sp>
      <p:sp>
        <p:nvSpPr>
          <p:cNvPr id="5" name="TextBox 4"/>
          <p:cNvSpPr txBox="1"/>
          <p:nvPr/>
        </p:nvSpPr>
        <p:spPr>
          <a:xfrm>
            <a:off x="731520" y="1280160"/>
            <a:ext cx="10728655" cy="457200"/>
          </a:xfrm>
          <a:prstGeom prst="rect">
            <a:avLst/>
          </a:prstGeom>
          <a:noFill/>
        </p:spPr>
        <p:txBody>
          <a:bodyPr wrap="square">
            <a:spAutoFit/>
          </a:bodyPr>
          <a:lstStyle/>
          <a:p>
            <a:pPr>
              <a:defRPr sz="1300">
                <a:solidFill>
                  <a:srgbClr val="52606B"/>
                </a:solidFill>
              </a:defRPr>
            </a:pPr>
            <a:r>
              <a:t>Eager loading batching sebagai pola fundamental dalam data access layer.</a:t>
            </a:r>
          </a:p>
        </p:txBody>
      </p:sp>
      <p:sp>
        <p:nvSpPr>
          <p:cNvPr id="6" name="TextBox 5"/>
          <p:cNvSpPr txBox="1"/>
          <p:nvPr/>
        </p:nvSpPr>
        <p:spPr>
          <a:xfrm>
            <a:off x="731520" y="1828800"/>
            <a:ext cx="5120640" cy="3383280"/>
          </a:xfrm>
          <a:prstGeom prst="rect">
            <a:avLst/>
          </a:prstGeom>
          <a:noFill/>
        </p:spPr>
        <p:txBody>
          <a:bodyPr wrap="square">
            <a:spAutoFit/>
          </a:bodyPr>
          <a:lstStyle/>
          <a:p>
            <a:pPr>
              <a:defRPr sz="1200" b="1">
                <a:solidFill>
                  <a:srgbClr val="087F76"/>
                </a:solidFill>
              </a:defRPr>
            </a:pPr>
            <a:r>
              <a:t>PRINSIP UTAMA</a:t>
            </a:r>
          </a:p>
          <a:p>
            <a:pPr>
              <a:spcAft>
                <a:spcPts val="400"/>
              </a:spcAft>
              <a:defRPr sz="1200">
                <a:solidFill>
                  <a:srgbClr val="0B1B2D"/>
                </a:solidFill>
              </a:defRPr>
            </a:pPr>
            <a:r>
              <a:t>• Minimize database round-trips: batching &gt; sequential queries.</a:t>
            </a:r>
          </a:p>
          <a:p>
            <a:pPr>
              <a:spcAft>
                <a:spcPts val="400"/>
              </a:spcAft>
              <a:defRPr sz="1200">
                <a:solidFill>
                  <a:srgbClr val="0B1B2D"/>
                </a:solidFill>
              </a:defRPr>
            </a:pPr>
            <a:r>
              <a:t>• Measure before optimizing: query counter provides concrete evidence.</a:t>
            </a:r>
          </a:p>
          <a:p>
            <a:pPr>
              <a:spcAft>
                <a:spcPts val="400"/>
              </a:spcAft>
              <a:defRPr sz="1200">
                <a:solidFill>
                  <a:srgbClr val="0B1B2D"/>
                </a:solidFill>
              </a:defRPr>
            </a:pPr>
            <a:r>
              <a:t>• Trade memory for latency: accept higher memory usage for lower query count.</a:t>
            </a:r>
          </a:p>
          <a:p>
            <a:pPr>
              <a:spcAft>
                <a:spcPts val="400"/>
              </a:spcAft>
              <a:defRPr sz="1200">
                <a:solidFill>
                  <a:srgbClr val="0B1B2D"/>
                </a:solidFill>
              </a:defRPr>
            </a:pPr>
            <a:r>
              <a:t>• Prefer query-level over mapping-level: selective vs global eager loading.</a:t>
            </a:r>
          </a:p>
          <a:p>
            <a:pPr>
              <a:spcAft>
                <a:spcPts val="400"/>
              </a:spcAft>
              <a:defRPr sz="1200">
                <a:solidFill>
                  <a:srgbClr val="0B1B2D"/>
                </a:solidFill>
              </a:defRPr>
            </a:pPr>
            <a:r>
              <a:t>• Integrate into CI: automated query count tests prevent regressions.</a:t>
            </a:r>
          </a:p>
        </p:txBody>
      </p:sp>
      <p:sp>
        <p:nvSpPr>
          <p:cNvPr id="7" name="TextBox 6"/>
          <p:cNvSpPr txBox="1"/>
          <p:nvPr/>
        </p:nvSpPr>
        <p:spPr>
          <a:xfrm>
            <a:off x="6217920" y="1828800"/>
            <a:ext cx="5303520" cy="3383280"/>
          </a:xfrm>
          <a:prstGeom prst="rect">
            <a:avLst/>
          </a:prstGeom>
          <a:noFill/>
        </p:spPr>
        <p:txBody>
          <a:bodyPr wrap="square">
            <a:spAutoFit/>
          </a:bodyPr>
          <a:lstStyle/>
          <a:p>
            <a:pPr>
              <a:lnSpc>
                <a:spcPct val="135000"/>
              </a:lnSpc>
              <a:defRPr sz="1300">
                <a:solidFill>
                  <a:srgbClr val="0B1B2D"/>
                </a:solidFill>
              </a:defRPr>
            </a:pPr>
            <a:r>
              <a:t>Prinsip arsitektural jangka panjang untuk mengatasi N+1 query problem adalah mengadopsi batching sebagai pola fundamental dalam data access layer. Minimalisasi database round-trip melalui batching memberikan dampak performa yang lebih besar dibandingkan optimasi query individual. Pengukuran sebelum optimasi menggunakan query counter memberikan bukti kuantitatif yang dapat dipercaya. Pertukaran memory untuk latency adalah trade-off yang umumnya menguntungkan dalam sistem web modern.</a:t>
            </a:r>
          </a:p>
        </p:txBody>
      </p:sp>
      <p:sp>
        <p:nvSpPr>
          <p:cNvPr id="8" name="Rectangle 7"/>
          <p:cNvSpPr/>
          <p:nvPr/>
        </p:nvSpPr>
        <p:spPr>
          <a:xfrm>
            <a:off x="731520" y="5394960"/>
            <a:ext cx="10728655" cy="594360"/>
          </a:xfrm>
          <a:prstGeom prst="rect">
            <a:avLst/>
          </a:prstGeom>
          <a:solidFill>
            <a:srgbClr val="087F7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300" b="1">
                <a:solidFill>
                  <a:srgbClr val="FFFFFF"/>
                </a:solidFill>
              </a:defRPr>
            </a:pPr>
            <a:r>
              <a:t>Batching is fundamental; measure, trade memory for latency, integrate into CI.</a:t>
            </a:r>
          </a:p>
        </p:txBody>
      </p:sp>
      <p:sp>
        <p:nvSpPr>
          <p:cNvPr id="9" name="TextBox 8"/>
          <p:cNvSpPr txBox="1"/>
          <p:nvPr/>
        </p:nvSpPr>
        <p:spPr>
          <a:xfrm>
            <a:off x="731520" y="6263640"/>
            <a:ext cx="7315200" cy="320040"/>
          </a:xfrm>
          <a:prstGeom prst="rect">
            <a:avLst/>
          </a:prstGeom>
          <a:noFill/>
        </p:spPr>
        <p:txBody>
          <a:bodyPr wrap="none">
            <a:spAutoFit/>
          </a:bodyPr>
          <a:lstStyle/>
          <a:p>
            <a:pPr>
              <a:defRPr sz="1000">
                <a:solidFill>
                  <a:srgbClr val="52606B"/>
                </a:solidFill>
              </a:defRPr>
            </a:pPr>
            <a:r>
              <a:t>labs/22-n-plus-one-query-problem/content/05-key-takeaways.md</a:t>
            </a:r>
          </a:p>
        </p:txBody>
      </p:sp>
      <p:sp>
        <p:nvSpPr>
          <p:cNvPr id="10" name="TextBox 9"/>
          <p:cNvSpPr txBox="1"/>
          <p:nvPr/>
        </p:nvSpPr>
        <p:spPr>
          <a:xfrm>
            <a:off x="8686800" y="6263640"/>
            <a:ext cx="2743200" cy="320040"/>
          </a:xfrm>
          <a:prstGeom prst="rect">
            <a:avLst/>
          </a:prstGeom>
          <a:noFill/>
        </p:spPr>
        <p:txBody>
          <a:bodyPr wrap="none">
            <a:spAutoFit/>
          </a:bodyPr>
          <a:lstStyle/>
          <a:p>
            <a:pPr algn="r">
              <a:defRPr sz="1000" b="1">
                <a:solidFill>
                  <a:srgbClr val="52606B"/>
                </a:solidFill>
              </a:defRPr>
            </a:pPr>
            <a:r>
              <a:t>23 / 24</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1B2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728655" cy="365760"/>
          </a:xfrm>
          <a:prstGeom prst="rect">
            <a:avLst/>
          </a:prstGeom>
          <a:noFill/>
        </p:spPr>
        <p:txBody>
          <a:bodyPr wrap="none">
            <a:spAutoFit/>
          </a:bodyPr>
          <a:lstStyle/>
          <a:p>
            <a:pPr>
              <a:defRPr sz="1300" b="1">
                <a:solidFill>
                  <a:srgbClr val="087F76"/>
                </a:solidFill>
              </a:defRPr>
            </a:pPr>
            <a:r>
              <a:t>SOFTWARE ENGINEERING LAB | LAB 22</a:t>
            </a:r>
          </a:p>
        </p:txBody>
      </p:sp>
      <p:sp>
        <p:nvSpPr>
          <p:cNvPr id="4" name="TextBox 3"/>
          <p:cNvSpPr txBox="1"/>
          <p:nvPr/>
        </p:nvSpPr>
        <p:spPr>
          <a:xfrm>
            <a:off x="731520" y="731520"/>
            <a:ext cx="10728655" cy="731520"/>
          </a:xfrm>
          <a:prstGeom prst="rect">
            <a:avLst/>
          </a:prstGeom>
          <a:noFill/>
        </p:spPr>
        <p:txBody>
          <a:bodyPr wrap="none">
            <a:spAutoFit/>
          </a:bodyPr>
          <a:lstStyle/>
          <a:p>
            <a:pPr>
              <a:defRPr sz="2800" b="1">
                <a:solidFill>
                  <a:srgbClr val="FFFFFF"/>
                </a:solidFill>
              </a:defRPr>
            </a:pPr>
            <a:r>
              <a:t>Terima Kasih</a:t>
            </a:r>
          </a:p>
        </p:txBody>
      </p:sp>
      <p:sp>
        <p:nvSpPr>
          <p:cNvPr id="5" name="TextBox 4"/>
          <p:cNvSpPr txBox="1"/>
          <p:nvPr/>
        </p:nvSpPr>
        <p:spPr>
          <a:xfrm>
            <a:off x="731520" y="1463040"/>
            <a:ext cx="10728655" cy="731520"/>
          </a:xfrm>
          <a:prstGeom prst="rect">
            <a:avLst/>
          </a:prstGeom>
          <a:noFill/>
        </p:spPr>
        <p:txBody>
          <a:bodyPr wrap="square">
            <a:spAutoFit/>
          </a:bodyPr>
          <a:lstStyle/>
          <a:p>
            <a:pPr>
              <a:defRPr sz="1700" b="1">
                <a:solidFill>
                  <a:srgbClr val="38BDF8"/>
                </a:solidFill>
              </a:defRPr>
            </a:pPr>
            <a:r>
              <a:t>N+1 solved through measurement, batching, and automated verification.</a:t>
            </a:r>
          </a:p>
        </p:txBody>
      </p:sp>
      <p:sp>
        <p:nvSpPr>
          <p:cNvPr id="6" name="TextBox 5"/>
          <p:cNvSpPr txBox="1"/>
          <p:nvPr/>
        </p:nvSpPr>
        <p:spPr>
          <a:xfrm>
            <a:off x="731520" y="2377440"/>
            <a:ext cx="5120640" cy="3291840"/>
          </a:xfrm>
          <a:prstGeom prst="rect">
            <a:avLst/>
          </a:prstGeom>
          <a:noFill/>
        </p:spPr>
        <p:txBody>
          <a:bodyPr wrap="square">
            <a:spAutoFit/>
          </a:bodyPr>
          <a:lstStyle/>
          <a:p>
            <a:pPr>
              <a:defRPr sz="1400" b="1">
                <a:solidFill>
                  <a:srgbClr val="FFFFFF"/>
                </a:solidFill>
              </a:defRPr>
            </a:pPr>
            <a:r>
              <a:t>Software Engineering Lab 22 - N+1 Query Problem</a:t>
            </a:r>
          </a:p>
          <a:p>
            <a:pPr>
              <a:defRPr sz="1200">
                <a:solidFill>
                  <a:srgbClr val="CBD5E1"/>
                </a:solidFill>
              </a:defRPr>
            </a:pPr>
            <a:r>
              <a:t>https://github.com/lukman-ss/software-engineering-lab/tree/main/labs/22-n-plus-one-query-problem</a:t>
            </a:r>
          </a:p>
          <a:p>
            <a:br/>
            <a:pPr>
              <a:defRPr sz="1100" b="1">
                <a:solidFill>
                  <a:srgbClr val="20C997"/>
                </a:solidFill>
              </a:defRPr>
            </a:pPr>
            <a:r>
              <a:t>REPOSITORY</a:t>
            </a:r>
          </a:p>
          <a:p>
            <a:pPr>
              <a:defRPr sz="1100">
                <a:solidFill>
                  <a:srgbClr val="FFFFFF"/>
                </a:solidFill>
                <a:latin typeface="Courier New"/>
              </a:defRPr>
            </a:pPr>
            <a:r>
              <a:t>github.com/lukman-ss/software-engineering-lab/tree/main/labs/22-n-plus-one-query-problem</a:t>
            </a:r>
          </a:p>
        </p:txBody>
      </p:sp>
      <p:sp>
        <p:nvSpPr>
          <p:cNvPr id="7" name="TextBox 6"/>
          <p:cNvSpPr txBox="1"/>
          <p:nvPr/>
        </p:nvSpPr>
        <p:spPr>
          <a:xfrm>
            <a:off x="6217920" y="2377440"/>
            <a:ext cx="5120640" cy="3291840"/>
          </a:xfrm>
          <a:prstGeom prst="rect">
            <a:avLst/>
          </a:prstGeom>
          <a:noFill/>
        </p:spPr>
        <p:txBody>
          <a:bodyPr wrap="square">
            <a:spAutoFit/>
          </a:bodyPr>
          <a:lstStyle/>
          <a:p>
            <a:pPr>
              <a:defRPr sz="1600" b="1">
                <a:solidFill>
                  <a:srgbClr val="FFFFFF"/>
                </a:solidFill>
              </a:defRPr>
            </a:pPr>
            <a:r>
              <a:t>Lukman / lukman-ss</a:t>
            </a:r>
          </a:p>
          <a:p>
            <a:pPr>
              <a:defRPr sz="1200">
                <a:solidFill>
                  <a:srgbClr val="94A3B8"/>
                </a:solidFill>
              </a:defRPr>
            </a:pPr>
            <a:r>
              <a:t>Sumber: commit 13224b48</a:t>
            </a:r>
          </a:p>
          <a:p>
            <a:pPr>
              <a:defRPr sz="1200">
                <a:solidFill>
                  <a:srgbClr val="94A3B8"/>
                </a:solidFill>
              </a:defRPr>
            </a:pPr>
            <a:r>
              <a:t>Test passing dan diverifikasi (Race-Clean Go 1.22).</a:t>
            </a:r>
          </a:p>
          <a:p>
            <a:pPr>
              <a:defRPr sz="1200">
                <a:solidFill>
                  <a:srgbClr val="94A3B8"/>
                </a:solidFill>
              </a:defRPr>
            </a:pPr>
            <a:r>
              <a:t>Simulasi in-memory Store; membuktikan reduksi O(N) ke O(1).</a:t>
            </a:r>
          </a:p>
        </p:txBody>
      </p:sp>
      <p:sp>
        <p:nvSpPr>
          <p:cNvPr id="8" name="TextBox 7"/>
          <p:cNvSpPr txBox="1"/>
          <p:nvPr/>
        </p:nvSpPr>
        <p:spPr>
          <a:xfrm>
            <a:off x="731520" y="6309360"/>
            <a:ext cx="7315200" cy="365760"/>
          </a:xfrm>
          <a:prstGeom prst="rect">
            <a:avLst/>
          </a:prstGeom>
          <a:noFill/>
        </p:spPr>
        <p:txBody>
          <a:bodyPr wrap="none">
            <a:spAutoFit/>
          </a:bodyPr>
          <a:lstStyle/>
          <a:p>
            <a:pPr>
              <a:defRPr sz="1100">
                <a:solidFill>
                  <a:srgbClr val="64748B"/>
                </a:solidFill>
              </a:defRPr>
            </a:pPr>
            <a:r>
              <a:t>N+1 Query Problem • Software Engineering Lab</a:t>
            </a:r>
          </a:p>
        </p:txBody>
      </p:sp>
      <p:sp>
        <p:nvSpPr>
          <p:cNvPr id="9" name="TextBox 8"/>
          <p:cNvSpPr txBox="1"/>
          <p:nvPr/>
        </p:nvSpPr>
        <p:spPr>
          <a:xfrm>
            <a:off x="8686800" y="6309360"/>
            <a:ext cx="2743200" cy="365760"/>
          </a:xfrm>
          <a:prstGeom prst="rect">
            <a:avLst/>
          </a:prstGeom>
          <a:noFill/>
        </p:spPr>
        <p:txBody>
          <a:bodyPr wrap="none">
            <a:spAutoFit/>
          </a:bodyPr>
          <a:lstStyle/>
          <a:p>
            <a:pPr algn="r">
              <a:defRPr sz="1100" b="1">
                <a:solidFill>
                  <a:srgbClr val="64748B"/>
                </a:solidFill>
              </a:defRPr>
            </a:pPr>
            <a:r>
              <a:t>24 / 24</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