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Pengantar: Database connection pooling, server max_connections, dan mitigasi starvation. Pembuktian empiris via Go database/sql mock driver.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Motivasi: Masalah kehabisan koneksi dan kesalahan umum tim engineering saat menangani lonjakan beban.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Biaya Koneksi: Mengapa membuat koneksi baru untuk setiap request adalah anti-pattern performa.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Mental Model: Analogi meja restoran dan pemahaman bahwa kapasitas koneksi dibatasi oleh hardware database.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Saturation Knee: Penurunan performa akibat perebutan sumber daya internal database engine.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 Rumus Ukuran Pool: Formula dasar penghitungan ukuran pool dan batasan asumsi storage.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 Multiplikasi Pod: Menghitung total potensi koneksi lintas seluruh instance aplikasi yang terpasang.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 Desain Driver: Struktur MockDriver Go yang memodelkan batas kapasitas koneksi database.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9 Kode MockDriver: Logika penerimaan koneksi dan idempotensi pelepasan soket.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 Uji Overhead: Perbandingan latensi dan total koneksi yang dibuat antara unpooled vs pooled.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11 Uji Server Exhaustion: Bukti penolakan deterministik ketika pool klien melebihi kapasitas server.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12 Kebocoran Koneksi: Bahaya menahan koneksi database selama pemanggilan I/O jaringan eksternal.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13 Uji Starvasi: Pembuktian bahwa kebocoran pada satu handler melumpuhkan handler lain yang sehat.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14 Pola Aman: Implementasi pelepasan koneksi yang ketat dan isolasi pemanggilan I/O eksternal.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15 Pool-Locking Deadlock: Analisis kondisi deadlock saat satu thread meminjam lebih dari 1 koneksi.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16 Kebersihan Sumber Daya: Menjamin koneksi kembali bersih bahkan saat terjadi error atau pembatalan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17 Hasil Pengujian: Ringkasan hasil eksekusi pengujian otomatis dan status verifikasi kode.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18 Arsitektur Proxy: Pemanfaatan PgBouncer dan RDS Proxy untuk konsolidasi koneksi masif.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19 Batasan Proxy: Kompatibilitas fitur sesi database saat menerapkan mode pooling transaksi.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20 Observabilitas: Metrik kritis pada level pool untuk mendeteksi saturasi dan kebocoran.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21 Studi Kasus: Hasil demonstrasi pemangkasan ukuran pool dan efisiensi kontensi.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22 Anti-Patterns: Rekapitulasi jebakan desain arsitektur connection pool di lingkungan produksi.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23 Checklist Produksi: Standar operasional verifikasi sebelum sistem dirilis ke produksi.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24 Penutup: Ringkasan kesimpulan arsitektural, repositori GitHub, commit SHA, dan credits lukman-ss.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ab-19-database-connection-pooling-cover-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87F76"/>
                </a:solidFill>
              </a:defRPr>
            </a:pPr>
            <a:r>
              <a:t>SOFTWARE ENGINEERING LAB  |  LAB 19</a:t>
            </a:r>
          </a:p>
          <a:p>
            <a:pPr>
              <a:spcAft>
                <a:spcPts val="400"/>
              </a:spcAft>
              <a:defRPr sz="2800" b="1">
                <a:solidFill>
                  <a:srgbClr val="0B1B2D"/>
                </a:solidFill>
              </a:defRPr>
            </a:pPr>
            <a:r>
              <a:t>Masalah: Koneksi Habis di Beban Tinggi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Koneksi database bertumbukan saat aplikasi menerima lonjakan konkurensi.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MOTIVASI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Aplikasi sering kali crash dengan pesan 'FATAL: sorry, too many clients already' pada PostgreSQL. Respons spontan tim biasanya memperbesar pool aplikasi atau menaikkan max_connections server tanpa menyadari efek sampingnya.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39535" y="2011680"/>
            <a:ext cx="51206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22415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BATAS LAB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Lab ini membuktikan simulasi driver Go database/sql: membedakan perilaku pembukaan soket baru yang berbiaya mahal versus penggunaan kembali koneksi yang efisien.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212080"/>
            <a:ext cx="10728655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Connections are scarce backend processes, not disposable application threads.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README.md • internal/pool/mockdb.go                                                                                     02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87F76"/>
                </a:solidFill>
              </a:defRPr>
            </a:pPr>
            <a:r>
              <a:t>SOFTWARE ENGINEERING LAB  |  LAB 19</a:t>
            </a:r>
          </a:p>
          <a:p>
            <a:pPr>
              <a:spcAft>
                <a:spcPts val="400"/>
              </a:spcAft>
              <a:defRPr sz="2800" b="1">
                <a:solidFill>
                  <a:srgbClr val="0B1B2D"/>
                </a:solidFill>
              </a:defRPr>
            </a:pPr>
            <a:r>
              <a:t>Mengapa Koneksi Berbiaya Sangat Mahal?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Inisialisasi soket menuntut TCP handshake, TLS, dan proses worker server.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ANATOMI OVERHEAD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Membuka koneksi baru menuntut three-way TCP handshake, negosiasi TLS/SSL, otentikasi kredensial, dan inisialisasi alokasi RAM per proses worker di database engine.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39535" y="2011680"/>
            <a:ext cx="51206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22415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DAMPAK OPERASIONAL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Koneksi berumur pendek (&lt; 60 detik) membakar CPU database semata untuk membuka/memutus koneksi. Azure mencatat koneksi idle sekalipun tetap memakan kuota RAM.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212080"/>
            <a:ext cx="10728655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Every new connection pays an unavoidable network and memory initialization tax.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research/05-report.md • PostgreSQL Wiki                                                                                     03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87F76"/>
                </a:solidFill>
              </a:defRPr>
            </a:pPr>
            <a:r>
              <a:t>SOFTWARE ENGINEERING LAB  |  LAB 19</a:t>
            </a:r>
          </a:p>
          <a:p>
            <a:pPr>
              <a:spcAft>
                <a:spcPts val="400"/>
              </a:spcAft>
              <a:defRPr sz="2800" b="1">
                <a:solidFill>
                  <a:srgbClr val="0B1B2D"/>
                </a:solidFill>
              </a:defRPr>
            </a:pPr>
            <a:r>
              <a:t>Mental Model: Meja Restoran &amp; Dapur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Kapasitas throughput ditentukan oleh dapur, bukan banyaknya kursi meja.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ANALOGI SISTEM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Koneksi database ibarat meja di restoran. Menambah meja melebihi kapasitas dapur tidak menambah makanan yang dimasak, melainkan hanya memperpanjang antrean dan waktu tunggu.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39535" y="2011680"/>
            <a:ext cx="51206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22415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PRINSIP HARDWARE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Kapasitas ditentukan oleh batas core CPU dan I/O disk server database, bukan oleh jumlah goroutine atau thread pemanggil di lapisan aplikasi klien.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212080"/>
            <a:ext cx="10728655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Throughput is bounded by database hardware, not by client thread counts.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content/01-content-brief.md • HikariCP Wiki                                                                                     04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87F76"/>
                </a:solidFill>
              </a:defRPr>
            </a:pPr>
            <a:r>
              <a:t>SOFTWARE ENGINEERING LAB  |  LAB 19</a:t>
            </a:r>
          </a:p>
          <a:p>
            <a:pPr>
              <a:spcAft>
                <a:spcPts val="400"/>
              </a:spcAft>
              <a:defRPr sz="2800" b="1">
                <a:solidFill>
                  <a:srgbClr val="0B1B2D"/>
                </a:solidFill>
              </a:defRPr>
            </a:pPr>
            <a:r>
              <a:t>Kurva Kejenuhan (Saturation Knee)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Melewati titik jenuh membuat throughput anjlok drastis akibat kontensi.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MEKANISME KONTENSI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PostgreSQL Wiki merinci 6 biang keladi degradasi: disk contention, tekanan RAM (work_mem x koneksi), lock contention, context switching CPU, cache bouncing, dan O(N²) scaling.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39535" y="2011680"/>
            <a:ext cx="51206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22415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TEMUAN PENELITIAN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Pertanyaan arsitektural yang benar bukan 'sebesar apa pool yang aman?', melainkan 'sekecil apa pool yang masih sanggup melayani kebutuhan throughput aplikasi?'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212080"/>
            <a:ext cx="10728655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Beyond the saturation point, adding connections degrades total system throughput.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research/03-evidence.md • PostgreSQL Wiki                                                                                     05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87F76"/>
                </a:solidFill>
              </a:defRPr>
            </a:pPr>
            <a:r>
              <a:t>SOFTWARE ENGINEERING LAB  |  LAB 19</a:t>
            </a:r>
          </a:p>
          <a:p>
            <a:pPr>
              <a:spcAft>
                <a:spcPts val="400"/>
              </a:spcAft>
              <a:defRPr sz="2800" b="1">
                <a:solidFill>
                  <a:srgbClr val="0B1B2D"/>
                </a:solidFill>
              </a:defRPr>
            </a:pPr>
            <a:r>
              <a:t>Formula Kapasitas: Core &amp; Spindle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Titik awal penentuan ukuran pool berbasis hardware menurut PostgreSQL &amp; HikariCP.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FORMULA EMPIRIS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connections = ((core_count * 2) + effective_spindle_count). Server 4-core dengan 1 disk menghasilkan 9-10 koneksi optimal untuk memaksimalkan throughput CPU tanpa thrashing.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39535" y="2011680"/>
            <a:ext cx="51206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22415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BATASAN REALISTIS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Formula ini divalidasi pada era HDD. Pada NVMe SSD modern, formula ini tetap menjadi acuan baseline awal yang wajib divalidasi lewat pengujian beban terukur.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212080"/>
            <a:ext cx="10728655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Start sizing from hardware limits: ((cores * 2) + spindles), then load-test.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research/02-sources.md • HikariCP Sizing                                                                                     06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87F76"/>
                </a:solidFill>
              </a:defRPr>
            </a:pPr>
            <a:r>
              <a:t>SOFTWARE ENGINEERING LAB  |  LAB 19</a:t>
            </a:r>
          </a:p>
          <a:p>
            <a:pPr>
              <a:spcAft>
                <a:spcPts val="400"/>
              </a:spcAft>
              <a:defRPr sz="2800" b="1">
                <a:solidFill>
                  <a:srgbClr val="0B1B2D"/>
                </a:solidFill>
              </a:defRPr>
            </a:pPr>
            <a:r>
              <a:t>Multiplikasi Multi-Instance Pod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Ukuran pool harus dihitung pada skala deployment agregat, bukan per pod.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MATEMATIKA DEPLOYMENT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Total koneksi = Jumlah Replica Pod x Ukuran Pool per Pod. 4 pod microservice x 50 koneksi = 200 koneksi serentak ke single primary database.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39535" y="2011680"/>
            <a:ext cx="51206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22415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RISIKO EXHAUSTION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Jika server database disetel max_connections = 100, lonjakan trafik otomatis menyebabkan separuh pod gagal terkoneksi dan memicu cascading service failure.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212080"/>
            <a:ext cx="10728655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Always calculate total connection demand across the entire distributed cluster.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content/02-master-draft.md • Production Considerations                                                                                     07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87F76"/>
                </a:solidFill>
              </a:defRPr>
            </a:pPr>
            <a:r>
              <a:t>SOFTWARE ENGINEERING LAB  |  LAB 19</a:t>
            </a:r>
          </a:p>
          <a:p>
            <a:pPr>
              <a:spcAft>
                <a:spcPts val="400"/>
              </a:spcAft>
              <a:defRPr sz="2800" b="1">
                <a:solidFill>
                  <a:srgbClr val="0B1B2D"/>
                </a:solidFill>
              </a:defRPr>
            </a:pPr>
            <a:r>
              <a:t>Arsitektur Lab: In-Memory Mock Driver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Mensimulasikan handshake latency dan kapasitas server secara deterministik.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KOMPONEN DRIVER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internal/pool/mockdb.go menerapkan database/sql/driver. Driver mengelola atomic activeConns, batas maxConnections, dan jeda inisialisasi connectDelay.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39535" y="2011680"/>
            <a:ext cx="51206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22415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MANFAAT SIMULASI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Menghilangkan dependensi eksternal PostgreSQL, memungkinkan assertions deterministik pada kondisi overloaded, starvation, dan context cancellation di unit test.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212080"/>
            <a:ext cx="10728655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Deterministic driver simulation enables reliable isolation of failure modes.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internal/pool/mockdb.go • engineering/01-design.md                                                                                     08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87F76"/>
                </a:solidFill>
              </a:defRPr>
            </a:pPr>
            <a:r>
              <a:t>SOFTWARE ENGINEERING LAB  |  LAB 19</a:t>
            </a:r>
          </a:p>
          <a:p>
            <a:pPr>
              <a:spcAft>
                <a:spcPts val="400"/>
              </a:spcAft>
              <a:defRPr sz="2800" b="1">
                <a:solidFill>
                  <a:srgbClr val="0B1B2D"/>
                </a:solidFill>
              </a:defRPr>
            </a:pPr>
            <a:r>
              <a:t>Implementasi: MockDriver &amp; mockConn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Pelacakan atomic counters dan perlindungan penutupan soket ganda.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LOGIKA PENERIMAAN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MockDriver.Open mengecek kuota: jika activeConns &gt;= maxConnections, kembalikan ErrServerOverloaded. Jika aman, naikkan activeConns dan totalCreated.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39535" y="2011680"/>
            <a:ext cx="51206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22415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IDEMPOTENSI CLOSE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mockConn.Close dilindungi mutex dan flag closed bool. Penutupan ganda dijamin idempoten tanpa memicu kepanikan double-decrement counter (TestMockConnDoubleClose).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212080"/>
            <a:ext cx="10728655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Safe resource tracking requires strictly idempotent connection release mechanisms.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internal/pool/mockdb.go • MockDriver Implementation                                                                                     09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87F76"/>
                </a:solidFill>
              </a:defRPr>
            </a:pPr>
            <a:r>
              <a:t>SOFTWARE ENGINEERING LAB  |  LAB 19</a:t>
            </a:r>
          </a:p>
          <a:p>
            <a:pPr>
              <a:spcAft>
                <a:spcPts val="400"/>
              </a:spcAft>
              <a:defRPr sz="2800" b="1">
                <a:solidFill>
                  <a:srgbClr val="0B1B2D"/>
                </a:solidFill>
              </a:defRPr>
            </a:pPr>
            <a:r>
              <a:t>Uji 1: Overhead Pooled vs Unpooled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Pembuktian empiris efisiensi penggunaan kembali soket terbuka di Go.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KODE &amp; PENGATURAN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SetMaxIdleConns(0) memaksa pemutusan koneksi pasca-eksekusi (unpooled). SetMaxIdleConns(5) mempertahankan koneksi terbuka di pool untuk dipakai ulang.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39535" y="2011680"/>
            <a:ext cx="51206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22415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HASIL VERIFIKASI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TestDirectConnectionOverhead membuktikan pooled puluhan kali lebih cepat. Pada demo CLI: unpooled (5 req) memakan 54.59ms, sedangkan pooled selesai dalam 6.33µs.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212080"/>
            <a:ext cx="10728655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Connection pooling eliminates the repetitive handshake penalty across requests.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tests/pool_test.go • TestDirectConnectionOverhead                                                                                     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87F76"/>
                </a:solidFill>
              </a:defRPr>
            </a:pPr>
            <a:r>
              <a:t>SOFTWARE ENGINEERING LAB  |  LAB 19</a:t>
            </a:r>
          </a:p>
          <a:p>
            <a:pPr>
              <a:spcAft>
                <a:spcPts val="400"/>
              </a:spcAft>
              <a:defRPr sz="2800" b="1">
                <a:solidFill>
                  <a:srgbClr val="0B1B2D"/>
                </a:solidFill>
              </a:defRPr>
            </a:pPr>
            <a:r>
              <a:t>Uji 2: Server Exhaustion Rejection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Ketika alokasi pool klien melampaui batas keras kapasitas server.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SKENARIO UJI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Server disetel max 10 koneksi, namun klien mengizinkan pool membuka 20 koneksi (db.SetMaxOpenConns(20)). 20 goroutine mengeksekusi kueri serentak.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39535" y="2011680"/>
            <a:ext cx="51206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22415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BUKTI ASSERTION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TestOversizedPoolExhaustsServerConnections menegaskan minimal 10 request ditolak dengan ErrServerOverloaded. Klien tidak bisa memaksakan koneksi yang ditolak server.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212080"/>
            <a:ext cx="10728655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An oversized client pool inevitably crashes against hard database server limits.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tests/pool_test.go • TestOversizedPoolExhaustsServerConnections                                                                                     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87F76"/>
                </a:solidFill>
              </a:defRPr>
            </a:pPr>
            <a:r>
              <a:t>SOFTWARE ENGINEERING LAB  |  LAB 19</a:t>
            </a:r>
          </a:p>
          <a:p>
            <a:pPr>
              <a:spcAft>
                <a:spcPts val="400"/>
              </a:spcAft>
              <a:defRPr sz="2800" b="1">
                <a:solidFill>
                  <a:srgbClr val="0B1B2D"/>
                </a:solidFill>
              </a:defRPr>
            </a:pPr>
            <a:r>
              <a:t>Anatomi Kebocoran: Menahan Koneksi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Penyebab nomor satu starvasi koneksi pada sistem backend monolitik &amp; mikroservis.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ANTI-PATTERN KODE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ProcessOrderUnsafeLeak meminjam koneksi database, menjalankan UPDATE, lalu memanggil externalCall() lambat (HTTP API 100ms) sebelum melepaskan koneksi.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39535" y="2011680"/>
            <a:ext cx="51206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22415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DAMPAK STARVASI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Selama pemanggilan I/O jaringan berlangsung, soket database terkunci pasif. Koneksi tidak melayani kueri apa pun namun tidak dapat digunakan goroutine lain.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212080"/>
            <a:ext cx="10728655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Never hold a database connection while waiting for network I/O or external APIs.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internal/pool/service.go • ProcessOrderUnsafeLeak                                                                                     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87F76"/>
                </a:solidFill>
              </a:defRPr>
            </a:pPr>
            <a:r>
              <a:t>SOFTWARE ENGINEERING LAB  |  LAB 19</a:t>
            </a:r>
          </a:p>
          <a:p>
            <a:pPr>
              <a:spcAft>
                <a:spcPts val="400"/>
              </a:spcAft>
              <a:defRPr sz="2800" b="1">
                <a:solidFill>
                  <a:srgbClr val="0B1B2D"/>
                </a:solidFill>
              </a:defRPr>
            </a:pPr>
            <a:r>
              <a:t>Uji 3: Starvasi Pool Akibat Leak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Satu kode bocor menghancurkan seluruh antrean request sehat di aplikasi.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SKENARIO ISOLASI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Pool disetel size = 1. Request pertama menjalankan ProcessOrderUnsafeLeak dengan jeda 100ms. Request kedua memanggil ProcessOrderSafe yang bersih dengan timeout 30ms.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39535" y="2011680"/>
            <a:ext cx="51206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22415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TEMUAN FATAL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TestConnectionStarvationDueToLeak membuktikan request kedua gagal dengan context.DeadlineExceeded. Request sehat ikut mati akibat koneksi tertahan di request lain.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212080"/>
            <a:ext cx="10728655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 single leaky handler creates cascading starvation across independent endpoints.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tests/pool_test.go • TestConnectionStarvationDueToLeak                                                                                     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87F76"/>
                </a:solidFill>
              </a:defRPr>
            </a:pPr>
            <a:r>
              <a:t>SOFTWARE ENGINEERING LAB  |  LAB 19</a:t>
            </a:r>
          </a:p>
          <a:p>
            <a:pPr>
              <a:spcAft>
                <a:spcPts val="400"/>
              </a:spcAft>
              <a:defRPr sz="2800" b="1">
                <a:solidFill>
                  <a:srgbClr val="0B1B2D"/>
                </a:solidFill>
              </a:defRPr>
            </a:pPr>
            <a:r>
              <a:t>Pola Aman: Pisahkan I/O Eksternal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Selesaikan seluruh panggilan jaringan eksternal sebelum meminjam koneksi database.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REFAKTORING BERSIH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ProcessOrderSafe mengeksekusi externalCall() terlebih dahulu. Baru setelah I/O sukses, fungsi meminjam koneksi database secara singkat dan melepasnya via defer.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39535" y="2011680"/>
            <a:ext cx="51206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22415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VERIFIKASI KONKURENSI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TestSafeProcessingConcurrently menguji 20 request konkuren pada pool berukuran 5. Seluruh 20 request sukses tuntas tanpa satupun mengalami timeout atau error.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212080"/>
            <a:ext cx="10728655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Borrow connections at the last possible moment, release them immediately.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internal/pool/service.go • ProcessOrderSafe                                                                                     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87F76"/>
                </a:solidFill>
              </a:defRPr>
            </a:pPr>
            <a:r>
              <a:t>SOFTWARE ENGINEERING LAB  |  LAB 19</a:t>
            </a:r>
          </a:p>
          <a:p>
            <a:pPr>
              <a:spcAft>
                <a:spcPts val="400"/>
              </a:spcAft>
              <a:defRPr sz="2800" b="1">
                <a:solidFill>
                  <a:srgbClr val="0B1B2D"/>
                </a:solidFill>
              </a:defRPr>
            </a:pPr>
            <a:r>
              <a:t>Uji 4: Deadlock via Pool-Locking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Kebuntuan fatal saat satu alur kerja menuntut banyak koneksi sekaligus.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MEKANISME DEADLOCK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Goroutine memegang conn1 lalu meminta conn2 pada pool berukuran 1. Karena pool kosong, permintaan conn2 memblokir hingga timeout tanpa pernah melepas conn1.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39535" y="2011680"/>
            <a:ext cx="51206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22415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FORMULA PENCEGAHAN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pool_size = Tn * (Cm - 1) + 1. Di mana Tn = jumlah thread maksimum, Cm = koneksi maksimum per thread. TestPoolLockingDeadlock mengonfirmasi timeout deterministik.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212080"/>
            <a:ext cx="10728655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Multi-connection workflows require explicit lower-bound pool sizing formulas.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tests/pool_test.go • TestPoolLockingDeadlock                                                                                     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87F76"/>
                </a:solidFill>
              </a:defRPr>
            </a:pPr>
            <a:r>
              <a:t>SOFTWARE ENGINEERING LAB  |  LAB 19</a:t>
            </a:r>
          </a:p>
          <a:p>
            <a:pPr>
              <a:spcAft>
                <a:spcPts val="400"/>
              </a:spcAft>
              <a:defRPr sz="2800" b="1">
                <a:solidFill>
                  <a:srgbClr val="0B1B2D"/>
                </a:solidFill>
              </a:defRPr>
            </a:pPr>
            <a:r>
              <a:t>Propagasi Error &amp; Idempotensi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Koneksi harus dijamin kembali ke pool bahkan saat eksekusi query gagal.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ERROR PROPAGATION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TestExternalCallErrorPropagation memverifikasi saat externalCall menghasilkan error, galat diteruskan utuh ke pemanggil dan activeConns kembali tepat ke 0.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39535" y="2011680"/>
            <a:ext cx="51206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22415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PRE-CANCELLED CONTEXT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TestPreCancelledContextProcessOrderSafe membuktikan jika context sudah dibatalkan sejak awal, query langsung ditolak tanpa sempat membakar slot koneksi pool.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212080"/>
            <a:ext cx="10728655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Guaranteed defer cleanup prevents resource leaks even during abrupt error returns.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tests/pool_test.go • TestExternalCallErrorPropagation                                                                                     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87F76"/>
                </a:solidFill>
              </a:defRPr>
            </a:pPr>
            <a:r>
              <a:t>SOFTWARE ENGINEERING LAB  |  LAB 19</a:t>
            </a:r>
          </a:p>
          <a:p>
            <a:pPr>
              <a:spcAft>
                <a:spcPts val="400"/>
              </a:spcAft>
              <a:defRPr sz="2800" b="1">
                <a:solidFill>
                  <a:srgbClr val="0B1B2D"/>
                </a:solidFill>
              </a:defRPr>
            </a:pPr>
            <a:r>
              <a:t>Matriks Pengujian Otomatis Lab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Sepuluh pengujian lulus sempurna tanpa data race (10/10 PASS).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CAKUPAN UJI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DirectOverhead (0.03s), OversizedPool (0.02s), StarvationDueToLeak (0.02s), SafeConcurrently (0.01s), PoolLockingDeadlock (0.05s), MockConnDoubleClose (0.00s).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39535" y="2011680"/>
            <a:ext cx="51206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22415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HASIL VERIFIKASI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ErrorPropagation, PreCancelledContext, UnsafeLeakExecFailure, dan TotalCreatedPoolReuse lulus 100% di bawah go test -race tanpa race condition.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212080"/>
            <a:ext cx="10728655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Every single failure mode is verified by an automated regression test assertion.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tests/pool_test.go • Automated Test Suite                                                                                     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87F76"/>
                </a:solidFill>
              </a:defRPr>
            </a:pPr>
            <a:r>
              <a:t>SOFTWARE ENGINEERING LAB  |  LAB 19</a:t>
            </a:r>
          </a:p>
          <a:p>
            <a:pPr>
              <a:spcAft>
                <a:spcPts val="400"/>
              </a:spcAft>
              <a:defRPr sz="2800" b="1">
                <a:solidFill>
                  <a:srgbClr val="0B1B2D"/>
                </a:solidFill>
              </a:defRPr>
            </a:pPr>
            <a:r>
              <a:t>Solusi Skala Besar: Pooling Proxies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Multiplexing ribuan koneksi aplikasi menjadi puluhan koneksi database riil.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PERAN PGBOUNCER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PgBouncer dalam Transaction Mode mengembalikan koneksi server ke pool segera setelah transaksi commit/rollback selesai, memangkas kebutuhan koneksi hingga 90%.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39535" y="2011680"/>
            <a:ext cx="51206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22415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AWS RDS PROXY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Mengelola pooling terpusat di tingkat infrastruktur cloud, menjaga kestabilan backend database saat aplikasi mengalami auto-scaling ratusan instance mendadak.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212080"/>
            <a:ext cx="10728655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Connection proxies bridge high application concurrency with strict database limits.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research/05-report.md • Cloud Proxy Architectures                                                                                     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87F76"/>
                </a:solidFill>
              </a:defRPr>
            </a:pPr>
            <a:r>
              <a:t>SOFTWARE ENGINEERING LAB  |  LAB 19</a:t>
            </a:r>
          </a:p>
          <a:p>
            <a:pPr>
              <a:spcAft>
                <a:spcPts val="400"/>
              </a:spcAft>
              <a:defRPr sz="2800" b="1">
                <a:solidFill>
                  <a:srgbClr val="0B1B2D"/>
                </a:solidFill>
              </a:defRPr>
            </a:pPr>
            <a:r>
              <a:t>Caveats Mode Proxy &amp; Fitur Sesi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Transaction pooling melarang beberapa fitur status sesi pada PostgreSQL.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FITUR YANG RUSAK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Transaction mode memutus: SET/RESET sesi variabel, LISTEN/NOTIFY, WITH HOLD CURSOR, PREPARE/DEALLOCATE, temporary tables, dan advisory locks level sesi.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39535" y="2011680"/>
            <a:ext cx="51206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22415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REKOMENDASI AUDIT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Sebelum beralih ke mode pooling transaksi PgBouncer, audit seluruh ORM dan query aplikasi untuk memastikan tidak ada ketergantungan pada status sesi lokal.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212080"/>
            <a:ext cx="10728655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Transaction pooling optimizes scale but disables session-level database features.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content/02-master-draft.md • PgBouncer Caveats                                                                                     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87F76"/>
                </a:solidFill>
              </a:defRPr>
            </a:pPr>
            <a:r>
              <a:t>SOFTWARE ENGINEERING LAB  |  LAB 19</a:t>
            </a:r>
          </a:p>
          <a:p>
            <a:pPr>
              <a:spcAft>
                <a:spcPts val="400"/>
              </a:spcAft>
              <a:defRPr sz="2800" b="1">
                <a:solidFill>
                  <a:srgbClr val="0B1B2D"/>
                </a:solidFill>
              </a:defRPr>
            </a:pPr>
            <a:r>
              <a:t>Metrik Observabilitas: Pantau Pool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Jangan hanya memantau CPU server; amati metrik antrean internal pool.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METRIK KUNCI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1. Connection Wait Time (waktu antre meminjam soket). 2. In-use vs Idle Connections ratio. 3. Query timeout count. 4. Status pg_stat_activity 'idle in transaction'.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39535" y="2011680"/>
            <a:ext cx="51206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22415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GEJALA TERSEMBUNYI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Kebocoran koneksi kerap memperlihatkan CPU dan RAM database yang sangat rendah dan tenang, sementara aplikasi di sisi pengguna mengalami timeout total.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212080"/>
            <a:ext cx="10728655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Monitor connection wait times and pool saturation, not just server CPU usage.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research/05-report.md • Observability Metrics                                                                                     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87F76"/>
                </a:solidFill>
              </a:defRPr>
            </a:pPr>
            <a:r>
              <a:t>SOFTWARE ENGINEERING LAB  |  LAB 19</a:t>
            </a:r>
          </a:p>
          <a:p>
            <a:pPr>
              <a:spcAft>
                <a:spcPts val="400"/>
              </a:spcAft>
              <a:defRPr sz="2800" b="1">
                <a:solidFill>
                  <a:srgbClr val="0B1B2D"/>
                </a:solidFill>
              </a:defRPr>
            </a:pPr>
            <a:r>
              <a:t>Studi Kasus Oracle: 2048 ke 96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Memangkas 95% ukuran pool justru mendongkrak performa lebih dari 50x lipat.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EXPERIMENT FINDING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Oracle Real-World Performance group mendemonstrasikan penurunan koneksi dari 2048 ke 96 memangkas latensi kueri dari ~100ms menjadi ~2ms dengan throughput naik.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39535" y="2011680"/>
            <a:ext cx="51206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22415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STATUS BUKTI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Status bukti: MEDIUM (demonstrasi vendor). Namun prinsip dasarnya sejalan dengan analisis PostgreSQL wiki: eliminasi kontensi CPU menghasilkan throughput bersih.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212080"/>
            <a:ext cx="10728655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Fewer concurrent connections yield dramatically lower context switching and latency.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research/03-evidence.md • Oracle Real-World Performance                                                                                     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87F76"/>
                </a:solidFill>
              </a:defRPr>
            </a:pPr>
            <a:r>
              <a:t>SOFTWARE ENGINEERING LAB  |  LAB 19</a:t>
            </a:r>
          </a:p>
          <a:p>
            <a:pPr>
              <a:spcAft>
                <a:spcPts val="400"/>
              </a:spcAft>
              <a:defRPr sz="2800" b="1">
                <a:solidFill>
                  <a:srgbClr val="0B1B2D"/>
                </a:solidFill>
              </a:defRPr>
            </a:pPr>
            <a:r>
              <a:t>Anti-Patterns &amp; Kesalahan Umum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Tujuh kebiasaan keliru yang memperparah krisis koneksi di lingkungan produksi.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KESALAHAN KONFIGURASI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1. Membesarkan pool saat koneksi error. 2. Menghitung pool per pod tanpa mengalikan replika. 3. Mengira koneksi idle gratis tanpa alokasi memori RAM.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39535" y="2011680"/>
            <a:ext cx="51206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22415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KESALAHAN KODE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4. Memanggil HTTP API pihak ketiga di dalam blok transaksi aktif. 5. Tidak menyetel context timeout. 6. Mengabaikan kuota reserved superuser slots.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212080"/>
            <a:ext cx="10728655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Never treat database connection pool expansion as a quick fix for latency problems.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content/02-master-draft.md • Common Mistakes                                                                                     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87F76"/>
                </a:solidFill>
              </a:defRPr>
            </a:pPr>
            <a:r>
              <a:t>SOFTWARE ENGINEERING LAB  |  LAB 19</a:t>
            </a:r>
          </a:p>
          <a:p>
            <a:pPr>
              <a:spcAft>
                <a:spcPts val="400"/>
              </a:spcAft>
              <a:defRPr sz="2800" b="1">
                <a:solidFill>
                  <a:srgbClr val="0B1B2D"/>
                </a:solidFill>
              </a:defRPr>
            </a:pPr>
            <a:r>
              <a:t>Checklist Rilis Rekayasa Sistem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Daftar periksa verifikasi arsitektur sebelum menggelar layanan ke produksi.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CHECKLIST KONEKSI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[ ] Total (pods x pool_size) &lt; max_connections server dikurangi slot reserved.</a:t>
            </a:r>
            <a:br/>
            <a:r>
              <a:t>[ ] Bebas pemanggilan I/O eksternal di dalam blok pemegang koneksi.</a:t>
            </a:r>
            <a:br/>
            <a:r>
              <a:t>[ ] Defer conn.Close() terpasang konsisten di seluruh branching error.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39535" y="2011680"/>
            <a:ext cx="51206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22415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CHECKLIST MONITORING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[ ] Context timeout disematkan pada seluruh akuisisi &amp; kueri.</a:t>
            </a:r>
            <a:br/>
            <a:r>
              <a:t>[ ] Alerting aktif pada Connection Wait Time dan pool saturation.</a:t>
            </a:r>
            <a:br/>
            <a:r>
              <a:t>[ ] Ukuran pool divalidasi via load testing empiris berbasis beban nyata.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212080"/>
            <a:ext cx="10728655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Architectural discipline and strict connection hygiene guarantee production stability.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content/02-master-draft.md • Production Checklist                                                                                     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2895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87F76"/>
                </a:solidFill>
              </a:defRPr>
            </a:pPr>
            <a:r>
              <a:t>SOFTWARE ENGINEERING LAB | LAB 19</a:t>
            </a:r>
          </a:p>
          <a:p>
            <a:pPr>
              <a:spcAft>
                <a:spcPts val="1000"/>
              </a:spcAft>
              <a:defRPr sz="3200" b="1">
                <a:solidFill>
                  <a:srgbClr val="FFFFFF"/>
                </a:solidFill>
              </a:defRPr>
            </a:pPr>
            <a:r>
              <a:t>Keep Pools Lean, Multiplex at Scale, Prevent Leaks.</a:t>
            </a:r>
          </a:p>
          <a:p>
            <a:pPr>
              <a:spcAft>
                <a:spcPts val="2800"/>
              </a:spcAft>
              <a:defRPr sz="1600">
                <a:solidFill>
                  <a:srgbClr val="94A3B8"/>
                </a:solidFill>
              </a:defRPr>
            </a:pPr>
            <a:r>
              <a:t>Database connection capacity is bounded by hardware resources, not by application thread concurrency. Never hold database connections during external network I/O.</a:t>
            </a:r>
          </a:p>
          <a:p>
            <a:pPr>
              <a:lnSpc>
                <a:spcPct val="140000"/>
              </a:lnSpc>
              <a:spcAft>
                <a:spcPts val="3200"/>
              </a:spcAft>
              <a:defRPr sz="1400">
                <a:solidFill>
                  <a:srgbClr val="E2E8F0"/>
                </a:solidFill>
              </a:defRPr>
            </a:pPr>
            <a:r>
              <a:t>• Verifikasi Otomatis: 10/10 PASS (go test -race ./tests/...)</a:t>
            </a:r>
            <a:br/>
            <a:r>
              <a:t>• Kunci Arsitektur: Isolasi I/O eksternal, formula ((cores*2)+spindles), PgBouncer proxying</a:t>
            </a:r>
            <a:br/>
            <a:r>
              <a:t>• Repositori: github.com/lukman-ss/software-engineering-lab/tree/main/labs/19-database-connection-pooling</a:t>
            </a:r>
            <a:br/>
            <a:r>
              <a:t>• Komitmen Terverifikasi: ed2fe192cf5794f4430348df73e174611246be0e</a:t>
            </a:r>
          </a:p>
          <a:p>
            <a:pPr>
              <a:defRPr sz="1500" b="1">
                <a:solidFill>
                  <a:srgbClr val="D97706"/>
                </a:solidFill>
              </a:defRPr>
            </a:pPr>
            <a:r>
              <a:t>Karya: Lukman / lukman-ss  •  Software Engineering Lab Seri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