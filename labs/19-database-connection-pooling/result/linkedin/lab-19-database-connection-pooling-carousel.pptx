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Database Connection Pooling</a:t>
            </a:r>
          </a:p>
          <a:p/>
          <a:p>
            <a:r>
              <a:t>Mental Model: Database connections are scarce server-side slots governed by hardware limits rather than client goroutine counts.</a:t>
            </a:r>
          </a:p>
          <a:p/>
          <a:p>
            <a:r>
              <a:t>[]</a:t>
            </a:r>
          </a:p>
          <a:p>
            <a:r>
              <a:t>- Retro Terminal Visualizing Pool Sizing, Server Saturation Knee &amp; Leak Hazards</a:t>
            </a:r>
          </a:p>
          <a:p>
            <a:r>
              <a:t>- Simulasi database/sql/driver di Go: Handshake Overhead, Server Exhaustion, dan Starvation</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Error Koneksi Meledak Saat Metrik CPU Database Normal</a:t>
            </a:r>
          </a:p>
          <a:p/>
          <a:p>
            <a:r>
              <a:t>Mental Model: Connection limits represent hard operating system socket and memory slots rather than raw processing power.</a:t>
            </a:r>
          </a:p>
          <a:p/>
          <a:p>
            <a:r>
              <a:t>[PARADOKS KEGAGALAN KONEKSI BASIS DATA]</a:t>
            </a:r>
          </a:p>
          <a:p>
            <a:r>
              <a:t>- Penolakan Slot Keras: PostgreSQL melempar galat FATAL: too many clients saat slot max_connections terisi penuh.</a:t>
            </a:r>
          </a:p>
          <a:p>
            <a:r>
              <a:t>- Bukan Berarti Rusak: Galat koneksi bukan berarti server kehabisan komputasi CPU, melainkan alokasi slot backend habis.</a:t>
            </a:r>
          </a:p>
          <a:p>
            <a:r>
              <a:t>- Refleks Salah Tim: Menaikkan ukuran pool secara membabi buta justru memperparah kontensi lock dan memicu degradasi.</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Pendekatan Naif Membuka Koneksi Per-Request Menghancurkan Latensi</a:t>
            </a:r>
          </a:p>
          <a:p/>
          <a:p>
            <a:r>
              <a:t>Mental Model: Direct connection creation incurs recurring network handshakes and expensive OS process allocation penalties.</a:t>
            </a:r>
          </a:p>
          <a:p/>
          <a:p>
            <a:r>
              <a:t>[TITIK RUNTUH KONEKSI TANPA POOLING]</a:t>
            </a:r>
          </a:p>
          <a:p>
            <a:r>
              <a:t>- Overhead Berulang: Setiap koneksi menuntut negosiasi TCP 3-way handshake, TLS exchange, serta autentikasi peran.</a:t>
            </a:r>
          </a:p>
          <a:p>
            <a:r>
              <a:t>- Tekanan Backend: Database wajib membuat proses backend baru dan mengalokasikan work_mem untuk tiap request.</a:t>
            </a:r>
          </a:p>
          <a:p>
            <a:r>
              <a:t>- Tidak Otomatis Cepat: Membuka koneksi baru tidak otomatis menyelesaikan beban; antrean pembuatan soket memperlambat IO.</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Model Mental Restoran: Sizing Ditentukan Hardware Backend</a:t>
            </a:r>
          </a:p>
          <a:p/>
          <a:p>
            <a:r>
              <a:t>Mental Model: Size connection pools to match backend hardware concurrency constraints rather than client request volume.</a:t>
            </a:r>
          </a:p>
          <a:p/>
          <a:p>
            <a:r>
              <a:t>[ANATOMI SIZING DAN SATURASI KONEKSI]</a:t>
            </a:r>
          </a:p>
          <a:p>
            <a:r>
              <a:t>- 1. Inti Komputasi (Hardware CPU): Koneksi konkuren efektif dibatasi core fisik; rumus ((core * 2) + spindle) jadi acuan awal.</a:t>
            </a:r>
          </a:p>
          <a:p>
            <a:r>
              <a:t>- 2. Client Pool (sql.DB Semaphore): Mengatur antrean peminjam koneksi lokal; mencegah goroutine menyerbu database serentak.</a:t>
            </a:r>
          </a:p>
          <a:p>
            <a:r>
              <a:t>- 3. Saturation Knee (Degradasi Kurva): Melewati titik jenuh, throughput anjlok drastis akibat context switching dan lock contention.</a:t>
            </a:r>
          </a:p>
          <a:p>
            <a:r>
              <a:t>- 4. Steady State (Ukuran Minimal): Hanya pada jalur ini pool berukuran ringkas menghasilkan throughput optimal dan stabil.</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Siklus Hidup Peminjaman: Pinjam, Eksekusi, dan Kembalikan</a:t>
            </a:r>
          </a:p>
          <a:p/>
          <a:p>
            <a:r>
              <a:t>Mental Model: Connections must be borrowed for minimal durations and returned immediately to maintain pool liquidity.</a:t>
            </a:r>
          </a:p>
          <a:p/>
          <a:p>
            <a:r>
              <a:t>[ALUR PEMINJAMAN KONEKSI DALAM SQL.DB]</a:t>
            </a:r>
          </a:p>
          <a:p>
            <a:r>
              <a:t>- 1. Request Conn (Acquire Token): Worker meminta koneksi aktif via pool.Conn(ctx); mengambil idle atau membuat baru.</a:t>
            </a:r>
          </a:p>
          <a:p>
            <a:r>
              <a:t>- 2. Bounded Query (Execute Work): Query dieksekusi secara singkat tanpa operasi I/O eksternal di dalam siklus penguncian.</a:t>
            </a:r>
          </a:p>
          <a:p>
            <a:r>
              <a:t>- 3. Immediate Return (defer conn.Close()): Koneksi dikembalikan ke daftar idle pool; siap dipakai ulang oleh worker berikutnya.</a:t>
            </a:r>
          </a:p>
          <a:p>
            <a:r>
              <a:t>- 4. Proxy Layer (PgBouncer): Proxy menerjemahkan ribuan pool aplikasi; lab belum membuktikan multi-node proxy riil.</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Pola Eksekusi Bersih: Isolasi I/O Eksternal dari Koneksi</a:t>
            </a:r>
          </a:p>
          <a:p/>
          <a:p>
            <a:r>
              <a:t>Mental Model: Acquire database connections at the absolute latest moment and release them at the earliest opportunity.</a:t>
            </a:r>
          </a:p>
          <a:p/>
          <a:p>
            <a:r>
              <a:t>[internal/pool/service.go]</a:t>
            </a:r>
          </a:p>
          <a:p>
            <a:r>
              <a:t>- func (s *OrderService) ProcessOrderSafe(ctx context.Context, orderID int, externalCall func() error) error {</a:t>
            </a:r>
          </a:p>
          <a:p>
            <a:r>
              <a:t>-     if externalCall != nil {</a:t>
            </a:r>
          </a:p>
          <a:p>
            <a:r>
              <a:t>-         if err := externalCall(); err != nil { return err }</a:t>
            </a:r>
          </a:p>
          <a:p>
            <a:r>
              <a:t>-     }</a:t>
            </a:r>
          </a:p>
          <a:p>
            <a:r>
              <a:t>-     conn, err := s.db.Conn(ctx)</a:t>
            </a:r>
          </a:p>
          <a:p>
            <a:r>
              <a:t>-     if err != nil { return err }</a:t>
            </a:r>
          </a:p>
          <a:p>
            <a:r>
              <a:t>-     defer conn.Close()</a:t>
            </a:r>
          </a:p>
          <a:p>
            <a:r>
              <a:t>-     _, err = conn.ExecContext(ctx, "UPDATE orders SET status = 'completed' WHERE id = ?", orderID)</a:t>
            </a:r>
          </a:p>
          <a:p>
            <a:r>
              <a:t>-     return err</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Kronologi Kebocoran Koneksi yang Memicu Starvation</a:t>
            </a:r>
          </a:p>
          <a:p/>
          <a:p>
            <a:r>
              <a:t>Mental Model: Holding shared connection slots during slow external I/O creates systemic pool starvation for healthy requests.</a:t>
            </a:r>
          </a:p>
          <a:p/>
          <a:p>
            <a:r>
              <a:t>[ALUR KEGAGALAN AKIBAT KONEKSI TERTOMBAK]</a:t>
            </a:r>
          </a:p>
          <a:p>
            <a:r>
              <a:t>- Langkah 1: Tahan Soket: Worker A meminjam koneksi, menjalankan UPDATE, lalu memanggil API lambat tanpa melepas soket.</a:t>
            </a:r>
          </a:p>
          <a:p>
            <a:r>
              <a:t>- Langkah 2: Pool Kritis: Semua slot pool terisi oleh worker yang menanti respons jaringan pihak ketiga (500ms).</a:t>
            </a:r>
          </a:p>
          <a:p>
            <a:r>
              <a:t>- Langkah 3: Antrean Tercekat: Worker B yang memiliki kode benar mencoba meminjam koneksi namun masuk antrean tunggu.</a:t>
            </a:r>
          </a:p>
          <a:p>
            <a:r>
              <a:t>- Langkah 4: Context Timeout: Hanya pada jalur ini Worker B gugur dengan galat Deadline Exceeded akibat pool starvation.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Matriks Diagnostik: Patologi Koneksi Basis Data</a:t>
            </a:r>
          </a:p>
          <a:p/>
          <a:p>
            <a:r>
              <a:t>Mental Model: Diagnose connection anomalies by correlating application pool wait times against database backend slot usage.</a:t>
            </a:r>
          </a:p>
          <a:p/>
          <a:p>
            <a:r>
              <a:t>[PERBANDINGAN ANOMALI MANAJEMEN KONEKSI]</a:t>
            </a:r>
          </a:p>
          <a:p>
            <a:r>
              <a:t>- Dimensi Masalah | Unpooled (No Reuse) | Oversized Pool | Connection Leak (Starvation)</a:t>
            </a:r>
          </a:p>
          <a:p>
            <a:r>
              <a:t>- Mekanisme Akar | SetMaxIdleConns(0) tutup koneksi | Client pool &gt; server limit | Koneksi ditahan saat I/O eksternal</a:t>
            </a:r>
          </a:p>
          <a:p>
            <a:r>
              <a:t>- Gejala di Server | CPU spike akibat handshake TCP | Error: too many clients | CPU database terlihat normal/idle</a:t>
            </a:r>
          </a:p>
          <a:p>
            <a:r>
              <a:t>- Dampak Latensi | Latensi baseline tinggi di p99 | Antrean lock &amp; context switch | Lonjakan waktu tunggu akuisisi pool</a:t>
            </a:r>
          </a:p>
          <a:p>
            <a:r>
              <a:t>- Manifestasi Error | Koneksi gagal di lonjakan tinggi | ErrServerOverloaded / PG 53300 | Context Deadline Exceeded pada klien</a:t>
            </a:r>
          </a:p>
          <a:p>
            <a:r>
              <a:t>- Mitigasi Utama | Aktifkan idle pool reuse | Hitung sizing total deployment | Isolasi I/O &amp; leakDetectionThreshold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Tiga Prinsip Esensial Penentuan Ukuran Pool</a:t>
            </a:r>
          </a:p>
          <a:p/>
          <a:p>
            <a:r>
              <a:t>Mental Model: Enforce deployment-wide connection limits and validate core-based sizing formulas through empirical stress tests.</a:t>
            </a:r>
          </a:p>
          <a:p/>
          <a:p>
            <a:r>
              <a:t>[PANDUAN PENETAPAN SIZING KONEKSI]</a:t>
            </a:r>
          </a:p>
          <a:p>
            <a:r>
              <a:t>- 1. Hitung Skala Global: Total koneksi = (jumlah instance × pool size); wajib di bawah max_connections database.</a:t>
            </a:r>
          </a:p>
          <a:p>
            <a:r>
              <a:t>- 2. Sisihkan Slot Cadangan: Kurangi minimal 15 koneksi untuk superuser, replikasi fisik, dan monitoring sistem.</a:t>
            </a:r>
          </a:p>
          <a:p>
            <a:r>
              <a:t>- 3. Formula Titik Awal: Gunakan ((core * 2) + disk); bukan berarti angka mutlak, melainkan basis uji beban.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Verifikasi Eksekusi: Test Suite dan CLI Demo Lolos Bersih</a:t>
            </a:r>
          </a:p>
          <a:p/>
          <a:p>
            <a:r>
              <a:t>Mental Model: Deterministic mock testing provides empirical verification of connection lifecycle bottlenecks and exhaustion limits.</a:t>
            </a:r>
          </a:p>
          <a:p/>
          <a:p>
            <a:r>
              <a:t>[TERMINAL OUTPUT: go test -v -race ./... &amp;&amp; go run ./cmd/demo]</a:t>
            </a:r>
          </a:p>
          <a:p>
            <a:r>
              <a:t>- === RUN   TestDirectConnectionOverhead</a:t>
            </a:r>
          </a:p>
          <a:p>
            <a:r>
              <a:t>- --- PASS: TestDirectConnectionOverhead (0.03s) [pooled faster than unpooled]</a:t>
            </a:r>
          </a:p>
          <a:p>
            <a:r>
              <a:t>- === RUN   TestOversizedPoolExhaustsServerConnections</a:t>
            </a:r>
          </a:p>
          <a:p>
            <a:r>
              <a:t>- --- PASS: TestOversizedPoolExhaustsServerConnections (0.02s) [10 rejected]</a:t>
            </a:r>
          </a:p>
          <a:p>
            <a:r>
              <a:t>- === RUN   TestConnectionStarvationDueToLeak</a:t>
            </a:r>
          </a:p>
          <a:p>
            <a:r>
              <a:t>- --- PASS: TestConnectionStarvationDueToLeak (0.02s) [deadline exceeded]</a:t>
            </a:r>
          </a:p>
          <a:p>
            <a:r>
              <a:t>- === RUN   TestTotalCreatedPoolReuse</a:t>
            </a:r>
          </a:p>
          <a:p>
            <a:r>
              <a:t>- --- PASS: TestTotalCreatedPoolReuse (0.00s) [reuse verified: 1 vs 5]</a:t>
            </a:r>
          </a:p>
          <a:p>
            <a:r>
              <a:t>- PASS: ok  labs/19-database-connection-pooling/tests  1.328s (race clean)</a:t>
            </a:r>
          </a:p>
          <a:p>
            <a:r>
              <a:t>- 1. Unpooled: 54.59ms vs Pooled: 6.33µs</a:t>
            </a:r>
          </a:p>
          <a:p>
            <a:r>
              <a:t>- 2. Oversized Pool: Attempted 30, Succeeded 15, Server Rejected 15</a:t>
            </a:r>
          </a:p>
          <a:p>
            <a:r>
              <a:t>- 3. Starvation: Order 3 Failed: context deadline exceeded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Batasan Bukti Lab: Yang Dibuktikan vs Belum</a:t>
            </a:r>
          </a:p>
          <a:p/>
          <a:p>
            <a:r>
              <a:t>Mental Model: Distinguish application connection pool queuing from internal database engine process and memory management.</a:t>
            </a:r>
          </a:p>
          <a:p/>
          <a:p>
            <a:r>
              <a:t>[BATAS PEMBUKTIAN SISTEM LAB 19]</a:t>
            </a:r>
          </a:p>
          <a:p>
            <a:r>
              <a:t>- YANG DIBUKTIKAN: Overhead koneksi baru, penolakan slot server, pool starvation, dan penanganan double close.</a:t>
            </a:r>
          </a:p>
          <a:p>
            <a:r>
              <a:t>- YANG TIDAK DIBUKTIKAN: Alokasi work_mem per backend, lock contention engine, OOM PostgreSQL, dan TCP keepalive.</a:t>
            </a:r>
          </a:p>
          <a:p>
            <a:r>
              <a:t>- BATAS KLAIM EMPIRIS: Lab belum membuktikan efektivitas formula core pada NVMe SSD modern berkecepatan tinggi.</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Kompromi Rekayasa: Pool Kecil vs Pool Besar</a:t>
            </a:r>
          </a:p>
          <a:p/>
          <a:p>
            <a:r>
              <a:t>Mental Model: Trade client-side acquisition latency for backend stability by maintaining compact connection pools.</a:t>
            </a:r>
          </a:p>
          <a:p/>
          <a:p>
            <a:r>
              <a:t>[ANALISIS PERBANDINGAN TRADE-OFF]</a:t>
            </a:r>
          </a:p>
          <a:p>
            <a:r>
              <a:t>- Pool Kecil: Protektif: Database beroperasi prima tanpa kejenuhan; request yang meluap wajib sabar mengantre di aplikasi.</a:t>
            </a:r>
          </a:p>
          <a:p>
            <a:r>
              <a:t>- Pool Besar: Ilusi Konkurensi: Menampung lonjakan sesaat, namun memicu kontensi lock parah dan risiko kehabisan RAM.</a:t>
            </a:r>
          </a:p>
          <a:p>
            <a:r>
              <a:t>- Tidak Otomatis Aman: Memperbesar pool tidak otomatis menaikkan throughput bila kapasitas eksekusi disk database jenuh.</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Mekanisme Pengendali Koneksi Menggunakan Atomic Counter</a:t>
            </a:r>
          </a:p>
          <a:p/>
          <a:p>
            <a:r>
              <a:t>Mental Model: Atomic tracking of active socket handles enforces deterministic connection bounds across concurrent goroutines.</a:t>
            </a:r>
          </a:p>
          <a:p/>
          <a:p>
            <a:r>
              <a:t>[internal/pool/mockdb.go]</a:t>
            </a:r>
          </a:p>
          <a:p>
            <a:r>
              <a:t>- func (d *MockDriver) Open(name string) (driver.Conn, error) {</a:t>
            </a:r>
          </a:p>
          <a:p>
            <a:r>
              <a:t>-     if d.connectDelay &gt; 0 { time.Sleep(d.connectDelay) }</a:t>
            </a:r>
          </a:p>
          <a:p>
            <a:r>
              <a:t>-     d.mu.Lock()</a:t>
            </a:r>
          </a:p>
          <a:p>
            <a:r>
              <a:t>-     defer d.mu.Unlock()</a:t>
            </a:r>
          </a:p>
          <a:p>
            <a:r>
              <a:t>-     if d.maxConnections &gt; 0 &amp;&amp; atomic.LoadInt32(&amp;d.activeConns) &gt;= d.maxConnections {</a:t>
            </a:r>
          </a:p>
          <a:p>
            <a:r>
              <a:t>-         return nil, ErrServerOverloaded</a:t>
            </a:r>
          </a:p>
          <a:p>
            <a:r>
              <a:t>-     }</a:t>
            </a:r>
          </a:p>
          <a:p>
            <a:r>
              <a:t>-     atomic.AddInt32(&amp;d.activeConns, 1)</a:t>
            </a:r>
          </a:p>
          <a:p>
            <a:r>
              <a:t>-     atomic.AddInt32(&amp;d.totalCreated, 1)</a:t>
            </a:r>
          </a:p>
          <a:p>
            <a:r>
              <a:t>-     return &amp;mockConn{driver: d},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Transformasi: Dari Koneksi Bocor ke Eksekusi Terisolasi</a:t>
            </a:r>
          </a:p>
          <a:p/>
          <a:p>
            <a:r>
              <a:t>Mental Model: Isolate slow I/O boundaries outside database connection scopes to preserve shared pool availability.</a:t>
            </a:r>
          </a:p>
          <a:p/>
          <a:p>
            <a:r>
              <a:t>[KOMPARASI KONDISI EKSEKUSI LAYANAN]</a:t>
            </a:r>
          </a:p>
          <a:p>
            <a:r>
              <a:t>- Sebelum: Tahan Sembrono: Koneksi dipinjam sebelum API pihak ketiga dipanggil; soket tersandera selama ratusan milidetik.</a:t>
            </a:r>
          </a:p>
          <a:p>
            <a:r>
              <a:t>- Sesudah: Peminjaman Sempit: API eksternal diselesaikan lebih dulu; koneksi hanya dipinjam selama mikrosekon eksekusi SQL.</a:t>
            </a:r>
          </a:p>
          <a:p>
            <a:r>
              <a:t>- Bukan Berarti Lambat: Memecah alur bukan berarti memperlambat kode; pool terbebas dari ancaman kelaparan sistemik.</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Anatomi Kode Berbahaya: Menyandera Koneksi Saat I/O Lambat</a:t>
            </a:r>
          </a:p>
          <a:p/>
          <a:p>
            <a:r>
              <a:t>Mental Model: Holding open connections across unbounded network boundaries creates artificial throughput bottlenecks.</a:t>
            </a:r>
          </a:p>
          <a:p/>
          <a:p>
            <a:r>
              <a:t>[internal/pool/service.go]</a:t>
            </a:r>
          </a:p>
          <a:p>
            <a:r>
              <a:t>- func (s *OrderService) ProcessOrderUnsafeLeak(ctx context.Context, orderID int, externalCall func() error) error {</a:t>
            </a:r>
          </a:p>
          <a:p>
            <a:r>
              <a:t>-     conn, err := s.db.Conn(ctx)</a:t>
            </a:r>
          </a:p>
          <a:p>
            <a:r>
              <a:t>-     if err != nil { return err }</a:t>
            </a:r>
          </a:p>
          <a:p>
            <a:r>
              <a:t>-     defer conn.Close()</a:t>
            </a:r>
          </a:p>
          <a:p>
            <a:r>
              <a:t>-     _, err = conn.ExecContext(ctx, "UPDATE orders SET status = 'processing' WHERE id = ?", orderID)</a:t>
            </a:r>
          </a:p>
          <a:p>
            <a:r>
              <a:t>-     if err != nil { return err }</a:t>
            </a:r>
          </a:p>
          <a:p>
            <a:r>
              <a:t>-     if externalCall != nil {</a:t>
            </a:r>
          </a:p>
          <a:p>
            <a:r>
              <a:t>-         if err := externalCall(); err != nil { return err }</a:t>
            </a:r>
          </a:p>
          <a:p>
            <a:r>
              <a:t>-     }</a:t>
            </a:r>
          </a:p>
          <a:p>
            <a:r>
              <a:t>-     return nil</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Verifikasi Test: Membuktikan Penalti Pembuatan Koneksi Langsung</a:t>
            </a:r>
          </a:p>
          <a:p/>
          <a:p>
            <a:r>
              <a:t>Mental Model: Reusing warm connection handles bypasses socket setup latencies, ensuring microsecond query dispatch.</a:t>
            </a:r>
          </a:p>
          <a:p/>
          <a:p>
            <a:r>
              <a:t>[tests/pool_test.go]</a:t>
            </a:r>
          </a:p>
          <a:p>
            <a:r>
              <a:t>- func TestDirectConnectionOverhead(t *testing.T) {</a:t>
            </a:r>
          </a:p>
          <a:p>
            <a:r>
              <a:t>-     mockDriver := pool.NewMockDriver(100, 5*time.Millisecond)</a:t>
            </a:r>
          </a:p>
          <a:p>
            <a:r>
              <a:t>-     unpooledDB := pool.OpenDB(mockDriver)</a:t>
            </a:r>
          </a:p>
          <a:p>
            <a:r>
              <a:t>-     unpooledDB.SetMaxIdleConns(0) // Memaksa pembukaan koneksi baru setiap kali</a:t>
            </a:r>
          </a:p>
          <a:p>
            <a:r>
              <a:t>-     // Eksekusi 5 query unpooled menghasilkan akumulasi delay 25ms+</a:t>
            </a:r>
          </a:p>
          <a:p>
            <a:r>
              <a:t>-     pooledDB := pool.OpenDB(mockDriver)</a:t>
            </a:r>
          </a:p>
          <a:p>
            <a:r>
              <a:t>-     pooledDB.SetMaxIdleConns(5)</a:t>
            </a:r>
          </a:p>
          <a:p>
            <a:r>
              <a:t>-     pooledDB.SetMaxOpenConns(5)</a:t>
            </a:r>
          </a:p>
          <a:p>
            <a:r>
              <a:t>-     // Eksekusi 5 query pooled memakai ulang koneksi idle yang sama</a:t>
            </a:r>
          </a:p>
          <a:p>
            <a:r>
              <a:t>-     if pooledDuration &gt;= unpooledDuration { t.Errorf("expected pooled to be faster")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Verifikasi Test: Pool Terlalu Besar Menghabiskan Kapasitas Server</a:t>
            </a:r>
          </a:p>
          <a:p/>
          <a:p>
            <a:r>
              <a:t>Mental Model: Oversized client pools inevitably trigger server-side connection exhaustion rejections under load.</a:t>
            </a:r>
          </a:p>
          <a:p/>
          <a:p>
            <a:r>
              <a:t>[tests/pool_test.go]</a:t>
            </a:r>
          </a:p>
          <a:p>
            <a:r>
              <a:t>- func TestOversizedPoolExhaustsServerConnections(t *testing.T) {</a:t>
            </a:r>
          </a:p>
          <a:p>
            <a:r>
              <a:t>-     mockDriver := pool.NewMockDriver(10, 0) // Server hanya izinkan 10 slot</a:t>
            </a:r>
          </a:p>
          <a:p>
            <a:r>
              <a:t>-     db := pool.OpenDB(mockDriver)</a:t>
            </a:r>
          </a:p>
          <a:p>
            <a:r>
              <a:t>-     db.SetMaxOpenConns(20) // Klien salah konfigurasi dengan pool 20</a:t>
            </a:r>
          </a:p>
          <a:p>
            <a:r>
              <a:t>-     // 20 goroutine meminta koneksi secara bersamaan</a:t>
            </a:r>
          </a:p>
          <a:p>
            <a:r>
              <a:t>-     wg.Wait()</a:t>
            </a:r>
          </a:p>
          <a:p>
            <a:r>
              <a:t>-     if errCount &lt; 10 {</a:t>
            </a:r>
          </a:p>
          <a:p>
            <a:r>
              <a:t>-         t.Errorf("expected at least 10 connection attempts to fail, got %d", errCount)</a:t>
            </a:r>
          </a:p>
          <a:p>
            <a:r>
              <a:t>-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Verifikasi Test: Kebocoran Satu Worker Melumpuhkan Worker Lain</a:t>
            </a:r>
          </a:p>
          <a:p/>
          <a:p>
            <a:r>
              <a:t>Mental Model: Unreleased connection handles monopolize shared pools, causing collateral starvation for valid requests.</a:t>
            </a:r>
          </a:p>
          <a:p/>
          <a:p>
            <a:r>
              <a:t>[tests/pool_test.go]</a:t>
            </a:r>
          </a:p>
          <a:p>
            <a:r>
              <a:t>- func TestConnectionStarvationDueToLeak(t *testing.T) {</a:t>
            </a:r>
          </a:p>
          <a:p>
            <a:r>
              <a:t>-     db.SetMaxOpenConns(1) // Pool ketat berukuran 1 koneksi</a:t>
            </a:r>
          </a:p>
          <a:p>
            <a:r>
              <a:t>-     go func() {</a:t>
            </a:r>
          </a:p>
          <a:p>
            <a:r>
              <a:t>-         _ = svc.ProcessOrderUnsafeLeak(ctx, 1, func() error {</a:t>
            </a:r>
          </a:p>
          <a:p>
            <a:r>
              <a:t>-             close(acquired); time.Sleep(100 * time.Millisecond); return nil</a:t>
            </a:r>
          </a:p>
          <a:p>
            <a:r>
              <a:t>-         })</a:t>
            </a:r>
          </a:p>
          <a:p>
            <a:r>
              <a:t>-     }()</a:t>
            </a:r>
          </a:p>
          <a:p>
            <a:r>
              <a:t>-     &lt;-acquired</a:t>
            </a:r>
          </a:p>
          <a:p>
            <a:r>
              <a:t>-     ctx, cancel := context.WithTimeout(ctx, 20*time.Millisecond)</a:t>
            </a:r>
          </a:p>
          <a:p>
            <a:r>
              <a:t>-     defer cancel()</a:t>
            </a:r>
          </a:p>
          <a:p>
            <a:r>
              <a:t>-     err := svc.ProcessOrderSafe(ctx, 2, nil) // Gagal timeout 20ms</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Verifikasi Test: Bahaya Deadlock Akuisisi Koneksi Bersarang</a:t>
            </a:r>
          </a:p>
          <a:p/>
          <a:p>
            <a:r>
              <a:t>Mental Model: Nested connection acquisition without sufficient pool headroom results in deterministic thread self-deadlock.</a:t>
            </a:r>
          </a:p>
          <a:p/>
          <a:p>
            <a:r>
              <a:t>[tests/pool_test.go]</a:t>
            </a:r>
          </a:p>
          <a:p>
            <a:r>
              <a:t>- func TestPoolLockingDeadlock(t *testing.T) {</a:t>
            </a:r>
          </a:p>
          <a:p>
            <a:r>
              <a:t>-     db.SetMaxOpenConns(1) // Pool berukuran 1</a:t>
            </a:r>
          </a:p>
          <a:p>
            <a:r>
              <a:t>-     ctx, cancel := context.WithTimeout(context.Background(), 50*time.Millisecond)</a:t>
            </a:r>
          </a:p>
          <a:p>
            <a:r>
              <a:t>-     defer cancel()</a:t>
            </a:r>
          </a:p>
          <a:p>
            <a:r>
              <a:t>-     conn1, err := db.Conn(ctx)</a:t>
            </a:r>
          </a:p>
          <a:p>
            <a:r>
              <a:t>-     if err != nil { t.Fatalf("failed to acquire first: %v", err) }</a:t>
            </a:r>
          </a:p>
          <a:p>
            <a:r>
              <a:t>-     defer conn1.Close()</a:t>
            </a:r>
          </a:p>
          <a:p>
            <a:r>
              <a:t>-     _, err = db.Conn(ctx) // Meminta koneksi kedua pada pool yang sama!</a:t>
            </a:r>
          </a:p>
          <a:p>
            <a:r>
              <a:t>-     if err == nil { t.Fatalf("expected context deadline exceeded, got nil") }</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Checklist Manajemen Koneksi di Lingkungan Produksi</a:t>
            </a:r>
          </a:p>
          <a:p/>
          <a:p>
            <a:r>
              <a:t>Mental Model: Enforce strict operational standards across connection sizing, lifecycle scoping, and timeout boundaries.</a:t>
            </a:r>
          </a:p>
          <a:p/>
          <a:p>
            <a:r>
              <a:t>[STANDAR REKAYASA KONEKSI BASIS DATA]</a:t>
            </a:r>
          </a:p>
          <a:p>
            <a:r>
              <a:t>- Hitung total armada: (instance_count x pool_size) wajib lebih kecil dari max_connections.</a:t>
            </a:r>
          </a:p>
          <a:p>
            <a:r>
              <a:t>- Sisihkan 15 slot koneksi untuk maintenance, superuser, dan physical replication.</a:t>
            </a:r>
          </a:p>
          <a:p>
            <a:r>
              <a:t>- Pastikan tidak ada panggilan I/O jaringan atau komputasi file di dalam blok koneksi.</a:t>
            </a:r>
          </a:p>
          <a:p>
            <a:r>
              <a:t>- Gunakan defer conn.Close() atau helper sql.DB tingkat tinggi pada setiap percabangan.</a:t>
            </a:r>
          </a:p>
          <a:p>
            <a:r>
              <a:t>- Pasang context timeout ketat pada setiap peminjaman soket dan eksekusi query SQL.</a:t>
            </a:r>
          </a:p>
          <a:p>
            <a:r>
              <a:t>- Aktifkan leak detection threshold (HikariCP / wrapper) untuk menangkap stack trace leak.</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Anti-Pattern Umum dalam Arsitektur Connection Pool</a:t>
            </a:r>
          </a:p>
          <a:p/>
          <a:p>
            <a:r>
              <a:t>Mental Model: Avoid reactive pool enlargement and account for cumulative connection costs across container replicas.</a:t>
            </a:r>
          </a:p>
          <a:p/>
          <a:p>
            <a:r>
              <a:t>[POLA BERBAHAYA YANG HARUS DIHINDARI]</a:t>
            </a:r>
          </a:p>
          <a:p>
            <a:r>
              <a:t>- Naikkan Pool Saat Error: Merespons error koneksi dengan memperbesar pool; memperparah CPU thrashing dan lock contention.</a:t>
            </a:r>
          </a:p>
          <a:p>
            <a:r>
              <a:t>- Sizing Per-Instance: Menghitung pool secara lokal tanpa mengalikan jumlah replica pod pada orkestrasi Kubernetes.</a:t>
            </a:r>
          </a:p>
          <a:p>
            <a:r>
              <a:t>- Bukan Berarti Gratis: Menganggap koneksi idle gratis bukan berarti tanpa beban; RAM backend tetap terkuras permanen.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Reproduksi Mandiri di Mesin Lokal Menggunakan Go</a:t>
            </a:r>
          </a:p>
          <a:p/>
          <a:p>
            <a:r>
              <a:t>Mental Model: Self-contained standard library harnesses enable rapid, zero-dependency validation of connection architectures.</a:t>
            </a:r>
          </a:p>
          <a:p/>
          <a:p>
            <a:r>
              <a:t>[COMMAND RUNNER (ZERO DEPENDENCIES)]</a:t>
            </a:r>
          </a:p>
          <a:p>
            <a:r>
              <a:t>- cd labs/19-database-connection-pooling</a:t>
            </a:r>
          </a:p>
          <a:p>
            <a:r>
              <a:t>- go test -v ./...    # menjalankan 10 test suite verifikasi overhead, limit, dan leak</a:t>
            </a:r>
          </a:p>
          <a:p>
            <a:r>
              <a:t>- go test -race ./... # pembuktian sinkronisasi konkurensi bersih tanpa data race</a:t>
            </a:r>
          </a:p>
          <a:p>
            <a:r>
              <a:t>- go run ./cmd/demo   # eksekusi demonstrasi interaktif skenario 1, 2, dan 3</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Prinsip Inti: Pool Lebih Kecil, Sistem Lebih Cepat</a:t>
            </a:r>
          </a:p>
          <a:p/>
          <a:p>
            <a:r>
              <a:t>Mental Model: Resilient architectures maintain compact connection pools, isolate external I/O, and scale via proxies.</a:t>
            </a:r>
          </a:p>
          <a:p/>
          <a:p>
            <a:r>
              <a:t>[TIGA PILAR KETAHANAN KONEKSI SISTEM]</a:t>
            </a:r>
          </a:p>
          <a:p>
            <a:r>
              <a:t>- Batas Sizing Konservatif: Jadikan kapasitas hardware sebagai batas atas; batasi antrean di aplikasi alih-alih di database.</a:t>
            </a:r>
          </a:p>
          <a:p>
            <a:r>
              <a:t>- Isolasi I/O Ketat: Keluarkan seluruh panggilan eksternal dari penahanan koneksi; pinjam hanya saat query siap.</a:t>
            </a:r>
          </a:p>
          <a:p>
            <a:r>
              <a:t>- Skalabilitas Horizontal: Tidak otomatis menaikkan slot; gunakan proxy pooling transaksi untuk ribuan klien.</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Koneksi database adalah sumber daya terbatas backend, bukan variabel yang bisa diperbesar tanpa batas.</a:t>
            </a:r>
          </a:p>
          <a:p/>
          <a:p>
            <a:r>
              <a:t>Mental Model: Database connections are finite physical resources that demand strict lifecycle governance and proxy mediation.</a:t>
            </a:r>
          </a:p>
          <a:p/>
          <a:p>
            <a:r>
              <a:t>[MODUL IMPLEMENTASI]</a:t>
            </a:r>
          </a:p>
          <a:p>
            <a:r>
              <a:t>- internal/pool/mockdb.go • internal/pool/service.go</a:t>
            </a:r>
          </a:p>
          <a:p>
            <a:r>
              <a:t>- cmd/demo/main.go • tests/pool_test.go</a:t>
            </a:r>
          </a:p>
          <a:p>
            <a:r>
              <a:t>- engineering/01-design.md • content/02-master-draft.md</a:t>
            </a:r>
          </a:p>
          <a:p>
            <a:r>
              <a:t>[VERIFIKASI &amp; STATUS]</a:t>
            </a:r>
          </a:p>
          <a:p>
            <a:r>
              <a:t>- Commit: b2d3274 • Status: APPROVED</a:t>
            </a:r>
          </a:p>
          <a:p>
            <a:r>
              <a:t>- Test passing: 10/10 test suites (Overhead, Oversized, Starvation, Deadlock, Reuse)</a:t>
            </a:r>
          </a:p>
          <a:p>
            <a:r>
              <a:t>- Race detector: Clean (go test -race ./... PASS in 1.328s)</a:t>
            </a:r>
          </a:p>
          <a:p>
            <a:r>
              <a:t>- Zero external dependencies: 100% Go standard library.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19</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Database Connection Pooling</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Overhead Handshake, Batas Server, dan Bahaya Kebocoran Koneksi di Go</a:t>
            </a:r>
          </a:p>
        </p:txBody>
      </p:sp>
      <p:sp>
        <p:nvSpPr>
          <p:cNvPr id="6" name="TextBox 5"/>
          <p:cNvSpPr txBox="1"/>
          <p:nvPr/>
        </p:nvSpPr>
        <p:spPr>
          <a:xfrm>
            <a:off x="914400" y="5303520"/>
            <a:ext cx="5486400" cy="548640"/>
          </a:xfrm>
          <a:prstGeom prst="rect">
            <a:avLst/>
          </a:prstGeom>
          <a:noFill/>
        </p:spPr>
        <p:txBody>
          <a:bodyPr wrap="none">
            <a:spAutoFit/>
          </a:bodyPr>
          <a:lstStyle/>
          <a:p>
            <a:pPr>
              <a:defRPr sz="1800" b="1">
                <a:solidFill>
                  <a:srgbClr val="D97706"/>
                </a:solidFill>
              </a:defRPr>
            </a:pPr>
            <a:r>
              <a:t>Lukman / lukman-ss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Error Koneksi Meledak Saat Metrik CPU Database Normal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Aplikasi menolak jutaan pengguna meski utilitas server database masih sangat rendah.</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PARADOKS KEGAGALAN KONEKSI BASIS DATA</a:t>
            </a:r>
          </a:p>
          <a:p>
            <a:pPr>
              <a:spcAft>
                <a:spcPts val="400"/>
              </a:spcAft>
              <a:defRPr sz="1200">
                <a:solidFill>
                  <a:srgbClr val="0B1B2D"/>
                </a:solidFill>
              </a:defRPr>
            </a:pPr>
            <a:r>
              <a:t>• Penolakan Slot Keras: PostgreSQL melempar galat FATAL: too many clients saat slot max_connections terisi penuh.</a:t>
            </a:r>
          </a:p>
          <a:p>
            <a:pPr>
              <a:spcAft>
                <a:spcPts val="400"/>
              </a:spcAft>
              <a:defRPr sz="1200">
                <a:solidFill>
                  <a:srgbClr val="0B1B2D"/>
                </a:solidFill>
              </a:defRPr>
            </a:pPr>
            <a:r>
              <a:t>• Bukan Berarti Rusak: Galat koneksi bukan berarti server kehabisan komputasi CPU, melainkan alokasi slot backend habis.</a:t>
            </a:r>
          </a:p>
          <a:p>
            <a:pPr>
              <a:spcAft>
                <a:spcPts val="400"/>
              </a:spcAft>
              <a:defRPr sz="1200">
                <a:solidFill>
                  <a:srgbClr val="0B1B2D"/>
                </a:solidFill>
              </a:defRPr>
            </a:pPr>
            <a:r>
              <a:t>• Refleks Salah Tim: Menaikkan ukuran pool secara membabi buta justru memperparah kontensi lock dan memicu degradasi.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Banyak insiden produksi ditandai dengan ledakan galat koneksi sementara CPU database berada di bawah 30 persen. Fenomena ini bukan berarti server mengalami kerusakan komputasi internal, melainkan slot koneksi habis dialokasikan oleh kumpulan worker aplikasi yang tidak terkoordinasi.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Connection limits represent hard operating system socket and memory slots rather than raw processing power.</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content/02-master-draft.md:3-19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Pendekatan Naif Membuka Koneksi Per-Request Menghancurkan Latensi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Membuat koneksi baru pada setiap query menumpuk beban TCP dan TLS handshake.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TITIK RUNTUH KONEKSI TANPA POOLING</a:t>
            </a:r>
          </a:p>
          <a:p>
            <a:pPr>
              <a:spcAft>
                <a:spcPts val="400"/>
              </a:spcAft>
              <a:defRPr sz="1200">
                <a:solidFill>
                  <a:srgbClr val="0B1B2D"/>
                </a:solidFill>
              </a:defRPr>
            </a:pPr>
            <a:r>
              <a:t>• Overhead Berulang: Setiap koneksi menuntut negosiasi TCP 3-way handshake, TLS exchange, serta autentikasi peran.</a:t>
            </a:r>
          </a:p>
          <a:p>
            <a:pPr>
              <a:spcAft>
                <a:spcPts val="400"/>
              </a:spcAft>
              <a:defRPr sz="1200">
                <a:solidFill>
                  <a:srgbClr val="0B1B2D"/>
                </a:solidFill>
              </a:defRPr>
            </a:pPr>
            <a:r>
              <a:t>• Tekanan Backend: Database wajib membuat proses backend baru dan mengalokasikan work_mem untuk tiap request.</a:t>
            </a:r>
          </a:p>
          <a:p>
            <a:pPr>
              <a:spcAft>
                <a:spcPts val="400"/>
              </a:spcAft>
              <a:defRPr sz="1200">
                <a:solidFill>
                  <a:srgbClr val="0B1B2D"/>
                </a:solidFill>
              </a:defRPr>
            </a:pPr>
            <a:r>
              <a:t>• Tidak Otomatis Cepat: Membuka koneksi baru tidak otomatis menyelesaikan beban; antrean pembuatan soket memperlambat IO.</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Pendekatan naif tanpa reuse mengabaikan besarnya biaya inisialisasi jaringan dan alokasi memori proses basis data. Membuka koneksi baru untuk setiap request tidak otomatis mempercepat eksekusi, melainkan mengubur runtime aplikasi dalam tumpukan latency handshake berulang.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Direct connection creation incurs recurring network handshakes and expensive OS process allocation penalties.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content/02-master-draft.md:32-42</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Model Mental Restoran: Sizing Ditentukan Hardware Backend</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Kapasitas koneksi dibatasi oleh inti CPU dan disk, bukan nafsu request klien.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ANATOMI SIZING DAN SATURASI KONEKSI</a:t>
            </a:r>
          </a:p>
          <a:p>
            <a:pPr>
              <a:spcAft>
                <a:spcPts val="400"/>
              </a:spcAft>
              <a:defRPr sz="1200">
                <a:solidFill>
                  <a:srgbClr val="0B1B2D"/>
                </a:solidFill>
              </a:defRPr>
            </a:pPr>
            <a:r>
              <a:t>• 1. Inti Komputasi (Hardware CPU): Koneksi konkuren efektif dibatasi core fisik; rumus ((core * 2) + spindle) jadi acuan awal.</a:t>
            </a:r>
          </a:p>
          <a:p>
            <a:pPr>
              <a:spcAft>
                <a:spcPts val="400"/>
              </a:spcAft>
              <a:defRPr sz="1200">
                <a:solidFill>
                  <a:srgbClr val="0B1B2D"/>
                </a:solidFill>
              </a:defRPr>
            </a:pPr>
            <a:r>
              <a:t>• 2. Client Pool (sql.DB Semaphore): Mengatur antrean peminjam koneksi lokal; mencegah goroutine menyerbu database serentak.</a:t>
            </a:r>
          </a:p>
          <a:p>
            <a:pPr>
              <a:spcAft>
                <a:spcPts val="400"/>
              </a:spcAft>
              <a:defRPr sz="1200">
                <a:solidFill>
                  <a:srgbClr val="0B1B2D"/>
                </a:solidFill>
              </a:defRPr>
            </a:pPr>
            <a:r>
              <a:t>• 3. Saturation Knee (Degradasi Kurva): Melewati titik jenuh, throughput anjlok drastis akibat context switching dan lock contention.</a:t>
            </a:r>
          </a:p>
          <a:p>
            <a:pPr>
              <a:spcAft>
                <a:spcPts val="400"/>
              </a:spcAft>
              <a:defRPr sz="1200">
                <a:solidFill>
                  <a:srgbClr val="0B1B2D"/>
                </a:solidFill>
              </a:defRPr>
            </a:pPr>
            <a:r>
              <a:t>• 4. Steady State (Ukuran Minimal): Hanya pada jalur ini pool berukuran ringkas menghasilkan throughput optimal dan stabil.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Koneksi database bekerja layaknya meja restoran di mana kapasitas dibatasi oleh jumlah juru masak dapur, bukan antrean tamu di depan pintu. Hanya pada jalur ini penggunaan pool berukuran ringkas mampu membatasi perebutan sumber daya internal dan menghasilkan kestabilan throughput.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Size connection pools to match backend hardware concurrency constraints rather than client request volume.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content/02-master-draft.md:20-29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Siklus Hidup Peminjaman: Pinjam, Eksekusi, dan Kembalikan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Arsitektur pool mengelola antrean akuisisi dan pemakaian ulang koneksi aktif.</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ALUR PEMINJAMAN KONEKSI DALAM SQL.DB</a:t>
            </a:r>
          </a:p>
          <a:p>
            <a:pPr>
              <a:spcAft>
                <a:spcPts val="400"/>
              </a:spcAft>
              <a:defRPr sz="1200">
                <a:solidFill>
                  <a:srgbClr val="0B1B2D"/>
                </a:solidFill>
              </a:defRPr>
            </a:pPr>
            <a:r>
              <a:t>• 1. Request Conn (Acquire Token): Worker meminta koneksi aktif via pool.Conn(ctx); mengambil idle atau membuat baru.</a:t>
            </a:r>
          </a:p>
          <a:p>
            <a:pPr>
              <a:spcAft>
                <a:spcPts val="400"/>
              </a:spcAft>
              <a:defRPr sz="1200">
                <a:solidFill>
                  <a:srgbClr val="0B1B2D"/>
                </a:solidFill>
              </a:defRPr>
            </a:pPr>
            <a:r>
              <a:t>• 2. Bounded Query (Execute Work): Query dieksekusi secara singkat tanpa operasi I/O eksternal di dalam siklus penguncian.</a:t>
            </a:r>
          </a:p>
          <a:p>
            <a:pPr>
              <a:spcAft>
                <a:spcPts val="400"/>
              </a:spcAft>
              <a:defRPr sz="1200">
                <a:solidFill>
                  <a:srgbClr val="0B1B2D"/>
                </a:solidFill>
              </a:defRPr>
            </a:pPr>
            <a:r>
              <a:t>• 3. Immediate Return (defer conn.Close()): Koneksi dikembalikan ke daftar idle pool; siap dipakai ulang oleh worker berikutnya.</a:t>
            </a:r>
          </a:p>
          <a:p>
            <a:pPr>
              <a:spcAft>
                <a:spcPts val="400"/>
              </a:spcAft>
              <a:defRPr sz="1200">
                <a:solidFill>
                  <a:srgbClr val="0B1B2D"/>
                </a:solidFill>
              </a:defRPr>
            </a:pPr>
            <a:r>
              <a:t>• 4. Proxy Layer (PgBouncer): Proxy menerjemahkan ribuan pool aplikasi; lab belum membuktikan multi-node proxy riil.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Setiap transaksi wajib meminjam koneksi hanya untuk eksekusi query spesifik lalu segera mengembalikannya ke pool via defer conn.Close(). Simulasi lab memvalidasi siklus peminjaman lokal ini, namun belum membuktikan routing transaksi dinamis pada kluster PgBouncer multi-node di produksi.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Connections must be borrowed for minimal durations and returned immediately to maintain pool liquidity.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content/04-diagrams.md:1-29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Pola Eksekusi Bersih: Isolasi I/O Eksternal dari Koneksi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Memisahkan panggilan jaringan pihak ketiga dari siklus penahanan koneksi database.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*OrderService) ProcessOrderSafe(ctx context.Context, orderID int, externalCall func() error) error {</a:t>
            </a:r>
            <a:br/>
            <a:r>
              <a:t>    if externalCall != nil {</a:t>
            </a:r>
            <a:br/>
            <a:r>
              <a:t>        if err := externalCall(); err != nil { return err }</a:t>
            </a:r>
            <a:br/>
            <a:r>
              <a:t>    }</a:t>
            </a:r>
            <a:br/>
            <a:r>
              <a:t>    conn, err := s.db.Conn(ctx)</a:t>
            </a:r>
            <a:br/>
            <a:r>
              <a:t>    if err != nil { return err }</a:t>
            </a:r>
            <a:br/>
            <a:r>
              <a:t>    defer conn.Close()</a:t>
            </a:r>
            <a:br/>
            <a:r>
              <a:t>    _, err = conn.ExecContext(ctx, "UPDATE orders SET status = 'completed' WHERE id = ?", orderID)</a:t>
            </a:r>
            <a:br/>
            <a:r>
              <a:t>    return err</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Fungsi ProcessOrderSafe menuntaskan panggilan API eksternal terlebih dahulu sebelum meminjam koneksi dari database pool. Menunda akuisisi koneksi bukan berarti menambah latensi alur, melainkan menjamin koneksi database hanya ditahan selama beberapa mikrodetik pada saat query dieksekusi.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Acquire database connections at the absolute latest moment and release them at the earliest opportunity.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internal/pool/service.go:16-34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Kronologi Kebocoran Koneksi yang Memicu Starvation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Satu fungsi tidak disiplin memblokir seluruh request sehat hingga batas timeout.</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ALUR KEGAGALAN AKIBAT KONEKSI TERTOMBAK</a:t>
            </a:r>
          </a:p>
          <a:p>
            <a:pPr>
              <a:spcAft>
                <a:spcPts val="400"/>
              </a:spcAft>
              <a:defRPr sz="1200">
                <a:solidFill>
                  <a:srgbClr val="0B1B2D"/>
                </a:solidFill>
              </a:defRPr>
            </a:pPr>
            <a:r>
              <a:t>• Langkah 1: Tahan Soket: Worker A meminjam koneksi, menjalankan UPDATE, lalu memanggil API lambat tanpa melepas soket.</a:t>
            </a:r>
          </a:p>
          <a:p>
            <a:pPr>
              <a:spcAft>
                <a:spcPts val="400"/>
              </a:spcAft>
              <a:defRPr sz="1200">
                <a:solidFill>
                  <a:srgbClr val="0B1B2D"/>
                </a:solidFill>
              </a:defRPr>
            </a:pPr>
            <a:r>
              <a:t>• Langkah 2: Pool Kritis: Semua slot pool terisi oleh worker yang menanti respons jaringan pihak ketiga (500ms).</a:t>
            </a:r>
          </a:p>
          <a:p>
            <a:pPr>
              <a:spcAft>
                <a:spcPts val="400"/>
              </a:spcAft>
              <a:defRPr sz="1200">
                <a:solidFill>
                  <a:srgbClr val="0B1B2D"/>
                </a:solidFill>
              </a:defRPr>
            </a:pPr>
            <a:r>
              <a:t>• Langkah 3: Antrean Tercekat: Worker B yang memiliki kode benar mencoba meminjam koneksi namun masuk antrean tunggu.</a:t>
            </a:r>
          </a:p>
          <a:p>
            <a:pPr>
              <a:spcAft>
                <a:spcPts val="400"/>
              </a:spcAft>
              <a:defRPr sz="1200">
                <a:solidFill>
                  <a:srgbClr val="0B1B2D"/>
                </a:solidFill>
              </a:defRPr>
            </a:pPr>
            <a:r>
              <a:t>• Langkah 4: Context Timeout: Hanya pada jalur ini Worker B gugur dengan galat Deadline Exceeded akibat pool starvation.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Menahan koneksi database selama pemrosesan I/O pihak ketiga adalah racun arsitektur yang melumpuhkan ketersediaan pool. Hanya pada jalur ini request sehat yang kodenya bersih ikut mati akibat context deadline exceeded karena kehabisan slot koneksi yang tersandera.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Holding shared connection slots during slow external I/O creates systemic pool starvation for healthy requests.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content/04-diagrams.md:32-54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Matriks Diagnostik: Patologi Koneksi Basis Data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Membedakan karakteristik teknis antara unpooled, oversized pool, dan connection leak.</a:t>
            </a:r>
          </a:p>
        </p:txBody>
      </p:sp>
      <p:graphicFrame>
        <p:nvGraphicFramePr>
          <p:cNvPr id="6" name="Table 5"/>
          <p:cNvGraphicFramePr>
            <a:graphicFrameLocks noGrp="1"/>
          </p:cNvGraphicFramePr>
          <p:nvPr/>
        </p:nvGraphicFramePr>
        <p:xfrm>
          <a:off x="731520" y="1828800"/>
          <a:ext cx="5120640" cy="2743200"/>
        </p:xfrm>
        <a:graphic>
          <a:graphicData uri="http://schemas.openxmlformats.org/drawingml/2006/table">
            <a:tbl>
              <a:tblPr firstRow="1" bandRow="1">
                <a:tableStyleId>{5C22544A-7EE6-4342-B048-85BDC9FD1C3A}</a:tableStyleId>
              </a:tblPr>
              <a:tblGrid>
                <a:gridCol w="1280160"/>
                <a:gridCol w="1280160"/>
                <a:gridCol w="1280160"/>
                <a:gridCol w="1280160"/>
              </a:tblGrid>
              <a:tr h="457200">
                <a:tc>
                  <a:txBody>
                    <a:bodyPr/>
                    <a:lstStyle/>
                    <a:p>
                      <a:pPr>
                        <a:defRPr b="1" sz="1100">
                          <a:solidFill>
                            <a:srgbClr val="FFFFFF"/>
                          </a:solidFill>
                        </a:defRPr>
                      </a:pPr>
                      <a:r>
                        <a:t>Dimensi Masalah</a:t>
                      </a:r>
                    </a:p>
                  </a:txBody>
                  <a:tcPr>
                    <a:solidFill>
                      <a:srgbClr val="0B1B2D"/>
                    </a:solidFill>
                  </a:tcPr>
                </a:tc>
                <a:tc>
                  <a:txBody>
                    <a:bodyPr/>
                    <a:lstStyle/>
                    <a:p>
                      <a:pPr>
                        <a:defRPr b="1" sz="1100">
                          <a:solidFill>
                            <a:srgbClr val="FFFFFF"/>
                          </a:solidFill>
                        </a:defRPr>
                      </a:pPr>
                      <a:r>
                        <a:t>Unpooled (No Reuse)</a:t>
                      </a:r>
                    </a:p>
                  </a:txBody>
                  <a:tcPr>
                    <a:solidFill>
                      <a:srgbClr val="0B1B2D"/>
                    </a:solidFill>
                  </a:tcPr>
                </a:tc>
                <a:tc>
                  <a:txBody>
                    <a:bodyPr/>
                    <a:lstStyle/>
                    <a:p>
                      <a:pPr>
                        <a:defRPr b="1" sz="1100">
                          <a:solidFill>
                            <a:srgbClr val="FFFFFF"/>
                          </a:solidFill>
                        </a:defRPr>
                      </a:pPr>
                      <a:r>
                        <a:t>Oversized Pool</a:t>
                      </a:r>
                    </a:p>
                  </a:txBody>
                  <a:tcPr>
                    <a:solidFill>
                      <a:srgbClr val="0B1B2D"/>
                    </a:solidFill>
                  </a:tcPr>
                </a:tc>
                <a:tc>
                  <a:txBody>
                    <a:bodyPr/>
                    <a:lstStyle/>
                    <a:p>
                      <a:pPr>
                        <a:defRPr b="1" sz="1100">
                          <a:solidFill>
                            <a:srgbClr val="FFFFFF"/>
                          </a:solidFill>
                        </a:defRPr>
                      </a:pPr>
                      <a:r>
                        <a:t>Connection Leak (Starvation)</a:t>
                      </a:r>
                    </a:p>
                  </a:txBody>
                  <a:tcPr>
                    <a:solidFill>
                      <a:srgbClr val="0B1B2D"/>
                    </a:solidFill>
                  </a:tcPr>
                </a:tc>
              </a:tr>
              <a:tr h="457200">
                <a:tc>
                  <a:txBody>
                    <a:bodyPr/>
                    <a:lstStyle/>
                    <a:p>
                      <a:pPr>
                        <a:defRPr sz="1000">
                          <a:solidFill>
                            <a:srgbClr val="0B1B2D"/>
                          </a:solidFill>
                        </a:defRPr>
                      </a:pPr>
                      <a:r>
                        <a:t>Mekanisme Akar</a:t>
                      </a:r>
                    </a:p>
                  </a:txBody>
                  <a:tcPr>
                    <a:solidFill>
                      <a:srgbClr val="FFFFFF"/>
                    </a:solidFill>
                  </a:tcPr>
                </a:tc>
                <a:tc>
                  <a:txBody>
                    <a:bodyPr/>
                    <a:lstStyle/>
                    <a:p>
                      <a:pPr>
                        <a:defRPr sz="1000">
                          <a:solidFill>
                            <a:srgbClr val="0B1B2D"/>
                          </a:solidFill>
                        </a:defRPr>
                      </a:pPr>
                      <a:r>
                        <a:t>SetMaxIdleConns(0) tutup koneksi</a:t>
                      </a:r>
                    </a:p>
                  </a:txBody>
                  <a:tcPr>
                    <a:solidFill>
                      <a:srgbClr val="FFFFFF"/>
                    </a:solidFill>
                  </a:tcPr>
                </a:tc>
                <a:tc>
                  <a:txBody>
                    <a:bodyPr/>
                    <a:lstStyle/>
                    <a:p>
                      <a:pPr>
                        <a:defRPr sz="1000">
                          <a:solidFill>
                            <a:srgbClr val="0B1B2D"/>
                          </a:solidFill>
                        </a:defRPr>
                      </a:pPr>
                      <a:r>
                        <a:t>Client pool &gt; server limit</a:t>
                      </a:r>
                    </a:p>
                  </a:txBody>
                  <a:tcPr>
                    <a:solidFill>
                      <a:srgbClr val="FFFFFF"/>
                    </a:solidFill>
                  </a:tcPr>
                </a:tc>
                <a:tc>
                  <a:txBody>
                    <a:bodyPr/>
                    <a:lstStyle/>
                    <a:p>
                      <a:pPr>
                        <a:defRPr sz="1000">
                          <a:solidFill>
                            <a:srgbClr val="0B1B2D"/>
                          </a:solidFill>
                        </a:defRPr>
                      </a:pPr>
                      <a:r>
                        <a:t>Koneksi ditahan saat I/O eksternal</a:t>
                      </a:r>
                    </a:p>
                  </a:txBody>
                  <a:tcPr>
                    <a:solidFill>
                      <a:srgbClr val="FFFFFF"/>
                    </a:solidFill>
                  </a:tcPr>
                </a:tc>
              </a:tr>
              <a:tr h="457200">
                <a:tc>
                  <a:txBody>
                    <a:bodyPr/>
                    <a:lstStyle/>
                    <a:p>
                      <a:pPr>
                        <a:defRPr sz="1000">
                          <a:solidFill>
                            <a:srgbClr val="0B1B2D"/>
                          </a:solidFill>
                        </a:defRPr>
                      </a:pPr>
                      <a:r>
                        <a:t>Gejala di Server</a:t>
                      </a:r>
                    </a:p>
                  </a:txBody>
                  <a:tcPr>
                    <a:solidFill>
                      <a:srgbClr val="FFFFFF"/>
                    </a:solidFill>
                  </a:tcPr>
                </a:tc>
                <a:tc>
                  <a:txBody>
                    <a:bodyPr/>
                    <a:lstStyle/>
                    <a:p>
                      <a:pPr>
                        <a:defRPr sz="1000">
                          <a:solidFill>
                            <a:srgbClr val="0B1B2D"/>
                          </a:solidFill>
                        </a:defRPr>
                      </a:pPr>
                      <a:r>
                        <a:t>CPU spike akibat handshake TCP</a:t>
                      </a:r>
                    </a:p>
                  </a:txBody>
                  <a:tcPr>
                    <a:solidFill>
                      <a:srgbClr val="FFFFFF"/>
                    </a:solidFill>
                  </a:tcPr>
                </a:tc>
                <a:tc>
                  <a:txBody>
                    <a:bodyPr/>
                    <a:lstStyle/>
                    <a:p>
                      <a:pPr>
                        <a:defRPr sz="1000">
                          <a:solidFill>
                            <a:srgbClr val="0B1B2D"/>
                          </a:solidFill>
                        </a:defRPr>
                      </a:pPr>
                      <a:r>
                        <a:t>Error: too many clients</a:t>
                      </a:r>
                    </a:p>
                  </a:txBody>
                  <a:tcPr>
                    <a:solidFill>
                      <a:srgbClr val="FFFFFF"/>
                    </a:solidFill>
                  </a:tcPr>
                </a:tc>
                <a:tc>
                  <a:txBody>
                    <a:bodyPr/>
                    <a:lstStyle/>
                    <a:p>
                      <a:pPr>
                        <a:defRPr sz="1000">
                          <a:solidFill>
                            <a:srgbClr val="0B1B2D"/>
                          </a:solidFill>
                        </a:defRPr>
                      </a:pPr>
                      <a:r>
                        <a:t>CPU database terlihat normal/idle</a:t>
                      </a:r>
                    </a:p>
                  </a:txBody>
                  <a:tcPr>
                    <a:solidFill>
                      <a:srgbClr val="FFFFFF"/>
                    </a:solidFill>
                  </a:tcPr>
                </a:tc>
              </a:tr>
              <a:tr h="457200">
                <a:tc>
                  <a:txBody>
                    <a:bodyPr/>
                    <a:lstStyle/>
                    <a:p>
                      <a:pPr>
                        <a:defRPr sz="1000">
                          <a:solidFill>
                            <a:srgbClr val="0B1B2D"/>
                          </a:solidFill>
                        </a:defRPr>
                      </a:pPr>
                      <a:r>
                        <a:t>Dampak Latensi</a:t>
                      </a:r>
                    </a:p>
                  </a:txBody>
                  <a:tcPr>
                    <a:solidFill>
                      <a:srgbClr val="FFFFFF"/>
                    </a:solidFill>
                  </a:tcPr>
                </a:tc>
                <a:tc>
                  <a:txBody>
                    <a:bodyPr/>
                    <a:lstStyle/>
                    <a:p>
                      <a:pPr>
                        <a:defRPr sz="1000">
                          <a:solidFill>
                            <a:srgbClr val="0B1B2D"/>
                          </a:solidFill>
                        </a:defRPr>
                      </a:pPr>
                      <a:r>
                        <a:t>Latensi baseline tinggi di p99</a:t>
                      </a:r>
                    </a:p>
                  </a:txBody>
                  <a:tcPr>
                    <a:solidFill>
                      <a:srgbClr val="FFFFFF"/>
                    </a:solidFill>
                  </a:tcPr>
                </a:tc>
                <a:tc>
                  <a:txBody>
                    <a:bodyPr/>
                    <a:lstStyle/>
                    <a:p>
                      <a:pPr>
                        <a:defRPr sz="1000">
                          <a:solidFill>
                            <a:srgbClr val="0B1B2D"/>
                          </a:solidFill>
                        </a:defRPr>
                      </a:pPr>
                      <a:r>
                        <a:t>Antrean lock &amp; context switch</a:t>
                      </a:r>
                    </a:p>
                  </a:txBody>
                  <a:tcPr>
                    <a:solidFill>
                      <a:srgbClr val="FFFFFF"/>
                    </a:solidFill>
                  </a:tcPr>
                </a:tc>
                <a:tc>
                  <a:txBody>
                    <a:bodyPr/>
                    <a:lstStyle/>
                    <a:p>
                      <a:pPr>
                        <a:defRPr sz="1000">
                          <a:solidFill>
                            <a:srgbClr val="0B1B2D"/>
                          </a:solidFill>
                        </a:defRPr>
                      </a:pPr>
                      <a:r>
                        <a:t>Lonjakan waktu tunggu akuisisi pool</a:t>
                      </a:r>
                    </a:p>
                  </a:txBody>
                  <a:tcPr>
                    <a:solidFill>
                      <a:srgbClr val="FFFFFF"/>
                    </a:solidFill>
                  </a:tcPr>
                </a:tc>
              </a:tr>
              <a:tr h="457200">
                <a:tc>
                  <a:txBody>
                    <a:bodyPr/>
                    <a:lstStyle/>
                    <a:p>
                      <a:pPr>
                        <a:defRPr sz="1000">
                          <a:solidFill>
                            <a:srgbClr val="0B1B2D"/>
                          </a:solidFill>
                        </a:defRPr>
                      </a:pPr>
                      <a:r>
                        <a:t>Manifestasi Error</a:t>
                      </a:r>
                    </a:p>
                  </a:txBody>
                  <a:tcPr>
                    <a:solidFill>
                      <a:srgbClr val="FFFFFF"/>
                    </a:solidFill>
                  </a:tcPr>
                </a:tc>
                <a:tc>
                  <a:txBody>
                    <a:bodyPr/>
                    <a:lstStyle/>
                    <a:p>
                      <a:pPr>
                        <a:defRPr sz="1000">
                          <a:solidFill>
                            <a:srgbClr val="0B1B2D"/>
                          </a:solidFill>
                        </a:defRPr>
                      </a:pPr>
                      <a:r>
                        <a:t>Koneksi gagal di lonjakan tinggi</a:t>
                      </a:r>
                    </a:p>
                  </a:txBody>
                  <a:tcPr>
                    <a:solidFill>
                      <a:srgbClr val="FFFFFF"/>
                    </a:solidFill>
                  </a:tcPr>
                </a:tc>
                <a:tc>
                  <a:txBody>
                    <a:bodyPr/>
                    <a:lstStyle/>
                    <a:p>
                      <a:pPr>
                        <a:defRPr sz="1000">
                          <a:solidFill>
                            <a:srgbClr val="0B1B2D"/>
                          </a:solidFill>
                        </a:defRPr>
                      </a:pPr>
                      <a:r>
                        <a:t>ErrServerOverloaded / PG 53300</a:t>
                      </a:r>
                    </a:p>
                  </a:txBody>
                  <a:tcPr>
                    <a:solidFill>
                      <a:srgbClr val="FFFFFF"/>
                    </a:solidFill>
                  </a:tcPr>
                </a:tc>
                <a:tc>
                  <a:txBody>
                    <a:bodyPr/>
                    <a:lstStyle/>
                    <a:p>
                      <a:pPr>
                        <a:defRPr sz="1000">
                          <a:solidFill>
                            <a:srgbClr val="0B1B2D"/>
                          </a:solidFill>
                        </a:defRPr>
                      </a:pPr>
                      <a:r>
                        <a:t>Context Deadline Exceeded pada klien</a:t>
                      </a:r>
                    </a:p>
                  </a:txBody>
                  <a:tcPr>
                    <a:solidFill>
                      <a:srgbClr val="FFFFFF"/>
                    </a:solidFill>
                  </a:tcPr>
                </a:tc>
              </a:tr>
              <a:tr h="457200">
                <a:tc>
                  <a:txBody>
                    <a:bodyPr/>
                    <a:lstStyle/>
                    <a:p>
                      <a:pPr>
                        <a:defRPr sz="1000">
                          <a:solidFill>
                            <a:srgbClr val="0B1B2D"/>
                          </a:solidFill>
                        </a:defRPr>
                      </a:pPr>
                      <a:r>
                        <a:t>Mitigasi Utama</a:t>
                      </a:r>
                    </a:p>
                  </a:txBody>
                  <a:tcPr>
                    <a:solidFill>
                      <a:srgbClr val="FFFFFF"/>
                    </a:solidFill>
                  </a:tcPr>
                </a:tc>
                <a:tc>
                  <a:txBody>
                    <a:bodyPr/>
                    <a:lstStyle/>
                    <a:p>
                      <a:pPr>
                        <a:defRPr sz="1000">
                          <a:solidFill>
                            <a:srgbClr val="0B1B2D"/>
                          </a:solidFill>
                        </a:defRPr>
                      </a:pPr>
                      <a:r>
                        <a:t>Aktifkan idle pool reuse</a:t>
                      </a:r>
                    </a:p>
                  </a:txBody>
                  <a:tcPr>
                    <a:solidFill>
                      <a:srgbClr val="FFFFFF"/>
                    </a:solidFill>
                  </a:tcPr>
                </a:tc>
                <a:tc>
                  <a:txBody>
                    <a:bodyPr/>
                    <a:lstStyle/>
                    <a:p>
                      <a:pPr>
                        <a:defRPr sz="1000">
                          <a:solidFill>
                            <a:srgbClr val="0B1B2D"/>
                          </a:solidFill>
                        </a:defRPr>
                      </a:pPr>
                      <a:r>
                        <a:t>Hitung sizing total deployment</a:t>
                      </a:r>
                    </a:p>
                  </a:txBody>
                  <a:tcPr>
                    <a:solidFill>
                      <a:srgbClr val="FFFFFF"/>
                    </a:solidFill>
                  </a:tcPr>
                </a:tc>
                <a:tc>
                  <a:txBody>
                    <a:bodyPr/>
                    <a:lstStyle/>
                    <a:p>
                      <a:pPr>
                        <a:defRPr sz="1000">
                          <a:solidFill>
                            <a:srgbClr val="0B1B2D"/>
                          </a:solidFill>
                        </a:defRPr>
                      </a:pPr>
                      <a:r>
                        <a:t>Isolasi I/O &amp; leakDetectionThreshold</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Tabel ini memetakan perbedaan akar masalah antara tanpa pool, pool terlalu besar, dan kebocoran penahanan koneksi. Kebocoran koneksi memiliki karakteristik paling berbahaya karena server database terlihat sehat padahal antrean klien mengalami kelaparan ekstrem.</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Diagnose connection anomalies by correlating application pool wait times against database backend slot usage.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content/02-master-draft.md:128-165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Tiga Prinsip Esensial Penentuan Ukuran Pool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Hierarki keputusan rekayasa untuk mengamankan stabilitas koneksi sistem.</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PANDUAN PENETAPAN SIZING KONEKSI</a:t>
            </a:r>
          </a:p>
          <a:p>
            <a:pPr>
              <a:spcAft>
                <a:spcPts val="400"/>
              </a:spcAft>
              <a:defRPr sz="1200">
                <a:solidFill>
                  <a:srgbClr val="0B1B2D"/>
                </a:solidFill>
              </a:defRPr>
            </a:pPr>
            <a:r>
              <a:t>• 1. Hitung Skala Global: Total koneksi = (jumlah instance × pool size); wajib di bawah max_connections database.</a:t>
            </a:r>
          </a:p>
          <a:p>
            <a:pPr>
              <a:spcAft>
                <a:spcPts val="400"/>
              </a:spcAft>
              <a:defRPr sz="1200">
                <a:solidFill>
                  <a:srgbClr val="0B1B2D"/>
                </a:solidFill>
              </a:defRPr>
            </a:pPr>
            <a:r>
              <a:t>• 2. Sisihkan Slot Cadangan: Kurangi minimal 15 koneksi untuk superuser, replikasi fisik, dan monitoring sistem.</a:t>
            </a:r>
          </a:p>
          <a:p>
            <a:pPr>
              <a:spcAft>
                <a:spcPts val="400"/>
              </a:spcAft>
              <a:defRPr sz="1200">
                <a:solidFill>
                  <a:srgbClr val="0B1B2D"/>
                </a:solidFill>
              </a:defRPr>
            </a:pPr>
            <a:r>
              <a:t>• 3. Formula Titik Awal: Gunakan ((core * 2) + disk); bukan berarti angka mutlak, melainkan basis uji beban.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Penetapan ukuran pool wajib memperhitungkan total armada aplikasi yang terpasang pada kluster produksi. Mengadopsi rumus ((core * 2) + disk) bukan berarti mendapatkan angka sakral tanpa cela, melainkan menetapkan baseline terukur yang wajib divalidasi lewat pengujian beban.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Enforce deployment-wide connection limits and validate core-based sizing formulas through empirical stress tests.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content/02-master-draft.md:43-69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Eksekusi: Test Suite dan CLI Demo Lolos Bersih</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Output terminal membuktikan penalti unpooled, penolakan server, dan deteksi starvation.</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RUN   TestDirectConnectionOverhead</a:t>
            </a:r>
            <a:br/>
            <a:r>
              <a:t>--- PASS: TestDirectConnectionOverhead (0.03s) [pooled faster than unpooled]</a:t>
            </a:r>
            <a:br/>
            <a:r>
              <a:t>=== RUN   TestOversizedPoolExhaustsServerConnections</a:t>
            </a:r>
            <a:br/>
            <a:r>
              <a:t>--- PASS: TestOversizedPoolExhaustsServerConnections (0.02s) [10 rejected]</a:t>
            </a:r>
            <a:br/>
            <a:r>
              <a:t>=== RUN   TestConnectionStarvationDueToLeak</a:t>
            </a:r>
            <a:br/>
            <a:r>
              <a:t>--- PASS: TestConnectionStarvationDueToLeak (0.02s) [deadline exceeded]</a:t>
            </a:r>
            <a:br/>
            <a:r>
              <a:t>=== RUN   TestTotalCreatedPoolReuse</a:t>
            </a:r>
            <a:br/>
            <a:r>
              <a:t>--- PASS: TestTotalCreatedPoolReuse (0.00s) [reuse verified: 1 vs 5]</a:t>
            </a:r>
            <a:br/>
            <a:r>
              <a:t>PASS: ok  labs/19-database-connection-pooling/tests  1.328s (race clean)</a:t>
            </a:r>
            <a:br/>
            <a:r>
              <a:t>1. Unpooled: 54.59ms vs Pooled: 6.33µs</a:t>
            </a:r>
            <a:br/>
            <a:r>
              <a:t>2. Oversized Pool: Attempted 30, Succeeded 15, Server Rejected 15</a:t>
            </a:r>
            <a:br/>
            <a:r>
              <a:t>3. Starvation: Order 3 Failed: context deadline exceeded</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Hasil eksekusi membuktikan sepuluh skenario uji lolos sempurna tanpa data race di bawah Go race detector. Demonstrasi CLI mengonfirmasi keunggulan reuse mikrodetik atas handshake milidetik, penolakan tepat 15 request saat server saturasi, serta isolasi kegagalan pada kebocoran koneksi.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Deterministic mock testing provides empirical verification of connection lifecycle bottlenecks and exhaustion limits.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engineering/03-execution-result.md:1-55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Batasan Bukti Lab: Yang Dibuktikan vs Belum</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Menegaskan batas simulasi in-memory terhadap kompleksitas database PostgreSQL riil.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BATAS PEMBUKTIAN SISTEM LAB 19</a:t>
            </a:r>
          </a:p>
          <a:p>
            <a:pPr>
              <a:spcAft>
                <a:spcPts val="400"/>
              </a:spcAft>
              <a:defRPr sz="1200">
                <a:solidFill>
                  <a:srgbClr val="0B1B2D"/>
                </a:solidFill>
              </a:defRPr>
            </a:pPr>
            <a:r>
              <a:t>• YANG DIBUKTIKAN: Overhead koneksi baru, penolakan slot server, pool starvation, dan penanganan double close.</a:t>
            </a:r>
          </a:p>
          <a:p>
            <a:pPr>
              <a:spcAft>
                <a:spcPts val="400"/>
              </a:spcAft>
              <a:defRPr sz="1200">
                <a:solidFill>
                  <a:srgbClr val="0B1B2D"/>
                </a:solidFill>
              </a:defRPr>
            </a:pPr>
            <a:r>
              <a:t>• YANG TIDAK DIBUKTIKAN: Alokasi work_mem per backend, lock contention engine, OOM PostgreSQL, dan TCP keepalive.</a:t>
            </a:r>
          </a:p>
          <a:p>
            <a:pPr>
              <a:spcAft>
                <a:spcPts val="400"/>
              </a:spcAft>
              <a:defRPr sz="1200">
                <a:solidFill>
                  <a:srgbClr val="0B1B2D"/>
                </a:solidFill>
              </a:defRPr>
            </a:pPr>
            <a:r>
              <a:t>• BATAS KLAIM EMPIRIS: Lab belum membuktikan efektivitas formula core pada NVMe SSD modern berkecepatan tinggi.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ini membuktikan mekanika dasar peminjaman pool dan batas penolakan slot menggunakan mock driver in-memory. Pengujian ini belum membuktikan perilaku internal mesin database PostgreSQL nyata seperti pemborosan memori work_mem atau saturasi IOPS pada SSD NVMe.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Distinguish application connection pool queuing from internal database engine process and memory management.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content/02-master-draft.md:164-165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Kompromi Rekayasa: Pool Kecil vs Pool Besar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Mengevaluasi konsekuensi operasional antara antrean antarmuka dan kestabilan backend.</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ANALISIS PERBANDINGAN TRADE-OFF</a:t>
            </a:r>
          </a:p>
          <a:p>
            <a:pPr>
              <a:spcAft>
                <a:spcPts val="400"/>
              </a:spcAft>
              <a:defRPr sz="1200">
                <a:solidFill>
                  <a:srgbClr val="0B1B2D"/>
                </a:solidFill>
              </a:defRPr>
            </a:pPr>
            <a:r>
              <a:t>• Pool Kecil: Protektif: Database beroperasi prima tanpa kejenuhan; request yang meluap wajib sabar mengantre di aplikasi.</a:t>
            </a:r>
          </a:p>
          <a:p>
            <a:pPr>
              <a:spcAft>
                <a:spcPts val="400"/>
              </a:spcAft>
              <a:defRPr sz="1200">
                <a:solidFill>
                  <a:srgbClr val="0B1B2D"/>
                </a:solidFill>
              </a:defRPr>
            </a:pPr>
            <a:r>
              <a:t>• Pool Besar: Ilusi Konkurensi: Menampung lonjakan sesaat, namun memicu kontensi lock parah dan risiko kehabisan RAM.</a:t>
            </a:r>
          </a:p>
          <a:p>
            <a:pPr>
              <a:spcAft>
                <a:spcPts val="400"/>
              </a:spcAft>
              <a:defRPr sz="1200">
                <a:solidFill>
                  <a:srgbClr val="0B1B2D"/>
                </a:solidFill>
              </a:defRPr>
            </a:pPr>
            <a:r>
              <a:t>• Tidak Otomatis Aman: Memperbesar pool tidak otomatis menaikkan throughput bila kapasitas eksekusi disk database jenuh.</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Memilih ukuran pool adalah seni menyeimbangkan antrean di sisi aplikasi melawan stabilitas mesin basis data. Memperbesar ukuran pool tidak otomatis meningkatkan kecepatan pemrosesan jika konkurensi tambahan tersebut hanya memicu perkelahian lock internal dan thrashing memori.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Trade client-side acquisition latency for backend stability by maintaining compact connection pools.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content/02-master-draft.md:13-19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Mekanisme Pengendali Koneksi Menggunakan Atomic Counter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Simulasi batas server dan pencatatan koneksi aktif dengan perlindungan thread-safe.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(d *MockDriver) Open(name string) (driver.Conn, error) {</a:t>
            </a:r>
            <a:br/>
            <a:r>
              <a:t>    if d.connectDelay &gt; 0 { time.Sleep(d.connectDelay) }</a:t>
            </a:r>
            <a:br/>
            <a:r>
              <a:t>    d.mu.Lock()</a:t>
            </a:r>
            <a:br/>
            <a:r>
              <a:t>    defer d.mu.Unlock()</a:t>
            </a:r>
            <a:br/>
            <a:r>
              <a:t>    if d.maxConnections &gt; 0 &amp;&amp; atomic.LoadInt32(&amp;d.activeConns) &gt;= d.maxConnections {</a:t>
            </a:r>
            <a:br/>
            <a:r>
              <a:t>        return nil, ErrServerOverloaded</a:t>
            </a:r>
            <a:br/>
            <a:r>
              <a:t>    }</a:t>
            </a:r>
            <a:br/>
            <a:r>
              <a:t>    atomic.AddInt32(&amp;d.activeConns, 1)</a:t>
            </a:r>
            <a:br/>
            <a:r>
              <a:t>    atomic.AddInt32(&amp;d.totalCreated, 1)</a:t>
            </a:r>
            <a:br/>
            <a:r>
              <a:t>    return &amp;mockConn{driver: d},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MockDriver mengendalikan pembukaan koneksi dengan menyimulasikan delay handshake dan menolak permintaan saat batas activeConns tercapai. Simulasi ini tidak sama dengan proses forking postgres di Linux, namun secara akurat merefleksikan penolakan slot keras pada beban tinggi.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Atomic tracking of active socket handles enforces deterministic connection bounds across concurrent goroutines.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internal/pool/mockdb.go:33-49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Transformasi: Dari Koneksi Bocor ke Eksekusi Terisolasi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Pergeseran dari penahanan soket sembrono menuju disiplin peminjaman minimal.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KOMPARASI KONDISI EKSEKUSI LAYANAN</a:t>
            </a:r>
          </a:p>
          <a:p>
            <a:pPr>
              <a:spcAft>
                <a:spcPts val="400"/>
              </a:spcAft>
              <a:defRPr sz="1200">
                <a:solidFill>
                  <a:srgbClr val="0B1B2D"/>
                </a:solidFill>
              </a:defRPr>
            </a:pPr>
            <a:r>
              <a:t>• Sebelum: Tahan Sembrono: Koneksi dipinjam sebelum API pihak ketiga dipanggil; soket tersandera selama ratusan milidetik.</a:t>
            </a:r>
          </a:p>
          <a:p>
            <a:pPr>
              <a:spcAft>
                <a:spcPts val="400"/>
              </a:spcAft>
              <a:defRPr sz="1200">
                <a:solidFill>
                  <a:srgbClr val="0B1B2D"/>
                </a:solidFill>
              </a:defRPr>
            </a:pPr>
            <a:r>
              <a:t>• Sesudah: Peminjaman Sempit: API eksternal diselesaikan lebih dulu; koneksi hanya dipinjam selama mikrosekon eksekusi SQL.</a:t>
            </a:r>
          </a:p>
          <a:p>
            <a:pPr>
              <a:spcAft>
                <a:spcPts val="400"/>
              </a:spcAft>
              <a:defRPr sz="1200">
                <a:solidFill>
                  <a:srgbClr val="0B1B2D"/>
                </a:solidFill>
              </a:defRPr>
            </a:pPr>
            <a:r>
              <a:t>• Bukan Berarti Lambat: Memecah alur bukan berarti memperlambat kode; pool terbebas dari ancaman kelaparan sistemik.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Sebelum refaktorisasi, koneksi database disandera selama panggilan jaringan eksternal berlangsung lambat. Memecah alur eksekusi bukan berarti menambah kompleksitas, melainkan membebaskan pool dari ancaman starvation sehingga puluhan transaksi lain dapat berjalan mulus.</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Isolate slow I/O boundaries outside database connection scopes to preserve shared pool availability.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content/02-master-draft.md:135-146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Anatomi Kode Berbahaya: Menyandera Koneksi Saat I/O Lambat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Pola anti-pattern ProcessOrderUnsafeLeak yang mengunci soket database.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(s *OrderService) ProcessOrderUnsafeLeak(ctx context.Context, orderID int, externalCall func() error) error {</a:t>
            </a:r>
            <a:br/>
            <a:r>
              <a:t>    conn, err := s.db.Conn(ctx)</a:t>
            </a:r>
            <a:br/>
            <a:r>
              <a:t>    if err != nil { return err }</a:t>
            </a:r>
            <a:br/>
            <a:r>
              <a:t>    defer conn.Close()</a:t>
            </a:r>
            <a:br/>
            <a:r>
              <a:t>    _, err = conn.ExecContext(ctx, "UPDATE orders SET status = 'processing' WHERE id = ?", orderID)</a:t>
            </a:r>
            <a:br/>
            <a:r>
              <a:t>    if err != nil { return err }</a:t>
            </a:r>
            <a:br/>
            <a:r>
              <a:t>    if externalCall != nil {</a:t>
            </a:r>
            <a:br/>
            <a:r>
              <a:t>        if err := externalCall(); err != nil { return err }</a:t>
            </a:r>
            <a:br/>
            <a:r>
              <a:t>    }</a:t>
            </a:r>
            <a:br/>
            <a:r>
              <a:t>    return nil</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Metode ProcessOrderUnsafeLeak menahan koneksi aktif ketika fungsi externalCall dijalankan. Bahaya penahanan soket ini cakupannya mengikuti test starvation lab, membuktikan bahwa penundaan defer conn.Close() selama I/O eksternal secara langsung memblokir antrean peminjam lain.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Holding open connections across unbounded network boundaries creates artificial throughput bottlenecks.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internal/pool/service.go:36-57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Test: Membuktikan Penalti Pembuatan Koneksi Langsung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Membandingkan latensi eksekusi antara SetMaxIdleConns(0) dan pool aktif.</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TestDirectConnectionOverhead(t *testing.T) {</a:t>
            </a:r>
            <a:br/>
            <a:r>
              <a:t>    mockDriver := pool.NewMockDriver(100, 5*time.Millisecond)</a:t>
            </a:r>
            <a:br/>
            <a:r>
              <a:t>    unpooledDB := pool.OpenDB(mockDriver)</a:t>
            </a:r>
            <a:br/>
            <a:r>
              <a:t>    unpooledDB.SetMaxIdleConns(0) // Memaksa pembukaan koneksi baru setiap kali</a:t>
            </a:r>
            <a:br/>
            <a:r>
              <a:t>    // Eksekusi 5 query unpooled menghasilkan akumulasi delay 25ms+</a:t>
            </a:r>
            <a:br/>
            <a:r>
              <a:t>    pooledDB := pool.OpenDB(mockDriver)</a:t>
            </a:r>
            <a:br/>
            <a:r>
              <a:t>    pooledDB.SetMaxIdleConns(5)</a:t>
            </a:r>
            <a:br/>
            <a:r>
              <a:t>    pooledDB.SetMaxOpenConns(5)</a:t>
            </a:r>
            <a:br/>
            <a:r>
              <a:t>    // Eksekusi 5 query pooled memakai ulang koneksi idle yang sama</a:t>
            </a:r>
            <a:br/>
            <a:r>
              <a:t>    if pooledDuration &gt;= unpooledDuration { t.Errorf("expected pooled to be faster")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TestDirectConnectionOverhead membuktikan bahwa pool dengan idle connections selalu lebih cepat daripada pembukaan koneksi baru di tiap query. Menjalankan query pada database tidak otomatis menghasilkan performa optimal tanpa konfigurasi idle pool yang memadai.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Reusing warm connection handles bypasses socket setup latencies, ensuring microsecond query dispatch.</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tests/pool_test.go:13-49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Test: Pool Terlalu Besar Menghabiskan Kapasitas Server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Membuktikan penolakan deterministik ketika pool klien melebihi kapasitas backend.</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TestOversizedPoolExhaustsServerConnections(t *testing.T) {</a:t>
            </a:r>
            <a:br/>
            <a:r>
              <a:t>    mockDriver := pool.NewMockDriver(10, 0) // Server hanya izinkan 10 slot</a:t>
            </a:r>
            <a:br/>
            <a:r>
              <a:t>    db := pool.OpenDB(mockDriver)</a:t>
            </a:r>
            <a:br/>
            <a:r>
              <a:t>    db.SetMaxOpenConns(20) // Klien salah konfigurasi dengan pool 20</a:t>
            </a:r>
            <a:br/>
            <a:r>
              <a:t>    // 20 goroutine meminta koneksi secara bersamaan</a:t>
            </a:r>
            <a:br/>
            <a:r>
              <a:t>    wg.Wait()</a:t>
            </a:r>
            <a:br/>
            <a:r>
              <a:t>    if errCount &lt; 10 {</a:t>
            </a:r>
            <a:br/>
            <a:r>
              <a:t>        t.Errorf("expected at least 10 connection attempts to fail, got %d", errCount)</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ini membuktikan bahwa pool klien berukuran 20 pada server berkapasitas 10 selalu menghasilkan penolakan deterministik. Hanya pada jalur ini kegagalan server terbukti terjadi karena aplikasi mengabaikan batas kapasitas fisik backend database.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Oversized client pools inevitably trigger server-side connection exhaustion rejections under load.</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tests/pool_test.go:51-86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Test: Kebocoran Satu Worker Melumpuhkan Worker Lain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Permintaan kedua timeout karena koneksi tunggal tersandera I/O eksternal.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TestConnectionStarvationDueToLeak(t *testing.T) {</a:t>
            </a:r>
            <a:br/>
            <a:r>
              <a:t>    db.SetMaxOpenConns(1) // Pool ketat berukuran 1 koneksi</a:t>
            </a:r>
            <a:br/>
            <a:r>
              <a:t>    go func() {</a:t>
            </a:r>
            <a:br/>
            <a:r>
              <a:t>        _ = svc.ProcessOrderUnsafeLeak(ctx, 1, func() error {</a:t>
            </a:r>
            <a:br/>
            <a:r>
              <a:t>            close(acquired); time.Sleep(100 * time.Millisecond); return nil</a:t>
            </a:r>
            <a:br/>
            <a:r>
              <a:t>        })</a:t>
            </a:r>
            <a:br/>
            <a:r>
              <a:t>    }()</a:t>
            </a:r>
            <a:br/>
            <a:r>
              <a:t>    &lt;-acquired</a:t>
            </a:r>
            <a:br/>
            <a:r>
              <a:t>    ctx, cancel := context.WithTimeout(ctx, 20*time.Millisecond)</a:t>
            </a:r>
            <a:br/>
            <a:r>
              <a:t>    defer cancel()</a:t>
            </a:r>
            <a:br/>
            <a:r>
              <a:t>    err := svc.ProcessOrderSafe(ctx, 2, nil) // Gagal timeout 20ms</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Unit test mereproduksi pool starvation secara deterministik pada pool berukuran satu koneksi. Terjadinya timeout pada pemanggil yang aman bukan berarti kodenya cacat, melainkan akibat soket tunggal tersandera oleh fungsi lain yang ceroboh menjalankan delay jaringan eksternal.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Unreleased connection handles monopolize shared pools, causing collateral starvation for valid requests.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tests/pool_test.go:88-124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Verifikasi Test: Bahaya Deadlock Akuisisi Koneksi Bersarang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Meminta koneksi kedua pada thread yang sama saat pool berukuran 1 memicu hang.</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TestPoolLockingDeadlock(t *testing.T) {</a:t>
            </a:r>
            <a:br/>
            <a:r>
              <a:t>    db.SetMaxOpenConns(1) // Pool berukuran 1</a:t>
            </a:r>
            <a:br/>
            <a:r>
              <a:t>    ctx, cancel := context.WithTimeout(context.Background(), 50*time.Millisecond)</a:t>
            </a:r>
            <a:br/>
            <a:r>
              <a:t>    defer cancel()</a:t>
            </a:r>
            <a:br/>
            <a:r>
              <a:t>    conn1, err := db.Conn(ctx)</a:t>
            </a:r>
            <a:br/>
            <a:r>
              <a:t>    if err != nil { t.Fatalf("failed to acquire first: %v", err) }</a:t>
            </a:r>
            <a:br/>
            <a:r>
              <a:t>    defer conn1.Close()</a:t>
            </a:r>
            <a:br/>
            <a:r>
              <a:t>    _, err = db.Conn(ctx) // Meminta koneksi kedua pada pool yang sama!</a:t>
            </a:r>
            <a:br/>
            <a:r>
              <a:t>    if err == nil { t.Fatalf("expected context deadline exceeded, got nil")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Pengujian ini memvalidasi skenario pool-locking di mana sebuah thread mencoba mengakuisisi koneksi kedua sementara koneksi pertama belum dilepas. Verifikasi ini cakupannya mengikuti test lab, memvalidasi formula Tn x (Cm - 1) + 1 sebagai syarat matematis mutlak pencegah kebuntuan pool.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Nested connection acquisition without sufficient pool headroom results in deterministic thread self-deadlock.</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tests/pool_test.go:154-174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Checklist Manajemen Koneksi di Lingkungan Produksi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Protokol wajib arsitektur sebelum merilis pool database ke lingkungan berskala tinggi.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STANDAR REKAYASA KONEKSI BASIS DATA</a:t>
            </a:r>
          </a:p>
          <a:p>
            <a:pPr>
              <a:spcAft>
                <a:spcPts val="400"/>
              </a:spcAft>
              <a:defRPr sz="1200">
                <a:solidFill>
                  <a:srgbClr val="0B1B2D"/>
                </a:solidFill>
              </a:defRPr>
            </a:pPr>
            <a:r>
              <a:t>• Hitung total armada: (instance_count x pool_size) wajib lebih kecil dari max_connections.</a:t>
            </a:r>
          </a:p>
          <a:p>
            <a:pPr>
              <a:spcAft>
                <a:spcPts val="400"/>
              </a:spcAft>
              <a:defRPr sz="1200">
                <a:solidFill>
                  <a:srgbClr val="0B1B2D"/>
                </a:solidFill>
              </a:defRPr>
            </a:pPr>
            <a:r>
              <a:t>• Sisihkan 15 slot koneksi untuk maintenance, superuser, dan physical replication.</a:t>
            </a:r>
          </a:p>
          <a:p>
            <a:pPr>
              <a:spcAft>
                <a:spcPts val="400"/>
              </a:spcAft>
              <a:defRPr sz="1200">
                <a:solidFill>
                  <a:srgbClr val="0B1B2D"/>
                </a:solidFill>
              </a:defRPr>
            </a:pPr>
            <a:r>
              <a:t>• Pastikan tidak ada panggilan I/O jaringan atau komputasi file di dalam blok koneksi.</a:t>
            </a:r>
          </a:p>
          <a:p>
            <a:pPr>
              <a:spcAft>
                <a:spcPts val="400"/>
              </a:spcAft>
              <a:defRPr sz="1200">
                <a:solidFill>
                  <a:srgbClr val="0B1B2D"/>
                </a:solidFill>
              </a:defRPr>
            </a:pPr>
            <a:r>
              <a:t>• Gunakan defer conn.Close() atau helper sql.DB tingkat tinggi pada setiap percabangan.</a:t>
            </a:r>
          </a:p>
          <a:p>
            <a:pPr>
              <a:spcAft>
                <a:spcPts val="400"/>
              </a:spcAft>
              <a:defRPr sz="1200">
                <a:solidFill>
                  <a:srgbClr val="0B1B2D"/>
                </a:solidFill>
              </a:defRPr>
            </a:pPr>
            <a:r>
              <a:t>• Pasang context timeout ketat pada setiap peminjaman soket dan eksekusi query SQL.</a:t>
            </a:r>
          </a:p>
          <a:p>
            <a:pPr>
              <a:spcAft>
                <a:spcPts val="400"/>
              </a:spcAft>
              <a:defRPr sz="1200">
                <a:solidFill>
                  <a:srgbClr val="0B1B2D"/>
                </a:solidFill>
              </a:defRPr>
            </a:pPr>
            <a:r>
              <a:t>• Aktifkan leak detection threshold (HikariCP / wrapper) untuk menangkap stack trace leak.</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Checklist ini merangkum langkah audit koneksi wajib: verifikasi total koneksi deployment, pencadangan slot administratif, pembebasan transaksi dari panggilan eksternal, penutupan deterministik via defer, pemasangan batas context timeout, serta pemantauan durasi pinjam.</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Enforce strict operational standards across connection sizing, lifecycle scoping, and timeout boundaries.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content/02-master-draft.md:205-215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Anti-Pattern Umum dalam Arsitektur Connection Pool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Kekeliruan konfigurasi yang kerap melumpuhkan stabilitas database relasional.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POLA BERBAHAYA YANG HARUS DIHINDARI</a:t>
            </a:r>
          </a:p>
          <a:p>
            <a:pPr>
              <a:spcAft>
                <a:spcPts val="400"/>
              </a:spcAft>
              <a:defRPr sz="1200">
                <a:solidFill>
                  <a:srgbClr val="0B1B2D"/>
                </a:solidFill>
              </a:defRPr>
            </a:pPr>
            <a:r>
              <a:t>• Naikkan Pool Saat Error: Merespons error koneksi dengan memperbesar pool; memperparah CPU thrashing dan lock contention.</a:t>
            </a:r>
          </a:p>
          <a:p>
            <a:pPr>
              <a:spcAft>
                <a:spcPts val="400"/>
              </a:spcAft>
              <a:defRPr sz="1200">
                <a:solidFill>
                  <a:srgbClr val="0B1B2D"/>
                </a:solidFill>
              </a:defRPr>
            </a:pPr>
            <a:r>
              <a:t>• Sizing Per-Instance: Menghitung pool secara lokal tanpa mengalikan jumlah replica pod pada orkestrasi Kubernetes.</a:t>
            </a:r>
          </a:p>
          <a:p>
            <a:pPr>
              <a:spcAft>
                <a:spcPts val="400"/>
              </a:spcAft>
              <a:defRPr sz="1200">
                <a:solidFill>
                  <a:srgbClr val="0B1B2D"/>
                </a:solidFill>
              </a:defRPr>
            </a:pPr>
            <a:r>
              <a:t>• Bukan Berarti Gratis: Menganggap koneksi idle gratis bukan berarti tanpa beban; RAM backend tetap terkuras permanen.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Menaikkan ukuran pool saat database mengalami galat koneksi adalah anti-pattern paling umum yang memperparah insiden produksi. Mengabaikan konsumsi memori koneksi idle bukan berarti sistem bebas beban, melainkan mengunci ratusan megabyte RAM backend yang semestinya dipakai untuk buffer cache.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Avoid reactive pool enlargement and account for cumulative connection costs across container replicas.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content/02-master-draft.md:186-196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Reproduksi Mandiri di Mesin Lokal Menggunakan Go</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Verifikasi mandiri seluruh perilaku pool tanpa dependensi database eksternal.</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cd labs/19-database-connection-pooling</a:t>
            </a:r>
            <a:br/>
            <a:r>
              <a:t>go test -v ./...    # menjalankan 10 test suite verifikasi overhead, limit, dan leak</a:t>
            </a:r>
            <a:br/>
            <a:r>
              <a:t>go test -race ./... # pembuktian sinkronisasi konkurensi bersih tanpa data race</a:t>
            </a:r>
            <a:br/>
            <a:r>
              <a:t>go run ./cmd/demo   # eksekusi demonstrasi interaktif skenario 1, 2, dan 3</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Seluruh arsitektur dibangun murni menggunakan pustaka standar Go tanpa perlu menginstal server PostgreSQL lokal. Pengujian ini memvalidasi mekanika peminjaman soket, namun production masih perlu mengonfigurasi parameter PgBouncer serta pemantauan metrik pg_stat_activity.</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Self-contained standard library harnesses enable rapid, zero-dependency validation of connection architectures.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README.md:1-35</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Prinsip Inti: Pool Lebih Kecil, Sistem Lebih Cepat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Stabilitas sistem basis data bertumpu pada disiplin pembatasan konkurensi.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TIGA PILAR KETAHANAN KONEKSI SISTEM</a:t>
            </a:r>
          </a:p>
          <a:p>
            <a:pPr>
              <a:spcAft>
                <a:spcPts val="400"/>
              </a:spcAft>
              <a:defRPr sz="1200">
                <a:solidFill>
                  <a:srgbClr val="0B1B2D"/>
                </a:solidFill>
              </a:defRPr>
            </a:pPr>
            <a:r>
              <a:t>• Batas Sizing Konservatif: Jadikan kapasitas hardware sebagai batas atas; batasi antrean di aplikasi alih-alih di database.</a:t>
            </a:r>
          </a:p>
          <a:p>
            <a:pPr>
              <a:spcAft>
                <a:spcPts val="400"/>
              </a:spcAft>
              <a:defRPr sz="1200">
                <a:solidFill>
                  <a:srgbClr val="0B1B2D"/>
                </a:solidFill>
              </a:defRPr>
            </a:pPr>
            <a:r>
              <a:t>• Isolasi I/O Ketat: Keluarkan seluruh panggilan eksternal dari penahanan koneksi; pinjam hanya saat query siap.</a:t>
            </a:r>
          </a:p>
          <a:p>
            <a:pPr>
              <a:spcAft>
                <a:spcPts val="400"/>
              </a:spcAft>
              <a:defRPr sz="1200">
                <a:solidFill>
                  <a:srgbClr val="0B1B2D"/>
                </a:solidFill>
              </a:defRPr>
            </a:pPr>
            <a:r>
              <a:t>• Skalabilitas Horizontal: Tidak otomatis menaikkan slot; gunakan proxy pooling transaksi untuk ribuan klien.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Pertanyaan mendasar dalam rekayasa perangkat lunak bukanlah seberapa besar pool yang bisa dibuat, melainkan sekecil apa pool yang masih mampu memenuhi target throughput. Menghadapi lonjakan traffic tidak otomatis diselesaikan dengan menaikkan koneksi server, melainkan dengan memasang proxy pooling transaksi.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Resilient architectures maintain compact connection pools, isolate external I/O, and scale via proxies.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content/05-key-takeaways.md:1-20</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19</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Koneksi database adalah sumber daya terbatas backend, bukan variabel yang bisa diperbesar tanpa batas.</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Database connections are finite physical resources that demand strict lifecycle governance and proxy mediation.</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19 - Database Connection Pooling</a:t>
            </a:r>
          </a:p>
          <a:p>
            <a:pPr>
              <a:defRPr sz="1200">
                <a:solidFill>
                  <a:srgbClr val="CBD5E1"/>
                </a:solidFill>
              </a:defRPr>
            </a:pPr>
            <a:r>
              <a:t>https://github.com/lukman-ss/software-engineering-lab/tree/main/labs/19-database-connection-pooling</a:t>
            </a:r>
          </a:p>
          <a:p>
            <a:br/>
            <a:pPr>
              <a:defRPr sz="1100" b="1">
                <a:solidFill>
                  <a:srgbClr val="20C997"/>
                </a:solidFill>
              </a:defRPr>
            </a:pPr>
            <a:r>
              <a:t>REPOSITORY</a:t>
            </a:r>
          </a:p>
          <a:p>
            <a:pPr>
              <a:defRPr sz="1100">
                <a:solidFill>
                  <a:srgbClr val="FFFFFF"/>
                </a:solidFill>
                <a:latin typeface="Courier New"/>
              </a:defRPr>
            </a:pPr>
            <a:r>
              <a:t>github.com/lukman-ss/software-engineering-lab/tree/main/labs/19-database-connection-pooling</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b2d3274</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Database • Connection Pooling • Concurrency • Resource Starvation • Go • PostgreSQL</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