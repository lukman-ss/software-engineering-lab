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WebSocket vs Server-Sent Events</a:t>
            </a:r>
          </a:p>
          <a:p/>
          <a:p>
            <a:r>
              <a:t>Mental Model: Directionality dictates the protocol: server-push belongs to SSE, bidirectional belongs to WebSocket.</a:t>
            </a:r>
          </a:p>
          <a:p/>
          <a:p>
            <a:r>
              <a:t>[]</a:t>
            </a:r>
          </a:p>
          <a:p>
            <a:r>
              <a:t>- Retro CRT monitor dengan scanlines dan kurva phosphor</a:t>
            </a:r>
          </a:p>
          <a:p>
            <a:r>
              <a:t>- Framing RFC 6455 vs text/event-stream HTTP streaming</a:t>
            </a:r>
          </a:p>
          <a:p>
            <a:r>
              <a:t>- Penulis: Lukman / lukman-ss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Dilema Protokol Real-Time Modern</a:t>
            </a:r>
          </a:p>
          <a:p/>
          <a:p>
            <a:r>
              <a:t>Mental Model: Do not pay bidirectional connection tax for unidirectional server push.</a:t>
            </a:r>
          </a:p>
          <a:p/>
          <a:p>
            <a:r>
              <a:t>[GEJALA UMUM]</a:t>
            </a:r>
          </a:p>
          <a:p>
            <a:r>
              <a:t>- Fitur notifikasi dan live dashboard sering otomatis dipasangi WebSocket</a:t>
            </a:r>
          </a:p>
          <a:p>
            <a:r>
              <a:t>- WebSocket memaksakan upgrade TCP, heartbeat kustom, dan reconnection manual</a:t>
            </a:r>
          </a:p>
          <a:p>
            <a:r>
              <a:t>- Proxy reverse dan load balancer memerlukan sticky routing yang rumit</a:t>
            </a:r>
          </a:p>
          <a:p>
            <a:r>
              <a:t>[BIAYA OPERASIONAL]</a:t>
            </a:r>
          </a:p>
          <a:p>
            <a:r>
              <a:t>- Stateful connection membebani memori saat client hanya membaca data pasif</a:t>
            </a:r>
          </a:p>
          <a:p>
            <a:r>
              <a:t>- Kegagalan reconnection storm melumpuhkan gateway saat restart</a:t>
            </a:r>
          </a:p>
          <a:p>
            <a:r>
              <a:t>- Debugging framing biner lebih sulit dibanding stream teks standar</a:t>
            </a:r>
          </a:p>
          <a:p>
            <a:r>
              <a:t>[PERTANYAAN UTAMA]</a:t>
            </a:r>
          </a:p>
          <a:p>
            <a:r>
              <a:t>- Kapan arsitektur benar-benar memerlukan pipa dua arah (bidirectional)?</a:t>
            </a:r>
          </a:p>
          <a:p>
            <a:r>
              <a:t>- Bagaimana memanfaatkan streaming HTTP standar tanpa overhead WebSocket?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Mental Model: Directionality Rule</a:t>
            </a:r>
          </a:p>
          <a:p/>
          <a:p>
            <a:r>
              <a:t>Mental Model: Directionality dictates the protocol: server-push belongs to SSE, bidirectional belongs to WebSocket.</a:t>
            </a:r>
          </a:p>
          <a:p/>
          <a:p>
            <a:r>
              <a:t>[SERVER-PUSH ONLY]</a:t>
            </a:r>
          </a:p>
          <a:p>
            <a:r>
              <a:t>- Arah komunikasi: Server -&gt; Client secara sepihak</a:t>
            </a:r>
          </a:p>
          <a:p>
            <a:r>
              <a:t>- Contoh: Notifikasi sistem, live stock ticker, streaming token LLM</a:t>
            </a:r>
          </a:p>
          <a:p>
            <a:r>
              <a:t>- Solusi tepat: Server-Sent Events (SSE) berbasis HTTP standar</a:t>
            </a:r>
          </a:p>
          <a:p>
            <a:r>
              <a:t>[FULL-DUPLEX BIDIRECTIONAL]</a:t>
            </a:r>
          </a:p>
          <a:p>
            <a:r>
              <a:t>- Arah komunikasi: Server &lt;-&gt; Client secara independen dan simultan</a:t>
            </a:r>
          </a:p>
          <a:p>
            <a:r>
              <a:t>- Contoh: Chat interaktif, collaborative canvas, multiplayer game</a:t>
            </a:r>
          </a:p>
          <a:p>
            <a:r>
              <a:t>- Solusi tepat: WebSocket (RFC 6455) atas koneksi raw TCP</a:t>
            </a:r>
          </a:p>
          <a:p>
            <a:r>
              <a:t>[PEDOMAN ARSITEKTUR]</a:t>
            </a:r>
          </a:p>
          <a:p>
            <a:r>
              <a:t>- Jika client tidak pernah mengirim pesan di channel yang sama: pilih SSE</a:t>
            </a:r>
          </a:p>
          <a:p>
            <a:r>
              <a:t>- Jika client harus push data dengan latensi sub-milidetik: pilih WebSocket</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Topologi Arsitektur Lab 35</a:t>
            </a:r>
          </a:p>
          <a:p/>
          <a:p>
            <a:r>
              <a:t>Mental Model: Unified standard library architecture demonstrates both protocols side by side without third-party bias.</a:t>
            </a:r>
          </a:p>
          <a:p/>
          <a:p>
            <a:r>
              <a:t>[ENDPOINT DISPATCH]</a:t>
            </a:r>
          </a:p>
          <a:p>
            <a:r>
              <a:t>- GET /sse      -&gt; SSE Hub (Handler streaming text/event-stream)</a:t>
            </a:r>
          </a:p>
          <a:p>
            <a:r>
              <a:t>- GET /ws       -&gt; WebSocket Upgrader (RFC 6455 Hijack + loop)</a:t>
            </a:r>
          </a:p>
          <a:p>
            <a:r>
              <a:t>- POST /publish -&gt; Trigger broadcast event ke seluruh client SSE aktif</a:t>
            </a:r>
          </a:p>
          <a:p>
            <a:r>
              <a:t>[ZERO DEPENDENCIES]</a:t>
            </a:r>
          </a:p>
          <a:p>
            <a:r>
              <a:t>- Implementasi 100% Go Standard Library (net/http, sync, crypto)</a:t>
            </a:r>
          </a:p>
          <a:p>
            <a:r>
              <a:t>- Tanpa gorilla/websocket atau pustaka eksternal pihak ketiga</a:t>
            </a:r>
          </a:p>
          <a:p>
            <a:r>
              <a:t>- Membuktikan mekanisme low-level framing dan HTTP connection hijacking</a:t>
            </a:r>
          </a:p>
          <a:p>
            <a:r>
              <a:t>[ISOLASI KOMPONEN]</a:t>
            </a:r>
          </a:p>
          <a:p>
            <a:r>
              <a:t>- internal/sse: Hub broadcast dengan buffer history dan Last-Event-ID</a:t>
            </a:r>
          </a:p>
          <a:p>
            <a:r>
              <a:t>- internal/ws: RFC 6455 parser, unmasking XOR, frame text &amp; binary</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Anatomi Server-Sent Events (SSE)</a:t>
            </a:r>
          </a:p>
          <a:p/>
          <a:p>
            <a:r>
              <a:t>Mental Model: SSE is plain HTTP with structured text frames delimited by double newlines.</a:t>
            </a:r>
          </a:p>
          <a:p/>
          <a:p>
            <a:r>
              <a:t>[HEADER STANDAR HTTP]</a:t>
            </a:r>
          </a:p>
          <a:p>
            <a:r>
              <a:t>- Content-Type: text/event-stream (wajib untuk browser EventSource)</a:t>
            </a:r>
          </a:p>
          <a:p>
            <a:r>
              <a:t>- Cache-Control: no-cache (mencegah caching di perantara)</a:t>
            </a:r>
          </a:p>
          <a:p>
            <a:r>
              <a:t>- Connection: keep-alive (menjaga socket TCP tetap terbuka)</a:t>
            </a:r>
          </a:p>
          <a:p>
            <a:r>
              <a:t>- X-Accel-Buffering: no (menonaktifkan buffering di Nginx proxy)</a:t>
            </a:r>
          </a:p>
          <a:p>
            <a:r>
              <a:t>[STRUKTUR FRAME EVENT]</a:t>
            </a:r>
          </a:p>
          <a:p>
            <a:r>
              <a:t>- id: &lt;nomor&gt;        -&gt; Identifier unik untuk resumption</a:t>
            </a:r>
          </a:p>
          <a:p>
            <a:r>
              <a:t>- event: &lt;nama&gt;      -&gt; Tipe custom event untuk event listener</a:t>
            </a:r>
          </a:p>
          <a:p>
            <a:r>
              <a:t>- retry: &lt;milidetik&gt; -&gt; Durasi tunggu reconnect client browser</a:t>
            </a:r>
          </a:p>
          <a:p>
            <a:r>
              <a:t>- data: &lt;konten&gt;     -&gt; Payload teks (dapat multi-line dengan data: prefix)</a:t>
            </a:r>
          </a:p>
          <a:p>
            <a:r>
              <a:t>[DELIMITER BLOK]</a:t>
            </a:r>
          </a:p>
          <a:p>
            <a:r>
              <a:t>- Setiap baris diakhiri \n tunggal</a:t>
            </a:r>
          </a:p>
          <a:p>
            <a:r>
              <a:t>- Akhir dari satu blok event ditandai dengan \n\n ganda</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Format Event SSE: Multi-Line Framing</a:t>
            </a:r>
          </a:p>
          <a:p/>
          <a:p>
            <a:r>
              <a:t>Mental Model: Split multi-line data payloads across multiple data prefixes before terminating with double newline.</a:t>
            </a:r>
          </a:p>
          <a:p/>
          <a:p>
            <a:r>
              <a:t>[KODE SSE FORMAT]</a:t>
            </a:r>
          </a:p>
          <a:p>
            <a:r>
              <a:t>- func (e Event) Format() []byte {</a:t>
            </a:r>
          </a:p>
          <a:p>
            <a:r>
              <a:t>-     var sb strings.Builder</a:t>
            </a:r>
          </a:p>
          <a:p>
            <a:r>
              <a:t>-     if e.ID &gt; 0 { fmt.Fprintf(&amp;sb, "id: %d\n", e.ID) }</a:t>
            </a:r>
          </a:p>
          <a:p>
            <a:r>
              <a:t>-     if e.Event != "" { fmt.Fprintf(&amp;sb, "event: %s\n", e.Event) }</a:t>
            </a:r>
          </a:p>
          <a:p>
            <a:r>
              <a:t>-     if e.Retry &gt; 0 { fmt.Fprintf(&amp;sb, "retry: %d\n", e.Retry) }</a:t>
            </a:r>
          </a:p>
          <a:p>
            <a:r>
              <a:t>-     lines := strings.Split(e.Data, "\n")</a:t>
            </a:r>
          </a:p>
          <a:p>
            <a:r>
              <a:t>-     for _, l := range lines {</a:t>
            </a:r>
          </a:p>
          <a:p>
            <a:r>
              <a:t>-         fmt.Fprintf(&amp;sb, "data: %s\n", l)</a:t>
            </a:r>
          </a:p>
          <a:p>
            <a:r>
              <a:t>-     }</a:t>
            </a:r>
          </a:p>
          <a:p>
            <a:r>
              <a:t>-     sb.WriteString("\n")</a:t>
            </a:r>
          </a:p>
          <a:p>
            <a:r>
              <a:t>-     return []byte(sb.String())</a:t>
            </a:r>
          </a:p>
          <a:p>
            <a:r>
              <a:t>- }</a:t>
            </a:r>
          </a:p>
          <a:p>
            <a:r>
              <a:t>[ATURAN MULTI-LINE]</a:t>
            </a:r>
          </a:p>
          <a:p>
            <a:r>
              <a:t>- Payload data yang memiliki newline harus dipecah menjadi beberapa baris data:</a:t>
            </a:r>
          </a:p>
          <a:p>
            <a:r>
              <a:t>- Browser EventSource akan menggabungkan kembali baris-baris tersebut dengan newline</a:t>
            </a:r>
          </a:p>
          <a:p>
            <a:r>
              <a:t>- Trailing newline kedua menutup frame dan memicu event dispatch di client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SSE Hub: Resumption via Last-Event-ID</a:t>
            </a:r>
          </a:p>
          <a:p/>
          <a:p>
            <a:r>
              <a:t>Mental Model: Last-Event-ID is a built-in recovery offset: replay what was missed, then stream live.</a:t>
            </a:r>
          </a:p>
          <a:p/>
          <a:p>
            <a:r>
              <a:t>[MEKANISME RESUMPTION]</a:t>
            </a:r>
          </a:p>
          <a:p>
            <a:r>
              <a:t>- Client terputus -&gt; browser otomatis reconnect mengirim header Last-Event-ID</a:t>
            </a:r>
          </a:p>
          <a:p>
            <a:r>
              <a:t>- Hub membaca Last-Event-ID dan memfilter history: evt.ID &gt; lastID</a:t>
            </a:r>
          </a:p>
          <a:p>
            <a:r>
              <a:t>- Event yang terlewat dikirimkan seketika sebelum mendengarkan stream live</a:t>
            </a:r>
          </a:p>
          <a:p>
            <a:r>
              <a:t>[KODE SUBSCRIBE &amp; REPLAY]</a:t>
            </a:r>
          </a:p>
          <a:p>
            <a:r>
              <a:t>- func (h *Hub) Subscribe(lastID int) (chan Event, []Event, func()) {</a:t>
            </a:r>
          </a:p>
          <a:p>
            <a:r>
              <a:t>-     h.mu.Lock(); defer h.mu.Unlock()</a:t>
            </a:r>
          </a:p>
          <a:p>
            <a:r>
              <a:t>-     var replay []Event</a:t>
            </a:r>
          </a:p>
          <a:p>
            <a:r>
              <a:t>-     for _, evt := range h.history {</a:t>
            </a:r>
          </a:p>
          <a:p>
            <a:r>
              <a:t>-         if evt.ID &gt; lastID { replay = append(replay, evt) }</a:t>
            </a:r>
          </a:p>
          <a:p>
            <a:r>
              <a:t>-     }</a:t>
            </a:r>
          </a:p>
          <a:p>
            <a:r>
              <a:t>-     ch := make(chan Event, 64)</a:t>
            </a:r>
          </a:p>
          <a:p>
            <a:r>
              <a:t>-     h.clients[ch] = struct{}{}</a:t>
            </a:r>
          </a:p>
          <a:p>
            <a:r>
              <a:t>-     return ch, replay, func() { ... }</a:t>
            </a:r>
          </a:p>
          <a:p>
            <a:r>
              <a:t>- }</a:t>
            </a:r>
          </a:p>
          <a:p>
            <a:r>
              <a:t>[JAMINAN KONSISTENSI]</a:t>
            </a:r>
          </a:p>
          <a:p>
            <a:r>
              <a:t>- Client tidak kehilangan update penting akibat network flap sementara</a:t>
            </a:r>
          </a:p>
          <a:p>
            <a:r>
              <a:t>- Proses terjadi transparan tanpa perlu logika retry kustom di aplikasi</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Loop Streaming HTTP &amp; Heartbeat</a:t>
            </a:r>
          </a:p>
          <a:p/>
          <a:p>
            <a:r>
              <a:t>Mental Model: Flushing pushes frames instantly; comment frames defeat proxy idle timeouts.</a:t>
            </a:r>
          </a:p>
          <a:p/>
          <a:p>
            <a:r>
              <a:t>[KODE SERVEHTTP SSE]</a:t>
            </a:r>
          </a:p>
          <a:p>
            <a:r>
              <a:t>- flusher, ok := w.(http.Flusher)</a:t>
            </a:r>
          </a:p>
          <a:p>
            <a:r>
              <a:t>- for {</a:t>
            </a:r>
          </a:p>
          <a:p>
            <a:r>
              <a:t>-     select {</a:t>
            </a:r>
          </a:p>
          <a:p>
            <a:r>
              <a:t>-     case &lt;-ctx.Done(): return</a:t>
            </a:r>
          </a:p>
          <a:p>
            <a:r>
              <a:t>-     case evt, ok := &lt;-ch:</a:t>
            </a:r>
          </a:p>
          <a:p>
            <a:r>
              <a:t>-         if !ok { return }</a:t>
            </a:r>
          </a:p>
          <a:p>
            <a:r>
              <a:t>-         w.Write(evt.Format())</a:t>
            </a:r>
          </a:p>
          <a:p>
            <a:r>
              <a:t>-         flusher.Flush()</a:t>
            </a:r>
          </a:p>
          <a:p>
            <a:r>
              <a:t>-     case &lt;-ticker.C:</a:t>
            </a:r>
          </a:p>
          <a:p>
            <a:r>
              <a:t>-         w.Write([]byte(": keep-alive\n\n"))</a:t>
            </a:r>
          </a:p>
          <a:p>
            <a:r>
              <a:t>-         flusher.Flush()</a:t>
            </a:r>
          </a:p>
          <a:p>
            <a:r>
              <a:t>-     }</a:t>
            </a:r>
          </a:p>
          <a:p>
            <a:r>
              <a:t>- }</a:t>
            </a:r>
          </a:p>
          <a:p>
            <a:r>
              <a:t>[PERAN FLUSHER]</a:t>
            </a:r>
          </a:p>
          <a:p>
            <a:r>
              <a:t>- http.Flusher mendorong buffer HTTP kernel seketika tanpa menunggu penuh</a:t>
            </a:r>
          </a:p>
          <a:p>
            <a:r>
              <a:t>- Mencegah penumpukan paket di TCP socket buffer</a:t>
            </a:r>
          </a:p>
          <a:p>
            <a:r>
              <a:t>[KOMENTAR KEEP-ALIVE]</a:t>
            </a:r>
          </a:p>
          <a:p>
            <a:r>
              <a:t>- Prefix titik dua (':') diabaikan oleh parser EventSource browser</a:t>
            </a:r>
          </a:p>
          <a:p>
            <a:r>
              <a:t>- Mengirim data setiap 15 detik untuk menjaga state NAT/Firewall proxy tetap open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Anatomi Protokol WebSocket (RFC 6455)</a:t>
            </a:r>
          </a:p>
          <a:p/>
          <a:p>
            <a:r>
              <a:t>Mental Model: WebSocket begins as HTTP handshake then metamorphoses into raw TCP binary framing.</a:t>
            </a:r>
          </a:p>
          <a:p/>
          <a:p>
            <a:r>
              <a:t>[HANDSHAKE HTTP/1.1]</a:t>
            </a:r>
          </a:p>
          <a:p>
            <a:r>
              <a:t>- Request: GET /ws dengan Upgrade: websocket &amp; Connection: Upgrade</a:t>
            </a:r>
          </a:p>
          <a:p>
            <a:r>
              <a:t>- Sec-WebSocket-Key: Nilai random 16-byte yang di-encode base64</a:t>
            </a:r>
          </a:p>
          <a:p>
            <a:r>
              <a:t>- Respons: HTTP/1.1 101 Switching Protocols</a:t>
            </a:r>
          </a:p>
          <a:p>
            <a:r>
              <a:t>- Sec-WebSocket-Accept: base64(SHA-1(Key + WS_GUID))</a:t>
            </a:r>
          </a:p>
          <a:p>
            <a:r>
              <a:t>[KONEKSI NON-HTTP]</a:t>
            </a:r>
          </a:p>
          <a:p>
            <a:r>
              <a:t>- Setelah status 101, socket dilepas dari HTTP engine (Hijacked)</a:t>
            </a:r>
          </a:p>
          <a:p>
            <a:r>
              <a:t>- Komunikasi beralih ke framing biner raw TCP berarah ganda</a:t>
            </a:r>
          </a:p>
          <a:p>
            <a:r>
              <a:t>- Server dan client dapat mengirim frame kapan saja secara simultan</a:t>
            </a:r>
          </a:p>
          <a:p>
            <a:r>
              <a:t>[TIPE PAYLOAD]</a:t>
            </a:r>
          </a:p>
          <a:p>
            <a:r>
              <a:t>- Mendukung teks UTF-8 murni (Opcode 0x1)</a:t>
            </a:r>
          </a:p>
          <a:p>
            <a:r>
              <a:t>- Mendukung raw binary byte array (Opcode 0x2)</a:t>
            </a:r>
          </a:p>
          <a:p>
            <a:r>
              <a:t>- Control frames: Close (0x8), Ping (0x9), Pong (0xA)</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Handshake Upgrade &amp; Connection Hijacking</a:t>
            </a:r>
          </a:p>
          <a:p/>
          <a:p>
            <a:r>
              <a:t>Mental Model: Hijacking frees the raw TCP socket from net/http lifecycle constraints.</a:t>
            </a:r>
          </a:p>
          <a:p/>
          <a:p>
            <a:r>
              <a:t>[KODE UPGRADE GO]</a:t>
            </a:r>
          </a:p>
          <a:p>
            <a:r>
              <a:t>- h := sha1.New()</a:t>
            </a:r>
          </a:p>
          <a:p>
            <a:r>
              <a:t>- h.Write([]byte(key + "258EAFA5-E914-47DA-95CA-C5AB0DC85B11"))</a:t>
            </a:r>
          </a:p>
          <a:p>
            <a:r>
              <a:t>- accept := base64.StdEncoding.EncodeToString(h.Sum(nil))</a:t>
            </a:r>
          </a:p>
          <a:p>
            <a:r>
              <a:t>- </a:t>
            </a:r>
          </a:p>
          <a:p>
            <a:r>
              <a:t>- hj, ok := w.(http.Hijacker)</a:t>
            </a:r>
          </a:p>
          <a:p>
            <a:r>
              <a:t>- netConn, bufrw, err := hj.Hijack()</a:t>
            </a:r>
          </a:p>
          <a:p>
            <a:r>
              <a:t>- resp := "HTTP/1.1 101 Switching Protocols\r\n" +</a:t>
            </a:r>
          </a:p>
          <a:p>
            <a:r>
              <a:t>-     "Upgrade: websocket\r\nConnection: Upgrade\r\n" +</a:t>
            </a:r>
          </a:p>
          <a:p>
            <a:r>
              <a:t>-     "Sec-WebSocket-Accept: " + accept + "\r\n\r\n"</a:t>
            </a:r>
          </a:p>
          <a:p>
            <a:r>
              <a:t>- bufrw.WriteString(resp); bufrw.Flush()</a:t>
            </a:r>
          </a:p>
          <a:p>
            <a:r>
              <a:t>[IMPLIKASI HIJACK]</a:t>
            </a:r>
          </a:p>
          <a:p>
            <a:r>
              <a:t>- net/http tidak lagi mengelola timeout atau penutupan socket</a:t>
            </a:r>
          </a:p>
          <a:p>
            <a:r>
              <a:t>- Aplikasi bertanggung jawab penuh atas buffer I/O dan life cycle koneksi</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Struktur Frame Biner RFC 6455</a:t>
            </a:r>
          </a:p>
          <a:p/>
          <a:p>
            <a:r>
              <a:t>Mental Model: Bit-level efficiency: 2-byte minimum header accommodates small frames to gigabytes.</a:t>
            </a:r>
          </a:p>
          <a:p/>
          <a:p>
            <a:r>
              <a:t>[LAYOUT FRAME RFC 6455]</a:t>
            </a:r>
          </a:p>
          <a:p>
            <a:r>
              <a:t>- Byte 0: FIN (1 bit) + RSV (3 bits) + Opcode (4 bits)</a:t>
            </a:r>
          </a:p>
          <a:p>
            <a:r>
              <a:t>- Byte 1: MASK (1 bit) + Payload Length (7 bits)</a:t>
            </a:r>
          </a:p>
          <a:p>
            <a:r>
              <a:t>- Extended Length (opsional): 2 bytes (jika len=126) atau 8 bytes (jika len=127)</a:t>
            </a:r>
          </a:p>
          <a:p>
            <a:r>
              <a:t>- Masking Key: 4 bytes (wajib ada untuk frame dari client ke server)</a:t>
            </a:r>
          </a:p>
          <a:p>
            <a:r>
              <a:t>- Payload Data: N bytes (dimasking dengan XOR jika MASK=1)</a:t>
            </a:r>
          </a:p>
          <a:p>
            <a:r>
              <a:t>[ENCODING PANJANG PAYLOAD]</a:t>
            </a:r>
          </a:p>
          <a:p>
            <a:r>
              <a:t>- &lt;= 125 bytes     -&gt; Cukup 7 bit pada Byte 1</a:t>
            </a:r>
          </a:p>
          <a:p>
            <a:r>
              <a:t>- 126 - 65,535     -&gt; 7 bit bernilai 126 + 2 byte uint16 BigEndian</a:t>
            </a:r>
          </a:p>
          <a:p>
            <a:r>
              <a:t>- &gt; 65,535 bytes   -&gt; 7 bit bernilai 127 + 8 byte uint64 BigEndian</a:t>
            </a:r>
          </a:p>
          <a:p>
            <a:r>
              <a:t>[ATURAN MASKING]</a:t>
            </a:r>
          </a:p>
          <a:p>
            <a:r>
              <a:t>- Client -&gt; Server: Wajib dimasking (mencegah cache poisoning perantara)</a:t>
            </a:r>
          </a:p>
          <a:p>
            <a:r>
              <a:t>- Server -&gt; Client: Dilarang dimasking (RFC 6455 Section 5.1)</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Parsing Frame &amp; Operasi XOR Masking</a:t>
            </a:r>
          </a:p>
          <a:p/>
          <a:p>
            <a:r>
              <a:t>Mental Model: XOR unmasking restores wire bytes in-place: data[i] ^= mask[i % 4].</a:t>
            </a:r>
          </a:p>
          <a:p/>
          <a:p>
            <a:r>
              <a:t>[KODE READFRAME]</a:t>
            </a:r>
          </a:p>
          <a:p>
            <a:r>
              <a:t>- var head [2]byte</a:t>
            </a:r>
          </a:p>
          <a:p>
            <a:r>
              <a:t>- io.ReadFull(c.rw, head[:])</a:t>
            </a:r>
          </a:p>
          <a:p>
            <a:r>
              <a:t>- opcode = head[0] &amp; 0x0F</a:t>
            </a:r>
          </a:p>
          <a:p>
            <a:r>
              <a:t>- masked := (head[1] &amp; 0x80) != 0</a:t>
            </a:r>
          </a:p>
          <a:p>
            <a:r>
              <a:t>- length := uint64(head[1] &amp; 0x7F)</a:t>
            </a:r>
          </a:p>
          <a:p>
            <a:r>
              <a:t>- // ... handle extended length ...</a:t>
            </a:r>
          </a:p>
          <a:p>
            <a:r>
              <a:t>- if masked {</a:t>
            </a:r>
          </a:p>
          <a:p>
            <a:r>
              <a:t>-     io.ReadFull(c.rw, mask[:])</a:t>
            </a:r>
          </a:p>
          <a:p>
            <a:r>
              <a:t>-     io.ReadFull(c.rw, data)</a:t>
            </a:r>
          </a:p>
          <a:p>
            <a:r>
              <a:t>-     for i := range data {</a:t>
            </a:r>
          </a:p>
          <a:p>
            <a:r>
              <a:t>-         data[i] ^= mask[i%4] // Bitwise XOR unmasking</a:t>
            </a:r>
          </a:p>
          <a:p>
            <a:r>
              <a:t>-     }</a:t>
            </a:r>
          </a:p>
          <a:p>
            <a:r>
              <a:t>- }</a:t>
            </a:r>
          </a:p>
          <a:p>
            <a:r>
              <a:t>[SIFAT SIMETRIS XOR]</a:t>
            </a:r>
          </a:p>
          <a:p>
            <a:r>
              <a:t>- Operasi (A ^ B) ^ B = A</a:t>
            </a:r>
          </a:p>
          <a:p>
            <a:r>
              <a:t>- Proses unmasking di server identik dengan proses masking di client</a:t>
            </a:r>
          </a:p>
          <a:p>
            <a:r>
              <a:t>- Biaya CPU rendah namun membutuhkan iterasi byte-by-byte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WriteFrame: Konstruksi Frame Outbound</a:t>
            </a:r>
          </a:p>
          <a:p/>
          <a:p>
            <a:r>
              <a:t>Mental Model: Mutex synchronization guarantees atomic frame delivery over raw TCP sockets.</a:t>
            </a:r>
          </a:p>
          <a:p/>
          <a:p>
            <a:r>
              <a:t>[KODE WRITEFRAME]</a:t>
            </a:r>
          </a:p>
          <a:p>
            <a:r>
              <a:t>- func (c *Conn) WriteFrame(opcode byte, payload []byte, mask bool) error {</a:t>
            </a:r>
          </a:p>
          <a:p>
            <a:r>
              <a:t>-     c.mu.Lock(); defer c.mu.Unlock()</a:t>
            </a:r>
          </a:p>
          <a:p>
            <a:r>
              <a:t>-     var buf []byte</a:t>
            </a:r>
          </a:p>
          <a:p>
            <a:r>
              <a:t>-     b0 := byte(0x80) | (opcode &amp; 0x0F) // FIN=1</a:t>
            </a:r>
          </a:p>
          <a:p>
            <a:r>
              <a:t>-     buf = append(buf, b0)</a:t>
            </a:r>
          </a:p>
          <a:p>
            <a:r>
              <a:t>-     // ... encode length (7, 16, or 64 bit) ...</a:t>
            </a:r>
          </a:p>
          <a:p>
            <a:r>
              <a:t>-     if mask {</a:t>
            </a:r>
          </a:p>
          <a:p>
            <a:r>
              <a:t>-         // append maskKey and maskedPayload</a:t>
            </a:r>
          </a:p>
          <a:p>
            <a:r>
              <a:t>-     } else {</a:t>
            </a:r>
          </a:p>
          <a:p>
            <a:r>
              <a:t>-         buf = append(buf, payload...)</a:t>
            </a:r>
          </a:p>
          <a:p>
            <a:r>
              <a:t>-     }</a:t>
            </a:r>
          </a:p>
          <a:p>
            <a:r>
              <a:t>-     _, err := c.rw.Write(buf)</a:t>
            </a:r>
          </a:p>
          <a:p>
            <a:r>
              <a:t>-     return err</a:t>
            </a:r>
          </a:p>
          <a:p>
            <a:r>
              <a:t>- }</a:t>
            </a:r>
          </a:p>
          <a:p>
            <a:r>
              <a:t>[THREAD-SAFETY SOCKET]</a:t>
            </a:r>
          </a:p>
          <a:p>
            <a:r>
              <a:t>- Mutex memastikan frame tidak terfragmentasi saat ditulis bersamaan</a:t>
            </a:r>
          </a:p>
          <a:p>
            <a:r>
              <a:t>- Bit FIN=1 menandai frame lengkap (tidak terpecah dalam continuation)</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Server Loop: Echo Teks &amp; Reversal Biner</a:t>
            </a:r>
          </a:p>
          <a:p/>
          <a:p>
            <a:r>
              <a:t>Mental Model: Byte reversal conclusively verifies true binary transport fidelity.</a:t>
            </a:r>
          </a:p>
          <a:p/>
          <a:p>
            <a:r>
              <a:t>[KODE HANDLER LOOP /WS]</a:t>
            </a:r>
          </a:p>
          <a:p>
            <a:r>
              <a:t>- switch op {</a:t>
            </a:r>
          </a:p>
          <a:p>
            <a:r>
              <a:t>- case ws.OpClose:</a:t>
            </a:r>
          </a:p>
          <a:p>
            <a:r>
              <a:t>-     conn.WriteFrame(ws.OpClose, nil, false); return</a:t>
            </a:r>
          </a:p>
          <a:p>
            <a:r>
              <a:t>- case ws.OpPing:</a:t>
            </a:r>
          </a:p>
          <a:p>
            <a:r>
              <a:t>-     conn.WriteFrame(ws.OpPong, data, false)</a:t>
            </a:r>
          </a:p>
          <a:p>
            <a:r>
              <a:t>- case ws.OpText:</a:t>
            </a:r>
          </a:p>
          <a:p>
            <a:r>
              <a:t>-     conn.WriteFrame(ws.OpText, append([]byte("echo: "), data...), false)</a:t>
            </a:r>
          </a:p>
          <a:p>
            <a:r>
              <a:t>- case ws.OpBinary:</a:t>
            </a:r>
          </a:p>
          <a:p>
            <a:r>
              <a:t>-     rev := make([]byte, len(data))</a:t>
            </a:r>
          </a:p>
          <a:p>
            <a:r>
              <a:t>-     for i := range data { rev[i] = data[len(data)-1-i] }</a:t>
            </a:r>
          </a:p>
          <a:p>
            <a:r>
              <a:t>-     conn.WriteFrame(ws.OpBinary, rev, false)</a:t>
            </a:r>
          </a:p>
          <a:p>
            <a:r>
              <a:t>- }</a:t>
            </a:r>
          </a:p>
          <a:p>
            <a:r>
              <a:t>[PEMBUKTIAN BINER]</a:t>
            </a:r>
          </a:p>
          <a:p>
            <a:r>
              <a:t>- Client mengirim 0xDEADBEEF -&gt; Server membalikkan menjadi 0xEFBEADDE</a:t>
            </a:r>
          </a:p>
          <a:p>
            <a:r>
              <a:t>- Membuktikan integritas byte murni tanpa distorsi encoding karakter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Eksekusi Demo: Bukti Terminal Langsung</a:t>
            </a:r>
          </a:p>
          <a:p/>
          <a:p>
            <a:r>
              <a:t>Mental Model: Deterministic verification: SSE resumes exactly from offset; WebSocket mirrors bytes exactly.</a:t>
            </a:r>
          </a:p>
          <a:p/>
          <a:p>
            <a:r>
              <a:t>[OUTPUT DEMO SSE]</a:t>
            </a:r>
          </a:p>
          <a:p>
            <a:r>
              <a:t>- &gt; 1. SSE: Unidirectional Server Push with Last-Event-ID</a:t>
            </a:r>
          </a:p>
          <a:p>
            <a:r>
              <a:t>- Client connected with Last-Event-ID: 1. Received resumed events:</a:t>
            </a:r>
          </a:p>
          <a:p>
            <a:r>
              <a:t>-   [SSE Stream] id: 2</a:t>
            </a:r>
          </a:p>
          <a:p>
            <a:r>
              <a:t>-   [SSE Stream] event: news</a:t>
            </a:r>
          </a:p>
          <a:p>
            <a:r>
              <a:t>-   [SSE Stream] retry: 2000</a:t>
            </a:r>
          </a:p>
          <a:p>
            <a:r>
              <a:t>-   [SSE Stream] data: Update: Faster routing in net/http</a:t>
            </a:r>
          </a:p>
          <a:p>
            <a:r>
              <a:t>[OUTPUT DEMO WEBSOCKET]</a:t>
            </a:r>
          </a:p>
          <a:p>
            <a:r>
              <a:t>- &gt; 2. WebSocket: Full-Duplex Text and Binary Protocol</a:t>
            </a:r>
          </a:p>
          <a:p>
            <a:r>
              <a:t>- Client sending WS text frame: "Hello RFC 6455"</a:t>
            </a:r>
          </a:p>
          <a:p>
            <a:r>
              <a:t>- Server responded with Opcode 0x1 (Text): "echo: Hello RFC 6455"</a:t>
            </a:r>
          </a:p>
          <a:p>
            <a:r>
              <a:t>- Client sending WS binary frame: DEADBEEF</a:t>
            </a:r>
          </a:p>
          <a:p>
            <a:r>
              <a:t>- Server responded with Opcode 0x2 (Binary): EFBEADDE</a:t>
            </a:r>
          </a:p>
          <a:p>
            <a:r>
              <a:t>- Binary frame payload verified successfully.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Hasil Pengujian Test Suite &amp; Concurrency</a:t>
            </a:r>
          </a:p>
          <a:p/>
          <a:p>
            <a:r>
              <a:t>Mental Model: Race-clean test pass proves thread-safe synchronization across concurrent streams.</a:t>
            </a:r>
          </a:p>
          <a:p/>
          <a:p>
            <a:r>
              <a:t>[HASIL EKSEKUSI TEST]</a:t>
            </a:r>
          </a:p>
          <a:p>
            <a:r>
              <a:t>- === RUN   TestSSE_Formatting            -&gt; PASS (0.00s)</a:t>
            </a:r>
          </a:p>
          <a:p>
            <a:r>
              <a:t>- === RUN   TestSSE_LastEventID_Resumption -&gt; PASS (0.00s)</a:t>
            </a:r>
          </a:p>
          <a:p>
            <a:r>
              <a:t>- === RUN   TestWebSocket_TextAndBinary    -&gt; PASS (0.00s)</a:t>
            </a:r>
          </a:p>
          <a:p>
            <a:r>
              <a:t>- === RUN   TestSSE_Concurrency           -&gt; PASS (0.05s)</a:t>
            </a:r>
          </a:p>
          <a:p>
            <a:r>
              <a:t>- PASS: go test -race ./... (1.559s - Race Clean)</a:t>
            </a:r>
          </a:p>
          <a:p>
            <a:r>
              <a:t>[SKENARIO CONCURRENCY]</a:t>
            </a:r>
          </a:p>
          <a:p>
            <a:r>
              <a:t>- 10 client subscriber terhubung secara paralel ke SSE Hub</a:t>
            </a:r>
          </a:p>
          <a:p>
            <a:r>
              <a:t>- 5 event broadcast dipicu secara simultan di goroutine terpisah</a:t>
            </a:r>
          </a:p>
          <a:p>
            <a:r>
              <a:t>- Mutex dan unbuffered select mencegah deadlock maupun blocking antar client</a:t>
            </a:r>
          </a:p>
          <a:p>
            <a:r>
              <a:t>[DETERMINISTIK FORMATTING]</a:t>
            </a:r>
          </a:p>
          <a:p>
            <a:r>
              <a:t>- Test memvalidasi ordering field id, event, retry, data, dan delimiter ganda</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Matriks Evaluasi: WebSocket vs SSE</a:t>
            </a:r>
          </a:p>
          <a:p/>
          <a:p>
            <a:r>
              <a:t>Mental Model: WebSocket optimizes for protocol capability; SSE optimizes for operational simplicity.</a:t>
            </a:r>
          </a:p>
          <a:p/>
          <a:p>
            <a:r>
              <a:t>[TABEL PERBANDINGAN]</a:t>
            </a:r>
          </a:p>
          <a:p>
            <a:r>
              <a:t>- Dimensi           | WebSocket (RFC 6455)      | Server-Sent Events (SSE)</a:t>
            </a:r>
          </a:p>
          <a:p>
            <a:r>
              <a:t>- Arah Komunikasi   | Full-Duplex (2 Arah)      | Unidirectional (Server-&gt;Client)</a:t>
            </a:r>
          </a:p>
          <a:p>
            <a:r>
              <a:t>- Transport / Pipa  | Raw TCP (setelah Upgrade) | Standard HTTP Streaming</a:t>
            </a:r>
          </a:p>
          <a:p>
            <a:r>
              <a:t>- Tipe Payload      | UTF-8 Teks &amp; Raw Biner    | UTF-8 Teks Murni Saja</a:t>
            </a:r>
          </a:p>
          <a:p>
            <a:r>
              <a:t>- Auto-Reconnect    | Manual / Custom Client    | Bawaan Browser EventSource</a:t>
            </a:r>
          </a:p>
          <a:p>
            <a:r>
              <a:t>- Resumption State  | Tidak ada di spec level   | Bawaan via Last-Event-ID</a:t>
            </a:r>
          </a:p>
          <a:p>
            <a:r>
              <a:t>- Proxy / LB Compat | Butuh Sticky / WS Bypass  | Standar HTTP (No buffering)</a:t>
            </a:r>
          </a:p>
          <a:p>
            <a:r>
              <a:t>- HTTP/2 Multiplex  | Butuh RFC 8441 CONNECT    | Native HTTP/2 Multiplexing</a:t>
            </a:r>
          </a:p>
          <a:p>
            <a:r>
              <a:t>[RINGKASAN TRADE-OFF]</a:t>
            </a:r>
          </a:p>
          <a:p>
            <a:r>
              <a:t>- WebSocket unggul dalam fleksibilitas payload dan interaktivitas upstream</a:t>
            </a:r>
          </a:p>
          <a:p>
            <a:r>
              <a:t>- SSE unggul mutlak dalam kesederhanaan operasional dan keandalan jaringan</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Tantangan Proxy, Firewall &amp; Gateway</a:t>
            </a:r>
          </a:p>
          <a:p/>
          <a:p>
            <a:r>
              <a:t>Mental Model: Reverse proxies buffer HTTP unless instructed otherwise; firewalls distrust protocol upgrades.</a:t>
            </a:r>
          </a:p>
          <a:p/>
          <a:p>
            <a:r>
              <a:t>[ISU PROXY PADA WEBSOCKET]</a:t>
            </a:r>
          </a:p>
          <a:p>
            <a:r>
              <a:t>- Load balancer modern (seperti AWS ALB) butuh sticky sessions jika node memegang state in-memory</a:t>
            </a:r>
          </a:p>
          <a:p>
            <a:r>
              <a:t>- Beberapa firewall perusahaan memblokir request non-HTTP setelah Upgrade</a:t>
            </a:r>
          </a:p>
          <a:p>
            <a:r>
              <a:t>- Idle timeout TCP memutus socket jika tidak ada traffic Ping/Pong aktif</a:t>
            </a:r>
          </a:p>
          <a:p>
            <a:r>
              <a:t>[ISU PROXY PADA SSE]</a:t>
            </a:r>
          </a:p>
          <a:p>
            <a:r>
              <a:t>- Buffering di perantara: Nginx menahan chunk response jika proxy_buffering aktif</a:t>
            </a:r>
          </a:p>
          <a:p>
            <a:r>
              <a:t>- Solusi: Tambahkan header X-Accel-Buffering: no pada respons server</a:t>
            </a:r>
          </a:p>
          <a:p>
            <a:r>
              <a:t>- Batas koneksi HTTP/1.1 browser (maks 6 koneksi per domain) sebelum HTTP/2</a:t>
            </a:r>
          </a:p>
          <a:p>
            <a:r>
              <a:t>[REKOMENDASI PRODUKSI]</a:t>
            </a:r>
          </a:p>
          <a:p>
            <a:r>
              <a:t>- Deploy SSE di atas HTTP/2 untuk menghilangkan batas koneksi domain</a:t>
            </a:r>
          </a:p>
          <a:p>
            <a:r>
              <a:t>- Terapkan distributed message broker (Redis Pub/Sub) untuk scaling multi-node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Dampak HTTP/2 &amp; Multiplexing Aliran</a:t>
            </a:r>
          </a:p>
          <a:p/>
          <a:p>
            <a:r>
              <a:t>Mental Model: HTTP/2 natively supercharges SSE while demanding complex extensions for WebSocket.</a:t>
            </a:r>
          </a:p>
          <a:p/>
          <a:p>
            <a:r>
              <a:t>[SSE NATIVE DI HTTP/2]</a:t>
            </a:r>
          </a:p>
          <a:p>
            <a:r>
              <a:t>- SSE berjalan di atas stream HTTP/2 standar tanpa ekstensi</a:t>
            </a:r>
          </a:p>
          <a:p>
            <a:r>
              <a:t>- Multiplexing memungkinkan puluhan stream SSE berbagi 1 koneksi TCP fisik</a:t>
            </a:r>
          </a:p>
          <a:p>
            <a:r>
              <a:t>- Mengeliminasi batas browser 6 koneksi per origin pada HTTP/1.1</a:t>
            </a:r>
          </a:p>
          <a:p>
            <a:r>
              <a:t>[WEBSOCKET DI HTTP/2 (RFC 8441)]</a:t>
            </a:r>
          </a:p>
          <a:p>
            <a:r>
              <a:t>- HTTP/2 melarang header Connection: Upgrade (RFC 9113)</a:t>
            </a:r>
          </a:p>
          <a:p>
            <a:r>
              <a:t>- WebSocket di HTTP/2 memerlukan Extended CONNECT method (:protocol=websocket)</a:t>
            </a:r>
          </a:p>
          <a:p>
            <a:r>
              <a:t>- Dukungan server dan proxy gateway masih belum universal di industri</a:t>
            </a:r>
          </a:p>
          <a:p>
            <a:r>
              <a:t>[KEUNGGULAN OPERASIONAL]</a:t>
            </a:r>
          </a:p>
          <a:p>
            <a:r>
              <a:t>- SSE secara natural mendapatkan kompresi header HPACK dan flow control HTTP/2</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Studi Kasus Nyata: Notifikasi &amp; AI Tokens</a:t>
            </a:r>
          </a:p>
          <a:p/>
          <a:p>
            <a:r>
              <a:t>Mental Model: Match real-world traffic patterns: LLM tokens stream via SSE; multi-user editing flows via WebSocket.</a:t>
            </a:r>
          </a:p>
          <a:p/>
          <a:p>
            <a:r>
              <a:t>[STREAMING TOKEN LLM (OPENAI / ANTHROPIC)]</a:t>
            </a:r>
          </a:p>
          <a:p>
            <a:r>
              <a:t>- Karakteristik: Server menghasilkan token kata demi kata secara real-time</a:t>
            </a:r>
          </a:p>
          <a:p>
            <a:r>
              <a:t>- Arah: 100% Server -&gt; Client setelah prompt awal dikirim</a:t>
            </a:r>
          </a:p>
          <a:p>
            <a:r>
              <a:t>- Pilihan arsitektur: Server-Sent Events (SSE) adalah standar industri universal</a:t>
            </a:r>
          </a:p>
          <a:p>
            <a:r>
              <a:t>[KOLABORASI DOKUMEN &amp; CHAT (FIGMA / SLACK)]</a:t>
            </a:r>
          </a:p>
          <a:p>
            <a:r>
              <a:t>- Karakteristik: Kursor user bergerak cepat, pesan teks dikirim dua arah</a:t>
            </a:r>
          </a:p>
          <a:p>
            <a:r>
              <a:t>- Arah: Bidirectional interaktif dengan latensi minimal</a:t>
            </a:r>
          </a:p>
          <a:p>
            <a:r>
              <a:t>- Pilihan arsitektur: WebSocket dengan enkripsi frame biner</a:t>
            </a:r>
          </a:p>
          <a:p>
            <a:r>
              <a:t>[PEMBELAJARAN ARSITEKTURAL]</a:t>
            </a:r>
          </a:p>
          <a:p>
            <a:r>
              <a:t>- Penggunaan SSE pada API LLM membuktikan ketahanan dan kesederhanaan protokol</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Batasan Model &amp; Implementasi Lab 35</a:t>
            </a:r>
          </a:p>
          <a:p/>
          <a:p>
            <a:r>
              <a:t>Mental Model: A lab isolates protocol mechanics; production demands ring buffers, random masks, and brokers.</a:t>
            </a:r>
          </a:p>
          <a:p/>
          <a:p>
            <a:r>
              <a:t>[BATAS 1: WEBSOCKET FRAMING]</a:t>
            </a:r>
          </a:p>
          <a:p>
            <a:r>
              <a:t>- Masking key client menggunakan nilai konstan (bukan crypto-random)</a:t>
            </a:r>
          </a:p>
          <a:p>
            <a:r>
              <a:t>- Belum mendukung fragmented continuation frames (OpContinuation 0x0)</a:t>
            </a:r>
          </a:p>
          <a:p>
            <a:r>
              <a:t>- Payload &gt; 65,535 bytes memiliki parser BigEndian namun belum diuji ekstensif</a:t>
            </a:r>
          </a:p>
          <a:p>
            <a:r>
              <a:t>[BATAS 2: SSE HUB BUFFER]</a:t>
            </a:r>
          </a:p>
          <a:p>
            <a:r>
              <a:t>- History event disimpan dalam slice in-memory tak terbatas (unbounded buffer)</a:t>
            </a:r>
          </a:p>
          <a:p>
            <a:r>
              <a:t>- Produksi memerlukan ring buffer dengan batas retensi atau Redis Streams</a:t>
            </a:r>
          </a:p>
          <a:p>
            <a:r>
              <a:t>[BATAS 3: SCALE &amp; DISTRIBUTED STATE]</a:t>
            </a:r>
          </a:p>
          <a:p>
            <a:r>
              <a:t>- Uji coba berjalan pada single node HTTP server tanpa distributed message bus</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Checklist Keputusan Arsitektur Real-Time</a:t>
            </a:r>
          </a:p>
          <a:p/>
          <a:p>
            <a:r>
              <a:t>Mental Model: Verify directionality, payload type, and proxy topology before committing to a protocol.</a:t>
            </a:r>
          </a:p>
          <a:p/>
          <a:p>
            <a:r>
              <a:t>[EVALUASI KEBUTUHAN]</a:t>
            </a:r>
          </a:p>
          <a:p>
            <a:r>
              <a:t>- [ ] Apakah client perlu mengirim pesan upstream di socket yang sama? (Ya-&gt;WS, Tidak-&gt;SSE)</a:t>
            </a:r>
          </a:p>
          <a:p>
            <a:r>
              <a:t>- [ ] Apakah data mengandung payload biner murni (audio/protobuf)? (Ya-&gt;WS)</a:t>
            </a:r>
          </a:p>
          <a:p>
            <a:r>
              <a:t>- [ ] Apakah sistem berjalan di balik corporate proxy / strict firewall? (Pilih SSE)</a:t>
            </a:r>
          </a:p>
          <a:p>
            <a:r>
              <a:t>- [ ] Apakah pemulihan event otomatis (reconnect) diperlukan secara gratis? (Pilih SSE)</a:t>
            </a:r>
          </a:p>
          <a:p>
            <a:r>
              <a:t>[VERIFIKASI PRODUKSI]</a:t>
            </a:r>
          </a:p>
          <a:p>
            <a:r>
              <a:t>- [ ] Pastikan Nginx menonaktifkan proxy_buffering untuk SSE endpoint</a:t>
            </a:r>
          </a:p>
          <a:p>
            <a:r>
              <a:t>- [ ] Pasang heartbeat / ping-pong berkala untuk mencegah idle connection drops</a:t>
            </a:r>
          </a:p>
          <a:p>
            <a:r>
              <a:t>- [ ] Atur limit OS file descriptor (ulimit -n) untuk menangani ribuan koneksi</a:t>
            </a:r>
          </a:p>
          <a:p>
            <a:r>
              <a:t>- [ ] Siapkan Redis Pub/Sub untuk replikasi broadcast lintas cluster node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Tiga Prinsip Inti Komunikasi Real-Time</a:t>
            </a:r>
          </a:p>
          <a:p/>
          <a:p>
            <a:r>
              <a:t>Mental Model: Right protocol for the right direction: simplicity scales better than unnecessary duplexing.</a:t>
            </a:r>
          </a:p>
          <a:p/>
          <a:p>
            <a:r>
              <a:t>[1. DIRECTIONALITY IS KING]</a:t>
            </a:r>
          </a:p>
          <a:p>
            <a:r>
              <a:t>- Jangan bayar overhead koneksi dua arah jika trafik hanya mengalir satu arah</a:t>
            </a:r>
          </a:p>
          <a:p>
            <a:r>
              <a:t>- SSE adalah peluru perak untuk live notifications, feed, dan token streaming</a:t>
            </a:r>
          </a:p>
          <a:p>
            <a:r>
              <a:t>[2. LEVERAGE PLATFORM PRIMITIVES]</a:t>
            </a:r>
          </a:p>
          <a:p>
            <a:r>
              <a:t>- Manfaatkan EventSource dan Last-Event-ID bawaan browser untuk auto-healing</a:t>
            </a:r>
          </a:p>
          <a:p>
            <a:r>
              <a:t>- Gunakan HTTP/2 multiplexing untuk menghemat handshake TCP koneksi</a:t>
            </a:r>
          </a:p>
          <a:p>
            <a:r>
              <a:t>[3. PROTOCOL RESPECTS BOUNDARIES]</a:t>
            </a:r>
          </a:p>
          <a:p>
            <a:r>
              <a:t>- WebSocket adalah pilihan mutlak ketika interaktivitas biner dua arah dibutuhkan</a:t>
            </a:r>
          </a:p>
          <a:p>
            <a:r>
              <a:t>- Keduanya saling melengkapi, bukan saling meniadakan</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Eksperimen kecil, eliminasi latensi tersembunyi.</a:t>
            </a:r>
          </a:p>
          <a:p/>
          <a:p>
            <a:r>
              <a:t>Mental Model: Directionality dictates the protocol: server-push belongs to SSE, bidirectional belongs to WebSocket.</a:t>
            </a:r>
          </a:p>
          <a:p/>
          <a:p>
            <a:r>
              <a:t>[KEY RESULTS]</a:t>
            </a:r>
          </a:p>
          <a:p>
            <a:r>
              <a:t>- internal/sse • internal/ws</a:t>
            </a:r>
          </a:p>
          <a:p>
            <a:r>
              <a:t>- internal/server • cmd/demo</a:t>
            </a:r>
          </a:p>
          <a:p>
            <a:r>
              <a:t>- tests/protocol_test.go • README.md</a:t>
            </a:r>
          </a:p>
          <a:p>
            <a:r>
              <a:t>[VERIFIKASI &amp; STATUS]</a:t>
            </a:r>
          </a:p>
          <a:p>
            <a:r>
              <a:t>- Sumber: commit b48fe6c3</a:t>
            </a:r>
          </a:p>
          <a:p>
            <a:r>
              <a:t>- Semua test PASS dengan Go 1.22 Race Detector aktif</a:t>
            </a:r>
          </a:p>
          <a:p>
            <a:r>
              <a:t>- Implementasi murni zero external dependencies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48640"/>
          </a:xfrm>
          <a:prstGeom prst="rect">
            <a:avLst/>
          </a:prstGeom>
          <a:noFill/>
        </p:spPr>
        <p:txBody>
          <a:bodyPr wrap="square">
            <a:spAutoFit/>
          </a:bodyPr>
          <a:lstStyle/>
          <a:p>
            <a:pPr>
              <a:defRPr sz="1600" b="1">
                <a:solidFill>
                  <a:srgbClr val="087F76"/>
                </a:solidFill>
              </a:defRPr>
            </a:pPr>
            <a:r>
              <a:t>SOFTWARE ENGINEERING LAB | LAB 35</a:t>
            </a:r>
          </a:p>
        </p:txBody>
      </p:sp>
      <p:sp>
        <p:nvSpPr>
          <p:cNvPr id="4" name="TextBox 3"/>
          <p:cNvSpPr txBox="1"/>
          <p:nvPr/>
        </p:nvSpPr>
        <p:spPr>
          <a:xfrm>
            <a:off x="914400" y="1645920"/>
            <a:ext cx="10362895" cy="1463040"/>
          </a:xfrm>
          <a:prstGeom prst="rect">
            <a:avLst/>
          </a:prstGeom>
          <a:noFill/>
        </p:spPr>
        <p:txBody>
          <a:bodyPr wrap="square">
            <a:spAutoFit/>
          </a:bodyPr>
          <a:lstStyle/>
          <a:p>
            <a:pPr>
              <a:defRPr sz="4400" b="1">
                <a:solidFill>
                  <a:srgbClr val="FFFFFF"/>
                </a:solidFill>
              </a:defRPr>
            </a:pPr>
            <a:r>
              <a:t>WebSocket vs Server-Sent Events</a:t>
            </a:r>
          </a:p>
        </p:txBody>
      </p:sp>
      <p:sp>
        <p:nvSpPr>
          <p:cNvPr id="5" name="TextBox 4"/>
          <p:cNvSpPr txBox="1"/>
          <p:nvPr/>
        </p:nvSpPr>
        <p:spPr>
          <a:xfrm>
            <a:off x="914400" y="3291840"/>
            <a:ext cx="10362895" cy="914400"/>
          </a:xfrm>
          <a:prstGeom prst="rect">
            <a:avLst/>
          </a:prstGeom>
          <a:noFill/>
        </p:spPr>
        <p:txBody>
          <a:bodyPr wrap="square">
            <a:spAutoFit/>
          </a:bodyPr>
          <a:lstStyle/>
          <a:p>
            <a:pPr>
              <a:defRPr sz="2200">
                <a:solidFill>
                  <a:srgbClr val="F4F1E8"/>
                </a:solidFill>
              </a:defRPr>
            </a:pPr>
            <a:r>
              <a:t>Memilih Protokol Real-Time Berdasarkan Directionality dan Kompleksitas</a:t>
            </a:r>
          </a:p>
        </p:txBody>
      </p:sp>
      <p:sp>
        <p:nvSpPr>
          <p:cNvPr id="6" name="TextBox 5"/>
          <p:cNvSpPr txBox="1"/>
          <p:nvPr/>
        </p:nvSpPr>
        <p:spPr>
          <a:xfrm>
            <a:off x="914400" y="5303520"/>
            <a:ext cx="5486400" cy="548640"/>
          </a:xfrm>
          <a:prstGeom prst="rect">
            <a:avLst/>
          </a:prstGeom>
          <a:noFill/>
        </p:spPr>
        <p:txBody>
          <a:bodyPr wrap="none">
            <a:spAutoFit/>
          </a:bodyPr>
          <a:lstStyle/>
          <a:p>
            <a:pPr>
              <a:defRPr sz="1800" b="1">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Dilema Protokol Real-Time Modern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Kesalahan pemilihan protokol memicu beban operasional dan kompleksitas stateful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GEJALA UMUM</a:t>
            </a:r>
          </a:p>
          <a:p>
            <a:pPr>
              <a:spcAft>
                <a:spcPts val="400"/>
              </a:spcAft>
              <a:defRPr sz="1200">
                <a:solidFill>
                  <a:srgbClr val="0B1B2D"/>
                </a:solidFill>
              </a:defRPr>
            </a:pPr>
            <a:r>
              <a:t>• Fitur notifikasi dan live dashboard sering otomatis dipasangi WebSocket</a:t>
            </a:r>
          </a:p>
          <a:p>
            <a:pPr>
              <a:spcAft>
                <a:spcPts val="400"/>
              </a:spcAft>
              <a:defRPr sz="1200">
                <a:solidFill>
                  <a:srgbClr val="0B1B2D"/>
                </a:solidFill>
              </a:defRPr>
            </a:pPr>
            <a:r>
              <a:t>• WebSocket memaksakan upgrade TCP, heartbeat kustom, dan reconnection manual</a:t>
            </a:r>
          </a:p>
          <a:p>
            <a:pPr>
              <a:spcAft>
                <a:spcPts val="400"/>
              </a:spcAft>
              <a:defRPr sz="1200">
                <a:solidFill>
                  <a:srgbClr val="0B1B2D"/>
                </a:solidFill>
              </a:defRPr>
            </a:pPr>
            <a:r>
              <a:t>• Proxy reverse dan load balancer memerlukan sticky routing yang rumit</a:t>
            </a:r>
          </a:p>
          <a:p>
            <a:pPr>
              <a:defRPr sz="1200" b="1">
                <a:solidFill>
                  <a:srgbClr val="087F76"/>
                </a:solidFill>
              </a:defRPr>
            </a:pPr>
            <a:r>
              <a:t>BIAYA OPERASIONAL</a:t>
            </a:r>
          </a:p>
          <a:p>
            <a:pPr>
              <a:spcAft>
                <a:spcPts val="400"/>
              </a:spcAft>
              <a:defRPr sz="1200">
                <a:solidFill>
                  <a:srgbClr val="0B1B2D"/>
                </a:solidFill>
              </a:defRPr>
            </a:pPr>
            <a:r>
              <a:t>• Stateful connection membebani memori saat client hanya membaca data pasif</a:t>
            </a:r>
          </a:p>
          <a:p>
            <a:pPr>
              <a:spcAft>
                <a:spcPts val="400"/>
              </a:spcAft>
              <a:defRPr sz="1200">
                <a:solidFill>
                  <a:srgbClr val="0B1B2D"/>
                </a:solidFill>
              </a:defRPr>
            </a:pPr>
            <a:r>
              <a:t>• Kegagalan reconnection storm melumpuhkan gateway saat restart</a:t>
            </a:r>
          </a:p>
          <a:p>
            <a:pPr>
              <a:spcAft>
                <a:spcPts val="400"/>
              </a:spcAft>
              <a:defRPr sz="1200">
                <a:solidFill>
                  <a:srgbClr val="0B1B2D"/>
                </a:solidFill>
              </a:defRPr>
            </a:pPr>
            <a:r>
              <a:t>• Debugging framing biner lebih sulit dibanding stream teks standar</a:t>
            </a:r>
          </a:p>
          <a:p>
            <a:pPr>
              <a:defRPr sz="1200" b="1">
                <a:solidFill>
                  <a:srgbClr val="087F76"/>
                </a:solidFill>
              </a:defRPr>
            </a:pPr>
            <a:r>
              <a:t>PERTANYAAN UTAMA</a:t>
            </a:r>
          </a:p>
          <a:p>
            <a:pPr>
              <a:spcAft>
                <a:spcPts val="400"/>
              </a:spcAft>
              <a:defRPr sz="1200">
                <a:solidFill>
                  <a:srgbClr val="0B1B2D"/>
                </a:solidFill>
              </a:defRPr>
            </a:pPr>
            <a:r>
              <a:t>• Kapan arsitektur benar-benar memerlukan pipa dua arah (bidirectional)?</a:t>
            </a:r>
          </a:p>
          <a:p>
            <a:pPr>
              <a:spcAft>
                <a:spcPts val="400"/>
              </a:spcAft>
              <a:defRPr sz="1200">
                <a:solidFill>
                  <a:srgbClr val="0B1B2D"/>
                </a:solidFill>
              </a:defRPr>
            </a:pPr>
            <a:r>
              <a:t>• Bagaimana memanfaatkan streaming HTTP standar tanpa overhead WebSocket?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Banyak tim rekayasa perangkat lunak menganggap WebSocket sebagai standar de facto untuk semua kebutuhan real-time. Padahal, memasang WebSocket untuk use case satu arah seperti notifikasi atau live dashboard memperkenalkan overhead operasional yang tidak perlu. SSE menyediakan mekanisme server push berbasis HTTP murni yang jauh lebih ramah proxy dan hemat resource.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Do not pay bidirectional connection tax for unidirectional server push.</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Mental Model: Directionality Rule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Arah aliran pesan menentukan protokol, bukan sekadar latensi atau tren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SERVER-PUSH ONLY</a:t>
            </a:r>
          </a:p>
          <a:p>
            <a:pPr>
              <a:spcAft>
                <a:spcPts val="400"/>
              </a:spcAft>
              <a:defRPr sz="1200">
                <a:solidFill>
                  <a:srgbClr val="0B1B2D"/>
                </a:solidFill>
              </a:defRPr>
            </a:pPr>
            <a:r>
              <a:t>• Arah komunikasi: Server -&gt; Client secara sepihak</a:t>
            </a:r>
          </a:p>
          <a:p>
            <a:pPr>
              <a:spcAft>
                <a:spcPts val="400"/>
              </a:spcAft>
              <a:defRPr sz="1200">
                <a:solidFill>
                  <a:srgbClr val="0B1B2D"/>
                </a:solidFill>
              </a:defRPr>
            </a:pPr>
            <a:r>
              <a:t>• Contoh: Notifikasi sistem, live stock ticker, streaming token LLM</a:t>
            </a:r>
          </a:p>
          <a:p>
            <a:pPr>
              <a:spcAft>
                <a:spcPts val="400"/>
              </a:spcAft>
              <a:defRPr sz="1200">
                <a:solidFill>
                  <a:srgbClr val="0B1B2D"/>
                </a:solidFill>
              </a:defRPr>
            </a:pPr>
            <a:r>
              <a:t>• Solusi tepat: Server-Sent Events (SSE) berbasis HTTP standar</a:t>
            </a:r>
          </a:p>
          <a:p>
            <a:pPr>
              <a:defRPr sz="1200" b="1">
                <a:solidFill>
                  <a:srgbClr val="087F76"/>
                </a:solidFill>
              </a:defRPr>
            </a:pPr>
            <a:r>
              <a:t>FULL-DUPLEX BIDIRECTIONAL</a:t>
            </a:r>
          </a:p>
          <a:p>
            <a:pPr>
              <a:spcAft>
                <a:spcPts val="400"/>
              </a:spcAft>
              <a:defRPr sz="1200">
                <a:solidFill>
                  <a:srgbClr val="0B1B2D"/>
                </a:solidFill>
              </a:defRPr>
            </a:pPr>
            <a:r>
              <a:t>• Arah komunikasi: Server &lt;-&gt; Client secara independen dan simultan</a:t>
            </a:r>
          </a:p>
          <a:p>
            <a:pPr>
              <a:spcAft>
                <a:spcPts val="400"/>
              </a:spcAft>
              <a:defRPr sz="1200">
                <a:solidFill>
                  <a:srgbClr val="0B1B2D"/>
                </a:solidFill>
              </a:defRPr>
            </a:pPr>
            <a:r>
              <a:t>• Contoh: Chat interaktif, collaborative canvas, multiplayer game</a:t>
            </a:r>
          </a:p>
          <a:p>
            <a:pPr>
              <a:spcAft>
                <a:spcPts val="400"/>
              </a:spcAft>
              <a:defRPr sz="1200">
                <a:solidFill>
                  <a:srgbClr val="0B1B2D"/>
                </a:solidFill>
              </a:defRPr>
            </a:pPr>
            <a:r>
              <a:t>• Solusi tepat: WebSocket (RFC 6455) atas koneksi raw TCP</a:t>
            </a:r>
          </a:p>
          <a:p>
            <a:pPr>
              <a:defRPr sz="1200" b="1">
                <a:solidFill>
                  <a:srgbClr val="087F76"/>
                </a:solidFill>
              </a:defRPr>
            </a:pPr>
            <a:r>
              <a:t>PEDOMAN ARSITEKTUR</a:t>
            </a:r>
          </a:p>
          <a:p>
            <a:pPr>
              <a:spcAft>
                <a:spcPts val="400"/>
              </a:spcAft>
              <a:defRPr sz="1200">
                <a:solidFill>
                  <a:srgbClr val="0B1B2D"/>
                </a:solidFill>
              </a:defRPr>
            </a:pPr>
            <a:r>
              <a:t>• Jika client tidak pernah mengirim pesan di channel yang sama: pilih SSE</a:t>
            </a:r>
          </a:p>
          <a:p>
            <a:pPr>
              <a:spcAft>
                <a:spcPts val="400"/>
              </a:spcAft>
              <a:defRPr sz="1200">
                <a:solidFill>
                  <a:srgbClr val="0B1B2D"/>
                </a:solidFill>
              </a:defRPr>
            </a:pPr>
            <a:r>
              <a:t>• Jika client harus push data dengan latensi sub-milidetik: pilih WebSocket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Keputusan arsitektural dapat disederhanakan melalui satu pertanyaan fundamental: apakah client perlu mengirim pesan ke server secara independen pada saluran yang sama? Jika komunikasi hanya satu arah dari server ke client, SSE memberikan solusi paling bersih. WebSocket hanya diwajibkan ketika komunikasi dua arah berlatensi rendah mutlak diperlukan.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Directionality dictates the protocol: server-push belongs to SSE, bidirectional belongs to WebSocket.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labs/35-websocket-and-sse/content/01-content-brief.md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Topologi Arsitektur Lab 35</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Unified HTTP Router di Go menghosting /sse, /ws, dan /publish secara murni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ENDPOINT DISPATCH</a:t>
            </a:r>
          </a:p>
          <a:p>
            <a:pPr>
              <a:spcAft>
                <a:spcPts val="400"/>
              </a:spcAft>
              <a:defRPr sz="1200">
                <a:solidFill>
                  <a:srgbClr val="0B1B2D"/>
                </a:solidFill>
              </a:defRPr>
            </a:pPr>
            <a:r>
              <a:t>• GET /sse      -&gt; SSE Hub (Handler streaming text/event-stream)</a:t>
            </a:r>
          </a:p>
          <a:p>
            <a:pPr>
              <a:spcAft>
                <a:spcPts val="400"/>
              </a:spcAft>
              <a:defRPr sz="1200">
                <a:solidFill>
                  <a:srgbClr val="0B1B2D"/>
                </a:solidFill>
              </a:defRPr>
            </a:pPr>
            <a:r>
              <a:t>• GET /ws       -&gt; WebSocket Upgrader (RFC 6455 Hijack + loop)</a:t>
            </a:r>
          </a:p>
          <a:p>
            <a:pPr>
              <a:spcAft>
                <a:spcPts val="400"/>
              </a:spcAft>
              <a:defRPr sz="1200">
                <a:solidFill>
                  <a:srgbClr val="0B1B2D"/>
                </a:solidFill>
              </a:defRPr>
            </a:pPr>
            <a:r>
              <a:t>• POST /publish -&gt; Trigger broadcast event ke seluruh client SSE aktif</a:t>
            </a:r>
          </a:p>
          <a:p>
            <a:pPr>
              <a:defRPr sz="1200" b="1">
                <a:solidFill>
                  <a:srgbClr val="087F76"/>
                </a:solidFill>
              </a:defRPr>
            </a:pPr>
            <a:r>
              <a:t>ZERO DEPENDENCIES</a:t>
            </a:r>
          </a:p>
          <a:p>
            <a:pPr>
              <a:spcAft>
                <a:spcPts val="400"/>
              </a:spcAft>
              <a:defRPr sz="1200">
                <a:solidFill>
                  <a:srgbClr val="0B1B2D"/>
                </a:solidFill>
              </a:defRPr>
            </a:pPr>
            <a:r>
              <a:t>• Implementasi 100% Go Standard Library (net/http, sync, crypto)</a:t>
            </a:r>
          </a:p>
          <a:p>
            <a:pPr>
              <a:spcAft>
                <a:spcPts val="400"/>
              </a:spcAft>
              <a:defRPr sz="1200">
                <a:solidFill>
                  <a:srgbClr val="0B1B2D"/>
                </a:solidFill>
              </a:defRPr>
            </a:pPr>
            <a:r>
              <a:t>• Tanpa gorilla/websocket atau pustaka eksternal pihak ketiga</a:t>
            </a:r>
          </a:p>
          <a:p>
            <a:pPr>
              <a:spcAft>
                <a:spcPts val="400"/>
              </a:spcAft>
              <a:defRPr sz="1200">
                <a:solidFill>
                  <a:srgbClr val="0B1B2D"/>
                </a:solidFill>
              </a:defRPr>
            </a:pPr>
            <a:r>
              <a:t>• Membuktikan mekanisme low-level framing dan HTTP connection hijacking</a:t>
            </a:r>
          </a:p>
          <a:p>
            <a:pPr>
              <a:defRPr sz="1200" b="1">
                <a:solidFill>
                  <a:srgbClr val="087F76"/>
                </a:solidFill>
              </a:defRPr>
            </a:pPr>
            <a:r>
              <a:t>ISOLASI KOMPONEN</a:t>
            </a:r>
          </a:p>
          <a:p>
            <a:pPr>
              <a:spcAft>
                <a:spcPts val="400"/>
              </a:spcAft>
              <a:defRPr sz="1200">
                <a:solidFill>
                  <a:srgbClr val="0B1B2D"/>
                </a:solidFill>
              </a:defRPr>
            </a:pPr>
            <a:r>
              <a:t>• internal/sse: Hub broadcast dengan buffer history dan Last-Event-ID</a:t>
            </a:r>
          </a:p>
          <a:p>
            <a:pPr>
              <a:spcAft>
                <a:spcPts val="400"/>
              </a:spcAft>
              <a:defRPr sz="1200">
                <a:solidFill>
                  <a:srgbClr val="0B1B2D"/>
                </a:solidFill>
              </a:defRPr>
            </a:pPr>
            <a:r>
              <a:t>• internal/ws: RFC 6455 parser, unmasking XOR, frame text &amp; binary</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35 mendemonstrasikan kedua protokol di bawah satu HTTP ServeMux di internal/server/server.go. Pendekatan zero external dependencies membongkar bagaimana Go standard library mampu menangani streaming HTTP (SSE) melalui http.Flusher sekaligus protokol non-HTTP (WebSocket) melalui interface http.Hijacker.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Unified standard library architecture demonstrates both protocols side by side without third-party bias.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labs/35-websocket-and-sse/internal/server/server.go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Server-Sent Events (SSE)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Streaming teks persisten berbasis HTTP dengan MIME type text/event-stream</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HEADER STANDAR HTTP</a:t>
            </a:r>
          </a:p>
          <a:p>
            <a:pPr>
              <a:spcAft>
                <a:spcPts val="400"/>
              </a:spcAft>
              <a:defRPr sz="1200">
                <a:solidFill>
                  <a:srgbClr val="0B1B2D"/>
                </a:solidFill>
              </a:defRPr>
            </a:pPr>
            <a:r>
              <a:t>• Content-Type: text/event-stream (wajib untuk browser EventSource)</a:t>
            </a:r>
          </a:p>
          <a:p>
            <a:pPr>
              <a:spcAft>
                <a:spcPts val="400"/>
              </a:spcAft>
              <a:defRPr sz="1200">
                <a:solidFill>
                  <a:srgbClr val="0B1B2D"/>
                </a:solidFill>
              </a:defRPr>
            </a:pPr>
            <a:r>
              <a:t>• Cache-Control: no-cache (mencegah caching di perantara)</a:t>
            </a:r>
          </a:p>
          <a:p>
            <a:pPr>
              <a:spcAft>
                <a:spcPts val="400"/>
              </a:spcAft>
              <a:defRPr sz="1200">
                <a:solidFill>
                  <a:srgbClr val="0B1B2D"/>
                </a:solidFill>
              </a:defRPr>
            </a:pPr>
            <a:r>
              <a:t>• Connection: keep-alive (menjaga socket TCP tetap terbuka)</a:t>
            </a:r>
          </a:p>
          <a:p>
            <a:pPr>
              <a:spcAft>
                <a:spcPts val="400"/>
              </a:spcAft>
              <a:defRPr sz="1200">
                <a:solidFill>
                  <a:srgbClr val="0B1B2D"/>
                </a:solidFill>
              </a:defRPr>
            </a:pPr>
            <a:r>
              <a:t>• X-Accel-Buffering: no (menonaktifkan buffering di Nginx proxy)</a:t>
            </a:r>
          </a:p>
          <a:p>
            <a:pPr>
              <a:defRPr sz="1200" b="1">
                <a:solidFill>
                  <a:srgbClr val="087F76"/>
                </a:solidFill>
              </a:defRPr>
            </a:pPr>
            <a:r>
              <a:t>STRUKTUR FRAME EVENT</a:t>
            </a:r>
          </a:p>
          <a:p>
            <a:pPr>
              <a:spcAft>
                <a:spcPts val="400"/>
              </a:spcAft>
              <a:defRPr sz="1200">
                <a:solidFill>
                  <a:srgbClr val="0B1B2D"/>
                </a:solidFill>
              </a:defRPr>
            </a:pPr>
            <a:r>
              <a:t>• id: &lt;nomor&gt;        -&gt; Identifier unik untuk resumption</a:t>
            </a:r>
          </a:p>
          <a:p>
            <a:pPr>
              <a:spcAft>
                <a:spcPts val="400"/>
              </a:spcAft>
              <a:defRPr sz="1200">
                <a:solidFill>
                  <a:srgbClr val="0B1B2D"/>
                </a:solidFill>
              </a:defRPr>
            </a:pPr>
            <a:r>
              <a:t>• event: &lt;nama&gt;      -&gt; Tipe custom event untuk event listener</a:t>
            </a:r>
          </a:p>
          <a:p>
            <a:pPr>
              <a:spcAft>
                <a:spcPts val="400"/>
              </a:spcAft>
              <a:defRPr sz="1200">
                <a:solidFill>
                  <a:srgbClr val="0B1B2D"/>
                </a:solidFill>
              </a:defRPr>
            </a:pPr>
            <a:r>
              <a:t>• retry: &lt;milidetik&gt; -&gt; Durasi tunggu reconnect client browser</a:t>
            </a:r>
          </a:p>
          <a:p>
            <a:pPr>
              <a:spcAft>
                <a:spcPts val="400"/>
              </a:spcAft>
              <a:defRPr sz="1200">
                <a:solidFill>
                  <a:srgbClr val="0B1B2D"/>
                </a:solidFill>
              </a:defRPr>
            </a:pPr>
            <a:r>
              <a:t>• data: &lt;konten&gt;     -&gt; Payload teks (dapat multi-line dengan data: prefix)</a:t>
            </a:r>
          </a:p>
          <a:p>
            <a:pPr>
              <a:defRPr sz="1200" b="1">
                <a:solidFill>
                  <a:srgbClr val="087F76"/>
                </a:solidFill>
              </a:defRPr>
            </a:pPr>
            <a:r>
              <a:t>DELIMITER BLOK</a:t>
            </a:r>
          </a:p>
          <a:p>
            <a:pPr>
              <a:spcAft>
                <a:spcPts val="400"/>
              </a:spcAft>
              <a:defRPr sz="1200">
                <a:solidFill>
                  <a:srgbClr val="0B1B2D"/>
                </a:solidFill>
              </a:defRPr>
            </a:pPr>
            <a:r>
              <a:t>• Setiap baris diakhiri \n tunggal</a:t>
            </a:r>
          </a:p>
          <a:p>
            <a:pPr>
              <a:spcAft>
                <a:spcPts val="400"/>
              </a:spcAft>
              <a:defRPr sz="1200">
                <a:solidFill>
                  <a:srgbClr val="0B1B2D"/>
                </a:solidFill>
              </a:defRPr>
            </a:pPr>
            <a:r>
              <a:t>• Akhir dari satu blok event ditandai dengan \n\n ganda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Spesifikasi WHATWG mendefinisikan SSE sebagai respons HTTP berdurasi panjang dengan format text/event-stream. Setiap event terdiri dari field id, event, retry, dan data yang diakhiri oleh double newline. Karena berbasis HTTP murni, SSE langsung kompatibel dengan infrastruktur web yang ada seperti TLS termination dan monitoring.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SSE is plain HTTP with structured text frames delimited by double newlines.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labs/35-websocket-and-sse/internal/sse/sse.go:19</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Format Event SSE: Multi-Line Framing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Implementasi method Event.Format() memastikan kepatuhan spesifikasi WHATWG</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(e Event) Format() []byte {</a:t>
            </a:r>
            <a:br/>
            <a:r>
              <a:t>    var sb strings.Builder</a:t>
            </a:r>
            <a:br/>
            <a:r>
              <a:t>    if e.ID &gt; 0 { fmt.Fprintf(&amp;sb, "id: %d\n", e.ID) }</a:t>
            </a:r>
            <a:br/>
            <a:r>
              <a:t>    if e.Event != "" { fmt.Fprintf(&amp;sb, "event: %s\n", e.Event) }</a:t>
            </a:r>
            <a:br/>
            <a:r>
              <a:t>    if e.Retry &gt; 0 { fmt.Fprintf(&amp;sb, "retry: %d\n", e.Retry) }</a:t>
            </a:r>
            <a:br/>
            <a:r>
              <a:t>    lines := strings.Split(e.Data, "\n")</a:t>
            </a:r>
            <a:br/>
            <a:r>
              <a:t>    for _, l := range lines {</a:t>
            </a:r>
            <a:br/>
            <a:r>
              <a:t>        fmt.Fprintf(&amp;sb, "data: %s\n", l)</a:t>
            </a:r>
            <a:br/>
            <a:r>
              <a:t>    }</a:t>
            </a:r>
            <a:br/>
            <a:r>
              <a:t>    sb.WriteString("\n")</a:t>
            </a:r>
            <a:br/>
            <a:r>
              <a:t>    return []byte(sb.String())</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Method Format() pada struct Event mematuhi aturan WHATWG secara ketat. Jika payload mengandung baris baru, setiap baris harus diawali prefiks 'data: '. Kegagalan memecah baris baru akan merusak parsing client EventSource di browser. Karakter double newline di akhir menjadi sinyal bahwa frame event telah lengkap.</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Split multi-line data payloads across multiple data prefixes before terminating with double newline.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labs/35-websocket-and-sse/internal/sse/sse.go:19-36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SSE Hub: Resumption via Last-Event-ID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State management memutar ulang event tertinggal saat client melakukan reconnect</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(h *Hub) Subscribe(lastID int) (chan Event, []Event, func()) {</a:t>
            </a:r>
            <a:br/>
            <a:r>
              <a:t>    h.mu.Lock(); defer h.mu.Unlock()</a:t>
            </a:r>
            <a:br/>
            <a:r>
              <a:t>    var replay []Event</a:t>
            </a:r>
            <a:br/>
            <a:r>
              <a:t>    for _, evt := range h.history {</a:t>
            </a:r>
            <a:br/>
            <a:r>
              <a:t>        if evt.ID &gt; lastID { replay = append(replay, evt) }</a:t>
            </a:r>
            <a:br/>
            <a:r>
              <a:t>    }</a:t>
            </a:r>
            <a:br/>
            <a:r>
              <a:t>    ch := make(chan Event, 64)</a:t>
            </a:r>
            <a:br/>
            <a:r>
              <a:t>    h.clients[ch] = struct{}{}</a:t>
            </a:r>
            <a:br/>
            <a:r>
              <a:t>    return ch, replay, func() { ...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Fitur paling unggul dari SSE adalah kemampuan auto-reconnect bawaan yang dipadukan dengan header Last-Event-ID. Ketika koneksi putus, browser secara otomatis mengirimkan ID terakhir yang diterimanya. Hub di backend menyaring riwayat in-memory dan langsung memutar ulang event yang terlewat sebelum menyambungkan client ke antrean live.</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Last-Event-ID is a built-in recovery offset: replay what was missed, then stream live.</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labs/35-websocket-and-sse/internal/sse/sse.go:74-96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Loop Streaming HTTP &amp; Heartbeat</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Flush berkala dan komentar keep-alive mencegah timeout reverse proxy</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flusher, ok := w.(http.Flusher)</a:t>
            </a:r>
            <a:br/>
            <a:r>
              <a:t>for {</a:t>
            </a:r>
            <a:br/>
            <a:r>
              <a:t>    select {</a:t>
            </a:r>
            <a:br/>
            <a:r>
              <a:t>    case &lt;-ctx.Done(): return</a:t>
            </a:r>
            <a:br/>
            <a:r>
              <a:t>    case evt, ok := &lt;-ch:</a:t>
            </a:r>
            <a:br/>
            <a:r>
              <a:t>        if !ok { return }</a:t>
            </a:r>
            <a:br/>
            <a:r>
              <a:t>        w.Write(evt.Format())</a:t>
            </a:r>
            <a:br/>
            <a:r>
              <a:t>        flusher.Flush()</a:t>
            </a:r>
            <a:br/>
            <a:r>
              <a:t>    case &lt;-ticker.C:</a:t>
            </a:r>
            <a:br/>
            <a:r>
              <a:t>        w.Write([]byte(": keep-alive\n\n"))</a:t>
            </a:r>
            <a:br/>
            <a:r>
              <a:t>        flusher.Flush()</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Koneksi SSE memerlukan http.Flusher agar frame teks terkirim ke client seketika tanpa tertahan di buffer Go runtime. Loop select memantau tiga hal: sinyal pemutusan dari context request, event baru dari broadcast channel, dan ticker 15 detik yang mengirim komentar ': keep-alive' untuk mencegah proxy memutus koneksi akibat idle timeout.</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Flushing pushes frames instantly; comment frames defeat proxy idle timeouts.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labs/35-websocket-and-sse/internal/sse/sse.go:98-151</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Anatomi Protokol WebSocket (RFC 6455)</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Protokol non-HTTP full-duplex melalui upgrade TCP connection tunggal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HANDSHAKE HTTP/1.1</a:t>
            </a:r>
          </a:p>
          <a:p>
            <a:pPr>
              <a:spcAft>
                <a:spcPts val="400"/>
              </a:spcAft>
              <a:defRPr sz="1200">
                <a:solidFill>
                  <a:srgbClr val="0B1B2D"/>
                </a:solidFill>
              </a:defRPr>
            </a:pPr>
            <a:r>
              <a:t>• Request: GET /ws dengan Upgrade: websocket &amp; Connection: Upgrade</a:t>
            </a:r>
          </a:p>
          <a:p>
            <a:pPr>
              <a:spcAft>
                <a:spcPts val="400"/>
              </a:spcAft>
              <a:defRPr sz="1200">
                <a:solidFill>
                  <a:srgbClr val="0B1B2D"/>
                </a:solidFill>
              </a:defRPr>
            </a:pPr>
            <a:r>
              <a:t>• Sec-WebSocket-Key: Nilai random 16-byte yang di-encode base64</a:t>
            </a:r>
          </a:p>
          <a:p>
            <a:pPr>
              <a:spcAft>
                <a:spcPts val="400"/>
              </a:spcAft>
              <a:defRPr sz="1200">
                <a:solidFill>
                  <a:srgbClr val="0B1B2D"/>
                </a:solidFill>
              </a:defRPr>
            </a:pPr>
            <a:r>
              <a:t>• Respons: HTTP/1.1 101 Switching Protocols</a:t>
            </a:r>
          </a:p>
          <a:p>
            <a:pPr>
              <a:spcAft>
                <a:spcPts val="400"/>
              </a:spcAft>
              <a:defRPr sz="1200">
                <a:solidFill>
                  <a:srgbClr val="0B1B2D"/>
                </a:solidFill>
              </a:defRPr>
            </a:pPr>
            <a:r>
              <a:t>• Sec-WebSocket-Accept: base64(SHA-1(Key + WS_GUID))</a:t>
            </a:r>
          </a:p>
          <a:p>
            <a:pPr>
              <a:defRPr sz="1200" b="1">
                <a:solidFill>
                  <a:srgbClr val="087F76"/>
                </a:solidFill>
              </a:defRPr>
            </a:pPr>
            <a:r>
              <a:t>KONEKSI NON-HTTP</a:t>
            </a:r>
          </a:p>
          <a:p>
            <a:pPr>
              <a:spcAft>
                <a:spcPts val="400"/>
              </a:spcAft>
              <a:defRPr sz="1200">
                <a:solidFill>
                  <a:srgbClr val="0B1B2D"/>
                </a:solidFill>
              </a:defRPr>
            </a:pPr>
            <a:r>
              <a:t>• Setelah status 101, socket dilepas dari HTTP engine (Hijacked)</a:t>
            </a:r>
          </a:p>
          <a:p>
            <a:pPr>
              <a:spcAft>
                <a:spcPts val="400"/>
              </a:spcAft>
              <a:defRPr sz="1200">
                <a:solidFill>
                  <a:srgbClr val="0B1B2D"/>
                </a:solidFill>
              </a:defRPr>
            </a:pPr>
            <a:r>
              <a:t>• Komunikasi beralih ke framing biner raw TCP berarah ganda</a:t>
            </a:r>
          </a:p>
          <a:p>
            <a:pPr>
              <a:spcAft>
                <a:spcPts val="400"/>
              </a:spcAft>
              <a:defRPr sz="1200">
                <a:solidFill>
                  <a:srgbClr val="0B1B2D"/>
                </a:solidFill>
              </a:defRPr>
            </a:pPr>
            <a:r>
              <a:t>• Server dan client dapat mengirim frame kapan saja secara simultan</a:t>
            </a:r>
          </a:p>
          <a:p>
            <a:pPr>
              <a:defRPr sz="1200" b="1">
                <a:solidFill>
                  <a:srgbClr val="087F76"/>
                </a:solidFill>
              </a:defRPr>
            </a:pPr>
            <a:r>
              <a:t>TIPE PAYLOAD</a:t>
            </a:r>
          </a:p>
          <a:p>
            <a:pPr>
              <a:spcAft>
                <a:spcPts val="400"/>
              </a:spcAft>
              <a:defRPr sz="1200">
                <a:solidFill>
                  <a:srgbClr val="0B1B2D"/>
                </a:solidFill>
              </a:defRPr>
            </a:pPr>
            <a:r>
              <a:t>• Mendukung teks UTF-8 murni (Opcode 0x1)</a:t>
            </a:r>
          </a:p>
          <a:p>
            <a:pPr>
              <a:spcAft>
                <a:spcPts val="400"/>
              </a:spcAft>
              <a:defRPr sz="1200">
                <a:solidFill>
                  <a:srgbClr val="0B1B2D"/>
                </a:solidFill>
              </a:defRPr>
            </a:pPr>
            <a:r>
              <a:t>• Mendukung raw binary byte array (Opcode 0x2)</a:t>
            </a:r>
          </a:p>
          <a:p>
            <a:pPr>
              <a:spcAft>
                <a:spcPts val="400"/>
              </a:spcAft>
              <a:defRPr sz="1200">
                <a:solidFill>
                  <a:srgbClr val="0B1B2D"/>
                </a:solidFill>
              </a:defRPr>
            </a:pPr>
            <a:r>
              <a:t>• Control frames: Close (0x8), Ping (0x9), Pong (0xA)</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WebSocket dirancang oleh IETF RFC 6455 untuk menghadirkan kanal dua arah berlatensi rendah. Koneksi diawali dengan request HTTP biasa yang meminta Upgrade. Server merespons dengan 101 Switching Protocols dan menghitung Sec-WebSocket-Accept menggunakan GUID standar. Setelah itu, socket sepenuhnya beralih ke parsing frame biner.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WebSocket begins as HTTP handshake then metamorphoses into raw TCP binary framing.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labs/35-websocket-and-sse/internal/ws/ws.go:31-76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Handshake Upgrade &amp; Connection Hijacking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Mengambil alih raw socket TCP dari HTTP Server menggunakan http.Hijacker</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h := sha1.New()</a:t>
            </a:r>
            <a:br/>
            <a:r>
              <a:t>h.Write([]byte(key + "258EAFA5-E914-47DA-95CA-C5AB0DC85B11"))</a:t>
            </a:r>
            <a:br/>
            <a:r>
              <a:t>accept := base64.StdEncoding.EncodeToString(h.Sum(nil))</a:t>
            </a:r>
            <a:br/>
            <a:br/>
            <a:r>
              <a:t>hj, ok := w.(http.Hijacker)</a:t>
            </a:r>
            <a:br/>
            <a:r>
              <a:t>netConn, bufrw, err := hj.Hijack()</a:t>
            </a:r>
            <a:br/>
            <a:r>
              <a:t>resp := "HTTP/1.1 101 Switching Protocols\r\n" +</a:t>
            </a:r>
            <a:br/>
            <a:r>
              <a:t>    "Upgrade: websocket\r\nConnection: Upgrade\r\n" +</a:t>
            </a:r>
            <a:br/>
            <a:r>
              <a:t>    "Sec-WebSocket-Accept: " + accept + "\r\n\r\n"</a:t>
            </a:r>
            <a:br/>
            <a:r>
              <a:t>bufrw.WriteString(resp); bufrw.Flush()</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Fungsi Upgrade() mendemonstrasikan kalkulasi kriptografis Sec-WebSocket-Accept sesuai RFC 6455. Dengan memanggil w.(http.Hijacker).Hijack(), Go melepaskan kendali socket TCP dari net/http runtime. Server menulis respons 101 Switching Protocols secara langsung ke buffer TCP dan membungkus socket ke dalam struct Conn kustom.</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Hijacking frees the raw TCP socket from net/http lifecycle constraints.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labs/35-websocket-and-sse/internal/ws/ws.go:43-76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Struktur Frame Biner RFC 6455</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Encoding header hemat byte dengan mask flag, opcode, dan multi-tier length</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LAYOUT FRAME RFC 6455</a:t>
            </a:r>
          </a:p>
          <a:p>
            <a:pPr>
              <a:spcAft>
                <a:spcPts val="400"/>
              </a:spcAft>
              <a:defRPr sz="1200">
                <a:solidFill>
                  <a:srgbClr val="0B1B2D"/>
                </a:solidFill>
              </a:defRPr>
            </a:pPr>
            <a:r>
              <a:t>• Byte 0: FIN (1 bit) + RSV (3 bits) + Opcode (4 bits)</a:t>
            </a:r>
          </a:p>
          <a:p>
            <a:pPr>
              <a:spcAft>
                <a:spcPts val="400"/>
              </a:spcAft>
              <a:defRPr sz="1200">
                <a:solidFill>
                  <a:srgbClr val="0B1B2D"/>
                </a:solidFill>
              </a:defRPr>
            </a:pPr>
            <a:r>
              <a:t>• Byte 1: MASK (1 bit) + Payload Length (7 bits)</a:t>
            </a:r>
          </a:p>
          <a:p>
            <a:pPr>
              <a:spcAft>
                <a:spcPts val="400"/>
              </a:spcAft>
              <a:defRPr sz="1200">
                <a:solidFill>
                  <a:srgbClr val="0B1B2D"/>
                </a:solidFill>
              </a:defRPr>
            </a:pPr>
            <a:r>
              <a:t>• Extended Length (opsional): 2 bytes (jika len=126) atau 8 bytes (jika len=127)</a:t>
            </a:r>
          </a:p>
          <a:p>
            <a:pPr>
              <a:spcAft>
                <a:spcPts val="400"/>
              </a:spcAft>
              <a:defRPr sz="1200">
                <a:solidFill>
                  <a:srgbClr val="0B1B2D"/>
                </a:solidFill>
              </a:defRPr>
            </a:pPr>
            <a:r>
              <a:t>• Masking Key: 4 bytes (wajib ada untuk frame dari client ke server)</a:t>
            </a:r>
          </a:p>
          <a:p>
            <a:pPr>
              <a:spcAft>
                <a:spcPts val="400"/>
              </a:spcAft>
              <a:defRPr sz="1200">
                <a:solidFill>
                  <a:srgbClr val="0B1B2D"/>
                </a:solidFill>
              </a:defRPr>
            </a:pPr>
            <a:r>
              <a:t>• Payload Data: N bytes (dimasking dengan XOR jika MASK=1)</a:t>
            </a:r>
          </a:p>
          <a:p>
            <a:pPr>
              <a:defRPr sz="1200" b="1">
                <a:solidFill>
                  <a:srgbClr val="087F76"/>
                </a:solidFill>
              </a:defRPr>
            </a:pPr>
            <a:r>
              <a:t>ENCODING PANJANG PAYLOAD</a:t>
            </a:r>
          </a:p>
          <a:p>
            <a:pPr>
              <a:spcAft>
                <a:spcPts val="400"/>
              </a:spcAft>
              <a:defRPr sz="1200">
                <a:solidFill>
                  <a:srgbClr val="0B1B2D"/>
                </a:solidFill>
              </a:defRPr>
            </a:pPr>
            <a:r>
              <a:t>• &lt;= 125 bytes     -&gt; Cukup 7 bit pada Byte 1</a:t>
            </a:r>
          </a:p>
          <a:p>
            <a:pPr>
              <a:spcAft>
                <a:spcPts val="400"/>
              </a:spcAft>
              <a:defRPr sz="1200">
                <a:solidFill>
                  <a:srgbClr val="0B1B2D"/>
                </a:solidFill>
              </a:defRPr>
            </a:pPr>
            <a:r>
              <a:t>• 126 - 65,535     -&gt; 7 bit bernilai 126 + 2 byte uint16 BigEndian</a:t>
            </a:r>
          </a:p>
          <a:p>
            <a:pPr>
              <a:spcAft>
                <a:spcPts val="400"/>
              </a:spcAft>
              <a:defRPr sz="1200">
                <a:solidFill>
                  <a:srgbClr val="0B1B2D"/>
                </a:solidFill>
              </a:defRPr>
            </a:pPr>
            <a:r>
              <a:t>&gt; 65,535 bytes   -&gt; 7 bit bernilai 127 + 8 byte uint64 BigEndian</a:t>
            </a:r>
          </a:p>
          <a:p>
            <a:pPr>
              <a:defRPr sz="1200" b="1">
                <a:solidFill>
                  <a:srgbClr val="087F76"/>
                </a:solidFill>
              </a:defRPr>
            </a:pPr>
            <a:r>
              <a:t>ATURAN MASKING</a:t>
            </a:r>
          </a:p>
          <a:p>
            <a:pPr>
              <a:spcAft>
                <a:spcPts val="400"/>
              </a:spcAft>
              <a:defRPr sz="1200">
                <a:solidFill>
                  <a:srgbClr val="0B1B2D"/>
                </a:solidFill>
              </a:defRPr>
            </a:pPr>
            <a:r>
              <a:t>• Client -&gt; Server: Wajib dimasking (mencegah cache poisoning perantara)</a:t>
            </a:r>
          </a:p>
          <a:p>
            <a:pPr>
              <a:spcAft>
                <a:spcPts val="400"/>
              </a:spcAft>
              <a:defRPr sz="1200">
                <a:solidFill>
                  <a:srgbClr val="0B1B2D"/>
                </a:solidFill>
              </a:defRPr>
            </a:pPr>
            <a:r>
              <a:t>• Server -&gt; Client: Dilarang dimasking (RFC 6455 Section 5.1)</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Struktur frame RFC 6455 dirancang sangat efisien. Header terkecil hanya membutuhkan 2 byte. Panjang payload dikodekan secara adaptif: 7 bit untuk pesan kecil, 16 bit untuk ukuran menengah, dan 64 bit untuk data raksasa. Mekanisme masking wajib diterapkan oleh client untuk mencegah eksploitasi cache poisoning pada proxy perantara.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Bit-level efficiency: 2-byte minimum header accommodates small frames to gigabytes.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labs/35-websocket-and-sse/internal/ws/ws.go:84-174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Parsing Frame &amp; Operasi XOR Masking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Membaca byte header dan memulihkan payload asli client secara bitwise</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var head [2]byte</a:t>
            </a:r>
            <a:br/>
            <a:r>
              <a:t>io.ReadFull(c.rw, head[:])</a:t>
            </a:r>
            <a:br/>
            <a:r>
              <a:t>opcode = head[0] &amp; 0x0F</a:t>
            </a:r>
            <a:br/>
            <a:r>
              <a:t>masked := (head[1] &amp; 0x80) != 0</a:t>
            </a:r>
            <a:br/>
            <a:r>
              <a:t>length := uint64(head[1] &amp; 0x7F)</a:t>
            </a:r>
            <a:br/>
            <a:r>
              <a:t>// ... handle extended length ...</a:t>
            </a:r>
            <a:br/>
            <a:r>
              <a:t>if masked {</a:t>
            </a:r>
            <a:br/>
            <a:r>
              <a:t>    io.ReadFull(c.rw, mask[:])</a:t>
            </a:r>
            <a:br/>
            <a:r>
              <a:t>    io.ReadFull(c.rw, data)</a:t>
            </a:r>
            <a:br/>
            <a:r>
              <a:t>    for i := range data {</a:t>
            </a:r>
            <a:br/>
            <a:r>
              <a:t>        data[i] ^= mask[i%4] // Bitwise XOR unmasking</a:t>
            </a:r>
            <a:br/>
            <a:r>
              <a:t>    }</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Method ReadFrame() mengekstrak header biner dari stream TCP. Jika bit MASK aktif, server membaca 4 byte masking key. Setiap byte payload kemudian di-XOR dengan mask[i % 4] untuk membuka enkripsi transport. Sifat simetris XOR memungkinkan decoding langsung di memori secara cepat tanpa alokasi buffer sekunder.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XOR unmasking restores wire bytes in-place: data[i] ^= mask[i % 4].</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labs/35-websocket-and-sse/internal/ws/ws.go:84-127</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WriteFrame: Konstruksi Frame Outbound</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Serialisasi data text dan biner dengan pengaturan bit FIN dan masking</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func (c *Conn) WriteFrame(opcode byte, payload []byte, mask bool) error {</a:t>
            </a:r>
            <a:br/>
            <a:r>
              <a:t>    c.mu.Lock(); defer c.mu.Unlock()</a:t>
            </a:r>
            <a:br/>
            <a:r>
              <a:t>    var buf []byte</a:t>
            </a:r>
            <a:br/>
            <a:r>
              <a:t>    b0 := byte(0x80) | (opcode &amp; 0x0F) // FIN=1</a:t>
            </a:r>
            <a:br/>
            <a:r>
              <a:t>    buf = append(buf, b0)</a:t>
            </a:r>
            <a:br/>
            <a:r>
              <a:t>    // ... encode length (7, 16, or 64 bit) ...</a:t>
            </a:r>
            <a:br/>
            <a:r>
              <a:t>    if mask {</a:t>
            </a:r>
            <a:br/>
            <a:r>
              <a:t>        // append maskKey and maskedPayload</a:t>
            </a:r>
            <a:br/>
            <a:r>
              <a:t>    } else {</a:t>
            </a:r>
            <a:br/>
            <a:r>
              <a:t>        buf = append(buf, payload...)</a:t>
            </a:r>
            <a:br/>
            <a:r>
              <a:t>    }</a:t>
            </a:r>
            <a:br/>
            <a:r>
              <a:t>    _, err := c.rw.Write(buf)</a:t>
            </a:r>
            <a:br/>
            <a:r>
              <a:t>    return err</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Method WriteFrame() menyusun paket biner untuk dikirim ke socket. Mutex c.mu menjamin bahwa penulisan frame bersifat atomic sehingga dua goroutine tidak mencampur aduk byte frame di TCP stream. Bit FIN diset ke 1 untuk menandakan pesan mandiri tanpa fragmentasi lanjutan.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Mutex synchronization guarantees atomic frame delivery over raw TCP sockets.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labs/35-websocket-and-sse/internal/ws/ws.go:129-174</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Server Loop: Echo Teks &amp; Reversal Biner</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Menangani OpClose, OpPing, OpText, dan OpBinary pada endpoint /ws</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switch op {</a:t>
            </a:r>
            <a:br/>
            <a:r>
              <a:t>case ws.OpClose:</a:t>
            </a:r>
            <a:br/>
            <a:r>
              <a:t>    conn.WriteFrame(ws.OpClose, nil, false); return</a:t>
            </a:r>
            <a:br/>
            <a:r>
              <a:t>case ws.OpPing:</a:t>
            </a:r>
            <a:br/>
            <a:r>
              <a:t>    conn.WriteFrame(ws.OpPong, data, false)</a:t>
            </a:r>
            <a:br/>
            <a:r>
              <a:t>case ws.OpText:</a:t>
            </a:r>
            <a:br/>
            <a:r>
              <a:t>    conn.WriteFrame(ws.OpText, append([]byte("echo: "), data...), false)</a:t>
            </a:r>
            <a:br/>
            <a:r>
              <a:t>case ws.OpBinary:</a:t>
            </a:r>
            <a:br/>
            <a:r>
              <a:t>    rev := make([]byte, len(data))</a:t>
            </a:r>
            <a:br/>
            <a:r>
              <a:t>    for i := range data { rev[i] = data[len(data)-1-i] }</a:t>
            </a:r>
            <a:br/>
            <a:r>
              <a:t>    conn.WriteFrame(ws.OpBinary, rev, false)</a:t>
            </a:r>
            <a:br/>
            <a:r>
              <a:t>}</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Loop pemrosesan WebSocket di server menangani berbagai tipe frame kontrol dan data. Untuk teks, server menambahkan prefiks 'echo: '. Untuk biner, payload dibalik urutan byte-nya sebelum dikirim kembali. Reversal ini memberikan bukti deterministik bahwa protokol mampu mentransfer biner murni tanpa kompromi.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Byte reversal conclusively verifies true binary transport fidelity.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labs/35-websocket-and-sse/internal/server/server.go:34-56</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Eksekusi Demo: Bukti Terminal Langsung</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Output deterministik dari cmd/demo memvalidasi resumption dan duplexing</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&gt; 1. SSE: Unidirectional Server Push with Last-Event-ID</a:t>
            </a:r>
            <a:br/>
            <a:r>
              <a:t>Client connected with Last-Event-ID: 1. Received resumed events:</a:t>
            </a:r>
            <a:br/>
            <a:r>
              <a:t>  [SSE Stream] id: 2</a:t>
            </a:r>
            <a:br/>
            <a:r>
              <a:t>  [SSE Stream] event: news</a:t>
            </a:r>
            <a:br/>
            <a:r>
              <a:t>  [SSE Stream] retry: 2000</a:t>
            </a:r>
            <a:br/>
            <a:r>
              <a:t>  [SSE Stream] data: Update: Faster routing in net/http</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Eksekusi cmd/demo membuktikan klaim teknis secara nyata. Pada bagian SSE, pengiriman Last-Event-ID: 1 berhasil mengabaikan event 1 dan memutar ulang event 2. Pada bagian WebSocket, frame teks di-echo dengan benar dan frame biner DEADBEEF berhasil dibalik menjadi EFBEADDE tanpa kecacatan data.</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Deterministic verification: SSE resumes exactly from offset; WebSocket mirrors bytes exactly.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labs/35-websocket-and-sse/cmd/demo/main.go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Hasil Pengujian Test Suite &amp; Concurrency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4 test case diverifikasi lolos dengan Race Detector aktif (Go 1.22)</a:t>
            </a:r>
          </a:p>
        </p:txBody>
      </p:sp>
      <p:sp>
        <p:nvSpPr>
          <p:cNvPr id="6" name="Rounded Rectangle 5"/>
          <p:cNvSpPr/>
          <p:nvPr/>
        </p:nvSpPr>
        <p:spPr>
          <a:xfrm>
            <a:off x="731520" y="1828800"/>
            <a:ext cx="5120640" cy="3383280"/>
          </a:xfrm>
          <a:prstGeom prst="round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E2E8F0"/>
                </a:solidFill>
                <a:latin typeface="Courier New"/>
              </a:defRPr>
            </a:pPr>
            <a:r>
              <a:t>=== RUN   TestSSE_Formatting            -&gt; PASS (0.00s)</a:t>
            </a:r>
            <a:br/>
            <a:r>
              <a:t>=== RUN   TestSSE_LastEventID_Resumption -&gt; PASS (0.00s)</a:t>
            </a:r>
            <a:br/>
            <a:r>
              <a:t>=== RUN   TestWebSocket_TextAndBinary    -&gt; PASS (0.00s)</a:t>
            </a:r>
            <a:br/>
            <a:r>
              <a:t>=== RUN   TestSSE_Concurrency           -&gt; PASS (0.05s)</a:t>
            </a:r>
            <a:br/>
            <a:r>
              <a:t>PASS: go test -race ./... (1.559s - Race Clean)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Seluruh rangkaian pengujian di tests/protocol_test.go lulus dengan Go Race Detector aktif. Test concurrency membuktikan bahwa non-blocking broadcast channel pada Hub mampu melayani 10 client paralel saat menerima 5 event acak tanpa terjadi data race atau goroutine starvation.</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Race-clean test pass proves thread-safe synchronization across concurrent streams.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labs/35-websocket-and-sse/tests/protocol_test.go</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Matriks Evaluasi: WebSocket vs SSE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Perbandingan mendalam 8 dimensi arsitektur dan operasional</a:t>
            </a:r>
          </a:p>
        </p:txBody>
      </p:sp>
      <p:graphicFrame>
        <p:nvGraphicFramePr>
          <p:cNvPr id="6" name="Table 5"/>
          <p:cNvGraphicFramePr>
            <a:graphicFrameLocks noGrp="1"/>
          </p:cNvGraphicFramePr>
          <p:nvPr/>
        </p:nvGraphicFramePr>
        <p:xfrm>
          <a:off x="731520" y="1828800"/>
          <a:ext cx="5120640" cy="3291840"/>
        </p:xfrm>
        <a:graphic>
          <a:graphicData uri="http://schemas.openxmlformats.org/drawingml/2006/table">
            <a:tbl>
              <a:tblPr firstRow="1" bandRow="1">
                <a:tableStyleId>{5C22544A-7EE6-4342-B048-85BDC9FD1C3A}</a:tableStyleId>
              </a:tblPr>
              <a:tblGrid>
                <a:gridCol w="1706880"/>
                <a:gridCol w="1706880"/>
                <a:gridCol w="1706880"/>
              </a:tblGrid>
              <a:tr h="411480">
                <a:tc>
                  <a:txBody>
                    <a:bodyPr/>
                    <a:lstStyle/>
                    <a:p>
                      <a:pPr>
                        <a:defRPr b="1" sz="1000">
                          <a:solidFill>
                            <a:srgbClr val="FFFFFF"/>
                          </a:solidFill>
                        </a:defRPr>
                      </a:pPr>
                      <a:r>
                        <a:t>Dimensi</a:t>
                      </a:r>
                    </a:p>
                  </a:txBody>
                  <a:tcPr>
                    <a:solidFill>
                      <a:srgbClr val="0B1B2D"/>
                    </a:solidFill>
                  </a:tcPr>
                </a:tc>
                <a:tc>
                  <a:txBody>
                    <a:bodyPr/>
                    <a:lstStyle/>
                    <a:p>
                      <a:pPr>
                        <a:defRPr b="1" sz="1000">
                          <a:solidFill>
                            <a:srgbClr val="FFFFFF"/>
                          </a:solidFill>
                        </a:defRPr>
                      </a:pPr>
                      <a:r>
                        <a:t>WebSocket (RFC 6455)</a:t>
                      </a:r>
                    </a:p>
                  </a:txBody>
                  <a:tcPr>
                    <a:solidFill>
                      <a:srgbClr val="0B1B2D"/>
                    </a:solidFill>
                  </a:tcPr>
                </a:tc>
                <a:tc>
                  <a:txBody>
                    <a:bodyPr/>
                    <a:lstStyle/>
                    <a:p>
                      <a:pPr>
                        <a:defRPr b="1" sz="1000">
                          <a:solidFill>
                            <a:srgbClr val="FFFFFF"/>
                          </a:solidFill>
                        </a:defRPr>
                      </a:pPr>
                      <a:r>
                        <a:t>Server-Sent Events (SSE)</a:t>
                      </a:r>
                    </a:p>
                  </a:txBody>
                  <a:tcPr>
                    <a:solidFill>
                      <a:srgbClr val="0B1B2D"/>
                    </a:solidFill>
                  </a:tcPr>
                </a:tc>
              </a:tr>
              <a:tr h="411480">
                <a:tc>
                  <a:txBody>
                    <a:bodyPr/>
                    <a:lstStyle/>
                    <a:p>
                      <a:pPr>
                        <a:defRPr sz="900">
                          <a:solidFill>
                            <a:srgbClr val="0B1B2D"/>
                          </a:solidFill>
                        </a:defRPr>
                      </a:pPr>
                      <a:r>
                        <a:t>Arah Komunikasi</a:t>
                      </a:r>
                    </a:p>
                  </a:txBody>
                  <a:tcPr>
                    <a:solidFill>
                      <a:srgbClr val="FFFFFF"/>
                    </a:solidFill>
                  </a:tcPr>
                </a:tc>
                <a:tc>
                  <a:txBody>
                    <a:bodyPr/>
                    <a:lstStyle/>
                    <a:p>
                      <a:pPr>
                        <a:defRPr sz="900">
                          <a:solidFill>
                            <a:srgbClr val="0B1B2D"/>
                          </a:solidFill>
                        </a:defRPr>
                      </a:pPr>
                      <a:r>
                        <a:t>Full-Duplex (2 Arah)</a:t>
                      </a:r>
                    </a:p>
                  </a:txBody>
                  <a:tcPr>
                    <a:solidFill>
                      <a:srgbClr val="FFFFFF"/>
                    </a:solidFill>
                  </a:tcPr>
                </a:tc>
                <a:tc>
                  <a:txBody>
                    <a:bodyPr/>
                    <a:lstStyle/>
                    <a:p>
                      <a:pPr>
                        <a:defRPr sz="900">
                          <a:solidFill>
                            <a:srgbClr val="0B1B2D"/>
                          </a:solidFill>
                        </a:defRPr>
                      </a:pPr>
                      <a:r>
                        <a:t>Unidirectional (Server-&gt;Client)</a:t>
                      </a:r>
                    </a:p>
                  </a:txBody>
                  <a:tcPr>
                    <a:solidFill>
                      <a:srgbClr val="FFFFFF"/>
                    </a:solidFill>
                  </a:tcPr>
                </a:tc>
              </a:tr>
              <a:tr h="411480">
                <a:tc>
                  <a:txBody>
                    <a:bodyPr/>
                    <a:lstStyle/>
                    <a:p>
                      <a:pPr>
                        <a:defRPr sz="900">
                          <a:solidFill>
                            <a:srgbClr val="0B1B2D"/>
                          </a:solidFill>
                        </a:defRPr>
                      </a:pPr>
                      <a:r>
                        <a:t>Transport / Pipa</a:t>
                      </a:r>
                    </a:p>
                  </a:txBody>
                  <a:tcPr>
                    <a:solidFill>
                      <a:srgbClr val="FFFFFF"/>
                    </a:solidFill>
                  </a:tcPr>
                </a:tc>
                <a:tc>
                  <a:txBody>
                    <a:bodyPr/>
                    <a:lstStyle/>
                    <a:p>
                      <a:pPr>
                        <a:defRPr sz="900">
                          <a:solidFill>
                            <a:srgbClr val="0B1B2D"/>
                          </a:solidFill>
                        </a:defRPr>
                      </a:pPr>
                      <a:r>
                        <a:t>Raw TCP (setelah Upgrade)</a:t>
                      </a:r>
                    </a:p>
                  </a:txBody>
                  <a:tcPr>
                    <a:solidFill>
                      <a:srgbClr val="FFFFFF"/>
                    </a:solidFill>
                  </a:tcPr>
                </a:tc>
                <a:tc>
                  <a:txBody>
                    <a:bodyPr/>
                    <a:lstStyle/>
                    <a:p>
                      <a:pPr>
                        <a:defRPr sz="900">
                          <a:solidFill>
                            <a:srgbClr val="0B1B2D"/>
                          </a:solidFill>
                        </a:defRPr>
                      </a:pPr>
                      <a:r>
                        <a:t>Standard HTTP Streaming</a:t>
                      </a:r>
                    </a:p>
                  </a:txBody>
                  <a:tcPr>
                    <a:solidFill>
                      <a:srgbClr val="FFFFFF"/>
                    </a:solidFill>
                  </a:tcPr>
                </a:tc>
              </a:tr>
              <a:tr h="411480">
                <a:tc>
                  <a:txBody>
                    <a:bodyPr/>
                    <a:lstStyle/>
                    <a:p>
                      <a:pPr>
                        <a:defRPr sz="900">
                          <a:solidFill>
                            <a:srgbClr val="0B1B2D"/>
                          </a:solidFill>
                        </a:defRPr>
                      </a:pPr>
                      <a:r>
                        <a:t>Tipe Payload</a:t>
                      </a:r>
                    </a:p>
                  </a:txBody>
                  <a:tcPr>
                    <a:solidFill>
                      <a:srgbClr val="FFFFFF"/>
                    </a:solidFill>
                  </a:tcPr>
                </a:tc>
                <a:tc>
                  <a:txBody>
                    <a:bodyPr/>
                    <a:lstStyle/>
                    <a:p>
                      <a:pPr>
                        <a:defRPr sz="900">
                          <a:solidFill>
                            <a:srgbClr val="0B1B2D"/>
                          </a:solidFill>
                        </a:defRPr>
                      </a:pPr>
                      <a:r>
                        <a:t>UTF-8 Teks &amp; Raw Biner</a:t>
                      </a:r>
                    </a:p>
                  </a:txBody>
                  <a:tcPr>
                    <a:solidFill>
                      <a:srgbClr val="FFFFFF"/>
                    </a:solidFill>
                  </a:tcPr>
                </a:tc>
                <a:tc>
                  <a:txBody>
                    <a:bodyPr/>
                    <a:lstStyle/>
                    <a:p>
                      <a:pPr>
                        <a:defRPr sz="900">
                          <a:solidFill>
                            <a:srgbClr val="0B1B2D"/>
                          </a:solidFill>
                        </a:defRPr>
                      </a:pPr>
                      <a:r>
                        <a:t>UTF-8 Teks Murni Saja</a:t>
                      </a:r>
                    </a:p>
                  </a:txBody>
                  <a:tcPr>
                    <a:solidFill>
                      <a:srgbClr val="FFFFFF"/>
                    </a:solidFill>
                  </a:tcPr>
                </a:tc>
              </a:tr>
              <a:tr h="411480">
                <a:tc>
                  <a:txBody>
                    <a:bodyPr/>
                    <a:lstStyle/>
                    <a:p>
                      <a:pPr>
                        <a:defRPr sz="900">
                          <a:solidFill>
                            <a:srgbClr val="0B1B2D"/>
                          </a:solidFill>
                        </a:defRPr>
                      </a:pPr>
                      <a:r>
                        <a:t>Auto-Reconnect</a:t>
                      </a:r>
                    </a:p>
                  </a:txBody>
                  <a:tcPr>
                    <a:solidFill>
                      <a:srgbClr val="FFFFFF"/>
                    </a:solidFill>
                  </a:tcPr>
                </a:tc>
                <a:tc>
                  <a:txBody>
                    <a:bodyPr/>
                    <a:lstStyle/>
                    <a:p>
                      <a:pPr>
                        <a:defRPr sz="900">
                          <a:solidFill>
                            <a:srgbClr val="0B1B2D"/>
                          </a:solidFill>
                        </a:defRPr>
                      </a:pPr>
                      <a:r>
                        <a:t>Manual / Custom Client</a:t>
                      </a:r>
                    </a:p>
                  </a:txBody>
                  <a:tcPr>
                    <a:solidFill>
                      <a:srgbClr val="FFFFFF"/>
                    </a:solidFill>
                  </a:tcPr>
                </a:tc>
                <a:tc>
                  <a:txBody>
                    <a:bodyPr/>
                    <a:lstStyle/>
                    <a:p>
                      <a:pPr>
                        <a:defRPr sz="900">
                          <a:solidFill>
                            <a:srgbClr val="0B1B2D"/>
                          </a:solidFill>
                        </a:defRPr>
                      </a:pPr>
                      <a:r>
                        <a:t>Bawaan Browser EventSource</a:t>
                      </a:r>
                    </a:p>
                  </a:txBody>
                  <a:tcPr>
                    <a:solidFill>
                      <a:srgbClr val="FFFFFF"/>
                    </a:solidFill>
                  </a:tcPr>
                </a:tc>
              </a:tr>
              <a:tr h="411480">
                <a:tc>
                  <a:txBody>
                    <a:bodyPr/>
                    <a:lstStyle/>
                    <a:p>
                      <a:pPr>
                        <a:defRPr sz="900">
                          <a:solidFill>
                            <a:srgbClr val="0B1B2D"/>
                          </a:solidFill>
                        </a:defRPr>
                      </a:pPr>
                      <a:r>
                        <a:t>Resumption State</a:t>
                      </a:r>
                    </a:p>
                  </a:txBody>
                  <a:tcPr>
                    <a:solidFill>
                      <a:srgbClr val="FFFFFF"/>
                    </a:solidFill>
                  </a:tcPr>
                </a:tc>
                <a:tc>
                  <a:txBody>
                    <a:bodyPr/>
                    <a:lstStyle/>
                    <a:p>
                      <a:pPr>
                        <a:defRPr sz="900">
                          <a:solidFill>
                            <a:srgbClr val="0B1B2D"/>
                          </a:solidFill>
                        </a:defRPr>
                      </a:pPr>
                      <a:r>
                        <a:t>Tidak ada di spec level</a:t>
                      </a:r>
                    </a:p>
                  </a:txBody>
                  <a:tcPr>
                    <a:solidFill>
                      <a:srgbClr val="FFFFFF"/>
                    </a:solidFill>
                  </a:tcPr>
                </a:tc>
                <a:tc>
                  <a:txBody>
                    <a:bodyPr/>
                    <a:lstStyle/>
                    <a:p>
                      <a:pPr>
                        <a:defRPr sz="900">
                          <a:solidFill>
                            <a:srgbClr val="0B1B2D"/>
                          </a:solidFill>
                        </a:defRPr>
                      </a:pPr>
                      <a:r>
                        <a:t>Bawaan via Last-Event-ID</a:t>
                      </a:r>
                    </a:p>
                  </a:txBody>
                  <a:tcPr>
                    <a:solidFill>
                      <a:srgbClr val="FFFFFF"/>
                    </a:solidFill>
                  </a:tcPr>
                </a:tc>
              </a:tr>
              <a:tr h="411480">
                <a:tc>
                  <a:txBody>
                    <a:bodyPr/>
                    <a:lstStyle/>
                    <a:p>
                      <a:pPr>
                        <a:defRPr sz="900">
                          <a:solidFill>
                            <a:srgbClr val="0B1B2D"/>
                          </a:solidFill>
                        </a:defRPr>
                      </a:pPr>
                      <a:r>
                        <a:t>Proxy / LB Compat</a:t>
                      </a:r>
                    </a:p>
                  </a:txBody>
                  <a:tcPr>
                    <a:solidFill>
                      <a:srgbClr val="FFFFFF"/>
                    </a:solidFill>
                  </a:tcPr>
                </a:tc>
                <a:tc>
                  <a:txBody>
                    <a:bodyPr/>
                    <a:lstStyle/>
                    <a:p>
                      <a:pPr>
                        <a:defRPr sz="900">
                          <a:solidFill>
                            <a:srgbClr val="0B1B2D"/>
                          </a:solidFill>
                        </a:defRPr>
                      </a:pPr>
                      <a:r>
                        <a:t>Butuh Sticky / WS Bypass</a:t>
                      </a:r>
                    </a:p>
                  </a:txBody>
                  <a:tcPr>
                    <a:solidFill>
                      <a:srgbClr val="FFFFFF"/>
                    </a:solidFill>
                  </a:tcPr>
                </a:tc>
                <a:tc>
                  <a:txBody>
                    <a:bodyPr/>
                    <a:lstStyle/>
                    <a:p>
                      <a:pPr>
                        <a:defRPr sz="900">
                          <a:solidFill>
                            <a:srgbClr val="0B1B2D"/>
                          </a:solidFill>
                        </a:defRPr>
                      </a:pPr>
                      <a:r>
                        <a:t>Standar HTTP (No buffering)</a:t>
                      </a:r>
                    </a:p>
                  </a:txBody>
                  <a:tcPr>
                    <a:solidFill>
                      <a:srgbClr val="FFFFFF"/>
                    </a:solidFill>
                  </a:tcPr>
                </a:tc>
              </a:tr>
              <a:tr h="411480">
                <a:tc>
                  <a:txBody>
                    <a:bodyPr/>
                    <a:lstStyle/>
                    <a:p>
                      <a:pPr>
                        <a:defRPr sz="900">
                          <a:solidFill>
                            <a:srgbClr val="0B1B2D"/>
                          </a:solidFill>
                        </a:defRPr>
                      </a:pPr>
                      <a:r>
                        <a:t>HTTP/2 Multiplex</a:t>
                      </a:r>
                    </a:p>
                  </a:txBody>
                  <a:tcPr>
                    <a:solidFill>
                      <a:srgbClr val="FFFFFF"/>
                    </a:solidFill>
                  </a:tcPr>
                </a:tc>
                <a:tc>
                  <a:txBody>
                    <a:bodyPr/>
                    <a:lstStyle/>
                    <a:p>
                      <a:pPr>
                        <a:defRPr sz="900">
                          <a:solidFill>
                            <a:srgbClr val="0B1B2D"/>
                          </a:solidFill>
                        </a:defRPr>
                      </a:pPr>
                      <a:r>
                        <a:t>Butuh RFC 8441 CONNECT</a:t>
                      </a:r>
                    </a:p>
                  </a:txBody>
                  <a:tcPr>
                    <a:solidFill>
                      <a:srgbClr val="FFFFFF"/>
                    </a:solidFill>
                  </a:tcPr>
                </a:tc>
                <a:tc>
                  <a:txBody>
                    <a:bodyPr/>
                    <a:lstStyle/>
                    <a:p>
                      <a:pPr>
                        <a:defRPr sz="900">
                          <a:solidFill>
                            <a:srgbClr val="0B1B2D"/>
                          </a:solidFill>
                        </a:defRPr>
                      </a:pPr>
                      <a:r>
                        <a:t>Native HTTP/2 Multiplexing</a:t>
                      </a:r>
                    </a:p>
                  </a:txBody>
                  <a:tcPr>
                    <a:solidFill>
                      <a:srgbClr val="FFFFFF"/>
                    </a:solidFill>
                  </a:tcPr>
                </a:tc>
              </a:tr>
            </a:tbl>
          </a:graphicData>
        </a:graphic>
      </p:graphicFrame>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Matriks perbandingan memperjelas trade-off arsitektural. WebSocket menawarkan kemampuan full-duplex dan dukungan biner dengan kompensasi hilangnya auto-reconnect bawaan dan meningkatnya kerumitan proxy. SSE memberikan ketahanan jaringan otomatis dan dukungan native HTTP/2 stream multiplexing.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WebSocket optimizes for protocol capability; SSE optimizes for operational simplicity.</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Tantangan Proxy, Firewall &amp; Gateway</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Bagaimana middleware jaringan memperlakukan koneksi persisten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ISU PROXY PADA WEBSOCKET</a:t>
            </a:r>
          </a:p>
          <a:p>
            <a:pPr>
              <a:spcAft>
                <a:spcPts val="400"/>
              </a:spcAft>
              <a:defRPr sz="1200">
                <a:solidFill>
                  <a:srgbClr val="0B1B2D"/>
                </a:solidFill>
              </a:defRPr>
            </a:pPr>
            <a:r>
              <a:t>• Load balancer modern (seperti AWS ALB) butuh sticky sessions jika node memegang state in-memory</a:t>
            </a:r>
          </a:p>
          <a:p>
            <a:pPr>
              <a:spcAft>
                <a:spcPts val="400"/>
              </a:spcAft>
              <a:defRPr sz="1200">
                <a:solidFill>
                  <a:srgbClr val="0B1B2D"/>
                </a:solidFill>
              </a:defRPr>
            </a:pPr>
            <a:r>
              <a:t>• Beberapa firewall perusahaan memblokir request non-HTTP setelah Upgrade</a:t>
            </a:r>
          </a:p>
          <a:p>
            <a:pPr>
              <a:spcAft>
                <a:spcPts val="400"/>
              </a:spcAft>
              <a:defRPr sz="1200">
                <a:solidFill>
                  <a:srgbClr val="0B1B2D"/>
                </a:solidFill>
              </a:defRPr>
            </a:pPr>
            <a:r>
              <a:t>• Idle timeout TCP memutus socket jika tidak ada traffic Ping/Pong aktif</a:t>
            </a:r>
          </a:p>
          <a:p>
            <a:pPr>
              <a:defRPr sz="1200" b="1">
                <a:solidFill>
                  <a:srgbClr val="087F76"/>
                </a:solidFill>
              </a:defRPr>
            </a:pPr>
            <a:r>
              <a:t>ISU PROXY PADA SSE</a:t>
            </a:r>
          </a:p>
          <a:p>
            <a:pPr>
              <a:spcAft>
                <a:spcPts val="400"/>
              </a:spcAft>
              <a:defRPr sz="1200">
                <a:solidFill>
                  <a:srgbClr val="0B1B2D"/>
                </a:solidFill>
              </a:defRPr>
            </a:pPr>
            <a:r>
              <a:t>• Buffering di perantara: Nginx menahan chunk response jika proxy_buffering aktif</a:t>
            </a:r>
          </a:p>
          <a:p>
            <a:pPr>
              <a:spcAft>
                <a:spcPts val="400"/>
              </a:spcAft>
              <a:defRPr sz="1200">
                <a:solidFill>
                  <a:srgbClr val="0B1B2D"/>
                </a:solidFill>
              </a:defRPr>
            </a:pPr>
            <a:r>
              <a:t>• Solusi: Tambahkan header X-Accel-Buffering: no pada respons server</a:t>
            </a:r>
          </a:p>
          <a:p>
            <a:pPr>
              <a:spcAft>
                <a:spcPts val="400"/>
              </a:spcAft>
              <a:defRPr sz="1200">
                <a:solidFill>
                  <a:srgbClr val="0B1B2D"/>
                </a:solidFill>
              </a:defRPr>
            </a:pPr>
            <a:r>
              <a:t>• Batas koneksi HTTP/1.1 browser (maks 6 koneksi per domain) sebelum HTTP/2</a:t>
            </a:r>
          </a:p>
          <a:p>
            <a:pPr>
              <a:defRPr sz="1200" b="1">
                <a:solidFill>
                  <a:srgbClr val="087F76"/>
                </a:solidFill>
              </a:defRPr>
            </a:pPr>
            <a:r>
              <a:t>REKOMENDASI PRODUKSI</a:t>
            </a:r>
          </a:p>
          <a:p>
            <a:pPr>
              <a:spcAft>
                <a:spcPts val="400"/>
              </a:spcAft>
              <a:defRPr sz="1200">
                <a:solidFill>
                  <a:srgbClr val="0B1B2D"/>
                </a:solidFill>
              </a:defRPr>
            </a:pPr>
            <a:r>
              <a:t>• Deploy SSE di atas HTTP/2 untuk menghilangkan batas koneksi domain</a:t>
            </a:r>
          </a:p>
          <a:p>
            <a:pPr>
              <a:spcAft>
                <a:spcPts val="400"/>
              </a:spcAft>
              <a:defRPr sz="1200">
                <a:solidFill>
                  <a:srgbClr val="0B1B2D"/>
                </a:solidFill>
              </a:defRPr>
            </a:pPr>
            <a:r>
              <a:t>• Terapkan distributed message broker (Redis Pub/Sub) untuk scaling multi-node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Koneksi jangka panjang rentan terhadap timeout dan pemotongan oleh proxy perantara. WebSocket kerap terhambat oleh firewall korporat yang mencurigai protokol non-HTTP. SSE menghadapi risiko proxy buffering di Nginx, yang dapat diselesaikan dengan menyetel X-Accel-Buffering: no atau menonaktifkan proxy_buffering.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Reverse proxies buffer HTTP unless instructed otherwise; firewalls distrust protocol upgrades.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Dampak HTTP/2 &amp; Multiplexing Aliran</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Mengapa evolusi HTTP memperkuat posisi Server-Sent Events</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SSE NATIVE DI HTTP/2</a:t>
            </a:r>
          </a:p>
          <a:p>
            <a:pPr>
              <a:spcAft>
                <a:spcPts val="400"/>
              </a:spcAft>
              <a:defRPr sz="1200">
                <a:solidFill>
                  <a:srgbClr val="0B1B2D"/>
                </a:solidFill>
              </a:defRPr>
            </a:pPr>
            <a:r>
              <a:t>• SSE berjalan di atas stream HTTP/2 standar tanpa ekstensi</a:t>
            </a:r>
          </a:p>
          <a:p>
            <a:pPr>
              <a:spcAft>
                <a:spcPts val="400"/>
              </a:spcAft>
              <a:defRPr sz="1200">
                <a:solidFill>
                  <a:srgbClr val="0B1B2D"/>
                </a:solidFill>
              </a:defRPr>
            </a:pPr>
            <a:r>
              <a:t>• Multiplexing memungkinkan puluhan stream SSE berbagi 1 koneksi TCP fisik</a:t>
            </a:r>
          </a:p>
          <a:p>
            <a:pPr>
              <a:spcAft>
                <a:spcPts val="400"/>
              </a:spcAft>
              <a:defRPr sz="1200">
                <a:solidFill>
                  <a:srgbClr val="0B1B2D"/>
                </a:solidFill>
              </a:defRPr>
            </a:pPr>
            <a:r>
              <a:t>• Mengeliminasi batas browser 6 koneksi per origin pada HTTP/1.1</a:t>
            </a:r>
          </a:p>
          <a:p>
            <a:pPr>
              <a:defRPr sz="1200" b="1">
                <a:solidFill>
                  <a:srgbClr val="087F76"/>
                </a:solidFill>
              </a:defRPr>
            </a:pPr>
            <a:r>
              <a:t>WEBSOCKET DI HTTP/2 (RFC 8441)</a:t>
            </a:r>
          </a:p>
          <a:p>
            <a:pPr>
              <a:spcAft>
                <a:spcPts val="400"/>
              </a:spcAft>
              <a:defRPr sz="1200">
                <a:solidFill>
                  <a:srgbClr val="0B1B2D"/>
                </a:solidFill>
              </a:defRPr>
            </a:pPr>
            <a:r>
              <a:t>• HTTP/2 melarang header Connection: Upgrade (RFC 9113)</a:t>
            </a:r>
          </a:p>
          <a:p>
            <a:pPr>
              <a:spcAft>
                <a:spcPts val="400"/>
              </a:spcAft>
              <a:defRPr sz="1200">
                <a:solidFill>
                  <a:srgbClr val="0B1B2D"/>
                </a:solidFill>
              </a:defRPr>
            </a:pPr>
            <a:r>
              <a:t>• WebSocket di HTTP/2 memerlukan Extended CONNECT method (:protocol=websocket)</a:t>
            </a:r>
          </a:p>
          <a:p>
            <a:pPr>
              <a:spcAft>
                <a:spcPts val="400"/>
              </a:spcAft>
              <a:defRPr sz="1200">
                <a:solidFill>
                  <a:srgbClr val="0B1B2D"/>
                </a:solidFill>
              </a:defRPr>
            </a:pPr>
            <a:r>
              <a:t>• Dukungan server dan proxy gateway masih belum universal di industri</a:t>
            </a:r>
          </a:p>
          <a:p>
            <a:pPr>
              <a:defRPr sz="1200" b="1">
                <a:solidFill>
                  <a:srgbClr val="087F76"/>
                </a:solidFill>
              </a:defRPr>
            </a:pPr>
            <a:r>
              <a:t>KEUNGGULAN OPERASIONAL</a:t>
            </a:r>
          </a:p>
          <a:p>
            <a:pPr>
              <a:spcAft>
                <a:spcPts val="400"/>
              </a:spcAft>
              <a:defRPr sz="1200">
                <a:solidFill>
                  <a:srgbClr val="0B1B2D"/>
                </a:solidFill>
              </a:defRPr>
            </a:pPr>
            <a:r>
              <a:t>• SSE secara natural mendapatkan kompresi header HPACK dan flow control HTTP/2</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Revolusi HTTP/2 secara dramatis meningkatkan daya tarik SSE. Melalui stream multiplexing, puluhan saluran SSE dapat berbagi satu koneksi TCP tanpa batasan 6 koneksi per domain. Sebaliknya, WebSocket memerlukan implementasi RFC 8441 yang rumit karena HTTP/2 melarang mekanisme connection upgrade tradisional.</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HTTP/2 natively supercharges SSE while demanding complex extensions for WebSocket.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labs/35-websocket-and-sse/research/05-report.md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Studi Kasus Nyata: Notifikasi &amp; AI Tokens</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Membedah pilihan arsitektur OpenAI, Claude, dan Sistem Notifikasi Skala Besar</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STREAMING TOKEN LLM (OPENAI / ANTHROPIC)</a:t>
            </a:r>
          </a:p>
          <a:p>
            <a:pPr>
              <a:spcAft>
                <a:spcPts val="400"/>
              </a:spcAft>
              <a:defRPr sz="1200">
                <a:solidFill>
                  <a:srgbClr val="0B1B2D"/>
                </a:solidFill>
              </a:defRPr>
            </a:pPr>
            <a:r>
              <a:t>• Karakteristik: Server menghasilkan token kata demi kata secara real-time</a:t>
            </a:r>
          </a:p>
          <a:p>
            <a:pPr>
              <a:spcAft>
                <a:spcPts val="400"/>
              </a:spcAft>
              <a:defRPr sz="1200">
                <a:solidFill>
                  <a:srgbClr val="0B1B2D"/>
                </a:solidFill>
              </a:defRPr>
            </a:pPr>
            <a:r>
              <a:t>• Arah: 100% Server -&gt; Client setelah prompt awal dikirim</a:t>
            </a:r>
          </a:p>
          <a:p>
            <a:pPr>
              <a:spcAft>
                <a:spcPts val="400"/>
              </a:spcAft>
              <a:defRPr sz="1200">
                <a:solidFill>
                  <a:srgbClr val="0B1B2D"/>
                </a:solidFill>
              </a:defRPr>
            </a:pPr>
            <a:r>
              <a:t>• Pilihan arsitektur: Server-Sent Events (SSE) adalah standar industri universal</a:t>
            </a:r>
          </a:p>
          <a:p>
            <a:pPr>
              <a:defRPr sz="1200" b="1">
                <a:solidFill>
                  <a:srgbClr val="087F76"/>
                </a:solidFill>
              </a:defRPr>
            </a:pPr>
            <a:r>
              <a:t>KOLABORASI DOKUMEN &amp; CHAT (FIGMA / SLACK)</a:t>
            </a:r>
          </a:p>
          <a:p>
            <a:pPr>
              <a:spcAft>
                <a:spcPts val="400"/>
              </a:spcAft>
              <a:defRPr sz="1200">
                <a:solidFill>
                  <a:srgbClr val="0B1B2D"/>
                </a:solidFill>
              </a:defRPr>
            </a:pPr>
            <a:r>
              <a:t>• Karakteristik: Kursor user bergerak cepat, pesan teks dikirim dua arah</a:t>
            </a:r>
          </a:p>
          <a:p>
            <a:pPr>
              <a:spcAft>
                <a:spcPts val="400"/>
              </a:spcAft>
              <a:defRPr sz="1200">
                <a:solidFill>
                  <a:srgbClr val="0B1B2D"/>
                </a:solidFill>
              </a:defRPr>
            </a:pPr>
            <a:r>
              <a:t>• Arah: Bidirectional interaktif dengan latensi minimal</a:t>
            </a:r>
          </a:p>
          <a:p>
            <a:pPr>
              <a:spcAft>
                <a:spcPts val="400"/>
              </a:spcAft>
              <a:defRPr sz="1200">
                <a:solidFill>
                  <a:srgbClr val="0B1B2D"/>
                </a:solidFill>
              </a:defRPr>
            </a:pPr>
            <a:r>
              <a:t>• Pilihan arsitektur: WebSocket dengan enkripsi frame biner</a:t>
            </a:r>
          </a:p>
          <a:p>
            <a:pPr>
              <a:defRPr sz="1200" b="1">
                <a:solidFill>
                  <a:srgbClr val="087F76"/>
                </a:solidFill>
              </a:defRPr>
            </a:pPr>
            <a:r>
              <a:t>PEMBELAJARAN ARSITEKTURAL</a:t>
            </a:r>
          </a:p>
          <a:p>
            <a:pPr>
              <a:spcAft>
                <a:spcPts val="400"/>
              </a:spcAft>
              <a:defRPr sz="1200">
                <a:solidFill>
                  <a:srgbClr val="0B1B2D"/>
                </a:solidFill>
              </a:defRPr>
            </a:pPr>
            <a:r>
              <a:t>• Penggunaan SSE pada API LLM membuktikan ketahanan dan kesederhanaan protokol</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Tren modern membuktikan penerapan aturan directionality. Layanan AI generative seperti OpenAI ChatGPT memilih SSE untuk men-stream token kata demi kata ke browser karena request prompt sudah selesai di awal. Sebaliknya, aplikasi seperti Figma atau multiplayer gaming mengandalkan WebSocket karena user terus-menerus mengirimkan data interaktif.</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Match real-world traffic patterns: LLM tokens stream via SSE; multi-user editing flows via WebSocket.</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Batasan Model &amp; Implementasi Lab 35</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Penyederhanaan pedagogis untuk menonjolkan prinsip mekanika protokol</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BATAS 1: WEBSOCKET FRAMING</a:t>
            </a:r>
          </a:p>
          <a:p>
            <a:pPr>
              <a:spcAft>
                <a:spcPts val="400"/>
              </a:spcAft>
              <a:defRPr sz="1200">
                <a:solidFill>
                  <a:srgbClr val="0B1B2D"/>
                </a:solidFill>
              </a:defRPr>
            </a:pPr>
            <a:r>
              <a:t>• Masking key client menggunakan nilai konstan (bukan crypto-random)</a:t>
            </a:r>
          </a:p>
          <a:p>
            <a:pPr>
              <a:spcAft>
                <a:spcPts val="400"/>
              </a:spcAft>
              <a:defRPr sz="1200">
                <a:solidFill>
                  <a:srgbClr val="0B1B2D"/>
                </a:solidFill>
              </a:defRPr>
            </a:pPr>
            <a:r>
              <a:t>• Belum mendukung fragmented continuation frames (OpContinuation 0x0)</a:t>
            </a:r>
          </a:p>
          <a:p>
            <a:pPr>
              <a:spcAft>
                <a:spcPts val="400"/>
              </a:spcAft>
              <a:defRPr sz="1200">
                <a:solidFill>
                  <a:srgbClr val="0B1B2D"/>
                </a:solidFill>
              </a:defRPr>
            </a:pPr>
            <a:r>
              <a:t>• Payload &gt; 65,535 bytes memiliki parser BigEndian namun belum diuji ekstensif</a:t>
            </a:r>
          </a:p>
          <a:p>
            <a:pPr>
              <a:defRPr sz="1200" b="1">
                <a:solidFill>
                  <a:srgbClr val="087F76"/>
                </a:solidFill>
              </a:defRPr>
            </a:pPr>
            <a:r>
              <a:t>BATAS 2: SSE HUB BUFFER</a:t>
            </a:r>
          </a:p>
          <a:p>
            <a:pPr>
              <a:spcAft>
                <a:spcPts val="400"/>
              </a:spcAft>
              <a:defRPr sz="1200">
                <a:solidFill>
                  <a:srgbClr val="0B1B2D"/>
                </a:solidFill>
              </a:defRPr>
            </a:pPr>
            <a:r>
              <a:t>• History event disimpan dalam slice in-memory tak terbatas (unbounded buffer)</a:t>
            </a:r>
          </a:p>
          <a:p>
            <a:pPr>
              <a:spcAft>
                <a:spcPts val="400"/>
              </a:spcAft>
              <a:defRPr sz="1200">
                <a:solidFill>
                  <a:srgbClr val="0B1B2D"/>
                </a:solidFill>
              </a:defRPr>
            </a:pPr>
            <a:r>
              <a:t>• Produksi memerlukan ring buffer dengan batas retensi atau Redis Streams</a:t>
            </a:r>
          </a:p>
          <a:p>
            <a:pPr>
              <a:defRPr sz="1200" b="1">
                <a:solidFill>
                  <a:srgbClr val="087F76"/>
                </a:solidFill>
              </a:defRPr>
            </a:pPr>
            <a:r>
              <a:t>BATAS 3: SCALE &amp; DISTRIBUTED STATE</a:t>
            </a:r>
          </a:p>
          <a:p>
            <a:pPr>
              <a:spcAft>
                <a:spcPts val="400"/>
              </a:spcAft>
              <a:defRPr sz="1200">
                <a:solidFill>
                  <a:srgbClr val="0B1B2D"/>
                </a:solidFill>
              </a:defRPr>
            </a:pPr>
            <a:r>
              <a:t>• Uji coba berjalan pada single node HTTP server tanpa distributed message bus</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Lab ini dirancang sebagai sarana edukasi teknis murni. Masking key diset statis untuk memudahkan debugging inspeksi byte, dan history SSE disimpan dalam memori tanpa penggusuran. Dalam lingkungan produksi riil, implementasi memerlukan ring buffer berkapasitas tetap, masking acak kriptografis, dan distributed broker.</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 lab isolates protocol mechanics; production demands ring buffers, random masks, and brokers.</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labs/35-websocket-and-sse/README.md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Checklist Keputusan Arsitektur Real-Time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8 langkah verifikasi sebelum menentukan protokol transport aplikasi</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EVALUASI KEBUTUHAN</a:t>
            </a:r>
          </a:p>
          <a:p>
            <a:pPr>
              <a:spcAft>
                <a:spcPts val="400"/>
              </a:spcAft>
              <a:defRPr sz="1200">
                <a:solidFill>
                  <a:srgbClr val="0B1B2D"/>
                </a:solidFill>
              </a:defRPr>
            </a:pPr>
            <a:r>
              <a:t>• [ ] Apakah client perlu mengirim pesan upstream di socket yang sama? (Ya-&gt;WS, Tidak-&gt;SSE)</a:t>
            </a:r>
          </a:p>
          <a:p>
            <a:pPr>
              <a:spcAft>
                <a:spcPts val="400"/>
              </a:spcAft>
              <a:defRPr sz="1200">
                <a:solidFill>
                  <a:srgbClr val="0B1B2D"/>
                </a:solidFill>
              </a:defRPr>
            </a:pPr>
            <a:r>
              <a:t>• [ ] Apakah data mengandung payload biner murni (audio/protobuf)? (Ya-&gt;WS)</a:t>
            </a:r>
          </a:p>
          <a:p>
            <a:pPr>
              <a:spcAft>
                <a:spcPts val="400"/>
              </a:spcAft>
              <a:defRPr sz="1200">
                <a:solidFill>
                  <a:srgbClr val="0B1B2D"/>
                </a:solidFill>
              </a:defRPr>
            </a:pPr>
            <a:r>
              <a:t>• [ ] Apakah sistem berjalan di balik corporate proxy / strict firewall? (Pilih SSE)</a:t>
            </a:r>
          </a:p>
          <a:p>
            <a:pPr>
              <a:spcAft>
                <a:spcPts val="400"/>
              </a:spcAft>
              <a:defRPr sz="1200">
                <a:solidFill>
                  <a:srgbClr val="0B1B2D"/>
                </a:solidFill>
              </a:defRPr>
            </a:pPr>
            <a:r>
              <a:t>• [ ] Apakah pemulihan event otomatis (reconnect) diperlukan secara gratis? (Pilih SSE)</a:t>
            </a:r>
          </a:p>
          <a:p>
            <a:pPr>
              <a:defRPr sz="1200" b="1">
                <a:solidFill>
                  <a:srgbClr val="087F76"/>
                </a:solidFill>
              </a:defRPr>
            </a:pPr>
            <a:r>
              <a:t>VERIFIKASI PRODUKSI</a:t>
            </a:r>
          </a:p>
          <a:p>
            <a:pPr>
              <a:spcAft>
                <a:spcPts val="400"/>
              </a:spcAft>
              <a:defRPr sz="1200">
                <a:solidFill>
                  <a:srgbClr val="0B1B2D"/>
                </a:solidFill>
              </a:defRPr>
            </a:pPr>
            <a:r>
              <a:t>• [ ] Pastikan Nginx menonaktifkan proxy_buffering untuk SSE endpoint</a:t>
            </a:r>
          </a:p>
          <a:p>
            <a:pPr>
              <a:spcAft>
                <a:spcPts val="400"/>
              </a:spcAft>
              <a:defRPr sz="1200">
                <a:solidFill>
                  <a:srgbClr val="0B1B2D"/>
                </a:solidFill>
              </a:defRPr>
            </a:pPr>
            <a:r>
              <a:t>• [ ] Pasang heartbeat / ping-pong berkala untuk mencegah idle connection drops</a:t>
            </a:r>
          </a:p>
          <a:p>
            <a:pPr>
              <a:spcAft>
                <a:spcPts val="400"/>
              </a:spcAft>
              <a:defRPr sz="1200">
                <a:solidFill>
                  <a:srgbClr val="0B1B2D"/>
                </a:solidFill>
              </a:defRPr>
            </a:pPr>
            <a:r>
              <a:t>• [ ] Atur limit OS file descriptor (ulimit -n) untuk menangani ribuan koneksi</a:t>
            </a:r>
          </a:p>
          <a:p>
            <a:pPr>
              <a:spcAft>
                <a:spcPts val="400"/>
              </a:spcAft>
              <a:defRPr sz="1200">
                <a:solidFill>
                  <a:srgbClr val="0B1B2D"/>
                </a:solidFill>
              </a:defRPr>
            </a:pPr>
            <a:r>
              <a:t>• [ ] Siapkan Redis Pub/Sub untuk replikasi broadcast lintas cluster node</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Gunakan checklist ini dalam tahap perancangan sistem real-time. Jika komunikasi upstream dapat dipenuhi melalui HTTP POST standar dan client hanya mendengarkan event, SSE adalah pilihan terbaik. Pastikan konfigurasi reverse proxy telah disesuaikan dan kapasitas file descriptor sistem operasi memadai.</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Verify directionality, payload type, and proxy topology before committing to a protocol.</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labs/35-websocket-and-sse/content/02-master-draft.md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685800"/>
            <a:ext cx="10728655" cy="640080"/>
          </a:xfrm>
          <a:prstGeom prst="rect">
            <a:avLst/>
          </a:prstGeom>
          <a:noFill/>
        </p:spPr>
        <p:txBody>
          <a:bodyPr wrap="square">
            <a:spAutoFit/>
          </a:bodyPr>
          <a:lstStyle/>
          <a:p>
            <a:pPr>
              <a:defRPr sz="2400" b="1">
                <a:solidFill>
                  <a:srgbClr val="0B1B2D"/>
                </a:solidFill>
              </a:defRPr>
            </a:pPr>
            <a:r>
              <a:t>Tiga Prinsip Inti Komunikasi Real-Time</a:t>
            </a:r>
          </a:p>
        </p:txBody>
      </p:sp>
      <p:sp>
        <p:nvSpPr>
          <p:cNvPr id="5" name="TextBox 4"/>
          <p:cNvSpPr txBox="1"/>
          <p:nvPr/>
        </p:nvSpPr>
        <p:spPr>
          <a:xfrm>
            <a:off x="731520" y="1280160"/>
            <a:ext cx="10728655" cy="457200"/>
          </a:xfrm>
          <a:prstGeom prst="rect">
            <a:avLst/>
          </a:prstGeom>
          <a:noFill/>
        </p:spPr>
        <p:txBody>
          <a:bodyPr wrap="square">
            <a:spAutoFit/>
          </a:bodyPr>
          <a:lstStyle/>
          <a:p>
            <a:pPr>
              <a:defRPr sz="1300">
                <a:solidFill>
                  <a:srgbClr val="52606B"/>
                </a:solidFill>
              </a:defRPr>
            </a:pPr>
            <a:r>
              <a:t>Ringkasan aksioma untuk membangun sistem streaming yang efisien</a:t>
            </a:r>
          </a:p>
        </p:txBody>
      </p:sp>
      <p:sp>
        <p:nvSpPr>
          <p:cNvPr id="6" name="TextBox 5"/>
          <p:cNvSpPr txBox="1"/>
          <p:nvPr/>
        </p:nvSpPr>
        <p:spPr>
          <a:xfrm>
            <a:off x="731520" y="1828800"/>
            <a:ext cx="5120640" cy="3383280"/>
          </a:xfrm>
          <a:prstGeom prst="rect">
            <a:avLst/>
          </a:prstGeom>
          <a:noFill/>
        </p:spPr>
        <p:txBody>
          <a:bodyPr wrap="square">
            <a:spAutoFit/>
          </a:bodyPr>
          <a:lstStyle/>
          <a:p>
            <a:pPr>
              <a:defRPr sz="1200" b="1">
                <a:solidFill>
                  <a:srgbClr val="087F76"/>
                </a:solidFill>
              </a:defRPr>
            </a:pPr>
            <a:r>
              <a:t>1. DIRECTIONALITY IS KING</a:t>
            </a:r>
          </a:p>
          <a:p>
            <a:pPr>
              <a:spcAft>
                <a:spcPts val="400"/>
              </a:spcAft>
              <a:defRPr sz="1200">
                <a:solidFill>
                  <a:srgbClr val="0B1B2D"/>
                </a:solidFill>
              </a:defRPr>
            </a:pPr>
            <a:r>
              <a:t>• Jangan bayar overhead koneksi dua arah jika trafik hanya mengalir satu arah</a:t>
            </a:r>
          </a:p>
          <a:p>
            <a:pPr>
              <a:spcAft>
                <a:spcPts val="400"/>
              </a:spcAft>
              <a:defRPr sz="1200">
                <a:solidFill>
                  <a:srgbClr val="0B1B2D"/>
                </a:solidFill>
              </a:defRPr>
            </a:pPr>
            <a:r>
              <a:t>• SSE adalah peluru perak untuk live notifications, feed, dan token streaming</a:t>
            </a:r>
          </a:p>
          <a:p>
            <a:pPr>
              <a:defRPr sz="1200" b="1">
                <a:solidFill>
                  <a:srgbClr val="087F76"/>
                </a:solidFill>
              </a:defRPr>
            </a:pPr>
            <a:r>
              <a:t>2. LEVERAGE PLATFORM PRIMITIVES</a:t>
            </a:r>
          </a:p>
          <a:p>
            <a:pPr>
              <a:spcAft>
                <a:spcPts val="400"/>
              </a:spcAft>
              <a:defRPr sz="1200">
                <a:solidFill>
                  <a:srgbClr val="0B1B2D"/>
                </a:solidFill>
              </a:defRPr>
            </a:pPr>
            <a:r>
              <a:t>• Manfaatkan EventSource dan Last-Event-ID bawaan browser untuk auto-healing</a:t>
            </a:r>
          </a:p>
          <a:p>
            <a:pPr>
              <a:spcAft>
                <a:spcPts val="400"/>
              </a:spcAft>
              <a:defRPr sz="1200">
                <a:solidFill>
                  <a:srgbClr val="0B1B2D"/>
                </a:solidFill>
              </a:defRPr>
            </a:pPr>
            <a:r>
              <a:t>• Gunakan HTTP/2 multiplexing untuk menghemat handshake TCP koneksi</a:t>
            </a:r>
          </a:p>
          <a:p>
            <a:pPr>
              <a:defRPr sz="1200" b="1">
                <a:solidFill>
                  <a:srgbClr val="087F76"/>
                </a:solidFill>
              </a:defRPr>
            </a:pPr>
            <a:r>
              <a:t>3. PROTOCOL RESPECTS BOUNDARIES</a:t>
            </a:r>
          </a:p>
          <a:p>
            <a:pPr>
              <a:spcAft>
                <a:spcPts val="400"/>
              </a:spcAft>
              <a:defRPr sz="1200">
                <a:solidFill>
                  <a:srgbClr val="0B1B2D"/>
                </a:solidFill>
              </a:defRPr>
            </a:pPr>
            <a:r>
              <a:t>• WebSocket adalah pilihan mutlak ketika interaktivitas biner dua arah dibutuhkan</a:t>
            </a:r>
          </a:p>
          <a:p>
            <a:pPr>
              <a:spcAft>
                <a:spcPts val="400"/>
              </a:spcAft>
              <a:defRPr sz="1200">
                <a:solidFill>
                  <a:srgbClr val="0B1B2D"/>
                </a:solidFill>
              </a:defRPr>
            </a:pPr>
            <a:r>
              <a:t>• Keduanya saling melengkapi, bukan saling meniadakan</a:t>
            </a:r>
          </a:p>
        </p:txBody>
      </p:sp>
      <p:sp>
        <p:nvSpPr>
          <p:cNvPr id="7" name="TextBox 6"/>
          <p:cNvSpPr txBox="1"/>
          <p:nvPr/>
        </p:nvSpPr>
        <p:spPr>
          <a:xfrm>
            <a:off x="6217920" y="1828800"/>
            <a:ext cx="5303520" cy="3383280"/>
          </a:xfrm>
          <a:prstGeom prst="rect">
            <a:avLst/>
          </a:prstGeom>
          <a:noFill/>
        </p:spPr>
        <p:txBody>
          <a:bodyPr wrap="square">
            <a:spAutoFit/>
          </a:bodyPr>
          <a:lstStyle/>
          <a:p>
            <a:pPr>
              <a:lnSpc>
                <a:spcPct val="135000"/>
              </a:lnSpc>
              <a:defRPr sz="1300">
                <a:solidFill>
                  <a:srgbClr val="0B1B2D"/>
                </a:solidFill>
              </a:defRPr>
            </a:pPr>
            <a:r>
              <a:t>Sistem real-time yang elegan memilih protokol berdasarkan karakteristik data transport. Hindari godaan over-engineering dengan memasang WebSocket di setiap use case. Dengan memilih SSE untuk pola satu arah dan WebSocket untuk pola interaktif dua arah, sistem tetap efisien, mudah di-scale, dan tahan banting.</a:t>
            </a:r>
          </a:p>
        </p:txBody>
      </p:sp>
      <p:sp>
        <p:nvSpPr>
          <p:cNvPr id="8" name="Rectangle 7"/>
          <p:cNvSpPr/>
          <p:nvPr/>
        </p:nvSpPr>
        <p:spPr>
          <a:xfrm>
            <a:off x="731520" y="5394960"/>
            <a:ext cx="10728655" cy="59436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Right protocol for the right direction: simplicity scales better than unnecessary duplexing.</a:t>
            </a:r>
          </a:p>
        </p:txBody>
      </p:sp>
      <p:sp>
        <p:nvSpPr>
          <p:cNvPr id="9" name="TextBox 8"/>
          <p:cNvSpPr txBox="1"/>
          <p:nvPr/>
        </p:nvSpPr>
        <p:spPr>
          <a:xfrm>
            <a:off x="731520" y="6263640"/>
            <a:ext cx="7315200" cy="320040"/>
          </a:xfrm>
          <a:prstGeom prst="rect">
            <a:avLst/>
          </a:prstGeom>
          <a:noFill/>
        </p:spPr>
        <p:txBody>
          <a:bodyPr wrap="none">
            <a:spAutoFit/>
          </a:bodyPr>
          <a:lstStyle/>
          <a:p>
            <a:pPr>
              <a:defRPr sz="1000">
                <a:solidFill>
                  <a:srgbClr val="52606B"/>
                </a:solidFill>
              </a:defRPr>
            </a:pPr>
            <a:r>
              <a:t>labs/35-websocket-and-sse/content/05-key-takeaways.md</a:t>
            </a:r>
          </a:p>
        </p:txBody>
      </p:sp>
      <p:sp>
        <p:nvSpPr>
          <p:cNvPr id="10" name="TextBox 9"/>
          <p:cNvSpPr txBox="1"/>
          <p:nvPr/>
        </p:nvSpPr>
        <p:spPr>
          <a:xfrm>
            <a:off x="8686800" y="6263640"/>
            <a:ext cx="2743200" cy="320040"/>
          </a:xfrm>
          <a:prstGeom prst="rect">
            <a:avLst/>
          </a:prstGeom>
          <a:noFill/>
        </p:spPr>
        <p:txBody>
          <a:bodyPr wrap="none">
            <a:spAutoFit/>
          </a:bodyPr>
          <a:lstStyle/>
          <a:p>
            <a:pPr algn="r">
              <a:defRPr sz="1000" b="1">
                <a:solidFill>
                  <a:srgbClr val="52606B"/>
                </a:solidFill>
              </a:defRPr>
            </a:pPr>
            <a: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365760"/>
          </a:xfrm>
          <a:prstGeom prst="rect">
            <a:avLst/>
          </a:prstGeom>
          <a:noFill/>
        </p:spPr>
        <p:txBody>
          <a:bodyPr wrap="none">
            <a:spAutoFit/>
          </a:bodyPr>
          <a:lstStyle/>
          <a:p>
            <a:pPr>
              <a:defRPr sz="1300" b="1">
                <a:solidFill>
                  <a:srgbClr val="087F76"/>
                </a:solidFill>
              </a:defRPr>
            </a:pPr>
            <a:r>
              <a:t>SOFTWARE ENGINEERING LAB | LAB 35</a:t>
            </a:r>
          </a:p>
        </p:txBody>
      </p:sp>
      <p:sp>
        <p:nvSpPr>
          <p:cNvPr id="4" name="TextBox 3"/>
          <p:cNvSpPr txBox="1"/>
          <p:nvPr/>
        </p:nvSpPr>
        <p:spPr>
          <a:xfrm>
            <a:off x="731520" y="731520"/>
            <a:ext cx="10728655" cy="731520"/>
          </a:xfrm>
          <a:prstGeom prst="rect">
            <a:avLst/>
          </a:prstGeom>
          <a:noFill/>
        </p:spPr>
        <p:txBody>
          <a:bodyPr wrap="none">
            <a:spAutoFit/>
          </a:bodyPr>
          <a:lstStyle/>
          <a:p>
            <a:pPr>
              <a:defRPr sz="2800" b="1">
                <a:solidFill>
                  <a:srgbClr val="FFFFFF"/>
                </a:solidFill>
              </a:defRPr>
            </a:pPr>
            <a:r>
              <a:t>Eksperimen kecil, eliminasi latensi tersembunyi.</a:t>
            </a:r>
          </a:p>
        </p:txBody>
      </p:sp>
      <p:sp>
        <p:nvSpPr>
          <p:cNvPr id="5" name="TextBox 4"/>
          <p:cNvSpPr txBox="1"/>
          <p:nvPr/>
        </p:nvSpPr>
        <p:spPr>
          <a:xfrm>
            <a:off x="731520" y="1463040"/>
            <a:ext cx="10728655" cy="731520"/>
          </a:xfrm>
          <a:prstGeom prst="rect">
            <a:avLst/>
          </a:prstGeom>
          <a:noFill/>
        </p:spPr>
        <p:txBody>
          <a:bodyPr wrap="square">
            <a:spAutoFit/>
          </a:bodyPr>
          <a:lstStyle/>
          <a:p>
            <a:pPr>
              <a:defRPr sz="1700" b="1">
                <a:solidFill>
                  <a:srgbClr val="38BDF8"/>
                </a:solidFill>
              </a:defRPr>
            </a:pPr>
            <a:r>
              <a:t>Directionality dictates the protocol: server-push belongs to SSE, bidirectional belongs to WebSocket.</a:t>
            </a:r>
          </a:p>
        </p:txBody>
      </p:sp>
      <p:sp>
        <p:nvSpPr>
          <p:cNvPr id="6" name="TextBox 5"/>
          <p:cNvSpPr txBox="1"/>
          <p:nvPr/>
        </p:nvSpPr>
        <p:spPr>
          <a:xfrm>
            <a:off x="731520" y="2377440"/>
            <a:ext cx="5120640" cy="3291840"/>
          </a:xfrm>
          <a:prstGeom prst="rect">
            <a:avLst/>
          </a:prstGeom>
          <a:noFill/>
        </p:spPr>
        <p:txBody>
          <a:bodyPr wrap="square">
            <a:spAutoFit/>
          </a:bodyPr>
          <a:lstStyle/>
          <a:p>
            <a:pPr>
              <a:defRPr sz="1400" b="1">
                <a:solidFill>
                  <a:srgbClr val="FFFFFF"/>
                </a:solidFill>
              </a:defRPr>
            </a:pPr>
            <a:r>
              <a:t>Software Engineering Lab 35 - WebSocket vs Server-Sent Events</a:t>
            </a:r>
          </a:p>
          <a:p>
            <a:pPr>
              <a:defRPr sz="1200">
                <a:solidFill>
                  <a:srgbClr val="CBD5E1"/>
                </a:solidFill>
              </a:defRPr>
            </a:pPr>
            <a:r>
              <a:t>labs/35-websocket-and-sse/README.md</a:t>
            </a:r>
          </a:p>
          <a:p>
            <a:br/>
            <a:pPr>
              <a:defRPr sz="1100" b="1">
                <a:solidFill>
                  <a:srgbClr val="20C997"/>
                </a:solidFill>
              </a:defRPr>
            </a:pPr>
            <a:r>
              <a:t>REPOSITORY</a:t>
            </a:r>
          </a:p>
          <a:p>
            <a:pPr>
              <a:defRPr sz="1100">
                <a:solidFill>
                  <a:srgbClr val="FFFFFF"/>
                </a:solidFill>
                <a:latin typeface="Courier New"/>
              </a:defRPr>
            </a:pPr>
            <a:r>
              <a:t>github.com/lukman-ss/software-engineering-lab</a:t>
            </a:r>
            <a:br/>
            <a:r>
              <a:t>labs/35-websocket-and-sse</a:t>
            </a:r>
          </a:p>
        </p:txBody>
      </p:sp>
      <p:sp>
        <p:nvSpPr>
          <p:cNvPr id="7" name="TextBox 6"/>
          <p:cNvSpPr txBox="1"/>
          <p:nvPr/>
        </p:nvSpPr>
        <p:spPr>
          <a:xfrm>
            <a:off x="6217920" y="2377440"/>
            <a:ext cx="5120640" cy="3291840"/>
          </a:xfrm>
          <a:prstGeom prst="rect">
            <a:avLst/>
          </a:prstGeom>
          <a:noFill/>
        </p:spPr>
        <p:txBody>
          <a:bodyPr wrap="square">
            <a:spAutoFit/>
          </a:bodyPr>
          <a:lstStyle/>
          <a:p>
            <a:pPr>
              <a:defRPr sz="1600" b="1">
                <a:solidFill>
                  <a:srgbClr val="FFFFFF"/>
                </a:solidFill>
              </a:defRPr>
            </a:pPr>
            <a:r>
              <a:t>Lukman / lukman-ss</a:t>
            </a:r>
          </a:p>
          <a:p>
            <a:pPr>
              <a:defRPr sz="1200">
                <a:solidFill>
                  <a:srgbClr val="94A3B8"/>
                </a:solidFill>
              </a:defRPr>
            </a:pPr>
            <a:r>
              <a:t>Sumber: commit b48fe6c3</a:t>
            </a:r>
          </a:p>
          <a:p>
            <a:pPr>
              <a:defRPr sz="1200">
                <a:solidFill>
                  <a:srgbClr val="94A3B8"/>
                </a:solidFill>
              </a:defRPr>
            </a:pPr>
            <a:r>
              <a:t>Test passing dan diverifikasi (Race-Clean Go 1.22).</a:t>
            </a:r>
          </a:p>
          <a:p>
            <a:pPr>
              <a:defRPr sz="1200">
                <a:solidFill>
                  <a:srgbClr val="94A3B8"/>
                </a:solidFill>
              </a:defRPr>
            </a:pPr>
            <a:r>
              <a:t>Simulasi in-memory Store; membuktikan reduksi O(N) ke O(1).</a:t>
            </a:r>
          </a:p>
        </p:txBody>
      </p:sp>
      <p:sp>
        <p:nvSpPr>
          <p:cNvPr id="8" name="TextBox 7"/>
          <p:cNvSpPr txBox="1"/>
          <p:nvPr/>
        </p:nvSpPr>
        <p:spPr>
          <a:xfrm>
            <a:off x="731520" y="6309360"/>
            <a:ext cx="7315200" cy="365760"/>
          </a:xfrm>
          <a:prstGeom prst="rect">
            <a:avLst/>
          </a:prstGeom>
          <a:noFill/>
        </p:spPr>
        <p:txBody>
          <a:bodyPr wrap="none">
            <a:spAutoFit/>
          </a:bodyPr>
          <a:lstStyle/>
          <a:p>
            <a:pPr>
              <a:defRPr sz="1100">
                <a:solidFill>
                  <a:srgbClr val="64748B"/>
                </a:solidFill>
              </a:defRPr>
            </a:pPr>
            <a:r>
              <a:t>WebSocket • Server-Sent Events • RFC 6455 • WHATWG SSE • Go 1.22</a:t>
            </a:r>
          </a:p>
        </p:txBody>
      </p:sp>
      <p:sp>
        <p:nvSpPr>
          <p:cNvPr id="9" name="TextBox 8"/>
          <p:cNvSpPr txBox="1"/>
          <p:nvPr/>
        </p:nvSpPr>
        <p:spPr>
          <a:xfrm>
            <a:off x="8686800" y="6309360"/>
            <a:ext cx="2743200" cy="365760"/>
          </a:xfrm>
          <a:prstGeom prst="rect">
            <a:avLst/>
          </a:prstGeom>
          <a:noFill/>
        </p:spPr>
        <p:txBody>
          <a:bodyPr wrap="none">
            <a:spAutoFit/>
          </a:bodyPr>
          <a:lstStyle/>
          <a:p>
            <a:pPr algn="r">
              <a:defRPr sz="1100" b="1">
                <a:solidFill>
                  <a:srgbClr val="64748B"/>
                </a:solidFill>
              </a:defRPr>
            </a:pPr>
            <a: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