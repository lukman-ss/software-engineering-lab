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Database Sharding &amp; Partitioning</a:t>
            </a:r>
          </a:p>
          <a:p/>
          <a:p>
            <a:r>
              <a:t>[]</a:t>
            </a:r>
          </a:p>
          <a:p>
            <a:r>
              <a:t>- Retro CRT monitor visual with scanlines</a:t>
            </a:r>
          </a:p>
          <a:p>
            <a:r>
              <a:t>- Hash routing ring &amp; partition boundary terminal display</a:t>
            </a:r>
          </a:p>
          <a:p>
            <a:r>
              <a:t>- Penulis: Lukman / lukman-ss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Batas Fisik Database Single-Instance</a:t>
            </a:r>
          </a:p>
          <a:p/>
          <a:p>
            <a:r>
              <a:t>Mental Model: Vertical scaling hits a hard hardware ceiling; horizontal partitioning distributes the blast radius.</a:t>
            </a:r>
          </a:p>
          <a:p/>
          <a:p>
            <a:r>
              <a:t>[BATAS MESIN TUNGGAL]</a:t>
            </a:r>
          </a:p>
          <a:p>
            <a:r>
              <a:t>- Batas RAM: Buffer pool cache tidak lagi menampung working dataset aktif</a:t>
            </a:r>
          </a:p>
          <a:p>
            <a:r>
              <a:t>- Batas Disk IOPS: Saturasi write throughput dan antrean fsync log WAL</a:t>
            </a:r>
          </a:p>
          <a:p>
            <a:r>
              <a:t>- Lock Contention: Transaksi konkuren berebut lock pada index tree dan page yang sama</a:t>
            </a:r>
          </a:p>
          <a:p>
            <a:r>
              <a:t>[BIAYA VERTICAL SCALING]</a:t>
            </a:r>
          </a:p>
          <a:p>
            <a:r>
              <a:t>- Biaya hardware tumbuh eksponensial untuk peningkatan kapasitas marginal</a:t>
            </a:r>
          </a:p>
          <a:p>
            <a:r>
              <a:t>- Single point of failure: Kegagalan hardware host menghentikan seluruh layanan</a:t>
            </a:r>
          </a:p>
          <a:p>
            <a:r>
              <a:t>- Batas arsitektural: Bus memori dan jumlah core CPU memiliki batas fisik</a:t>
            </a:r>
          </a:p>
          <a:p>
            <a:r>
              <a:t>[DUA JALUR SKALASI]</a:t>
            </a:r>
          </a:p>
          <a:p>
            <a:r>
              <a:t>- Logical Partitioning: Memecah tabel internal pada satu engine database yang sama</a:t>
            </a:r>
          </a:p>
          <a:p>
            <a:r>
              <a:t>- Physical Sharding: Membagi dataset ke beberapa independent database nodes</a:t>
            </a:r>
          </a:p>
          <a:p>
            <a:r>
              <a:t>- Kombinasi keduanya menjawab skalabilitas lifecycle dan throughput transaksi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Logical Partitioning vs Physical Sharding</a:t>
            </a:r>
          </a:p>
          <a:p/>
          <a:p>
            <a:r>
              <a:t>Mental Model: Partitioning optimizes single-node query pruning; sharding breaks single-node resource limits.</a:t>
            </a:r>
          </a:p>
          <a:p/>
          <a:p>
            <a:r>
              <a:t>[PERBANDINGAN ARSITEKTUR]</a:t>
            </a:r>
          </a:p>
          <a:p>
            <a:r>
              <a:t>- Dimensi | Logical Partitioning | Physical Sharding</a:t>
            </a:r>
          </a:p>
          <a:p>
            <a:r>
              <a:t>- Instance Host | 1 Database Server | N Node Server Terpisah</a:t>
            </a:r>
          </a:p>
          <a:p>
            <a:r>
              <a:t>- Batas Skalasi | Batas Hardware Host | Tak Terbatas (Scale-out)</a:t>
            </a:r>
          </a:p>
          <a:p>
            <a:r>
              <a:t>- Cross-Join | Native SQL Engine | Memerlukan Scatter-Gather</a:t>
            </a:r>
          </a:p>
          <a:p>
            <a:r>
              <a:t>- Distributed ID | Auto-Increment Lokal | Sequence Generator / UUIDv7</a:t>
            </a:r>
          </a:p>
          <a:p>
            <a:r>
              <a:t>[LOGICAL PARTITIONING]</a:t>
            </a:r>
          </a:p>
          <a:p>
            <a:r>
              <a:t>- Dikelola oleh query engine database internal (PostgreSQL/MySQL)</a:t>
            </a:r>
          </a:p>
          <a:p>
            <a:r>
              <a:t>- Tabel induk logis dipecah menjadi sub-tabel fisik terpisah</a:t>
            </a:r>
          </a:p>
          <a:p>
            <a:r>
              <a:t>- Optimal untuk manajemen lifecycle data dan query pruning</a:t>
            </a:r>
          </a:p>
          <a:p>
            <a:r>
              <a:t>[PHYSICAL SHARDING]</a:t>
            </a:r>
          </a:p>
          <a:p>
            <a:r>
              <a:t>- Setiap shard adalah database instance independen tanpa shared state</a:t>
            </a:r>
          </a:p>
          <a:p>
            <a:r>
              <a:t>- Membutuhkan layer router pintar untuk mengarahkan transaksi</a:t>
            </a:r>
          </a:p>
          <a:p>
            <a:r>
              <a:t>- Menghilangkan single point of failure pada level penyimpanan data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4: Mekanisme Range Partitioning pada Single Node</a:t>
            </a:r>
          </a:p>
          <a:p/>
          <a:p>
            <a:r>
              <a:t>Mental Model: Time-bounded partition ranges keep working B-tree indices compact enough to fit in RAM.</a:t>
            </a:r>
          </a:p>
          <a:p/>
          <a:p>
            <a:r>
              <a:t>[STRUKTUR PARTISI TEMPORAL]</a:t>
            </a:r>
          </a:p>
          <a:p>
            <a:r>
              <a:t>- sales_logs (Tabel Induk Logis)</a:t>
            </a:r>
          </a:p>
          <a:p>
            <a:r>
              <a:t>- ├── p2026_q1: [2026-01-01 s.d. 2026-04-01)</a:t>
            </a:r>
          </a:p>
          <a:p>
            <a:r>
              <a:t>- ├── p2026_q2: [2026-04-01 s.d. 2026-07-01)</a:t>
            </a:r>
          </a:p>
          <a:p>
            <a:r>
              <a:t>- ├── p2026_q3: [2026-07-01 s.d. 2026-10-01)</a:t>
            </a:r>
          </a:p>
          <a:p>
            <a:r>
              <a:t>- └── p2026_q4: [2026-10-01 s.d. 2027-01-01)</a:t>
            </a:r>
          </a:p>
          <a:p>
            <a:r>
              <a:t>[DESAIN KODE GO]</a:t>
            </a:r>
          </a:p>
          <a:p>
            <a:r>
              <a:t>- type PartitionRange struct {</a:t>
            </a:r>
          </a:p>
          <a:p>
            <a:r>
              <a:t>-     Name  string</a:t>
            </a:r>
          </a:p>
          <a:p>
            <a:r>
              <a:t>-     Start time.Time</a:t>
            </a:r>
          </a:p>
          <a:p>
            <a:r>
              <a:t>-     End   time.Time</a:t>
            </a:r>
          </a:p>
          <a:p>
            <a:r>
              <a:t>- }</a:t>
            </a:r>
          </a:p>
          <a:p>
            <a:r>
              <a:t>- type Table struct { partitions []*Partition }</a:t>
            </a:r>
          </a:p>
          <a:p>
            <a:r>
              <a:t>[MANFAAT OPERASIONAL]</a:t>
            </a:r>
          </a:p>
          <a:p>
            <a:r>
              <a:t>- Tiap partisi memiliki index B-tree terpisah yang muat di RAM</a:t>
            </a:r>
          </a:p>
          <a:p>
            <a:r>
              <a:t>- Query berbasis tanggal secara deterministik diarahkan ke sub-tabel target</a:t>
            </a:r>
          </a:p>
          <a:p>
            <a:r>
              <a:t>- Menghindari degradasi index tree raksasa yang membengkak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5: Partition Pruning: Eliminasi Pindaian Partisi</a:t>
            </a:r>
          </a:p>
          <a:p/>
          <a:p>
            <a:r>
              <a:t>Mental Model: Partition pruning turns sequential scans into targeted sub-tree lookups by checking range boundaries first.</a:t>
            </a:r>
          </a:p>
          <a:p/>
          <a:p>
            <a:r>
              <a:t>[ALGORITMA PRUNING]</a:t>
            </a:r>
          </a:p>
          <a:p>
            <a:r>
              <a:t>- Query filter: WHERE created_at BETWEEN '2026-04-01' AND '2026-06-30'</a:t>
            </a:r>
          </a:p>
          <a:p>
            <a:r>
              <a:t>- Evaluasi rentang interval: Hanya p2026_q2 yang beririsan</a:t>
            </a:r>
          </a:p>
          <a:p>
            <a:r>
              <a:t>- Engine mengabaikan p2026_q1, p2026_q3, dan p2026_q4 secara mutlak</a:t>
            </a:r>
          </a:p>
          <a:p>
            <a:r>
              <a:t>[HASIL VERIFIKASI DEMO]</a:t>
            </a:r>
          </a:p>
          <a:p>
            <a:r>
              <a:t>- Query Range: 2026-04-01 to 2026-06-30</a:t>
            </a:r>
          </a:p>
          <a:p>
            <a:r>
              <a:t>- Partitions Scanned : 1 / 4</a:t>
            </a:r>
          </a:p>
          <a:p>
            <a:r>
              <a:t>- Partitions Pruned  : 3 / 4 (75% I/O dihemat)</a:t>
            </a:r>
          </a:p>
          <a:p>
            <a:r>
              <a:t>- Records Found      : 1 record tepat</a:t>
            </a:r>
          </a:p>
          <a:p>
            <a:r>
              <a:t>[KONDISI PRUNING GAGAL]</a:t>
            </a:r>
          </a:p>
          <a:p>
            <a:r>
              <a:t>- Penggunaan fungsi pada kolom partisi: WHERE DATE(created_at) = ...</a:t>
            </a:r>
          </a:p>
          <a:p>
            <a:r>
              <a:t>- Klausa WHERE tanpa mencantumkan kunci partisi memicu full table scan</a:t>
            </a:r>
          </a:p>
          <a:p>
            <a:r>
              <a:t>- Tipe data yang tidak presisi memaksa implicit type cast pada runtime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6: Drop Partition Instan vs Expensive DELETE</a:t>
            </a:r>
          </a:p>
          <a:p/>
          <a:p>
            <a:r>
              <a:t>Mental Model: Dropping a partition unlinks files at the filesystem layer; deleting rows burns write I/O per tombstone.</a:t>
            </a:r>
          </a:p>
          <a:p/>
          <a:p>
            <a:r>
              <a:t>[PERBANDINGAN METODE]</a:t>
            </a:r>
          </a:p>
          <a:p>
            <a:r>
              <a:t>- Operasi | DELETE FROM ... | DROP PARTITION</a:t>
            </a:r>
          </a:p>
          <a:p>
            <a:r>
              <a:t>- Waktu Eksekusi | O(N) Berjam-jam | O(1) Milidetik</a:t>
            </a:r>
          </a:p>
          <a:p>
            <a:r>
              <a:t>- Write Amplification | Sangat Tinggi (WAL Row) | Minimum (Metadata File)</a:t>
            </a:r>
          </a:p>
          <a:p>
            <a:r>
              <a:t>- Disk Space Reclaim | Butuh VACUUM FULL | Langsung ke File System</a:t>
            </a:r>
          </a:p>
          <a:p>
            <a:r>
              <a:t>- Lock Impact | Row Lock Berkepanjangan | Exclusive Lock Singkat</a:t>
            </a:r>
          </a:p>
          <a:p>
            <a:r>
              <a:t>[KODE DROP PARTISI]</a:t>
            </a:r>
          </a:p>
          <a:p>
            <a:r>
              <a:t>- func (t *Table) DropPartition(name string) bool {</a:t>
            </a:r>
          </a:p>
          <a:p>
            <a:r>
              <a:t>-     t.mu.Lock(); defer t.mu.Unlock()</a:t>
            </a:r>
          </a:p>
          <a:p>
            <a:r>
              <a:t>-     // Hapus referensi metadata dan bebaskan sub-tabel</a:t>
            </a:r>
          </a:p>
          <a:p>
            <a:r>
              <a:t>-     // O(1) unlinking tanpa memindai isi baris</a:t>
            </a:r>
          </a:p>
          <a:p>
            <a:r>
              <a:t>- }</a:t>
            </a:r>
          </a:p>
          <a:p>
            <a:r>
              <a:t>[IMPLIKASI PRODUKSI]</a:t>
            </a:r>
          </a:p>
          <a:p>
            <a:r>
              <a:t>- Data retensi audit/transaksi 90 hari dapat dihapus secara instan</a:t>
            </a:r>
          </a:p>
          <a:p>
            <a:r>
              <a:t>- Mencegah tabel membengkak (bloat) yang memperlambat sequential scan</a:t>
            </a:r>
          </a:p>
          <a:p>
            <a:r>
              <a:t>- Tidak membebani worker background autovacuum pada database aktif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7: Anatomi Kluster Sharding Fisik</a:t>
            </a:r>
          </a:p>
          <a:p/>
          <a:p>
            <a:r>
              <a:t>Mental Model: Shared-nothing sharding separates state completely; routers translate logical keys into physical node targets.</a:t>
            </a:r>
          </a:p>
          <a:p/>
          <a:p>
            <a:r>
              <a:t>[KOMPONEN KLUSTER]</a:t>
            </a:r>
          </a:p>
          <a:p>
            <a:r>
              <a:t>- Aplikasi Klien: Mengirim query SQL tanpa perlu tahu topologi node</a:t>
            </a:r>
          </a:p>
          <a:p>
            <a:r>
              <a:t>- Routing Coordinator: Menerjemahkan Shard Key ke Shard Node target</a:t>
            </a:r>
          </a:p>
          <a:p>
            <a:r>
              <a:t>- Shard Nodes: Server PostgreSQL/MySQL independen (Shared-Nothing)</a:t>
            </a:r>
          </a:p>
          <a:p>
            <a:r>
              <a:t>- Catalog / GSI: Menyimpan pemetaan metadata dan indeks sekunder</a:t>
            </a:r>
          </a:p>
          <a:p>
            <a:r>
              <a:t>[INTERFACES KUNCI DI GO]</a:t>
            </a:r>
          </a:p>
          <a:p>
            <a:r>
              <a:t>- type Router interface {</a:t>
            </a:r>
          </a:p>
          <a:p>
            <a:r>
              <a:t>-     GetShard(key string) (string, error)</a:t>
            </a:r>
          </a:p>
          <a:p>
            <a:r>
              <a:t>-     AddShard(shardID string)</a:t>
            </a:r>
          </a:p>
          <a:p>
            <a:r>
              <a:t>-     RemoveShard(shardID string)</a:t>
            </a:r>
          </a:p>
          <a:p>
            <a:r>
              <a:t>- }</a:t>
            </a:r>
          </a:p>
          <a:p>
            <a:r>
              <a:t>- type Cluster struct { shards map[string]*Shard }</a:t>
            </a:r>
          </a:p>
          <a:p>
            <a:r>
              <a:t>[SIFAT SHARED-NOTHING]</a:t>
            </a:r>
          </a:p>
          <a:p>
            <a:r>
              <a:t>- Tidak ada memori atau disk yang dibagi antar server shard</a:t>
            </a:r>
          </a:p>
          <a:p>
            <a:r>
              <a:t>- Kegagalan satu node hanya berdampak pada subset data terkait</a:t>
            </a:r>
          </a:p>
          <a:p>
            <a:r>
              <a:t>- Kapasitas komputasi dan write I/O bertambah secara linear per node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8: Write Hotspot Akibat Monotonic Shard Key</a:t>
            </a:r>
          </a:p>
          <a:p/>
          <a:p>
            <a:r>
              <a:t>Mental Model: Sequential keys serialize writes into a single shard, turning multi-node clusters into single-node bottlenecks.</a:t>
            </a:r>
          </a:p>
          <a:p/>
          <a:p>
            <a:r>
              <a:t>[PENYEBAB HOTSPOT]</a:t>
            </a:r>
          </a:p>
          <a:p>
            <a:r>
              <a:t>- Penggunaan timestamp (created_at) atau autoincrement ID sebagai shard key</a:t>
            </a:r>
          </a:p>
          <a:p>
            <a:r>
              <a:t>- Semua transaksi baru pada jendela waktu yang sama memiliki nilai kunci identik</a:t>
            </a:r>
          </a:p>
          <a:p>
            <a:r>
              <a:t>- Router mengarahkan seluruh traffic write ke satu server fisik yang sama</a:t>
            </a:r>
          </a:p>
          <a:p>
            <a:r>
              <a:t>[EVIDENSI PENGUJIAN LAB]</a:t>
            </a:r>
          </a:p>
          <a:p>
            <a:r>
              <a:t>- Ingest 1.000 transaksi berurutan dengan kunci tanggal:</a:t>
            </a:r>
          </a:p>
          <a:p>
            <a:r>
              <a:t>-   Node shard-0 :    0 records (0%)</a:t>
            </a:r>
          </a:p>
          <a:p>
            <a:r>
              <a:t>-   Node shard-1 :    0 records (0%)</a:t>
            </a:r>
          </a:p>
          <a:p>
            <a:r>
              <a:t>-   Node shard-2 : 1000 records (100% [##########])</a:t>
            </a:r>
          </a:p>
          <a:p>
            <a:r>
              <a:t>-   Node shard-3 :    0 records (0%)</a:t>
            </a:r>
          </a:p>
          <a:p>
            <a:r>
              <a:t>- Hasil: Write Hotspot Parah! Shard lain menganggur.</a:t>
            </a:r>
          </a:p>
          <a:p>
            <a:r>
              <a:t>[DAMPAK SISTEMIK]</a:t>
            </a:r>
          </a:p>
          <a:p>
            <a:r>
              <a:t>- Satu node kehabisan disk I/O dan connection pool</a:t>
            </a:r>
          </a:p>
          <a:p>
            <a:r>
              <a:t>- Node lain di kluster mengalami idle resource pemborosan biaya</a:t>
            </a:r>
          </a:p>
          <a:p>
            <a:r>
              <a:t>- Kluster multi-node berkinerja lebih buruk daripada single-instance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9: Kunci Berkardinalitas Tinggi untuk Distribusi Merata</a:t>
            </a:r>
          </a:p>
          <a:p/>
          <a:p>
            <a:r>
              <a:t>Mental Model: High-cardinality keys spread transactions uniformly; hashing scrambles temporal patterns into random scatter.</a:t>
            </a:r>
          </a:p>
          <a:p/>
          <a:p>
            <a:r>
              <a:t>[KRITERIA KUNCI IDEAL]</a:t>
            </a:r>
          </a:p>
          <a:p>
            <a:r>
              <a:t>- Kardinalitas Tinggi: Memiliki jutaan nilai distinct (user_id, account_id)</a:t>
            </a:r>
          </a:p>
          <a:p>
            <a:r>
              <a:t>- Frekuensi Rendah: Tidak ada satu entitas yang menguasai &gt;5% transaksi</a:t>
            </a:r>
          </a:p>
          <a:p>
            <a:r>
              <a:t>- Non-Monotonik: Pola penulisan acak di sepanjang ruang domain kunci</a:t>
            </a:r>
          </a:p>
          <a:p>
            <a:r>
              <a:t>[HASIL VERIFIKASI LAB]</a:t>
            </a:r>
          </a:p>
          <a:p>
            <a:r>
              <a:t>- Ingest 1.000 data menggunakan kunci tenant_id:</a:t>
            </a:r>
          </a:p>
          <a:p>
            <a:r>
              <a:t>-   Node shard-0 : 400 records (40%)</a:t>
            </a:r>
          </a:p>
          <a:p>
            <a:r>
              <a:t>-   Node shard-2 : 200 records (20%)</a:t>
            </a:r>
          </a:p>
          <a:p>
            <a:r>
              <a:t>-   Node shard-3 : 400 records (40%)</a:t>
            </a:r>
          </a:p>
          <a:p>
            <a:r>
              <a:t>- Distribusi menyebar ke seluruh node fisik secara proporsional.</a:t>
            </a:r>
          </a:p>
          <a:p>
            <a:r>
              <a:t>[HASHED SHARDING STRATEGY]</a:t>
            </a:r>
          </a:p>
          <a:p>
            <a:r>
              <a:t>- Jika entitas bisnis monotonik, bungkus dengan fungsi hash (MD5, Murmur, FNV)</a:t>
            </a:r>
          </a:p>
          <a:p>
            <a:r>
              <a:t>- Hash mengacak urutan temporal menjadi distribusi pseudorandom seragam</a:t>
            </a:r>
          </a:p>
          <a:p>
            <a:r>
              <a:t>- Kelemahan: Query berbasis range pada kunci asli tidak lagi terlokalisasi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10: Routing Hash Modulo: Rumus Naif &amp; Sederhana</a:t>
            </a:r>
          </a:p>
          <a:p/>
          <a:p>
            <a:r>
              <a:t>Mental Model: Hash modulo delivers instant O(1) routing, but ties node count directly into the key-to-node mapping.</a:t>
            </a:r>
          </a:p>
          <a:p/>
          <a:p>
            <a:r>
              <a:t>[RUMUS MATEMATIS]</a:t>
            </a:r>
          </a:p>
          <a:p>
            <a:r>
              <a:t>- ShardID = hash(key) % N</a:t>
            </a:r>
          </a:p>
          <a:p>
            <a:r>
              <a:t>- Di mana N adalah jumlah node fisik aktif di kluster</a:t>
            </a:r>
          </a:p>
          <a:p>
            <a:r>
              <a:t>- Contoh: hash('tenant_12') = 982312, 982312 % 4 = Shard 0</a:t>
            </a:r>
          </a:p>
          <a:p>
            <a:r>
              <a:t>[IMPLEMENTASI KODE GO]</a:t>
            </a:r>
          </a:p>
          <a:p>
            <a:r>
              <a:t>- func (m *ModuloRouter) GetShard(key string) (string, error) {</a:t>
            </a:r>
          </a:p>
          <a:p>
            <a:r>
              <a:t>-     m.mu.RLock(); defer m.mu.RUnlock()</a:t>
            </a:r>
          </a:p>
          <a:p>
            <a:r>
              <a:t>-     h := hashKey(key)</a:t>
            </a:r>
          </a:p>
          <a:p>
            <a:r>
              <a:t>-     idx := int(h % uint64(len(m.shards)))</a:t>
            </a:r>
          </a:p>
          <a:p>
            <a:r>
              <a:t>-     return m.shards[idx], nil</a:t>
            </a:r>
          </a:p>
          <a:p>
            <a:r>
              <a:t>- }</a:t>
            </a:r>
          </a:p>
          <a:p>
            <a:r>
              <a:t>[KELEBIHAN &amp; KETERBATASAN]</a:t>
            </a:r>
          </a:p>
          <a:p>
            <a:r>
              <a:t>- Kelebihan: Waktu pencarian O(1) konstan tanpa struktur data tambahan</a:t>
            </a:r>
          </a:p>
          <a:p>
            <a:r>
              <a:t>- Kelebihan: Distribusi kunci sangat merata selama hash function baik</a:t>
            </a:r>
          </a:p>
          <a:p>
            <a:r>
              <a:t>- Kelemahan: Mengubah nilai N merusak pemetaan hampir seluruh data di kluster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11: Bencana Resharding Hash Modulo</a:t>
            </a:r>
          </a:p>
          <a:p/>
          <a:p>
            <a:r>
              <a:t>Mental Model: Scaling hash modulo clusters reshuffles N/(N+1) of all existing data, saturating networks during rebalance.</a:t>
            </a:r>
          </a:p>
          <a:p/>
          <a:p>
            <a:r>
              <a:t>[PERSENTASE TEORITIS RELOKASI]</a:t>
            </a:r>
          </a:p>
          <a:p>
            <a:r>
              <a:t>- Rasio data yang berpindah saat scale-out dari N ke N+1:</a:t>
            </a:r>
          </a:p>
          <a:p>
            <a:r>
              <a:t>-   Moved Ratio = N / (N + 1)</a:t>
            </a:r>
          </a:p>
          <a:p>
            <a:r>
              <a:t>-   Dari 4 node ke 5 node = 4/5 = 80.00% kunci wajib dipindahkan!</a:t>
            </a:r>
          </a:p>
          <a:p>
            <a:r>
              <a:t>[BUKTI KUANTITATIF LAB (10.000 KEYS)]</a:t>
            </a:r>
          </a:p>
          <a:p>
            <a:r>
              <a:t>- Cluster Resize: 4 Shards -&gt; 5 Shards</a:t>
            </a:r>
          </a:p>
          <a:p>
            <a:r>
              <a:t>- Keys Remapped   : 7.984 / 10.000 keys</a:t>
            </a:r>
          </a:p>
          <a:p>
            <a:r>
              <a:t>- Persentase Pindah: 79.84% (Sangat akurat dengan teori 80%)</a:t>
            </a:r>
          </a:p>
          <a:p>
            <a:r>
              <a:t>- Kunci yang bertahan di tempat: Hanya 20.16%</a:t>
            </a:r>
          </a:p>
          <a:p>
            <a:r>
              <a:t>[KONSEKUENSI PRODUKSI]</a:t>
            </a:r>
          </a:p>
          <a:p>
            <a:r>
              <a:t>- Saturasi bandwidth jaringan antar database untuk transfer data</a:t>
            </a:r>
          </a:p>
          <a:p>
            <a:r>
              <a:t>- Periode read-only atau locking berkepanjangan pada aplikasi</a:t>
            </a:r>
          </a:p>
          <a:p>
            <a:r>
              <a:t>- Tingkat risiko kegagalan migrasi dan inkonsistensi data sangat tinggi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12: Consistent Hashing: Memutus Ketergantungan N</a:t>
            </a:r>
          </a:p>
          <a:p/>
          <a:p>
            <a:r>
              <a:t>Mental Model: Consistent hashing places nodes and keys on a circular ring; new nodes only capture keys from immediate neighbors.</a:t>
            </a:r>
          </a:p>
          <a:p/>
          <a:p>
            <a:r>
              <a:t>[KONSEP RING SIRKULAR]</a:t>
            </a:r>
          </a:p>
          <a:p>
            <a:r>
              <a:t>- Ruang kunci dipetakan ke lingkaran angka 0 hingga 2^64 - 1</a:t>
            </a:r>
          </a:p>
          <a:p>
            <a:r>
              <a:t>- Setiap node fisik ditempatkan pada titik tertentu di sepanjang cincin</a:t>
            </a:r>
          </a:p>
          <a:p>
            <a:r>
              <a:t>- Kunci data berjalan searah jarum jam hingga bertemu node pertama</a:t>
            </a:r>
          </a:p>
          <a:p>
            <a:r>
              <a:t>[PENCARIAN BINARY SEARCH]</a:t>
            </a:r>
          </a:p>
          <a:p>
            <a:r>
              <a:t>- func (ch *ConsistentHashRouter) GetShard(key string) (string, error) {</a:t>
            </a:r>
          </a:p>
          <a:p>
            <a:r>
              <a:t>-     h := hashKey(key)</a:t>
            </a:r>
          </a:p>
          <a:p>
            <a:r>
              <a:t>-     idx := sort.Search(len(ch.ring), func(i int) bool {</a:t>
            </a:r>
          </a:p>
          <a:p>
            <a:r>
              <a:t>-         return ch.ring[i].hash &gt;= h</a:t>
            </a:r>
          </a:p>
          <a:p>
            <a:r>
              <a:t>-     })</a:t>
            </a:r>
          </a:p>
          <a:p>
            <a:r>
              <a:t>-     if idx == len(ch.ring) { idx = 0 }</a:t>
            </a:r>
          </a:p>
          <a:p>
            <a:r>
              <a:t>-     return ch.ring[idx].shardID, nil</a:t>
            </a:r>
          </a:p>
          <a:p>
            <a:r>
              <a:t>- }</a:t>
            </a:r>
          </a:p>
          <a:p>
            <a:r>
              <a:t>[MINIMAL RELOKASI DATA]</a:t>
            </a:r>
          </a:p>
          <a:p>
            <a:r>
              <a:t>- Saat node baru disisipkan, ia hanya mengambil data dari tetangga terdekat</a:t>
            </a:r>
          </a:p>
          <a:p>
            <a:r>
              <a:t>- Hanya ~1/N data yang berpindah lokasi secara keseluruhan</a:t>
            </a:r>
          </a:p>
          <a:p>
            <a:r>
              <a:t>- Node lain yang tidak bertetangga sama sekali tidak terpengaruh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13: Virtual Nodes: Mengeliminasi Hash Ring Skew</a:t>
            </a:r>
          </a:p>
          <a:p/>
          <a:p>
            <a:r>
              <a:t>Mental Model: Virtual nodes interleave physical servers across the ring, statistically guaranteeing balanced distribution.</a:t>
            </a:r>
          </a:p>
          <a:p/>
          <a:p>
            <a:r>
              <a:t>[MASALAH HASH SKEW]</a:t>
            </a:r>
          </a:p>
          <a:p>
            <a:r>
              <a:t>- Pada jumlah node sedikit (misal 3-4 node), titik acak tidak menyebar rata</a:t>
            </a:r>
          </a:p>
          <a:p>
            <a:r>
              <a:t>- Satu node bisa menguasai 70% bentang cincin sementara yang lain hanya 10%</a:t>
            </a:r>
          </a:p>
          <a:p>
            <a:r>
              <a:t>- Menimbulkan ketimpangan beban penyimpanan dan throughput yang tajam</a:t>
            </a:r>
          </a:p>
          <a:p>
            <a:r>
              <a:t>[MEKANISME VIRTUAL NODES]</a:t>
            </a:r>
          </a:p>
          <a:p>
            <a:r>
              <a:t>- Setiap node fisik dialokasikan R virtual token (misal 100-150 vnodes)</a:t>
            </a:r>
          </a:p>
          <a:p>
            <a:r>
              <a:t>- Format token vkey: shardID + '#' + strconv.Itoa(i)</a:t>
            </a:r>
          </a:p>
          <a:p>
            <a:r>
              <a:t>- Titik-titik virtual terdistribusi acak merata di sekeliling cincin</a:t>
            </a:r>
          </a:p>
          <a:p>
            <a:r>
              <a:t>[KODE INISIALISASI VNODE]</a:t>
            </a:r>
          </a:p>
          <a:p>
            <a:r>
              <a:t>- for i := 0; i &lt; ch.vnodeCount; i++ {</a:t>
            </a:r>
          </a:p>
          <a:p>
            <a:r>
              <a:t>-     vkey := shardID + "#" + strconv.Itoa(i)</a:t>
            </a:r>
          </a:p>
          <a:p>
            <a:r>
              <a:t>-     h := hashKey(vkey)</a:t>
            </a:r>
          </a:p>
          <a:p>
            <a:r>
              <a:t>-     ch.ring = append(ch.ring, vnode{hash: h, shardID: shardID})</a:t>
            </a:r>
          </a:p>
          <a:p>
            <a:r>
              <a:t>- }</a:t>
            </a:r>
          </a:p>
          <a:p>
            <a:r>
              <a:t>- sort.Slice(ch.ring, func(i, j int) bool { ... })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14: Pembuktian Resharding: Modulo vs Consistent Hash</a:t>
            </a:r>
          </a:p>
          <a:p/>
          <a:p>
            <a:r>
              <a:t>Mental Model: Consistent hashing reduces data migration during scale-out from 80% down to 12%, saving 85% network I/O.</a:t>
            </a:r>
          </a:p>
          <a:p/>
          <a:p>
            <a:r>
              <a:t>[TABEL PERBANDINGAN LAB]</a:t>
            </a:r>
          </a:p>
          <a:p>
            <a:r>
              <a:t>- Metrik | Hash Modulo | Consistent Hashing (100 vnodes)</a:t>
            </a:r>
          </a:p>
          <a:p>
            <a:r>
              <a:t>- Dataset Diuji | 10.000 Kunci Akun | 10.000 Kunci Akun</a:t>
            </a:r>
          </a:p>
          <a:p>
            <a:r>
              <a:t>- Kunci Berpindah | 7.984 Kunci | 1.200 Kunci</a:t>
            </a:r>
          </a:p>
          <a:p>
            <a:r>
              <a:t>- Rasio Relokasi | 79.84% Data Pindah | 12.00% Data Pindah</a:t>
            </a:r>
          </a:p>
          <a:p>
            <a:r>
              <a:t>- Target Minimal | ~80.00% | ~20.00% (1/N teoritis)</a:t>
            </a:r>
          </a:p>
          <a:p>
            <a:r>
              <a:t>[TEST RUNNER ASSERTIONS]</a:t>
            </a:r>
          </a:p>
          <a:p>
            <a:r>
              <a:t>- // tests/sharding_test.go:111</a:t>
            </a:r>
          </a:p>
          <a:p>
            <a:r>
              <a:t>- if modMoveRatio &lt; 0.65 { t.Errorf(...) }</a:t>
            </a:r>
          </a:p>
          <a:p>
            <a:r>
              <a:t>- // Modulo terbukti memindahkan 75.12% - 79.84% kunci</a:t>
            </a:r>
          </a:p>
          <a:p>
            <a:r>
              <a:t>- if chMoveRatio &lt;= 0.05 || chMoveRatio &gt; 0.40 { t.Errorf(...) }</a:t>
            </a:r>
          </a:p>
          <a:p>
            <a:r>
              <a:t>- // Consistent Hash terbukti memindahkan hanya 12.00% - 16.00% kunci</a:t>
            </a:r>
          </a:p>
          <a:p>
            <a:r>
              <a:t>[EFISIENSI MIGRASI DATA]</a:t>
            </a:r>
          </a:p>
          <a:p>
            <a:r>
              <a:t>- Consistent Hashing menghemat hingga 85% bandwidth transfer resharding</a:t>
            </a:r>
          </a:p>
          <a:p>
            <a:r>
              <a:t>- Mereduksi durasi migrasi kluster dari jam menjadi hitungan menit</a:t>
            </a:r>
          </a:p>
          <a:p>
            <a:r>
              <a:t>- Menjaga ketersediaan aplikasi selama proses rebalancing berlangsung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15: Dilema Query Tanpa Menyertakan Shard Key</a:t>
            </a:r>
          </a:p>
          <a:p/>
          <a:p>
            <a:r>
              <a:t>Mental Model: Queries lacking the sharding key face a hard trade-off: scatter-gather broadcast storm vs GSI lookup overhead.</a:t>
            </a:r>
          </a:p>
          <a:p/>
          <a:p>
            <a:r>
              <a:t>[SKENARIO KASUS NYATA]</a:t>
            </a:r>
          </a:p>
          <a:p>
            <a:r>
              <a:t>- Tabel data dishard menggunakan tenant_id sebagai shard key utama</a:t>
            </a:r>
          </a:p>
          <a:p>
            <a:r>
              <a:t>- Alur Login User: Pengguna login hanya memasukkan email dan password</a:t>
            </a:r>
          </a:p>
          <a:p>
            <a:r>
              <a:t>- Aplikasi tidak mengetahui tenant_id pengguna sebelum membaca datanya</a:t>
            </a:r>
          </a:p>
          <a:p>
            <a:r>
              <a:t>[DUA JALUR PENYELESAIAN]</a:t>
            </a:r>
          </a:p>
          <a:p>
            <a:r>
              <a:t>- Scatter-Gather: Broadcast query paralel ke seluruh shard di kluster</a:t>
            </a:r>
          </a:p>
          <a:p>
            <a:r>
              <a:t>- Global Secondary Index (GSI): Menjaga indeks global pemetaan email -&gt; tenant_id</a:t>
            </a:r>
          </a:p>
          <a:p>
            <a:r>
              <a:t>- Masing-masing memiliki trade-off performa, biaya, dan konsistensi</a:t>
            </a:r>
          </a:p>
          <a:p>
            <a:r>
              <a:t>[RISIKO OPERASIONAL]</a:t>
            </a:r>
          </a:p>
          <a:p>
            <a:r>
              <a:t>- Broadcast ke puluhan shard menghabiskan connection pool kluster</a:t>
            </a:r>
          </a:p>
          <a:p>
            <a:r>
              <a:t>- Tail latency query ditentukan oleh shard terlambat (straggler problem)</a:t>
            </a:r>
          </a:p>
          <a:p>
            <a:r>
              <a:t>- GSI memerlukan penulisan ganda (double-write) dan mekanisme sinkronisasi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16: Scatter-Gather: Eksekusi Broadcast Paralel</a:t>
            </a:r>
          </a:p>
          <a:p/>
          <a:p>
            <a:r>
              <a:t>Mental Model: Scatter-gather latency is bound by the slowest responding shard in the broadcast fan-out.</a:t>
            </a:r>
          </a:p>
          <a:p/>
          <a:p>
            <a:r>
              <a:t>[ALUR KERJA SCATTER-GATHER]</a:t>
            </a:r>
          </a:p>
          <a:p>
            <a:r>
              <a:t>- 1. Router menduplikasi query dan mengirimkannya ke N shard serentak</a:t>
            </a:r>
          </a:p>
          <a:p>
            <a:r>
              <a:t>- 2. Shard memproses query lokal dan mengembalikan hasilnya via channel</a:t>
            </a:r>
          </a:p>
          <a:p>
            <a:r>
              <a:t>- 3. Router menggabungkan (gather), mengurutkan, dan membatasi (LIMIT) hasil</a:t>
            </a:r>
          </a:p>
          <a:p>
            <a:r>
              <a:t>[IMPLEMENTASI CONTEXT DI GO]</a:t>
            </a:r>
          </a:p>
          <a:p>
            <a:r>
              <a:t>- for _, s := range shards {</a:t>
            </a:r>
          </a:p>
          <a:p>
            <a:r>
              <a:t>-     go func(shard *Shard) {</a:t>
            </a:r>
          </a:p>
          <a:p>
            <a:r>
              <a:t>-         select {</a:t>
            </a:r>
          </a:p>
          <a:p>
            <a:r>
              <a:t>-         case &lt;-ctx.Done(): return</a:t>
            </a:r>
          </a:p>
          <a:p>
            <a:r>
              <a:t>-         default: ch &lt;- shardResult{records: searchLocal(shard)}</a:t>
            </a:r>
          </a:p>
          <a:p>
            <a:r>
              <a:t>-         }</a:t>
            </a:r>
          </a:p>
          <a:p>
            <a:r>
              <a:t>-     }(s)</a:t>
            </a:r>
          </a:p>
          <a:p>
            <a:r>
              <a:t>- }</a:t>
            </a:r>
          </a:p>
          <a:p>
            <a:r>
              <a:t>[THE STRAGGLER PROBLEM]</a:t>
            </a:r>
          </a:p>
          <a:p>
            <a:r>
              <a:t>- Respon total dibatasi oleh node yang paling lambat merespon (P99 tail)</a:t>
            </a:r>
          </a:p>
          <a:p>
            <a:r>
              <a:t>- Jika 1 dari 50 shard mengalami disk stall, seluruh query ikut tertahan</a:t>
            </a:r>
          </a:p>
          <a:p>
            <a:r>
              <a:t>- Membengkakkan CPU dan memory overhead pada router agregator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17: Global Secondary Index: Point Lookup Terarah</a:t>
            </a:r>
          </a:p>
          <a:p/>
          <a:p>
            <a:r>
              <a:t>Mental Model: GSI trades write amplification for point-lookup speed, replacing cluster broadcasts with directed two-step reads.</a:t>
            </a:r>
          </a:p>
          <a:p/>
          <a:p>
            <a:r>
              <a:t>[STRUKTUR PEMETAAN GSI]</a:t>
            </a:r>
          </a:p>
          <a:p>
            <a:r>
              <a:t>- Tabel Lookup Global (Lookup Vindex):</a:t>
            </a:r>
          </a:p>
          <a:p>
            <a:r>
              <a:t>-   email: 'user_342@company.com' -&gt; shardKey: 'tenant-42'</a:t>
            </a:r>
          </a:p>
          <a:p>
            <a:r>
              <a:t>- Point lookup tahap 1: Query GSI untuk mendapatkan shardKey</a:t>
            </a:r>
          </a:p>
          <a:p>
            <a:r>
              <a:t>- Point lookup tahap 2: Query langsung ke node target (1 node saja)</a:t>
            </a:r>
          </a:p>
          <a:p>
            <a:r>
              <a:t>[KODE IMPLEMENTASI GSI]</a:t>
            </a:r>
          </a:p>
          <a:p>
            <a:r>
              <a:t>- func (c *Cluster) GetByEmailUsingGSI(email, id string) (Record, error) {</a:t>
            </a:r>
          </a:p>
          <a:p>
            <a:r>
              <a:t>-     shardKey, ok := c.gsi.Lookup(email)</a:t>
            </a:r>
          </a:p>
          <a:p>
            <a:r>
              <a:t>-     if !ok { return Record{}, errors.New("not found") }</a:t>
            </a:r>
          </a:p>
          <a:p>
            <a:r>
              <a:t>-     return c.GetByShardKey(shardKey, id)</a:t>
            </a:r>
          </a:p>
          <a:p>
            <a:r>
              <a:t>- }</a:t>
            </a:r>
          </a:p>
          <a:p>
            <a:r>
              <a:t>[TRADE-OFF DOUBLE WRITE]</a:t>
            </a:r>
          </a:p>
          <a:p>
            <a:r>
              <a:t>- Write Amplification: Setiap insert/update email wajib memperbarui tabel GSI</a:t>
            </a:r>
          </a:p>
          <a:p>
            <a:r>
              <a:t>- Konsistensi Data: Membutuhkan 2PC atau eventual consistency asinkron</a:t>
            </a:r>
          </a:p>
          <a:p>
            <a:r>
              <a:t>- Kapasitas GSI: Tabel GSI itu sendiri pada akhirnya harus di-shard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18: Hasil Uji Coba: Broadcast vs GSI</a:t>
            </a:r>
          </a:p>
          <a:p/>
          <a:p>
            <a:r>
              <a:t>Mental Model: GSI point-lookups bypass cluster fan-out entirely, cutting network round trips and query latency by orders of magnitude.</a:t>
            </a:r>
          </a:p>
          <a:p/>
          <a:p>
            <a:r>
              <a:t>[LOG HASIL EKSEKUSI DEMO]</a:t>
            </a:r>
          </a:p>
          <a:p>
            <a:r>
              <a:t>- 1. Scatter-Gather Broadcast (by Email):</a:t>
            </a:r>
          </a:p>
          <a:p>
            <a:r>
              <a:t>-    Nodes Broadcasted : 4 / 4 Shards</a:t>
            </a:r>
          </a:p>
          <a:p>
            <a:r>
              <a:t>-    Records Matched   : 1</a:t>
            </a:r>
          </a:p>
          <a:p>
            <a:r>
              <a:t>-    Execution Time    : 72.834 µs</a:t>
            </a:r>
          </a:p>
          <a:p>
            <a:r>
              <a:t>- 2. Global Secondary Index Lookup:</a:t>
            </a:r>
          </a:p>
          <a:p>
            <a:r>
              <a:t>-    Nodes Broadcasted : 1 (Point Lookup Terarah)</a:t>
            </a:r>
          </a:p>
          <a:p>
            <a:r>
              <a:t>-    Execution Time    : 1.208 µs (60x Lebih Cepat!)</a:t>
            </a:r>
          </a:p>
          <a:p>
            <a:r>
              <a:t>[ANALISIS LATENSI PRODUKSI]</a:t>
            </a:r>
          </a:p>
          <a:p>
            <a:r>
              <a:t>- Pada in-memory test: Selisih latensi mencapai 60 kali lipat</a:t>
            </a:r>
          </a:p>
          <a:p>
            <a:r>
              <a:t>- Pada database fisik dengan jaringan: Perbedaan menjadi 1 RTT vs N RTT</a:t>
            </a:r>
          </a:p>
          <a:p>
            <a:r>
              <a:t>- Scatter-gather menghabiskan thread pool dan memory buffer di seluruh node</a:t>
            </a:r>
          </a:p>
          <a:p>
            <a:r>
              <a:t>[KESIMPULAN DESAIN]</a:t>
            </a:r>
          </a:p>
          <a:p>
            <a:r>
              <a:t>- Gunakan GSI untuk akses data frekuensi tinggi (misal: otentikasi login)</a:t>
            </a:r>
          </a:p>
          <a:p>
            <a:r>
              <a:t>- Gunakan Scatter-Gather hanya untuk laporan analitik batch frekuensi rendah</a:t>
            </a:r>
          </a:p>
          <a:p>
            <a:r>
              <a:t>- GSI mutlak diperlukan untuk mencegah connection starvation di skala besar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19: Masalah Kunci Primer pada Multi-Shard</a:t>
            </a:r>
          </a:p>
          <a:p/>
          <a:p>
            <a:r>
              <a:t>Mental Model: Database auto-increment breaks across independent shards; random UUIDs degrade B-tree write performance through cache thrashing.</a:t>
            </a:r>
          </a:p>
          <a:p/>
          <a:p>
            <a:r>
              <a:t>[ANATOMI TABRAKAN ID]</a:t>
            </a:r>
          </a:p>
          <a:p>
            <a:r>
              <a:t>- Shard A menghasilkan ID baru: 101, 102, 103</a:t>
            </a:r>
          </a:p>
          <a:p>
            <a:r>
              <a:t>- Shard B menghasilkan ID baru: 101, 102, 103 (Duplikasi!)</a:t>
            </a:r>
          </a:p>
          <a:p>
            <a:r>
              <a:t>- Primary key global tidak lagi unik di level kluster</a:t>
            </a:r>
          </a:p>
          <a:p>
            <a:r>
              <a:t>[KELEMAHAN UUIDv4 ACAK]</a:t>
            </a:r>
          </a:p>
          <a:p>
            <a:r>
              <a:t>- UUIDv4 (128-bit acak murni) menyelesaikan masalah collision unik</a:t>
            </a:r>
          </a:p>
          <a:p>
            <a:r>
              <a:t>- Namun keacakan bit merusak index B-tree database fisik</a:t>
            </a:r>
          </a:p>
          <a:p>
            <a:r>
              <a:t>- Memicu random page split, cache thrashing, dan fragmentasi disk parah</a:t>
            </a:r>
          </a:p>
          <a:p>
            <a:r>
              <a:t>[PERSYARATAN ID TERDISTRIBUSI]</a:t>
            </a:r>
          </a:p>
          <a:p>
            <a:r>
              <a:t>- Unik global tanpa perlu koordinasi jaringan berulang</a:t>
            </a:r>
          </a:p>
          <a:p>
            <a:r>
              <a:t>- Monotonik terurut waktu (time-ordered) untuk menjaga efisiensi B-tree</a:t>
            </a:r>
          </a:p>
          <a:p>
            <a:r>
              <a:t>- Mendukung throughput tinggi hingga jutaan ID per detik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20: Strategi Distributed ID: UUIDv7 vs Block Allocator</a:t>
            </a:r>
          </a:p>
          <a:p/>
          <a:p>
            <a:r>
              <a:t>Mental Model: UUIDv7 provides zero-coordination time-ordered 128-bit keys; Sequence block allocation provides compact 64-bit integers with batched coordination.</a:t>
            </a:r>
          </a:p>
          <a:p/>
          <a:p>
            <a:r>
              <a:t>[RFC 9562 UUIDv7 (TIME-ORDERED)]</a:t>
            </a:r>
          </a:p>
          <a:p>
            <a:r>
              <a:t>- 48-bit Unix timestamp millisecond + version 7 + 74-bit random entropy</a:t>
            </a:r>
          </a:p>
          <a:p>
            <a:r>
              <a:t>- Terurut waktu secara leksikografis (u1 &lt; u2) — ramah append pada B-tree</a:t>
            </a:r>
          </a:p>
          <a:p>
            <a:r>
              <a:t>- Dihasilkan sepenuhnya lokal di memori aplikasi tanpa koordinasi jaringan</a:t>
            </a:r>
          </a:p>
          <a:p>
            <a:r>
              <a:t>[SEQUENCE BLOCK ALLOCATOR (VITESS)]</a:t>
            </a:r>
          </a:p>
          <a:p>
            <a:r>
              <a:t>- Layanan pusat mengalokasikan blok ID numerik (misal: 1.000 ID sekaligus)</a:t>
            </a:r>
          </a:p>
          <a:p>
            <a:r>
              <a:t>- Node aplikasi mengonsumsi ID secara lokal hingga blok habis sebelum alokasi baru</a:t>
            </a:r>
          </a:p>
          <a:p>
            <a:r>
              <a:t>- Menghasilkan integer 64-bit padat dan hemat ukuran memori</a:t>
            </a:r>
          </a:p>
          <a:p>
            <a:r>
              <a:t>[HASIL VERIFIKASI DEMO]</a:t>
            </a:r>
          </a:p>
          <a:p>
            <a:r>
              <a:t>- UUIDv7 Tergenerate : 01a13905-fefc-7db1-adc7-ed5774231cd0</a:t>
            </a:r>
          </a:p>
          <a:p>
            <a:r>
              <a:t>- Sequence Block IDs : 1 2 3 4 5 6 7 8 (Block Size=5)</a:t>
            </a:r>
          </a:p>
          <a:p>
            <a:r>
              <a:t>- Keduanya terbukti bebas tabrakan pada pengujian konkuren.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21: Kompleksitas Transaksi Lintas Shard &amp; TwoPC</a:t>
            </a:r>
          </a:p>
          <a:p/>
          <a:p>
            <a:r>
              <a:t>Mental Model: Two-Phase Commit guarantees cross-shard atomicity, not global isolation; co-locate related records to avoid distributed transactions entirely.</a:t>
            </a:r>
          </a:p>
          <a:p/>
          <a:p>
            <a:r>
              <a:t>[TWO-PHASE COMMIT (2PC)]</a:t>
            </a:r>
          </a:p>
          <a:p>
            <a:r>
              <a:t>- Phase 1 (Prepare): Koordinator meminta vote commit ke semua shard terkait</a:t>
            </a:r>
          </a:p>
          <a:p>
            <a:r>
              <a:t>- Phase 2 (Commit): Jika semua setuju, koordinator menerbitkan perintah commit</a:t>
            </a:r>
          </a:p>
          <a:p>
            <a:r>
              <a:t>- Penalti: Menambah latensi round-trip dan menahan lock baris lebih lama</a:t>
            </a:r>
          </a:p>
          <a:p>
            <a:r>
              <a:t>[BAHAYA FRACTURED READS]</a:t>
            </a:r>
          </a:p>
          <a:p>
            <a:r>
              <a:t>- 2PC hanya menjamin atomisitas eksekusi (All or Nothing)</a:t>
            </a:r>
          </a:p>
          <a:p>
            <a:r>
              <a:t>- 2PC TIDAK menyediakan isolasi transaksi lintas shard secara otomatis</a:t>
            </a:r>
          </a:p>
          <a:p>
            <a:r>
              <a:t>- Query baca konkuren dapat melihat shard A sudah commit tetapi shard B belum</a:t>
            </a:r>
          </a:p>
          <a:p>
            <a:r>
              <a:t>[ATURAN ARSITEKTUR UTAMA]</a:t>
            </a:r>
          </a:p>
          <a:p>
            <a:r>
              <a:t>- Desain skema agar 95%+ transaksi terjadi di dalam 1 shard yang sama</a:t>
            </a:r>
          </a:p>
          <a:p>
            <a:r>
              <a:t>- Gunakan Co-location (Entity Grouping) berdasarkan Shard Key yang identik</a:t>
            </a:r>
          </a:p>
          <a:p>
            <a:r>
              <a:t>- Gunakan Saga Pattern atau Eventual Consistency untuk transaksi lintas shard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22: Batas Model dan Ruang Lingkup Lab 32</a:t>
            </a:r>
          </a:p>
          <a:p/>
          <a:p>
            <a:r>
              <a:t>Mental Model: This lab models core distributed algorithms in-memory to prove routing invariants without disk storage noise.</a:t>
            </a:r>
          </a:p>
          <a:p/>
          <a:p>
            <a:r>
              <a:t>[TERSEDIA DI LAB INI]</a:t>
            </a:r>
          </a:p>
          <a:p>
            <a:r>
              <a:t>- Implementasi Range Partitioning dengan verifikasi pruning dan fast drop</a:t>
            </a:r>
          </a:p>
          <a:p>
            <a:r>
              <a:t>- Modulo Router vs Consistent Hash Router dengan 100-150 virtual nodes</a:t>
            </a:r>
          </a:p>
          <a:p>
            <a:r>
              <a:t>- Scatter-Gather Broadcast paralel dengan konteks pembatalan di Go</a:t>
            </a:r>
          </a:p>
          <a:p>
            <a:r>
              <a:t>- Global Secondary Index (GSI) dan dua generator ID terdistribusi</a:t>
            </a:r>
          </a:p>
          <a:p>
            <a:r>
              <a:t>[BELUM DICAKUP / BATASAN]</a:t>
            </a:r>
          </a:p>
          <a:p>
            <a:r>
              <a:t>- Penyimpanan berbasis disk nyata (menggunakan Go map in-memory terlindungi mutex)</a:t>
            </a:r>
          </a:p>
          <a:p>
            <a:r>
              <a:t>- Mesin Two-Phase Commit (2PC) transaksi lintas shard fisik</a:t>
            </a:r>
          </a:p>
          <a:p>
            <a:r>
              <a:t>- Mekanisme data replication (Raft/Paxos) antar shard replicas</a:t>
            </a:r>
          </a:p>
          <a:p>
            <a:r>
              <a:t>- Proses online data streaming resharding tanpa downtime produksi</a:t>
            </a:r>
          </a:p>
          <a:p>
            <a:r>
              <a:t>[TUJUAN EDUKASI]</a:t>
            </a:r>
          </a:p>
          <a:p>
            <a:r>
              <a:t>- Membuktikan secara deterministik angka pergeseran kunci dan invariant routing</a:t>
            </a:r>
          </a:p>
          <a:p>
            <a:r>
              <a:t>- Menghubungkan teori buku sistem terdistribusi dengan baris kode Go yang dapat di-debug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23: Checklist Keputusan Sharding vs Partitioning</a:t>
            </a:r>
          </a:p>
          <a:p/>
          <a:p>
            <a:r>
              <a:t>Mental Model: Exhaust single-node table partitioning before adopting physical sharding; sharding is a last-resort scalability lever.</a:t>
            </a:r>
          </a:p>
          <a:p/>
          <a:p>
            <a:r>
              <a:t>[CHECKLIST EVALUASI SISTEM]</a:t>
            </a:r>
          </a:p>
          <a:p>
            <a:r>
              <a:t>- [ ] Apakah volume data melampaui kapasitas 1 server? Jika belum, gunakan Partitioning.</a:t>
            </a:r>
          </a:p>
          <a:p>
            <a:r>
              <a:t>- [ ] Apakah bottleneck pada lifecycle data historis? Gunakan Range Partitioning &amp; Drop.</a:t>
            </a:r>
          </a:p>
          <a:p>
            <a:r>
              <a:t>- [ ] Shard Key memiliki kardinalitas tinggi dan terdistribusi acak (hindari tanggal murni).</a:t>
            </a:r>
          </a:p>
          <a:p>
            <a:r>
              <a:t>- [ ] Gunakan Consistent Hashing dengan 100+ vnodes untuk meminimalkan data shuffle.</a:t>
            </a:r>
          </a:p>
          <a:p>
            <a:r>
              <a:t>- [ ] Pasang GSI untuk pencarian atribut sekunder frekuensi tinggi.</a:t>
            </a:r>
          </a:p>
          <a:p>
            <a:r>
              <a:t>- [ ] Gunakan RFC 9562 UUIDv7 untuk primary key terdistribusi ramah B-tree.</a:t>
            </a:r>
          </a:p>
          <a:p>
            <a:r>
              <a:t>- [ ] Rancang skema co-location agar 95%+ query tidak membutuhkan cross-shard join.</a:t>
            </a:r>
          </a:p>
          <a:p>
            <a:r>
              <a:t>[KAPAN PARTITIONING CUKUP]</a:t>
            </a:r>
          </a:p>
          <a:p>
            <a:r>
              <a:t>- Dataset besar tetapi I/O server masih mencukupi</a:t>
            </a:r>
          </a:p>
          <a:p>
            <a:r>
              <a:t>- Query membutuhkan partition pruning berbasis tanggal/kategori</a:t>
            </a:r>
          </a:p>
          <a:p>
            <a:r>
              <a:t>- Retensi data membutuhkan penghapusan tabel lama secara rutin</a:t>
            </a:r>
          </a:p>
          <a:p>
            <a:r>
              <a:t>[KAPAN HARUS SHARDING]</a:t>
            </a:r>
          </a:p>
          <a:p>
            <a:r>
              <a:t>- Kapasitas write I/O server tunggal telah mencapai 100% saturasi</a:t>
            </a:r>
          </a:p>
          <a:p>
            <a:r>
              <a:t>- Ukuran dataset melebihi kapasitas storage fisik server terbesar</a:t>
            </a:r>
          </a:p>
          <a:p>
            <a:r>
              <a:t>- Kebutuhan ketersediaan tinggi di berbagai zona ketersediaan geografis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24: Eksperimen kecil, interpretasi yang teliti.</a:t>
            </a:r>
          </a:p>
          <a:p/>
          <a:p>
            <a:r>
              <a:t>Mental Model: Logical partitioning prunes scans locally; consistent sharding scales writes globally without resharding shock.</a:t>
            </a:r>
          </a:p>
          <a:p/>
          <a:p>
            <a:r>
              <a:t>[MODUL LAB DIUJI]</a:t>
            </a:r>
          </a:p>
          <a:p>
            <a:r>
              <a:t>- internal/partitioning • internal/sharding</a:t>
            </a:r>
          </a:p>
          <a:p>
            <a:r>
              <a:t>- internal/idgen • tests/sharding_test.go</a:t>
            </a:r>
          </a:p>
          <a:p>
            <a:r>
              <a:t>- cmd/demo/main.go • README.md</a:t>
            </a:r>
          </a:p>
          <a:p>
            <a:r>
              <a:t>[VERIFIKASI &amp; METRIK]</a:t>
            </a:r>
          </a:p>
          <a:p>
            <a:r>
              <a:t>- Sumber commit: cfba3b76</a:t>
            </a:r>
          </a:p>
          <a:p>
            <a:r>
              <a:t>- Test passing 5/5 dengan race detector lolos tanpa data race</a:t>
            </a:r>
          </a:p>
          <a:p>
            <a:r>
              <a:t>- Consistent hash: 12% relokasi vs Modulo: 79.84% relokasi</a:t>
            </a:r>
          </a:p>
          <a:p>
            <a:r>
              <a:t>- GSI lookup: 1.20 µs vs Scatter-gather: 72.83 µs (60x lebih cepat)</a:t>
            </a:r>
          </a:p>
          <a:p>
            <a:r>
              <a:t>[REPOSITORI]</a:t>
            </a:r>
          </a:p>
          <a:p>
            <a:r>
              <a:t>- GitHub: github.com/lukman-ss/software-engineering-lab/tree/main/labs/32-database-sharding-and-partitioning</a:t>
            </a:r>
          </a:p>
          <a:p>
            <a:r>
              <a:t>- Jalankan demo : go run ./cmd/demo</a:t>
            </a:r>
          </a:p>
          <a:p>
            <a:r>
              <a:t>- Jalankan test : go test -v -race ./...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87F76"/>
                </a:solidFill>
              </a:defRPr>
            </a:pPr>
            <a:r>
              <a:t>SOFTWARE ENGINEERING LAB | LAB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Database Sharding &amp; Partitioning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4F1E8"/>
                </a:solidFill>
              </a:defRPr>
            </a:pPr>
            <a:r>
              <a:t>Skalabilitas Horizontal Melalui Routing, Partition Pruning, dan Consistent Hashing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389120"/>
            <a:ext cx="1036289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87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087F76"/>
                </a:solidFill>
                <a:latin typeface="Courier New"/>
              </a:defRPr>
            </a:pPr>
            <a:r>
              <a:t>&gt; system_check --lab 32 --topic 'database-sharding-and-partitioning'</a:t>
            </a:r>
            <a:br/>
            <a:r>
              <a:t>&gt; author: Lukman / lukman-ss | status: PRODUCTION VERIFIED</a:t>
            </a:r>
            <a:br/>
            <a:r>
              <a:t>&gt; commit: cfba3b76 | tests: PASS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Batas Fisik Database Single-Instance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Tiga batasan hardware memaksa transisi dari vertical scaling ke partitioning dan sharding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BATAS MESIN TUNGGAL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Batas RAM: Buffer pool cache tidak lagi menampung working dataset aktif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Batas Disk IOPS: Saturasi write throughput dan antrean fsync log WAL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Lock Contention: Transaksi konkuren berebut lock pada index tree dan page yang sama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BIAYA VERTICAL SCALING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Biaya hardware tumbuh eksponensial untuk peningkatan kapasitas marginal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Single point of failure: Kegagalan hardware host menghentikan seluruh layanan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Batas arsitektural: Bus memori dan jumlah core CPU memiliki batas fisik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DUA JALUR SKALASI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Logical Partitioning: Memecah tabel internal pada satu engine database yang sama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Physical Sharding: Membagi dataset ke beberapa independent database nodes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Kombinasi keduanya menjawab skalabilitas lifecycle dan throughput transaksi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Vertical scaling hits a hard hardware ceiling; horizontal partitioning distributes the blast radius.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labs/32-database-sharding-and-partitioning/README.md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02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Logical Partitioning vs Physical Sharding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Dua paradigma berbeda dengan trade-off operasional, isolasi, dan koordinasi yang kontras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PERBANDINGAN ARSITEKTUR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Dimensi | Logical Partitioning | Physical Sharding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Instance Host | 1 Database Server | N Node Server Terpisah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Batas Skalasi | Batas Hardware Host | Tak Terbatas (Scale-out)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Cross-Join | Native SQL Engine | Memerlukan Scatter-Gather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Distributed ID | Auto-Increment Lokal | Sequence Generator / UUIDv7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LOGICAL PARTITIONING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Dikelola oleh query engine database internal (PostgreSQL/MySQL)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Tabel induk logis dipecah menjadi sub-tabel fisik terpisah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Optimal untuk manajemen lifecycle data dan query pruning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PHYSICAL SHARDING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Setiap shard adalah database instance independen tanpa shared state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Membutuhkan layer router pintar untuk mengarahkan transaksi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Menghilangkan single point of failure pada level penyimpanan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Partitioning optimizes single-node query pruning; sharding breaks single-node resource limits.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labs/32-database-sharding-and-partitioning/content/02-master-draft.md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03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Mekanisme Range Partitioning pada Single Node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Sub-tabel independen berdasarkan rentang temporal waktu transaksi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STRUKTUR PARTISI TEMPORAL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sales_logs (Tabel Induk Logis)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├── p2026_q1: [2026-01-01 s.d. 2026-04-01)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├── p2026_q2: [2026-04-01 s.d. 2026-07-01)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├── p2026_q3: [2026-07-01 s.d. 2026-10-01)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└── p2026_q4: [2026-10-01 s.d. 2027-01-01)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DESAIN KODE GO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type PartitionRange struct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Name  string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Start time.Time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End   time.Time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}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type Table struct { partitions []*Partition 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MANFAAT OPERASIONAL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Tiap partisi memiliki index B-tree terpisah yang muat di RAM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Query berbasis tanggal secara deterministik diarahkan ke sub-tabel target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Menghindari degradasi index tree raksasa yang membengkak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Time-bounded partition ranges keep working B-tree indices compact enough to fit in RAM.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labs/32-database-sharding-and-partitioning/internal/partitioning/table.go:14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04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Partition Pruning: Eliminasi Pindaian Partisi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Query optimizer memotong partisi di luar rentang filter filter WHERE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ALGORITMA PRUNING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Query filter: WHERE created_at BETWEEN '2026-04-01' AND '2026-06-30'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Evaluasi rentang interval: Hanya p2026_q2 yang beririsan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Engine mengabaikan p2026_q1, p2026_q3, dan p2026_q4 secara mutlak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HASIL VERIFIKASI DEMO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Query Range: 2026-04-01 to 2026-06-30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Partitions Scanned : 1 / 4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Partitions Pruned  : 3 / 4 (75% I/O dihemat)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Records Found      : 1 record tepat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KONDISI PRUNING GAGAL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Penggunaan fungsi pada kolom partisi: WHERE DATE(created_at) = ...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Klausa WHERE tanpa mencantumkan kunci partisi memicu full table scan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Tipe data yang tidak presisi memaksa implicit type cast pada runtime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Partition pruning turns sequential scans into targeted sub-tree lookups by checking range boundaries first.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labs/32-database-sharding-and-partitioning/internal/partitioning/table.go:61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05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Drop Partition Instan vs Expensive DELETE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Operasi metadata O(1) menggantikan jutaan tombstone row dan overhead VACUUM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PERBANDINGAN METODE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Operasi | DELETE FROM ... | DROP PARTITION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Waktu Eksekusi | O(N) Berjam-jam | O(1) Milidetik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Write Amplification | Sangat Tinggi (WAL Row) | Minimum (Metadata File)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Disk Space Reclaim | Butuh VACUUM FULL | Langsung ke File System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Lock Impact | Row Lock Berkepanjangan | Exclusive Lock Singkat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KODE DROP PARTISI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func (t *Table) DropPartition(name string) bool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t.mu.Lock(); defer t.mu.Unlock()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// Hapus referensi metadata dan bebaskan sub-tabel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// O(1) unlinking tanpa memindai isi baris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IMPLIKASI PRODUKSI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Data retensi audit/transaksi 90 hari dapat dihapus secara instan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Mencegah tabel membengkak (bloat) yang memperlambat sequential scan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Tidak membebani worker background autovacuum pada database aktif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Dropping a partition unlinks files at the filesystem layer; deleting rows burns write I/O per tombstone.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labs/32-database-sharding-and-partitioning/internal/partitioning/table.go:88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06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Anatomi Kluster Sharding Fisik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Arsitektur shared-nothing: Routing layer, Shard nodes, dan Metadata catalog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KOMPONEN KLUSTER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Aplikasi Klien: Mengirim query SQL tanpa perlu tahu topologi node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Routing Coordinator: Menerjemahkan Shard Key ke Shard Node target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Shard Nodes: Server PostgreSQL/MySQL independen (Shared-Nothing)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Catalog / GSI: Menyimpan pemetaan metadata dan indeks sekunder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INTERFACES KUNCI DI GO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type Router interface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GetShard(key string) (string, error)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AddShard(shardID string)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RemoveShard(shardID string)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}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type Cluster struct { shards map[string]*Shard 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SIFAT SHARED-NOTHING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Tidak ada memori atau disk yang dibagi antar server shard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Kegagalan satu node hanya berdampak pada subset data terkait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Kapasitas komputasi dan write I/O bertambah secara linear per node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Shared-nothing sharding separates state completely; routers translate logical keys into physical node targets.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labs/32-database-sharding-and-partitioning/internal/sharding/sharding.go:23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07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Write Hotspot Akibat Monotonic Shard Key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Kunci sekuensial mengalirkan 100% traffic penulisan ke satu node aktif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PENYEBAB HOTSPOT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Penggunaan timestamp (created_at) atau autoincrement ID sebagai shard key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Semua transaksi baru pada jendela waktu yang sama memiliki nilai kunci identik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Router mengarahkan seluruh traffic write ke satu server fisik yang sama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EVIDENSI PENGUJIAN LAB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Ingest 1.000 transaksi berurutan dengan kunci tanggal: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Node shard-0 :    0 records (0%)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Node shard-1 :    0 records (0%)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Node shard-2 : 1000 records (100% [##########])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Node shard-3 :    0 records (0%)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Hasil: Write Hotspot Parah! Shard lain menganggur.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DAMPAK SISTEMIK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Satu node kehabisan disk I/O dan connection pool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Node lain di kluster mengalami idle resource pemborosan biaya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Kluster multi-node berkinerja lebih buruk daripada single-instance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Sequential keys serialize writes into a single shard, turning multi-node clusters into single-node bottlenecks.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labs/32-database-sharding-and-partitioning/cmd/demo/main.go:52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08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Kunci Berkardinalitas Tinggi untuk Distribusi Merata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Distribusi seimbang di seluruh node fisik dengan tenant_id atau user_id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KRITERIA KUNCI IDEAL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Kardinalitas Tinggi: Memiliki jutaan nilai distinct (user_id, account_id)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Frekuensi Rendah: Tidak ada satu entitas yang menguasai &gt;5% transaksi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Non-Monotonik: Pola penulisan acak di sepanjang ruang domain kunci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HASIL VERIFIKASI LAB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Ingest 1.000 data menggunakan kunci tenant_id: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Node shard-0 : 400 records (40%)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Node shard-2 : 200 records (20%)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Node shard-3 : 400 records (40%)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Distribusi menyebar ke seluruh node fisik secara proporsional.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HASHED SHARDING STRATEGY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Jika entitas bisnis monotonik, bungkus dengan fungsi hash (MD5, Murmur, FNV)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Hash mengacak urutan temporal menjadi distribusi pseudorandom seragam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Kelemahan: Query berbasis range pada kunci asli tidak lagi terlokalisasi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High-cardinality keys spread transactions uniformly; hashing scrambles temporal patterns into random scatter.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labs/32-database-sharding-and-partitioning/internal/sharding/sharding.go:75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09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Routing Hash Modulo: Rumus Naif &amp; Sederhana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Pemetaan langsung hash(key) % N: Cepat dihitung, rapuh saat cluster resize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RUMUS MATEMATIS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ShardID = hash(key) % 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Di mana N adalah jumlah node fisik aktif di kluster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Contoh: hash('tenant_12') = 982312, 982312 % 4 = Shard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IMPLEMENTASI KODE GO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func (m *ModuloRouter) GetShard(key string) (string, error)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m.mu.RLock(); defer m.mu.RUnlock()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h := hashKey(key)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idx := int(h % uint64(len(m.shards)))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return m.shards[idx], nil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KELEBIHAN &amp; KETERBATASAN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Kelebihan: Waktu pencarian O(1) konstan tanpa struktur data tambahan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Kelebihan: Distribusi kunci sangat merata selama hash function baik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Kelemahan: Mengubah nilai N merusak pemetaan hampir seluruh data di kluster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Hash modulo delivers instant O(1) routing, but ties node count directly into the key-to-node mapping.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labs/32-database-sharding-and-partitioning/internal/sharding/sharding.go:30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Bencana Resharding Hash Modulo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Menambah satu node memicu relokasi masif ~80% data di seluruh sistem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PERSENTASE TEORITIS RELOKASI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Rasio data yang berpindah saat scale-out dari N ke N+1: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  Moved Ratio = N / (N + 1)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  Dari 4 node ke 5 node = 4/5 = 80.00% kunci wajib dipindahkan!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BUKTI KUANTITATIF LAB (10.000 KEYS)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Cluster Resize: 4 Shards -&gt; 5 Shards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Keys Remapped   : 7.984 / 10.000 keys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Persentase Pindah: 79.84% (Sangat akurat dengan teori 80%)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Kunci yang bertahan di tempat: Hanya 20.16%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KONSEKUENSI PRODUKSI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Saturasi bandwidth jaringan antar database untuk transfer data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Periode read-only atau locking berkepanjangan pada aplikasi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Tingkat risiko kegagalan migrasi dan inkonsistensi data sangat tinggi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Scaling hash modulo clusters reshuffles N/(N+1) of all existing data, saturating networks during rebalance.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labs/32-database-sharding-and-partitioning/cmd/demo/main.go:89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Consistent Hashing: Memutus Ketergantungan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Ruang hash sirkular melingkar 64-bit membatasi relokasi data hanya pada 1/N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KONSEP RING SIRKULAR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Ruang kunci dipetakan ke lingkaran angka 0 hingga 2^64 - 1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Setiap node fisik ditempatkan pada titik tertentu di sepanjang cincin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Kunci data berjalan searah jarum jam hingga bertemu node pertama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PENCARIAN BINARY SEARCH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func (ch *ConsistentHashRouter) GetShard(key string) (string, error)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h := hashKey(key)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idx := sort.Search(len(ch.ring), func(i int) bool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    return ch.ring[i].hash &gt;= h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})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if idx == len(ch.ring) { idx = 0 }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return ch.ring[idx].shardID, nil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MINIMAL RELOKASI DATA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Saat node baru disisipkan, ia hanya mengambil data dari tetangga terdekat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Hanya ~1/N data yang berpindah lokasi secara keseluruhan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Node lain yang tidak bertetangga sama sekali tidak terpengaruh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Consistent hashing places nodes and keys on a circular ring; new nodes only capture keys from immediate neighbors.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labs/32-database-sharding-and-partitioning/internal/sharding/sharding.go:143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Virtual Nodes: Mengeliminasi Hash Ring Skew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Memetakan satu node fisik ke ratusan titik token acak di cincin hash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MASALAH HASH SKEW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Pada jumlah node sedikit (misal 3-4 node), titik acak tidak menyebar rata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Satu node bisa menguasai 70% bentang cincin sementara yang lain hanya 10%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Menimbulkan ketimpangan beban penyimpanan dan throughput yang tajam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MEKANISME VIRTUAL NODES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Setiap node fisik dialokasikan R virtual token (misal 100-150 vnodes)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Format token vkey: shardID + '#' + strconv.Itoa(i)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Titik-titik virtual terdistribusi acak merata di sekeliling cincin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KODE INISIALISASI VNODE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for i := 0; i &lt; ch.vnodeCount; i++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vkey := shardID + "#" + strconv.Itoa(i)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h := hashKey(vkey)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ch.ring = append(ch.ring, vnode{hash: h, shardID: shardID})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}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sort.Slice(ch.ring, func(i, j int) bool { ... })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Virtual nodes interleave physical servers across the ring, statistically guaranteeing balanced distribution.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labs/32-database-sharding-and-partitioning/internal/sharding/sharding.go:115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Pembuktian Resharding: Modulo vs Consistent Hash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Verifikasi matematis pergeseran kunci saat kluster scale-out dari 4 ke 5 node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TABEL PERBANDINGAN LAB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Metrik | Hash Modulo | Consistent Hashing (100 vnodes)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Dataset Diuji | 10.000 Kunci Akun | 10.000 Kunci Akun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Kunci Berpindah | 7.984 Kunci | 1.200 Kunci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Rasio Relokasi | 79.84% Data Pindah | 12.00% Data Pindah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Target Minimal | ~80.00% | ~20.00% (1/N teoritis)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TEST RUNNER ASSERTIONS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// tests/sharding_test.go:111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if modMoveRatio &lt; 0.65 { t.Errorf(...) }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// Modulo terbukti memindahkan 75.12% - 79.84% kunci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if chMoveRatio &lt;= 0.05 || chMoveRatio &gt; 0.40 { t.Errorf(...) }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// Consistent Hash terbukti memindahkan hanya 12.00% - 16.00% kunci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EFISIENSI MIGRASI DATA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Consistent Hashing menghemat hingga 85% bandwidth transfer resharding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Mereduksi durasi migrasi kluster dari jam menjadi hitungan menit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Menjaga ketersediaan aplikasi selama proses rebalancing berlangsung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Consistent hashing reduces data migration during scale-out from 80% down to 12%, saving 85% network I/O.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labs/32-database-sharding-and-partitioning/tests/sharding_test.go:63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Dilema Query Tanpa Menyertakan Shard Key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Ketika pencarian dilakukan berdasarkan kolom sekunder seperti email atau status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SKENARIO KASUS NYATA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Tabel data dishard menggunakan tenant_id sebagai shard key utama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Alur Login User: Pengguna login hanya memasukkan email dan password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Aplikasi tidak mengetahui tenant_id pengguna sebelum membaca datanya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DUA JALUR PENYELESAIAN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Scatter-Gather: Broadcast query paralel ke seluruh shard di kluster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Global Secondary Index (GSI): Menjaga indeks global pemetaan email -&gt; tenant_id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Masing-masing memiliki trade-off performa, biaya, dan konsistensi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RISIKO OPERASIONAL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Broadcast ke puluhan shard menghabiskan connection pool kluster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Tail latency query ditentukan oleh shard terlambat (straggler problem)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GSI memerlukan penulisan ganda (double-write) dan mekanisme sinkronisasi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Queries lacking the sharding key face a hard trade-off: scatter-gather broadcast storm vs GSI lookup overhead.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labs/32-database-sharding-and-partitioning/content/02-master-draft.md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Scatter-Gather: Eksekusi Broadcast Paralel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Membagi query ke semua shard secara paralel dan menggabungkan hasilnya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ALUR KERJA SCATTER-GATHER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1. Router menduplikasi query dan mengirimkannya ke N shard serentak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2. Shard memproses query lokal dan mengembalikan hasilnya via channel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3. Router menggabungkan (gather), mengurutkan, dan membatasi (LIMIT) hasil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IMPLEMENTASI CONTEXT DI GO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for _, s := range shards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go func(shard *Shard)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    select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    case &lt;-ctx.Done(): return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    default: ch &lt;- shardResult{records: searchLocal(shard)}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    }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}(s)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THE STRAGGLER PROBLEM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Respon total dibatasi oleh node yang paling lambat merespon (P99 tail)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Jika 1 dari 50 shard mengalami disk stall, seluruh query ikut tertahan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Membengkakkan CPU dan memory overhead pada router agregator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Scatter-gather latency is bound by the slowest responding shard in the broadcast fan-out.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labs/32-database-sharding-and-partitioning/internal/sharding/sharding.go:343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Global Secondary Index: Point Lookup Terarah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Menghindari broadcast badai dengan pemetaan kunci sekunder ke shard key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STRUKTUR PEMETAAN GSI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Tabel Lookup Global (Lookup Vindex):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  email: 'user_342@company.com' -&gt; shardKey: 'tenant-42'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Point lookup tahap 1: Query GSI untuk mendapatkan shardKey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Point lookup tahap 2: Query langsung ke node target (1 node saja)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KODE IMPLEMENTASI GSI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func (c *Cluster) GetByEmailUsingGSI(email, id string) (Record, error)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shardKey, ok := c.gsi.Lookup(email)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if !ok { return Record{}, errors.New("not found") }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return c.GetByShardKey(shardKey, id)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TRADE-OFF DOUBLE WRITE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Write Amplification: Setiap insert/update email wajib memperbarui tabel GSI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Konsistensi Data: Membutuhkan 2PC atau eventual consistency asinkron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Kapasitas GSI: Tabel GSI itu sendiri pada akhirnya harus di-shard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GSI trades write amplification for point-lookup speed, replacing cluster broadcasts with directed two-step reads.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labs/32-database-sharding-and-partitioning/internal/sharding/sharding.go:228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Hasil Uji Coba: Broadcast vs GSI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Pengukuran aktual eksekusi query non-shard key pada kluster 4 node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LOG HASIL EKSEKUSI DEMO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1. Scatter-Gather Broadcast (by Email):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Nodes Broadcasted : 4 / 4 Shards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Records Matched   : 1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Execution Time    : 72.834 µs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2. Global Secondary Index Lookup: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Nodes Broadcasted : 1 (Point Lookup Terarah)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Execution Time    : 1.208 µs (60x Lebih Cepat!)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ANALISIS LATENSI PRODUKSI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Pada in-memory test: Selisih latensi mencapai 60 kali lipat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Pada database fisik dengan jaringan: Perbedaan menjadi 1 RTT vs N RTT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Scatter-gather menghabiskan thread pool dan memory buffer di seluruh node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KESIMPULAN DESAIN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Gunakan GSI untuk akses data frekuensi tinggi (misal: otentikasi login)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Gunakan Scatter-Gather hanya untuk laporan analitik batch frekuensi rendah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GSI mutlak diperlukan untuk mencegah connection starvation di skala besar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GSI point-lookups bypass cluster fan-out entirely, cutting network round trips and query latency by orders of magnitude.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labs/32-database-sharding-and-partitioning/cmd/demo/main.go:141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Masalah Kunci Primer pada Multi-Shard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Auto-increment lokal menghasilkan ID duplikat di berbagai node independen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ANATOMI TABRAKAN ID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Shard A menghasilkan ID baru: 101, 102, 103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Shard B menghasilkan ID baru: 101, 102, 103 (Duplikasi!)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Primary key global tidak lagi unik di level kluster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KELEMAHAN UUIDV4 ACAK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UUIDv4 (128-bit acak murni) menyelesaikan masalah collision unik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Namun keacakan bit merusak index B-tree database fisik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Memicu random page split, cache thrashing, dan fragmentasi disk parah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PERSYARATAN ID TERDISTRIBUSI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Unik global tanpa perlu koordinasi jaringan berulang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Monotonik terurut waktu (time-ordered) untuk menjaga efisiensi B-tree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Mendukung throughput tinggi hingga jutaan ID per detik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Database auto-increment breaks across independent shards; random UUIDs degrade B-tree write performance through cache thrashing.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labs/32-database-sharding-and-partitioning/content/02-master-draft.md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Strategi Distributed ID: UUIDv7 vs Block Allocator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Dua pola standar industri untuk primary key terdistribusi berkinerja tinggi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RFC 9562 UUIDV7 (TIME-ORDERED)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48-bit Unix timestamp millisecond + version 7 + 74-bit random entropy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Terurut waktu secara leksikografis (u1 &lt; u2) — ramah append pada B-tree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Dihasilkan sepenuhnya lokal di memori aplikasi tanpa koordinasi jaringan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SEQUENCE BLOCK ALLOCATOR (VITESS)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Layanan pusat mengalokasikan blok ID numerik (misal: 1.000 ID sekaligus)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Node aplikasi mengonsumsi ID secara lokal hingga blok habis sebelum alokasi baru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Menghasilkan integer 64-bit padat dan hemat ukuran memori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HASIL VERIFIKASI DEMO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UUIDv7 Tergenerate : 01a13905-fefc-7db1-adc7-ed5774231cd0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Sequence Block IDs : 1 2 3 4 5 6 7 8 (Block Size=5)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Keduanya terbukti bebas tabrakan pada pengujian konkuren.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UUIDv7 provides zero-coordination time-ordered 128-bit keys; Sequence block allocation provides compact 64-bit integers with batched coordination.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labs/32-database-sharding-and-partitioning/internal/idgen/idgen.go:18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Kompleksitas Transaksi Lintas Shard &amp; TwoPC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Ketika atomisitas menuntut koordinasi antar server: Two-Phase Commit dan Fractured Reads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TWO-PHASE COMMIT (2PC)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Phase 1 (Prepare): Koordinator meminta vote commit ke semua shard terkait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Phase 2 (Commit): Jika semua setuju, koordinator menerbitkan perintah commit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Penalti: Menambah latensi round-trip dan menahan lock baris lebih lama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BAHAYA FRACTURED READS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2PC hanya menjamin atomisitas eksekusi (All or Nothing)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2PC TIDAK menyediakan isolasi transaksi lintas shard secara otomatis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Query baca konkuren dapat melihat shard A sudah commit tetapi shard B belum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ATURAN ARSITEKTUR UTAMA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Desain skema agar 95%+ transaksi terjadi di dalam 1 shard yang sama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Gunakan Co-location (Entity Grouping) berdasarkan Shard Key yang identik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Gunakan Saga Pattern atau Eventual Consistency untuk transaksi lintas shard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Two-Phase Commit guarantees cross-shard atomicity, not global isolation; co-locate related records to avoid distributed transactions entirely.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labs/32-database-sharding-and-partitioning/content/05-key-takeaways.md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Batas Model dan Ruang Lingkup Lab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Simulasi in-memory terfokus pada kebenaran algoritma dan invariant matematis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TERSEDIA DI LAB INI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Implementasi Range Partitioning dengan verifikasi pruning dan fast drop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Modulo Router vs Consistent Hash Router dengan 100-150 virtual nodes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Scatter-Gather Broadcast paralel dengan konteks pembatalan di Go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Global Secondary Index (GSI) dan dua generator ID terdistribusi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BELUM DICAKUP / BATASAN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Penyimpanan berbasis disk nyata (menggunakan Go map in-memory terlindungi mutex)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Mesin Two-Phase Commit (2PC) transaksi lintas shard fisik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Mekanisme data replication (Raft/Paxos) antar shard replicas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Proses online data streaming resharding tanpa downtime produksi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TUJUAN EDUKASI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Membuktikan secara deterministik angka pergeseran kunci dan invariant routing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Menghubungkan teori buku sistem terdistribusi dengan baris kode Go yang dapat di-debug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This lab models core distributed algorithms in-memory to prove routing invariants without disk storage noise.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labs/32-database-sharding-and-partitioning/README.md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Checklist Keputusan Sharding vs Partitioning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Kerangka kerja pengambilan keputusan sebelum memecah arsitektur database Anda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CHECKLIST EVALUASI SISTEM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 ] Apakah volume data melampaui kapasitas 1 server? Jika belum, gunakan Partitioning.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 ] Apakah bottleneck pada lifecycle data historis? Gunakan Range Partitioning &amp; Drop.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 ] Shard Key memiliki kardinalitas tinggi dan terdistribusi acak (hindari tanggal murni).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 ] Gunakan Consistent Hashing dengan 100+ vnodes untuk meminimalkan data shuffle.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 ] Pasang GSI untuk pencarian atribut sekunder frekuensi tinggi.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 ] Gunakan RFC 9562 UUIDv7 untuk primary key terdistribusi ramah B-tree.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 ] Rancang skema co-location agar 95%+ query tidak membutuhkan cross-shard join.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KAPAN PARTITIONING CUKUP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Dataset besar tetapi I/O server masih mencukupi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Query membutuhkan partition pruning berbasis tanggal/kategori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Retensi data membutuhkan penghapusan tabel lama secara rutin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KAPAN HARUS SHARDING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Kapasitas write I/O server tunggal telah mencapai 100% saturasi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Ukuran dataset melebihi kapasitas storage fisik server terbesar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Kebutuhan ketersediaan tinggi di berbagai zona ketersediaan geografis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Exhaust single-node table partitioning before adopting physical sharding; sharding is a last-resort scalability lever.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labs/32-database-sharding-and-partitioning/content/02-master-draft.md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7F76"/>
                </a:solidFill>
              </a:defRPr>
            </a:pPr>
            <a:r>
              <a:t>SOFTWARE ENGINEERING LAB | LAB 32 RINGKASAN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Eksperimen kecil, interpretasi yang teliti.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94560"/>
            <a:ext cx="3200400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087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87F76"/>
                </a:solidFill>
              </a:defRPr>
            </a:pPr>
            <a:r>
              <a:t>MODUL LAB DIUJI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internal/partitioning • internal/sharding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internal/idgen • tests/sharding_test.go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cmd/demo/main.go • README.md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194560"/>
            <a:ext cx="3200400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087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87F76"/>
                </a:solidFill>
              </a:defRPr>
            </a:pPr>
            <a:r>
              <a:t>VERIFIKASI &amp; METRIK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Sumber commit: cfba3b76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Test passing 5/5 dengan race detector lolos tanpa data race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Consistent hash: 12% relokasi vs Modulo: 79.84% relokasi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GSI lookup: 1.20 µs vs Scatter-gather: 72.83 µs (60x lebih cepat)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194560"/>
            <a:ext cx="3200400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087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87F76"/>
                </a:solidFill>
              </a:defRPr>
            </a:pPr>
            <a:r>
              <a:t>REPOSITORI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GitHub: github.com/lukman-ss/software-engineering-lab/tree/main/labs/32-database-sharding-and-partitioning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Jalankan demo : go run ./cmd/demo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Jalankan test : go test -v -race ./...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Logical partitioning prunes scans locally; consistent sharding scales writes globally without resharding shock.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