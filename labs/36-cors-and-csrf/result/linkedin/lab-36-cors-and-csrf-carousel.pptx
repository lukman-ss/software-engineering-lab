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CORS &amp; CSRF: Mengamankan Backend</a:t>
            </a:r>
          </a:p>
          <a:p/>
          <a:p>
            <a:r>
              <a:t>Mental Model: SOP restricts cross-origin read; CSRF exploits cross-origin write. CORS relaxes read, it never defends write.</a:t>
            </a:r>
          </a:p>
          <a:p/>
          <a:p>
            <a:r>
              <a:t>[]</a:t>
            </a:r>
          </a:p>
          <a:p>
            <a:r>
              <a:t>- Retro CRT monitor dengan scanlines dan kurva phosphor</a:t>
            </a:r>
          </a:p>
          <a:p>
            <a:r>
              <a:t>- Simulasi SOP, CORS Preflight, dan Eksploitasi Form CSRF</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Miskonsepsi Fatal: CORS Bukan Firewall</a:t>
            </a:r>
          </a:p>
          <a:p/>
          <a:p>
            <a:r>
              <a:t>Mental Model: CORS governs read permissions in JavaScript, not execution permissions on backend servers.</a:t>
            </a:r>
          </a:p>
          <a:p/>
          <a:p>
            <a:r>
              <a:t>[ASUMSI KELIRU]</a:t>
            </a:r>
          </a:p>
          <a:p>
            <a:r>
              <a:t>- Menganggap CORS adalah tembok api backend penolak request asing</a:t>
            </a:r>
          </a:p>
          <a:p>
            <a:r>
              <a:t>- Meyakini penolakan header CORS otomatis menggagalkan serangan CSRF</a:t>
            </a:r>
          </a:p>
          <a:p>
            <a:r>
              <a:t>- Merasa aman hanya karena origin penyerang tidak ada di whitelist CORS</a:t>
            </a:r>
          </a:p>
          <a:p>
            <a:r>
              <a:t>[FAKTA LAPANGAN]</a:t>
            </a:r>
          </a:p>
          <a:p>
            <a:r>
              <a:t>- Browser tetap mengeksekusi simple request POST langsung ke backend</a:t>
            </a:r>
          </a:p>
          <a:p>
            <a:r>
              <a:t>- Database memproses mutasi saldo sebelum browser mengevaluasi header respons</a:t>
            </a:r>
          </a:p>
          <a:p>
            <a:r>
              <a:t>- Penolakan CORS hanya memblokir pembacaan respons oleh JavaScript attacker</a:t>
            </a:r>
          </a:p>
          <a:p>
            <a:r>
              <a:t>[DAMPAK KERENTANAN]</a:t>
            </a:r>
          </a:p>
          <a:p>
            <a:r>
              <a:t>- Transaksi finansial ilegal dieksekusi tanpa otorisasi sadar dari korban</a:t>
            </a:r>
          </a:p>
          <a:p>
            <a:r>
              <a:t>- Perubahan email dan password akun terjadi tanpa hambatan jaringan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Mental Model: SOP vs CORS vs CSRF</a:t>
            </a:r>
          </a:p>
          <a:p/>
          <a:p>
            <a:r>
              <a:t>Mental Model: SOP restricts reading; CORS relaxes reading; CSRF exploits writing. Defend the write at the server.</a:t>
            </a:r>
          </a:p>
          <a:p/>
          <a:p>
            <a:r>
              <a:t>[SAME-ORIGIN POLICY (SOP)]</a:t>
            </a:r>
          </a:p>
          <a:p>
            <a:r>
              <a:t>- Membatasi JavaScript membaca data respons dari origin berbeda</a:t>
            </a:r>
          </a:p>
          <a:p>
            <a:r>
              <a:t>- Secara historis mengizinkan pengiriman request write (misal form submit)</a:t>
            </a:r>
          </a:p>
          <a:p>
            <a:r>
              <a:t>[CORS (RELAXATION MECHANISM)]</a:t>
            </a:r>
          </a:p>
          <a:p>
            <a:r>
              <a:t>- Mekanisme negosiasi header HTTP untuk merelaksasi pembatasan SOP</a:t>
            </a:r>
          </a:p>
          <a:p>
            <a:r>
              <a:t>- Mengizinkan frontend membaca data respons dari API domain lain</a:t>
            </a:r>
          </a:p>
          <a:p>
            <a:r>
              <a:t>- Bukan mekanisme keamanan sisi server!</a:t>
            </a:r>
          </a:p>
          <a:p>
            <a:r>
              <a:t>[CSRF (WRITE EXPLOITATION)]</a:t>
            </a:r>
          </a:p>
          <a:p>
            <a:r>
              <a:t>- Mengeksploitasi perilaku browser yang otomatis melampirkan cookie sesi</a:t>
            </a:r>
          </a:p>
          <a:p>
            <a:r>
              <a:t>- Penyerang memicu mutasi write tanpa perlu membaca data respons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Topologi Arsitektur Simulasi Bank</a:t>
            </a:r>
          </a:p>
          <a:p/>
          <a:p>
            <a:r>
              <a:t>Mental Model: Modular middleware isolates transport negotiation from state-changing business handlers.</a:t>
            </a:r>
          </a:p>
          <a:p/>
          <a:p>
            <a:r>
              <a:t>[ENDPOINT DISPATCH]</a:t>
            </a:r>
          </a:p>
          <a:p>
            <a:r>
              <a:t>- GET  /api/balance             -&gt; Cek saldo akun via cookie sesi</a:t>
            </a:r>
          </a:p>
          <a:p>
            <a:r>
              <a:t>- GET  /api/csrf-token          -&gt; Endpoint penerbit token HMAC terikat sesi</a:t>
            </a:r>
          </a:p>
          <a:p>
            <a:r>
              <a:t>- POST /api/transfer/vulnerable -&gt; Transfer rentan (hanya dibungkus CORS)</a:t>
            </a:r>
          </a:p>
          <a:p>
            <a:r>
              <a:t>- POST /api/transfer/protected  -&gt; Transfer aman (CORS + CSRF Token)</a:t>
            </a:r>
          </a:p>
          <a:p>
            <a:r>
              <a:t>- POST /api/transfer/fetch-metadata -&gt; Transfer aman via Sec-Fetch-Site</a:t>
            </a:r>
          </a:p>
          <a:p>
            <a:r>
              <a:t>- POST /api/transfer/custom-header  -&gt; Transfer aman via X-Requested-With</a:t>
            </a:r>
          </a:p>
          <a:p>
            <a:r>
              <a:t>[ZERO DEPENDENCIES]</a:t>
            </a:r>
          </a:p>
          <a:p>
            <a:r>
              <a:t>- Murni Go Standard Library (net/http, crypto/hmac, crypto/subtle, sync)</a:t>
            </a:r>
          </a:p>
          <a:p>
            <a:r>
              <a:t>- Membuktikan mekanisme otentikasi sesi dan penolakan payload secara presisi</a:t>
            </a:r>
          </a:p>
          <a:p>
            <a:r>
              <a:t>[KOMPONEN MODULAR]</a:t>
            </a:r>
          </a:p>
          <a:p>
            <a:r>
              <a:t>- internal/cors: Evaluasi origin, header preflight OPTIONS, allow-credentials</a:t>
            </a:r>
          </a:p>
          <a:p>
            <a:r>
              <a:t>- internal/csrf: HMAC token generator, token validator, metadata middleware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Simple Request vs Preflight OPTIONS</a:t>
            </a:r>
          </a:p>
          <a:p/>
          <a:p>
            <a:r>
              <a:t>Mental Model: Simple requests fire immediately without asking; preflight requests ask permission first.</a:t>
            </a:r>
          </a:p>
          <a:p/>
          <a:p>
            <a:r>
              <a:t>[SIMPLE REQUEST (NO PREFLIGHT)]</a:t>
            </a:r>
          </a:p>
          <a:p>
            <a:r>
              <a:t>- Method: GET, HEAD, atau POST</a:t>
            </a:r>
          </a:p>
          <a:p>
            <a:r>
              <a:t>- Content-Type: application/x-www-form-urlencoded, multipart, text/plain</a:t>
            </a:r>
          </a:p>
          <a:p>
            <a:r>
              <a:t>- Tanpa custom headers; browser LANGSUNG mengirim request ke backend</a:t>
            </a:r>
          </a:p>
          <a:p>
            <a:r>
              <a:t>- Target utama serangan formulir HTML CSRF klasik</a:t>
            </a:r>
          </a:p>
          <a:p>
            <a:r>
              <a:t>[PREFLIGHT REQUEST (OPTIONS)]</a:t>
            </a:r>
          </a:p>
          <a:p>
            <a:r>
              <a:t>- Method: PUT, DELETE, PATCH atau Content-Type: application/json</a:t>
            </a:r>
          </a:p>
          <a:p>
            <a:r>
              <a:t>- Memakai custom header seperti X-CSRF-Token atau Authorization</a:t>
            </a:r>
          </a:p>
          <a:p>
            <a:r>
              <a:t>- Browser mengirim OPTIONS terlebih dahulu untuk meminta izin CORS</a:t>
            </a:r>
          </a:p>
          <a:p>
            <a:r>
              <a:t>- Jika preflight gagal, actual request TIDAK AKAN PERNAH dikirim</a:t>
            </a:r>
          </a:p>
          <a:p>
            <a:r>
              <a:t>[IMPLIKASI KEAMANAN]</a:t>
            </a:r>
          </a:p>
          <a:p>
            <a:r>
              <a:t>- Penyerang CSRF memanfaatkan celah simple request agar server langsung mengeksekusi</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Anatomi Serangan Cross-Site Request Forgery</a:t>
            </a:r>
          </a:p>
          <a:p/>
          <a:p>
            <a:r>
              <a:t>Mental Model: CSRF is blind execution: the attacker does not need to read the reply to steal the prize.</a:t>
            </a:r>
          </a:p>
          <a:p/>
          <a:p>
            <a:r>
              <a:t>[LANGKAH EKSPLOITASI]</a:t>
            </a:r>
          </a:p>
          <a:p>
            <a:r>
              <a:t>- 1. Korban login ke bank target dan memegang cookie sesi aktif di browser</a:t>
            </a:r>
          </a:p>
          <a:p>
            <a:r>
              <a:t>- 2. Korban terpancing membuka tab situs penyerang (evil-attacker.com)</a:t>
            </a:r>
          </a:p>
          <a:p>
            <a:r>
              <a:t>- 3. Halaman jahat menjalankan form submit tersembunyi via script JavaScript</a:t>
            </a:r>
          </a:p>
          <a:p>
            <a:r>
              <a:t>- 4. Browser otomatis menyertakan cookie sesi korban ke request POST bank</a:t>
            </a:r>
          </a:p>
          <a:p>
            <a:r>
              <a:t>- 5. Server backend memvalidasi cookie sesi dan mengeksekusi transfer dana</a:t>
            </a:r>
          </a:p>
          <a:p>
            <a:r>
              <a:t>[KENAPA CORS GAGAL MENCEGAH?]</a:t>
            </a:r>
          </a:p>
          <a:p>
            <a:r>
              <a:t>- Server mengeksekusi mutasi data sebelum mengirimkan HTTP response</a:t>
            </a:r>
          </a:p>
          <a:p>
            <a:r>
              <a:t>- Browser memblokir pembacaan respons oleh penyerang karena origin mismatch</a:t>
            </a:r>
          </a:p>
          <a:p>
            <a:r>
              <a:t>- Penyerang tidak butuh membaca respons; saldo korban sudah terlanjur lenyap</a:t>
            </a:r>
          </a:p>
          <a:p>
            <a:r>
              <a:t>[KERUGIAN]</a:t>
            </a:r>
          </a:p>
          <a:p>
            <a:r>
              <a:t>- Pemindahan aset finansial atau pembajakan email akun korban secara diam-diam</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Bukti Empiris: CORS Tidak Mencegah Eksekusi</a:t>
            </a:r>
          </a:p>
          <a:p/>
          <a:p>
            <a:r>
              <a:t>Mental Model: Backend execution occurs before header evaluation. No CORS header does not mean no mutation.</a:t>
            </a:r>
          </a:p>
          <a:p/>
          <a:p>
            <a:r>
              <a:t>[KODE TEST INTEGRASI]</a:t>
            </a:r>
          </a:p>
          <a:p>
            <a:r>
              <a:t>- req := httptest.NewRequest(POST, "/api/transfer/vulnerable", body)</a:t>
            </a:r>
          </a:p>
          <a:p>
            <a:r>
              <a:t>- req.Header.Set("Origin", "https://evil-attacker.com")</a:t>
            </a:r>
          </a:p>
          <a:p>
            <a:r>
              <a:t>- req.AddCookie(&amp;http.Cookie{Name: "session_id", Value: "session-victim-secret"})</a:t>
            </a:r>
          </a:p>
          <a:p>
            <a:r>
              <a:t>- </a:t>
            </a:r>
          </a:p>
          <a:p>
            <a:r>
              <a:t>- app.ServeHTTP(rec, req)</a:t>
            </a:r>
          </a:p>
          <a:p>
            <a:r>
              <a:t>- // Response: 200 OK!</a:t>
            </a:r>
          </a:p>
          <a:p>
            <a:r>
              <a:t>- // ACAO Header: Kosong (ditolak untuk evil-attacker.com)</a:t>
            </a:r>
          </a:p>
          <a:p>
            <a:r>
              <a:t>- // Saldo Korban: Turun dari $1000 menjadi $700!</a:t>
            </a:r>
          </a:p>
          <a:p>
            <a:r>
              <a:t>[FAKTA TERVERIFIKASI]</a:t>
            </a:r>
          </a:p>
          <a:p>
            <a:r>
              <a:t>- Status HTTP: 200 OK (handler bisnis transfer tetap tereksekusi)</a:t>
            </a:r>
          </a:p>
          <a:p>
            <a:r>
              <a:t>- Header Access-Control-Allow-Origin: Omitted (tidak diberikan ke attacker)</a:t>
            </a:r>
          </a:p>
          <a:p>
            <a:r>
              <a:t>- Saldo akun korban: Berkurang $300 ke rekening penyerang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Implementasi Middleware CORS Standar W3C</a:t>
            </a:r>
          </a:p>
          <a:p/>
          <a:p>
            <a:r>
              <a:t>Mental Model: Standard CORS middleware allows unwhitelisted simple requests through to the next handler.</a:t>
            </a:r>
          </a:p>
          <a:p/>
          <a:p>
            <a:r>
              <a:t>[KODE MIDDLEWARE CORS]</a:t>
            </a:r>
          </a:p>
          <a:p>
            <a:r>
              <a:t>- if !m.isOriginAllowed(origin) {</a:t>
            </a:r>
          </a:p>
          <a:p>
            <a:r>
              <a:t>-     if r.Method == http.MethodOptions {</a:t>
            </a:r>
          </a:p>
          <a:p>
            <a:r>
              <a:t>-         w.WriteHeader(http.StatusForbidden); return</a:t>
            </a:r>
          </a:p>
          <a:p>
            <a:r>
              <a:t>-     }</a:t>
            </a:r>
          </a:p>
          <a:p>
            <a:r>
              <a:t>-     next.ServeHTTP(w, r) // Non-preflight tetap diteruskan!</a:t>
            </a:r>
          </a:p>
          <a:p>
            <a:r>
              <a:t>-     return</a:t>
            </a:r>
          </a:p>
          <a:p>
            <a:r>
              <a:t>- }</a:t>
            </a:r>
          </a:p>
          <a:p>
            <a:r>
              <a:t>- if m.config.AllowCredentials {</a:t>
            </a:r>
          </a:p>
          <a:p>
            <a:r>
              <a:t>-     w.Header().Set("Access-Control-Allow-Origin", origin)</a:t>
            </a:r>
          </a:p>
          <a:p>
            <a:r>
              <a:t>-     w.Header().Set("Access-Control-Allow-Credentials", "true")</a:t>
            </a:r>
          </a:p>
          <a:p>
            <a:r>
              <a:t>- }</a:t>
            </a:r>
          </a:p>
          <a:p>
            <a:r>
              <a:t>[ATURAN SPESIFIKASI]</a:t>
            </a:r>
          </a:p>
          <a:p>
            <a:r>
              <a:t>- Jika AllowCredentials: true, wildcard '*' dilarang keras oleh browser</a:t>
            </a:r>
          </a:p>
          <a:p>
            <a:r>
              <a:t>- Origin yang tidak ada di whitelist ditolak 403 HANYA pada preflight OPTIONS</a:t>
            </a:r>
          </a:p>
          <a:p>
            <a:r>
              <a:t>- Header Vary: Origin wajib disetel untuk mencegah cache poisoning di CDN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Aturan Kredensial &amp; Wildcard Origin</a:t>
            </a:r>
          </a:p>
          <a:p/>
          <a:p>
            <a:r>
              <a:t>Mental Model: Never pair wildcard origins with ambient credentials; explicit whitelisting is non-negotiable.</a:t>
            </a:r>
          </a:p>
          <a:p/>
          <a:p>
            <a:r>
              <a:t>[LARANGAN SPESIFIKASI FETCH]</a:t>
            </a:r>
          </a:p>
          <a:p>
            <a:r>
              <a:t>- Kombinasi ACAO: * dan ACAC: true dianggap ILEGAL oleh browser modern</a:t>
            </a:r>
          </a:p>
          <a:p>
            <a:r>
              <a:t>- Browser akan menolak memberikan respons ke JavaScript client</a:t>
            </a:r>
          </a:p>
          <a:p>
            <a:r>
              <a:t>- Mencegah kebocoran data terotentikasi secara tidak sengaja ke seluruh web</a:t>
            </a:r>
          </a:p>
          <a:p>
            <a:r>
              <a:t>[IMPLEMENTASI VALIDASI GO]</a:t>
            </a:r>
          </a:p>
          <a:p>
            <a:r>
              <a:t>- TestCORS_Credentials_With_Wildcard_DisallowedInSpec memvalidasi aturan ini</a:t>
            </a:r>
          </a:p>
          <a:p>
            <a:r>
              <a:t>- Jika AllowCredentials aktif, server wajib merefleksikan origin spesifik pemanggil</a:t>
            </a:r>
          </a:p>
          <a:p>
            <a:r>
              <a:t>- Server tidak boleh memancarkan '*' jika request menyertakan cookie otentikasi</a:t>
            </a:r>
          </a:p>
          <a:p>
            <a:r>
              <a:t>[KESALAHAN UMUM]</a:t>
            </a:r>
          </a:p>
          <a:p>
            <a:r>
              <a:t>- Merefleksikan Origin request secara membabi buta tanpa whitelist sama berbahayanya dengan wildcard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Arsitektur Pertahanan CSRF Multi-Layer</a:t>
            </a:r>
          </a:p>
          <a:p/>
          <a:p>
            <a:r>
              <a:t>Mental Model: Defense-in-depth: combine cryptographic tokens, browser metadata, and cookie boundaries.</a:t>
            </a:r>
          </a:p>
          <a:p/>
          <a:p>
            <a:r>
              <a:t>[LAPISAN 1: SIGNED CSRF TOKEN]</a:t>
            </a:r>
          </a:p>
          <a:p>
            <a:r>
              <a:t>- HMAC-SHA256 Token terikat Session ID, TTL, dan nonce (Double-Submit)</a:t>
            </a:r>
          </a:p>
          <a:p>
            <a:r>
              <a:t>[LAPISAN 2: FETCH METADATA]</a:t>
            </a:r>
          </a:p>
          <a:p>
            <a:r>
              <a:t>- Evaluasi header Sec-Fetch-Site (tolak jika cross-site pada method mutasi)</a:t>
            </a:r>
          </a:p>
          <a:p>
            <a:r>
              <a:t>[LAPISAN 3: CUSTOM API HEADER]</a:t>
            </a:r>
          </a:p>
          <a:p>
            <a:r>
              <a:t>- Wajibkan header kustom X-Requested-With (kebal dari submit form HTML)</a:t>
            </a:r>
          </a:p>
          <a:p>
            <a:r>
              <a:t>[LAPISAN 4: SAMESITE COOKIE]</a:t>
            </a:r>
          </a:p>
          <a:p>
            <a:r>
              <a:t>- Konfigurasi cookie SameSite=Lax atau SameSite=Strict pada layer auth</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Signed Double-Submit Token (HMAC-SHA256)</a:t>
            </a:r>
          </a:p>
          <a:p/>
          <a:p>
            <a:r>
              <a:t>Mental Model: HMAC-signed double-submit tokens provide stateless security immune to cookie injection.</a:t>
            </a:r>
          </a:p>
          <a:p/>
          <a:p>
            <a:r>
              <a:t>[STRUKTUR PAYLOAD TOKEN]</a:t>
            </a:r>
          </a:p>
          <a:p>
            <a:r>
              <a:t>- Payload: sessionID : timestamp : nonce</a:t>
            </a:r>
          </a:p>
          <a:p>
            <a:r>
              <a:t>- Signature: HMAC_SHA256(secret_key, payload)</a:t>
            </a:r>
          </a:p>
          <a:p>
            <a:r>
              <a:t>- Token Wire: base64(payload : base64(signature))</a:t>
            </a:r>
          </a:p>
          <a:p>
            <a:r>
              <a:t>[KEUNGGULAN POLA INI]</a:t>
            </a:r>
          </a:p>
          <a:p>
            <a:r>
              <a:t>- Stateless: Server tidak perlu menyimpan token di Redis atau database</a:t>
            </a:r>
          </a:p>
          <a:p>
            <a:r>
              <a:t>- Cryptographically Bound: Terikat pada ID sesi pengguna aktif</a:t>
            </a:r>
          </a:p>
          <a:p>
            <a:r>
              <a:t>- Anti-Replay &amp; Expiring: Dilengkapi batas waktu kedaluwarsa (TTL)</a:t>
            </a:r>
          </a:p>
          <a:p>
            <a:r>
              <a:t>[KEBAL SUBDOMAIN TAKEOVER]</a:t>
            </a:r>
          </a:p>
          <a:p>
            <a:r>
              <a:t>- Naive Double-Submit cookie dapat disuntik attacker; HMAC signature menggagalkannya</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Implementasi Generate &amp; Validate Token</a:t>
            </a:r>
          </a:p>
          <a:p/>
          <a:p>
            <a:r>
              <a:t>Mental Model: Constant-time verification prevents side-channel timing attacks on cryptographic signatures.</a:t>
            </a:r>
          </a:p>
          <a:p/>
          <a:p>
            <a:r>
              <a:t>[KODE VALIDASI TOKEN]</a:t>
            </a:r>
          </a:p>
          <a:p>
            <a:r>
              <a:t>- parts := strings.Split(string(decoded), ":")</a:t>
            </a:r>
          </a:p>
          <a:p>
            <a:r>
              <a:t>- sessionID, tsStr, nonceStr, sigB64 := parts[0], parts[1], parts[2], parts[3]</a:t>
            </a:r>
          </a:p>
          <a:p>
            <a:r>
              <a:t>- if sessionID != expectedSessionID { return ErrInvalidToken }</a:t>
            </a:r>
          </a:p>
          <a:p>
            <a:r>
              <a:t>- </a:t>
            </a:r>
          </a:p>
          <a:p>
            <a:r>
              <a:t>- ts, err := strconv.ParseInt(tsStr, 10, 64)</a:t>
            </a:r>
          </a:p>
          <a:p>
            <a:r>
              <a:t>- if err != nil || time.Since(time.Unix(ts, 0)) &gt; tm.ttl {</a:t>
            </a:r>
          </a:p>
          <a:p>
            <a:r>
              <a:t>-     return ErrExpiredToken</a:t>
            </a:r>
          </a:p>
          <a:p>
            <a:r>
              <a:t>- }</a:t>
            </a:r>
          </a:p>
          <a:p>
            <a:r>
              <a:t>- expectedSig := hmac.New(sha256.New, tm.secret).Sum(payload)</a:t>
            </a:r>
          </a:p>
          <a:p>
            <a:r>
              <a:t>- if subtle.ConstantTimeCompare(actualSig, expectedSig) != 1 {</a:t>
            </a:r>
          </a:p>
          <a:p>
            <a:r>
              <a:t>-     return ErrInvalidToken</a:t>
            </a:r>
          </a:p>
          <a:p>
            <a:r>
              <a:t>- }</a:t>
            </a:r>
          </a:p>
          <a:p>
            <a:r>
              <a:t>[ANTI-TIMING ATTACK]</a:t>
            </a:r>
          </a:p>
          <a:p>
            <a:r>
              <a:t>- subtle.ConstantTimeCompare mengeliminasi kebocoran informasi via waktu eksekusi CPU</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Middleware Proteksi CSRF di HTTP Handler</a:t>
            </a:r>
          </a:p>
          <a:p/>
          <a:p>
            <a:r>
              <a:t>Mental Model: Safeguard state mutation: exempt safe methods, extract token from header/form, verify against session.</a:t>
            </a:r>
          </a:p>
          <a:p/>
          <a:p>
            <a:r>
              <a:t>[KODE CSRF HANDLER]</a:t>
            </a:r>
          </a:p>
          <a:p>
            <a:r>
              <a:t>- if r.Method == GET || r.Method == HEAD || r.Method == OPTIONS {</a:t>
            </a:r>
          </a:p>
          <a:p>
            <a:r>
              <a:t>-     next.ServeHTTP(w, r); return</a:t>
            </a:r>
          </a:p>
          <a:p>
            <a:r>
              <a:t>- }</a:t>
            </a:r>
          </a:p>
          <a:p>
            <a:r>
              <a:t>- cookie, err := r.Cookie(m.cookieName)</a:t>
            </a:r>
          </a:p>
          <a:p>
            <a:r>
              <a:t>- if err != nil || cookie.Value == "" {</a:t>
            </a:r>
          </a:p>
          <a:p>
            <a:r>
              <a:t>-     http.Error(w, "Unauthorized: missing cookie", 401); return</a:t>
            </a:r>
          </a:p>
          <a:p>
            <a:r>
              <a:t>- }</a:t>
            </a:r>
          </a:p>
          <a:p>
            <a:r>
              <a:t>- token := r.Header.Get("X-CSRF-Token")</a:t>
            </a:r>
          </a:p>
          <a:p>
            <a:r>
              <a:t>- if token == "" { token = r.PostFormValue("csrf_token") }</a:t>
            </a:r>
          </a:p>
          <a:p>
            <a:r>
              <a:t>- </a:t>
            </a:r>
          </a:p>
          <a:p>
            <a:r>
              <a:t>- if err := m.tokenManager.ValidateToken(token, cookie.Value); err != nil {</a:t>
            </a:r>
          </a:p>
          <a:p>
            <a:r>
              <a:t>-     http.Error(w, "Forbidden: CSRF validation failed", 403); return</a:t>
            </a:r>
          </a:p>
          <a:p>
            <a:r>
              <a:t>- }</a:t>
            </a:r>
          </a:p>
          <a:p>
            <a:r>
              <a:t>[FLEXIBILITAS TRANSPORT]</a:t>
            </a:r>
          </a:p>
          <a:p>
            <a:r>
              <a:t>- Mendukung AJAX SPA via header X-CSRF-Token</a:t>
            </a:r>
          </a:p>
          <a:p>
            <a:r>
              <a:t>- Mendukung form HTML tradisional via field csrf_token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Fetch Metadata: Memanfaatkan Sec-Fetch-Site</a:t>
            </a:r>
          </a:p>
          <a:p/>
          <a:p>
            <a:r>
              <a:t>Mental Model: Browser-controlled metadata tells the unvarnished truth about request origin.</a:t>
            </a:r>
          </a:p>
          <a:p/>
          <a:p>
            <a:r>
              <a:t>[NILAI SEC-FETCH-SITE]</a:t>
            </a:r>
          </a:p>
          <a:p>
            <a:r>
              <a:t>- same-origin : Request diinisiasi dari origin yang sama persis (Aman)</a:t>
            </a:r>
          </a:p>
          <a:p>
            <a:r>
              <a:t>- same-site   : Request diinisiasi dari subdomain dalam registable domain sama</a:t>
            </a:r>
          </a:p>
          <a:p>
            <a:r>
              <a:t>- cross-site  : Request diinisiasi dari situs luar sepenuhnya (Waspada!)</a:t>
            </a:r>
          </a:p>
          <a:p>
            <a:r>
              <a:t>- none        : Navigasi langsung oleh user (misal ketik URL di address bar)</a:t>
            </a:r>
          </a:p>
          <a:p>
            <a:r>
              <a:t>[KODE MIDDLEWARE FETCH METADATA]</a:t>
            </a:r>
          </a:p>
          <a:p>
            <a:r>
              <a:t>- fetchSite := r.Header.Get("Sec-Fetch-Site")</a:t>
            </a:r>
          </a:p>
          <a:p>
            <a:r>
              <a:t>- if fetchSite == "cross-site" {</a:t>
            </a:r>
          </a:p>
          <a:p>
            <a:r>
              <a:t>-     if r.Method != GET &amp;&amp; r.Method != HEAD &amp;&amp; r.Method != OPTIONS {</a:t>
            </a:r>
          </a:p>
          <a:p>
            <a:r>
              <a:t>-         http.Error(w, "Forbidden: Cross-site rejected", 403)</a:t>
            </a:r>
          </a:p>
          <a:p>
            <a:r>
              <a:t>-         return</a:t>
            </a:r>
          </a:p>
          <a:p>
            <a:r>
              <a:t>-     }</a:t>
            </a:r>
          </a:p>
          <a:p>
            <a:r>
              <a:t>- }</a:t>
            </a:r>
          </a:p>
          <a:p>
            <a:r>
              <a:t>[KEUNGGULAN UTAMA]</a:t>
            </a:r>
          </a:p>
          <a:p>
            <a:r>
              <a:t>- Header disetel langsung oleh kernel browser; tidak dapat diubah oleh JavaScript frontend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Custom Header Enforcement untuk API</a:t>
            </a:r>
          </a:p>
          <a:p/>
          <a:p>
            <a:r>
              <a:t>Mental Model: HTML forms cannot emit custom headers. Require a custom header, defeat form CSRF by definition.</a:t>
            </a:r>
          </a:p>
          <a:p/>
          <a:p>
            <a:r>
              <a:t>[MEKANIKA TEKNIS]</a:t>
            </a:r>
          </a:p>
          <a:p>
            <a:r>
              <a:t>- Formulir HTML standar (&lt;form&gt;) TIDAK BISA menyetel custom HTTP headers</a:t>
            </a:r>
          </a:p>
          <a:p>
            <a:r>
              <a:t>- Hanya JavaScript terprogram (fetch / axios) yang dapat menambahkan custom header</a:t>
            </a:r>
          </a:p>
          <a:p>
            <a:r>
              <a:t>- Menambahkan custom header otomatis memaksa browser mengirim preflight OPTIONS</a:t>
            </a:r>
          </a:p>
          <a:p>
            <a:r>
              <a:t>[KODE MIDDLEWARE CUSTOM HEADER]</a:t>
            </a:r>
          </a:p>
          <a:p>
            <a:r>
              <a:t>- func RequireCustomHeaderMiddleware(headerKey, expectedValue string) {</a:t>
            </a:r>
          </a:p>
          <a:p>
            <a:r>
              <a:t>-     val := r.Header.Get(headerKey)</a:t>
            </a:r>
          </a:p>
          <a:p>
            <a:r>
              <a:t>-     if val == "" || !strings.EqualFold(val, expectedValue) {</a:t>
            </a:r>
          </a:p>
          <a:p>
            <a:r>
              <a:t>-         http.Error(w, "Forbidden: Missing custom header", 403); return</a:t>
            </a:r>
          </a:p>
          <a:p>
            <a:r>
              <a:t>-     }</a:t>
            </a:r>
          </a:p>
          <a:p>
            <a:r>
              <a:t>- }</a:t>
            </a:r>
          </a:p>
          <a:p>
            <a:r>
              <a:t>[BATASAN STRATEGI]</a:t>
            </a:r>
          </a:p>
          <a:p>
            <a:r>
              <a:t>- Sangat efektif untuk REST API murni, namun tidak dapat dipakai pada aplikasi berbasis server-side rendered form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Peran Atribut Cookie SameSite: Lax vs Strict</a:t>
            </a:r>
          </a:p>
          <a:p/>
          <a:p>
            <a:r>
              <a:t>Mental Model: SameSite=Lax blocks cross-origin POST cookies; keep GET endpoints strictly read-only.</a:t>
            </a:r>
          </a:p>
          <a:p/>
          <a:p>
            <a:r>
              <a:t>[SAMESITE=STRICT]</a:t>
            </a:r>
          </a:p>
          <a:p>
            <a:r>
              <a:t>- Cookie tidak pernah dikirim pada request lintas situs dalam kondisi apapun</a:t>
            </a:r>
          </a:p>
          <a:p>
            <a:r>
              <a:t>- Bahkan saat user mengklik link dari email atau search engine, cookie ditahan</a:t>
            </a:r>
          </a:p>
          <a:p>
            <a:r>
              <a:t>- Sangat aman, namun mengorbankan kenyamanan login navigasi eksternal</a:t>
            </a:r>
          </a:p>
          <a:p>
            <a:r>
              <a:t>[SAMESITE=LAX (DEFAULT BROWSER MODERN)]</a:t>
            </a:r>
          </a:p>
          <a:p>
            <a:r>
              <a:t>- Cookie ditahan pada cross-site POST (memblokir serangan form CSRF)</a:t>
            </a:r>
          </a:p>
          <a:p>
            <a:r>
              <a:t>- Cookie tetap dikirim pada top-level GET navigation (misal klik link)</a:t>
            </a:r>
          </a:p>
          <a:p>
            <a:r>
              <a:t>- Wajib: Endpoint GET harus idempotent dan tidak boleh memutasi state!</a:t>
            </a:r>
          </a:p>
          <a:p>
            <a:r>
              <a:t>[SAMESITE=NONE]</a:t>
            </a:r>
          </a:p>
          <a:p>
            <a:r>
              <a:t>- Cookie selalu dikirim lintas situs; wajib menyertakan flag Secure (HTTPS)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Eksekusi Demo: Bukti Terminal Langsung</a:t>
            </a:r>
          </a:p>
          <a:p/>
          <a:p>
            <a:r>
              <a:t>Mental Model: Terminal output confirms: vulnerable endpoints fall to simple POST; protected endpoints hold firm.</a:t>
            </a:r>
          </a:p>
          <a:p/>
          <a:p>
            <a:r>
              <a:t>[OUTPUT RUN CMD/DEMO]</a:t>
            </a:r>
          </a:p>
          <a:p>
            <a:r>
              <a:t>- [1] Initial State: Victim: $1000 | Attacker: $50</a:t>
            </a:r>
          </a:p>
          <a:p>
            <a:r>
              <a:t>- [2] DEMO: Attack on Vulnerable Endpoint (Origin: https://evil.com)</a:t>
            </a:r>
          </a:p>
          <a:p>
            <a:r>
              <a:t>-     HTTP Response Code: 200 | CORS Header: ""</a:t>
            </a:r>
          </a:p>
          <a:p>
            <a:r>
              <a:t>-     [RESULT] Transfer EXECUTED! Victim: $600 | Attacker: $450</a:t>
            </a:r>
          </a:p>
          <a:p>
            <a:r>
              <a:t>- [3] DEMO: Attack on Protected Endpoint (No CSRF Token)</a:t>
            </a:r>
          </a:p>
          <a:p>
            <a:r>
              <a:t>-     HTTP Response Code: 403</a:t>
            </a:r>
          </a:p>
          <a:p>
            <a:r>
              <a:t>-     [RESULT] Transfer BLOCKED! Victim: $600 | Attacker: $450</a:t>
            </a:r>
          </a:p>
          <a:p>
            <a:r>
              <a:t>- [4] DEMO: Legitimate Flow with Valid CSRF Token</a:t>
            </a:r>
          </a:p>
          <a:p>
            <a:r>
              <a:t>-     Obtained Signed Token: c2Vzc2lvbi12aWN0aW0tc2Vjc...</a:t>
            </a:r>
          </a:p>
          <a:p>
            <a:r>
              <a:t>-     [RESULT] Transfer Succeeded! Victim: $500 | Attacker: $550</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Verifikasi Test Suite &amp; Bebas Race Condition</a:t>
            </a:r>
          </a:p>
          <a:p/>
          <a:p>
            <a:r>
              <a:t>Mental Model: Deterministic test assertions prove security invariants and concurrency safety.</a:t>
            </a:r>
          </a:p>
          <a:p/>
          <a:p>
            <a:r>
              <a:t>[HASIL EKSEKUSI PENGUJIAN]</a:t>
            </a:r>
          </a:p>
          <a:p>
            <a:r>
              <a:t>- PASS: TestBankTransfer_VulnerableEndpoint       (0.00s)</a:t>
            </a:r>
          </a:p>
          <a:p>
            <a:r>
              <a:t>- PASS: TestCORS_Preflight_Success               (0.00s)</a:t>
            </a:r>
          </a:p>
          <a:p>
            <a:r>
              <a:t>- PASS: TestCORS_Credentials_With_Wildcard       (0.00s)</a:t>
            </a:r>
          </a:p>
          <a:p>
            <a:r>
              <a:t>- PASS: TestTokenManager_GenerateAndValidate     (0.00s)</a:t>
            </a:r>
          </a:p>
          <a:p>
            <a:r>
              <a:t>- PASS: TestTokenManager_ExpiredToken            (0.02s)</a:t>
            </a:r>
          </a:p>
          <a:p>
            <a:r>
              <a:t>- PASS: TestIntegration_CORS_Does_Not_Prevent    (0.00s)</a:t>
            </a:r>
          </a:p>
          <a:p>
            <a:r>
              <a:t>- PASS: TestIntegration_CSRF_Token_Prevents      (0.00s)</a:t>
            </a:r>
          </a:p>
          <a:p>
            <a:r>
              <a:t>- PASS: TestIntegration_SecFetchSite_Protection  (0.00s)</a:t>
            </a:r>
          </a:p>
          <a:p>
            <a:r>
              <a:t>- PASS: TestIntegration_Concurrency_RaceCondition (0.00s)</a:t>
            </a:r>
          </a:p>
          <a:p>
            <a:r>
              <a:t>- PASS: go test -race ./... (Race-Clean Verified)</a:t>
            </a:r>
          </a:p>
          <a:p>
            <a:r>
              <a:t>[UJI KONKURENSI]</a:t>
            </a:r>
          </a:p>
          <a:p>
            <a:r>
              <a:t>- 20 worker simultan melakukan pembuatan dan validasi token tanpa tabrakan memori</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Matriks Evaluasi: Mekanisme Pertahanan</a:t>
            </a:r>
          </a:p>
          <a:p/>
          <a:p>
            <a:r>
              <a:t>Mental Model: Only cryptographic tokens provide absolute backend independence; other layers reinforce the perimeter.</a:t>
            </a:r>
          </a:p>
          <a:p/>
          <a:p>
            <a:r>
              <a:t>[TABEL PERBANDINGAN MEKANISME]</a:t>
            </a:r>
          </a:p>
          <a:p>
            <a:r>
              <a:t>- Mekanisme Keamanan | Target Proteksi | Lokasi Penegakan | Tangkal Form CSRF? | Ketergantungan Browser</a:t>
            </a:r>
          </a:p>
          <a:p>
            <a:r>
              <a:t>- CORS Middleware    | Relaksasi Read  | Browser &amp; API    | TIDAK              | Penuh (Fetch Spec)</a:t>
            </a:r>
          </a:p>
          <a:p>
            <a:r>
              <a:t>- Signed CSRF Token  | Mutasi Write    | Backend Server   | YA                 | Nol (Bekerja di semua)</a:t>
            </a:r>
          </a:p>
          <a:p>
            <a:r>
              <a:t>- Fetch Metadata     | Mutasi Write    | Gateway / App    | YA                 | Butuh browser modern</a:t>
            </a:r>
          </a:p>
          <a:p>
            <a:r>
              <a:t>- Custom Header API  | Mutasi Write    | Gateway / App    | YA                 | Nol (API Client)</a:t>
            </a:r>
          </a:p>
          <a:p>
            <a:r>
              <a:t>- Cookie SameSite    | Ambient Cookie  | Browser Engine   | YA (Lax/Strict)    | Butuh browser modern</a:t>
            </a:r>
          </a:p>
          <a:p>
            <a:r>
              <a:t>[KESIMPULAN EVALUASI]</a:t>
            </a:r>
          </a:p>
          <a:p>
            <a:r>
              <a:t>- Hanya Signed CSRF Token yang memberikan pertahanan 100% mandiri di sisi backend</a:t>
            </a:r>
          </a:p>
          <a:p>
            <a:r>
              <a:t>- Lapisan lain memperkuat pertahanan di layer browser dan network gateway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Ancaman Tersembunyi: XSS Melumpuhkan CSRF</a:t>
            </a:r>
          </a:p>
          <a:p/>
          <a:p>
            <a:r>
              <a:t>Mental Model: XSS invalidates all anti-CSRF defenses by executing within the trusted origin context.</a:t>
            </a:r>
          </a:p>
          <a:p/>
          <a:p>
            <a:r>
              <a:t>[ALUR BYPASS VIA XSS]</a:t>
            </a:r>
          </a:p>
          <a:p>
            <a:r>
              <a:t>- 1. Penyerang menemukan celah Stored / Reflected XSS pada domain target</a:t>
            </a:r>
          </a:p>
          <a:p>
            <a:r>
              <a:t>- 2. Script jahat penyerang dieksekusi di dalam context origin yang sah</a:t>
            </a:r>
          </a:p>
          <a:p>
            <a:r>
              <a:t>- 3. Karena berada di origin yang sama, SOP mengizinkan script membaca DOM</a:t>
            </a:r>
          </a:p>
          <a:p>
            <a:r>
              <a:t>- 4. Script melakukan fetch ke /api/csrf-token dan membaca token sah</a:t>
            </a:r>
          </a:p>
          <a:p>
            <a:r>
              <a:t>- 5. Script mengeksekusi POST transfer lengkap dengan token dan cookie korban</a:t>
            </a:r>
          </a:p>
          <a:p>
            <a:r>
              <a:t>[IMPLIKASI KEAMANAN]</a:t>
            </a:r>
          </a:p>
          <a:p>
            <a:r>
              <a:t>- XSS adalah kerentanan tingkat origin yang mengalahkan seluruh pertahanan CSRF</a:t>
            </a:r>
          </a:p>
          <a:p>
            <a:r>
              <a:t>- Pertahanan CSRF wajib didampingi Content Security Policy (CSP) dan sanitasi input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Batasan Model &amp; Implementasi Lab 36</a:t>
            </a:r>
          </a:p>
          <a:p/>
          <a:p>
            <a:r>
              <a:t>Mental Model: A lab isolates cryptographic mechanics; production demands secret management and structured payloads.</a:t>
            </a:r>
          </a:p>
          <a:p/>
          <a:p>
            <a:r>
              <a:t>[BATAS 1: SECRET KEY IN-MEMORY]</a:t>
            </a:r>
          </a:p>
          <a:p>
            <a:r>
              <a:t>- Kunci rahasia HMAC menggunakan byte slice statis dalam kode demo</a:t>
            </a:r>
          </a:p>
          <a:p>
            <a:r>
              <a:t>- Produksi wajib menggunakan AWS Secrets Manager, Vault, dan key rotation</a:t>
            </a:r>
          </a:p>
          <a:p>
            <a:r>
              <a:t>[BATAS 2: DELIMITER STRING PARSER]</a:t>
            </a:r>
          </a:p>
          <a:p>
            <a:r>
              <a:t>- Token memisahkan field menggunakan karakter titik dua (':')</a:t>
            </a:r>
          </a:p>
          <a:p>
            <a:r>
              <a:t>- Jika sessionID sistem memuat karakter ':', parsing token akan terganggu</a:t>
            </a:r>
          </a:p>
          <a:p>
            <a:r>
              <a:t>- Produksi memerlukan format terstruktur seperti JSON, Protobuf, atau hex encoding</a:t>
            </a:r>
          </a:p>
          <a:p>
            <a:r>
              <a:t>[BATAS 3: LINGKUP BROWSER]</a:t>
            </a:r>
          </a:p>
          <a:p>
            <a:r>
              <a:t>- SOP, CORS, dan CSRF murni berada pada lingkup runtime peramban web</a:t>
            </a:r>
          </a:p>
          <a:p>
            <a:r>
              <a:t>- HTTP client non-browser (cURL, script backend) tidak terikat aturan ini</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Checklist Audit Keamanan CORS &amp; CSRF</a:t>
            </a:r>
          </a:p>
          <a:p/>
          <a:p>
            <a:r>
              <a:t>Mental Model: Verify read-only GETs, strict origin whitelists, signed tokens, and CSP before shipping.</a:t>
            </a:r>
          </a:p>
          <a:p/>
          <a:p>
            <a:r>
              <a:t>[VERIFIKASI CORS &amp; HTTP]</a:t>
            </a:r>
          </a:p>
          <a:p>
            <a:r>
              <a:t>- [ ] Method GET, HEAD, OPTIONS dipastikan bebas dari mutasi data database</a:t>
            </a:r>
          </a:p>
          <a:p>
            <a:r>
              <a:t>- [ ] CORS whitelist hanya mencantumkan domain tepercaya (tanpa refleksi liar)</a:t>
            </a:r>
          </a:p>
          <a:p>
            <a:r>
              <a:t>- [ ] AllowCredentials: true TIDAK PERNAH dipadukan dengan origin '*'</a:t>
            </a:r>
          </a:p>
          <a:p>
            <a:r>
              <a:t>[VERIFIKASI ANTI-CSRF]</a:t>
            </a:r>
          </a:p>
          <a:p>
            <a:r>
              <a:t>- [ ] Seluruh rute mutasi state (POST/PUT/DELETE) dilindungi Anti-CSRF Token</a:t>
            </a:r>
          </a:p>
          <a:p>
            <a:r>
              <a:t>- [ ] Token CSRF ditandatangani HMAC-SHA256, terikat Session ID, dan memiliki TTL</a:t>
            </a:r>
          </a:p>
          <a:p>
            <a:r>
              <a:t>- [ ] Validasi signature menggunakan subtle.ConstantTimeCompare</a:t>
            </a:r>
          </a:p>
          <a:p>
            <a:r>
              <a:t>- [ ] Cookie otentikasi dipasangi flag HttpOnly, Secure, dan SameSite=Lax</a:t>
            </a:r>
          </a:p>
          <a:p>
            <a:r>
              <a:t>- [ ] API gateway memverifikasi header Sec-Fetch-Site dan Custom Header</a:t>
            </a:r>
          </a:p>
          <a:p>
            <a:r>
              <a:t>- [ ] Aplikasi terlindungi dari celah XSS via Content Security Policy (CSP)</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Tiga Prinsip Inti Keamanan Cross-Origin</a:t>
            </a:r>
          </a:p>
          <a:p/>
          <a:p>
            <a:r>
              <a:t>Mental Model: CORS governs browser reads; cryptographic server tokens defend backend writes. Build multi-layered security.</a:t>
            </a:r>
          </a:p>
          <a:p/>
          <a:p>
            <a:r>
              <a:t>[1. NEVER TRUST CLIENT BOUNDARIES FOR SERVER INTEGRITY]</a:t>
            </a:r>
          </a:p>
          <a:p>
            <a:r>
              <a:t>- CORS adalah aturan kepatuhan browser, bukan pelindung integritas database</a:t>
            </a:r>
          </a:p>
          <a:p>
            <a:r>
              <a:t>- Validasi otorisasi dan mutasi data wajib ditegakkan sepenuhnya di sisi server</a:t>
            </a:r>
          </a:p>
          <a:p>
            <a:r>
              <a:t>[2. BIND TOKENS CRYPTOGRAPHICALLY TO SESSIONS]</a:t>
            </a:r>
          </a:p>
          <a:p>
            <a:r>
              <a:t>- Anti-CSRF Token harus terikat secara kriptografis ke identitas sesi aktif</a:t>
            </a:r>
          </a:p>
          <a:p>
            <a:r>
              <a:t>- Mencegah eksploitasi cross-session token reuse dan pemalsuan token</a:t>
            </a:r>
          </a:p>
          <a:p>
            <a:r>
              <a:t>[3. DEFENSE IN DEPTH WINS]</a:t>
            </a:r>
          </a:p>
          <a:p>
            <a:r>
              <a:t>- Kombinasikan Signed Token + SameSite Cookie + Fetch Metadata</a:t>
            </a:r>
          </a:p>
          <a:p>
            <a:r>
              <a:t>- Kekuatan sistem berlapis menjamin keamanan saat salah satu mekanisme gagal</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Eksperimen kecil, interpretasi yang teliti.</a:t>
            </a:r>
          </a:p>
          <a:p/>
          <a:p>
            <a:r>
              <a:t>Mental Model: SOP restricts cross-origin read; CSRF exploits cross-origin write. CORS relaxes read, it never defends write.</a:t>
            </a:r>
          </a:p>
          <a:p/>
          <a:p>
            <a:r>
              <a:t>[KEY RESULTS]</a:t>
            </a:r>
          </a:p>
          <a:p>
            <a:r>
              <a:t>- internal/cors • internal/csrf</a:t>
            </a:r>
          </a:p>
          <a:p>
            <a:r>
              <a:t>- internal/bank • cmd/demo</a:t>
            </a:r>
          </a:p>
          <a:p>
            <a:r>
              <a:t>- tests/integration_test.go • README.md</a:t>
            </a:r>
          </a:p>
          <a:p>
            <a:r>
              <a:t>[VERIFIKASI &amp; STATUS]</a:t>
            </a:r>
          </a:p>
          <a:p>
            <a:r>
              <a:t>- Sumber: commit 7ced81ed</a:t>
            </a:r>
          </a:p>
          <a:p>
            <a:r>
              <a:t>- Semua test PASS dengan Go 1.22 Race Detector aktif</a:t>
            </a:r>
          </a:p>
          <a:p>
            <a:r>
              <a:t>- Terbukti: CORS tidak mencegah mutasi data sisi server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36</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CORS &amp; CSRF: Mengamankan Backend</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Membedah Realitas CORS dan Pertahanan CSRF Multi-Layer di Sisi Server</a:t>
            </a:r>
          </a:p>
        </p:txBody>
      </p:sp>
      <p:sp>
        <p:nvSpPr>
          <p:cNvPr id="6" name="Rounded Rectangle 5"/>
          <p:cNvSpPr/>
          <p:nvPr/>
        </p:nvSpPr>
        <p:spPr>
          <a:xfrm>
            <a:off x="914400" y="4389120"/>
            <a:ext cx="10362895" cy="1645920"/>
          </a:xfrm>
          <a:prstGeom prst="roundRect">
            <a:avLst/>
          </a:prstGeom>
          <a:solidFill>
            <a:srgbClr val="1E293B"/>
          </a:solidFill>
          <a:ln>
            <a:solidFill>
              <a:srgbClr val="087F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087F76"/>
                </a:solidFill>
                <a:latin typeface="Courier New"/>
              </a:defRPr>
            </a:pPr>
            <a:r>
              <a:t>&gt; system_check --lab 36 --topic 'cors-and-csrf'</a:t>
            </a:r>
            <a:br/>
            <a:r>
              <a:t>&gt; author: Lukman / lukman-ss | status: PRODUCTION VERIFIED</a:t>
            </a:r>
            <a:br/>
            <a:r>
              <a:t>&gt; commit: 7ced81ed | tests: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Miskonsepsi Fatal: CORS Bukan Firewall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Banyak tim backend mengira CORS melindungi endpoint dari mutasi berbahaya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ASUMSI KELIRU</a:t>
            </a:r>
          </a:p>
          <a:p>
            <a:pPr>
              <a:spcAft>
                <a:spcPts val="400"/>
              </a:spcAft>
              <a:defRPr sz="1200">
                <a:solidFill>
                  <a:srgbClr val="0B1B2D"/>
                </a:solidFill>
              </a:defRPr>
            </a:pPr>
            <a:r>
              <a:t>• Menganggap CORS adalah tembok api backend penolak request asing</a:t>
            </a:r>
          </a:p>
          <a:p>
            <a:pPr>
              <a:spcAft>
                <a:spcPts val="400"/>
              </a:spcAft>
              <a:defRPr sz="1200">
                <a:solidFill>
                  <a:srgbClr val="0B1B2D"/>
                </a:solidFill>
              </a:defRPr>
            </a:pPr>
            <a:r>
              <a:t>• Meyakini penolakan header CORS otomatis menggagalkan serangan CSRF</a:t>
            </a:r>
          </a:p>
          <a:p>
            <a:pPr>
              <a:spcAft>
                <a:spcPts val="400"/>
              </a:spcAft>
              <a:defRPr sz="1200">
                <a:solidFill>
                  <a:srgbClr val="0B1B2D"/>
                </a:solidFill>
              </a:defRPr>
            </a:pPr>
            <a:r>
              <a:t>• Merasa aman hanya karena origin penyerang tidak ada di whitelist CORS</a:t>
            </a:r>
          </a:p>
          <a:p>
            <a:pPr>
              <a:defRPr sz="1200" b="1">
                <a:solidFill>
                  <a:srgbClr val="087F76"/>
                </a:solidFill>
              </a:defRPr>
            </a:pPr>
            <a:r>
              <a:t>FAKTA LAPANGAN</a:t>
            </a:r>
          </a:p>
          <a:p>
            <a:pPr>
              <a:spcAft>
                <a:spcPts val="400"/>
              </a:spcAft>
              <a:defRPr sz="1200">
                <a:solidFill>
                  <a:srgbClr val="0B1B2D"/>
                </a:solidFill>
              </a:defRPr>
            </a:pPr>
            <a:r>
              <a:t>• Browser tetap mengeksekusi simple request POST langsung ke backend</a:t>
            </a:r>
          </a:p>
          <a:p>
            <a:pPr>
              <a:spcAft>
                <a:spcPts val="400"/>
              </a:spcAft>
              <a:defRPr sz="1200">
                <a:solidFill>
                  <a:srgbClr val="0B1B2D"/>
                </a:solidFill>
              </a:defRPr>
            </a:pPr>
            <a:r>
              <a:t>• Database memproses mutasi saldo sebelum browser mengevaluasi header respons</a:t>
            </a:r>
          </a:p>
          <a:p>
            <a:pPr>
              <a:spcAft>
                <a:spcPts val="400"/>
              </a:spcAft>
              <a:defRPr sz="1200">
                <a:solidFill>
                  <a:srgbClr val="0B1B2D"/>
                </a:solidFill>
              </a:defRPr>
            </a:pPr>
            <a:r>
              <a:t>• Penolakan CORS hanya memblokir pembacaan respons oleh JavaScript attacker</a:t>
            </a:r>
          </a:p>
          <a:p>
            <a:pPr>
              <a:defRPr sz="1200" b="1">
                <a:solidFill>
                  <a:srgbClr val="087F76"/>
                </a:solidFill>
              </a:defRPr>
            </a:pPr>
            <a:r>
              <a:t>DAMPAK KERENTANAN</a:t>
            </a:r>
          </a:p>
          <a:p>
            <a:pPr>
              <a:spcAft>
                <a:spcPts val="400"/>
              </a:spcAft>
              <a:defRPr sz="1200">
                <a:solidFill>
                  <a:srgbClr val="0B1B2D"/>
                </a:solidFill>
              </a:defRPr>
            </a:pPr>
            <a:r>
              <a:t>• Transaksi finansial ilegal dieksekusi tanpa otorisasi sadar dari korban</a:t>
            </a:r>
          </a:p>
          <a:p>
            <a:pPr>
              <a:spcAft>
                <a:spcPts val="400"/>
              </a:spcAft>
              <a:defRPr sz="1200">
                <a:solidFill>
                  <a:srgbClr val="0B1B2D"/>
                </a:solidFill>
              </a:defRPr>
            </a:pPr>
            <a:r>
              <a:t>• Perubahan email dan password akun terjadi tanpa hambatan jaringan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Miskonsepsi bahwa CORS bertindak sebagai firewall backend masih sangat umum ditemukan. Padahal, CORS dirancang oleh browser murni untuk mengontrol izin pembacaan respons oleh JavaScript, bukan membatasi server dalam memproses request. Tanpa pertahanan CSRF di backend, penyerang dapat memicu mutasi state di database hanya melalui tag form HTML biasa.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CORS governs read permissions in JavaScript, not execution permissions on backend servers.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labs/36-cors-and-csrf/content/01-content-brief.md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Mental Model: SOP vs CORS vs CSRF</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Memisahkan pembatasan read, relaksasi browser, dan eksploitasi write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SAME-ORIGIN POLICY (SOP)</a:t>
            </a:r>
          </a:p>
          <a:p>
            <a:pPr>
              <a:spcAft>
                <a:spcPts val="400"/>
              </a:spcAft>
              <a:defRPr sz="1200">
                <a:solidFill>
                  <a:srgbClr val="0B1B2D"/>
                </a:solidFill>
              </a:defRPr>
            </a:pPr>
            <a:r>
              <a:t>• Membatasi JavaScript membaca data respons dari origin berbeda</a:t>
            </a:r>
          </a:p>
          <a:p>
            <a:pPr>
              <a:spcAft>
                <a:spcPts val="400"/>
              </a:spcAft>
              <a:defRPr sz="1200">
                <a:solidFill>
                  <a:srgbClr val="0B1B2D"/>
                </a:solidFill>
              </a:defRPr>
            </a:pPr>
            <a:r>
              <a:t>• Secara historis mengizinkan pengiriman request write (misal form submit)</a:t>
            </a:r>
          </a:p>
          <a:p>
            <a:pPr>
              <a:defRPr sz="1200" b="1">
                <a:solidFill>
                  <a:srgbClr val="087F76"/>
                </a:solidFill>
              </a:defRPr>
            </a:pPr>
            <a:r>
              <a:t>CORS (RELAXATION MECHANISM)</a:t>
            </a:r>
          </a:p>
          <a:p>
            <a:pPr>
              <a:spcAft>
                <a:spcPts val="400"/>
              </a:spcAft>
              <a:defRPr sz="1200">
                <a:solidFill>
                  <a:srgbClr val="0B1B2D"/>
                </a:solidFill>
              </a:defRPr>
            </a:pPr>
            <a:r>
              <a:t>• Mekanisme negosiasi header HTTP untuk merelaksasi pembatasan SOP</a:t>
            </a:r>
          </a:p>
          <a:p>
            <a:pPr>
              <a:spcAft>
                <a:spcPts val="400"/>
              </a:spcAft>
              <a:defRPr sz="1200">
                <a:solidFill>
                  <a:srgbClr val="0B1B2D"/>
                </a:solidFill>
              </a:defRPr>
            </a:pPr>
            <a:r>
              <a:t>• Mengizinkan frontend membaca data respons dari API domain lain</a:t>
            </a:r>
          </a:p>
          <a:p>
            <a:pPr>
              <a:spcAft>
                <a:spcPts val="400"/>
              </a:spcAft>
              <a:defRPr sz="1200">
                <a:solidFill>
                  <a:srgbClr val="0B1B2D"/>
                </a:solidFill>
              </a:defRPr>
            </a:pPr>
            <a:r>
              <a:t>• Bukan mekanisme keamanan sisi server!</a:t>
            </a:r>
          </a:p>
          <a:p>
            <a:pPr>
              <a:defRPr sz="1200" b="1">
                <a:solidFill>
                  <a:srgbClr val="087F76"/>
                </a:solidFill>
              </a:defRPr>
            </a:pPr>
            <a:r>
              <a:t>CSRF (WRITE EXPLOITATION)</a:t>
            </a:r>
          </a:p>
          <a:p>
            <a:pPr>
              <a:spcAft>
                <a:spcPts val="400"/>
              </a:spcAft>
              <a:defRPr sz="1200">
                <a:solidFill>
                  <a:srgbClr val="0B1B2D"/>
                </a:solidFill>
              </a:defRPr>
            </a:pPr>
            <a:r>
              <a:t>• Mengeksploitasi perilaku browser yang otomatis melampirkan cookie sesi</a:t>
            </a:r>
          </a:p>
          <a:p>
            <a:pPr>
              <a:spcAft>
                <a:spcPts val="400"/>
              </a:spcAft>
              <a:defRPr sz="1200">
                <a:solidFill>
                  <a:srgbClr val="0B1B2D"/>
                </a:solidFill>
              </a:defRPr>
            </a:pPr>
            <a:r>
              <a:t>• Penyerang memicu mutasi write tanpa perlu membaca data respons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Arsitektur keamanan web berdiri di atas tiga pilar ini. SOP melarang pembacaan respons lintas origin. CORS hadir sebagai mekanisme izin agar JavaScript dapat membaca data respons tersebut. Sementara itu, CSRF mengeksploitasi izin pengiriman data form yang secara historis diizinkan oleh SOP dengan memanfaatkan cookie sesi yang terlampir otomatis.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SOP restricts reading; CORS relaxes reading; CSRF exploits writing. Defend the write at the server.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Topologi Arsitektur Simulasi Bank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Membandingkan endpoint rentan vs endpoint terproteksi dalam ekosistem Go</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ENDPOINT DISPATCH</a:t>
            </a:r>
          </a:p>
          <a:p>
            <a:pPr>
              <a:spcAft>
                <a:spcPts val="400"/>
              </a:spcAft>
              <a:defRPr sz="1200">
                <a:solidFill>
                  <a:srgbClr val="0B1B2D"/>
                </a:solidFill>
              </a:defRPr>
            </a:pPr>
            <a:r>
              <a:t>• GET  /api/balance             -&gt; Cek saldo akun via cookie sesi</a:t>
            </a:r>
          </a:p>
          <a:p>
            <a:pPr>
              <a:spcAft>
                <a:spcPts val="400"/>
              </a:spcAft>
              <a:defRPr sz="1200">
                <a:solidFill>
                  <a:srgbClr val="0B1B2D"/>
                </a:solidFill>
              </a:defRPr>
            </a:pPr>
            <a:r>
              <a:t>• GET  /api/csrf-token          -&gt; Endpoint penerbit token HMAC terikat sesi</a:t>
            </a:r>
          </a:p>
          <a:p>
            <a:pPr>
              <a:spcAft>
                <a:spcPts val="400"/>
              </a:spcAft>
              <a:defRPr sz="1200">
                <a:solidFill>
                  <a:srgbClr val="0B1B2D"/>
                </a:solidFill>
              </a:defRPr>
            </a:pPr>
            <a:r>
              <a:t>• POST /api/transfer/vulnerable -&gt; Transfer rentan (hanya dibungkus CORS)</a:t>
            </a:r>
          </a:p>
          <a:p>
            <a:pPr>
              <a:spcAft>
                <a:spcPts val="400"/>
              </a:spcAft>
              <a:defRPr sz="1200">
                <a:solidFill>
                  <a:srgbClr val="0B1B2D"/>
                </a:solidFill>
              </a:defRPr>
            </a:pPr>
            <a:r>
              <a:t>• POST /api/transfer/protected  -&gt; Transfer aman (CORS + CSRF Token)</a:t>
            </a:r>
          </a:p>
          <a:p>
            <a:pPr>
              <a:spcAft>
                <a:spcPts val="400"/>
              </a:spcAft>
              <a:defRPr sz="1200">
                <a:solidFill>
                  <a:srgbClr val="0B1B2D"/>
                </a:solidFill>
              </a:defRPr>
            </a:pPr>
            <a:r>
              <a:t>• POST /api/transfer/fetch-metadata -&gt; Transfer aman via Sec-Fetch-Site</a:t>
            </a:r>
          </a:p>
          <a:p>
            <a:pPr>
              <a:spcAft>
                <a:spcPts val="400"/>
              </a:spcAft>
              <a:defRPr sz="1200">
                <a:solidFill>
                  <a:srgbClr val="0B1B2D"/>
                </a:solidFill>
              </a:defRPr>
            </a:pPr>
            <a:r>
              <a:t>• POST /api/transfer/custom-header  -&gt; Transfer aman via X-Requested-With</a:t>
            </a:r>
          </a:p>
          <a:p>
            <a:pPr>
              <a:defRPr sz="1200" b="1">
                <a:solidFill>
                  <a:srgbClr val="087F76"/>
                </a:solidFill>
              </a:defRPr>
            </a:pPr>
            <a:r>
              <a:t>ZERO DEPENDENCIES</a:t>
            </a:r>
          </a:p>
          <a:p>
            <a:pPr>
              <a:spcAft>
                <a:spcPts val="400"/>
              </a:spcAft>
              <a:defRPr sz="1200">
                <a:solidFill>
                  <a:srgbClr val="0B1B2D"/>
                </a:solidFill>
              </a:defRPr>
            </a:pPr>
            <a:r>
              <a:t>• Murni Go Standard Library (net/http, crypto/hmac, crypto/subtle, sync)</a:t>
            </a:r>
          </a:p>
          <a:p>
            <a:pPr>
              <a:spcAft>
                <a:spcPts val="400"/>
              </a:spcAft>
              <a:defRPr sz="1200">
                <a:solidFill>
                  <a:srgbClr val="0B1B2D"/>
                </a:solidFill>
              </a:defRPr>
            </a:pPr>
            <a:r>
              <a:t>• Membuktikan mekanisme otentikasi sesi dan penolakan payload secara presisi</a:t>
            </a:r>
          </a:p>
          <a:p>
            <a:pPr>
              <a:defRPr sz="1200" b="1">
                <a:solidFill>
                  <a:srgbClr val="087F76"/>
                </a:solidFill>
              </a:defRPr>
            </a:pPr>
            <a:r>
              <a:t>KOMPONEN MODULAR</a:t>
            </a:r>
          </a:p>
          <a:p>
            <a:pPr>
              <a:spcAft>
                <a:spcPts val="400"/>
              </a:spcAft>
              <a:defRPr sz="1200">
                <a:solidFill>
                  <a:srgbClr val="0B1B2D"/>
                </a:solidFill>
              </a:defRPr>
            </a:pPr>
            <a:r>
              <a:t>• internal/cors: Evaluasi origin, header preflight OPTIONS, allow-credentials</a:t>
            </a:r>
          </a:p>
          <a:p>
            <a:pPr>
              <a:spcAft>
                <a:spcPts val="400"/>
              </a:spcAft>
              <a:defRPr sz="1200">
                <a:solidFill>
                  <a:srgbClr val="0B1B2D"/>
                </a:solidFill>
              </a:defRPr>
            </a:pPr>
            <a:r>
              <a:t>• internal/csrf: HMAC token generator, token validator, metadata middleware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36 mengimplementasikan bank service lengkap di internal/bank/app.go. Terdapat endpoint transfer yang sengaja dibiarkan rentan hanya dengan middleware CORS, serta varian endpoint terlindungi yang dibungkus oleh Anti-CSRF Token, Fetch Metadata, dan Custom Header middleware untuk membandingkan perilaku eksekusinya secara langsung.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Modular middleware isolates transport negotiation from state-changing business handlers.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labs/36-cors-and-csrf/internal/bank/app.go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Simple Request vs Preflight OPTIONS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Kapan browser meminta izin sebelum mengirim dan kapan langsung mengeksekusi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SIMPLE REQUEST (NO PREFLIGHT)</a:t>
            </a:r>
          </a:p>
          <a:p>
            <a:pPr>
              <a:spcAft>
                <a:spcPts val="400"/>
              </a:spcAft>
              <a:defRPr sz="1200">
                <a:solidFill>
                  <a:srgbClr val="0B1B2D"/>
                </a:solidFill>
              </a:defRPr>
            </a:pPr>
            <a:r>
              <a:t>• Method: GET, HEAD, atau POST</a:t>
            </a:r>
          </a:p>
          <a:p>
            <a:pPr>
              <a:spcAft>
                <a:spcPts val="400"/>
              </a:spcAft>
              <a:defRPr sz="1200">
                <a:solidFill>
                  <a:srgbClr val="0B1B2D"/>
                </a:solidFill>
              </a:defRPr>
            </a:pPr>
            <a:r>
              <a:t>• Content-Type: application/x-www-form-urlencoded, multipart, text/plain</a:t>
            </a:r>
          </a:p>
          <a:p>
            <a:pPr>
              <a:spcAft>
                <a:spcPts val="400"/>
              </a:spcAft>
              <a:defRPr sz="1200">
                <a:solidFill>
                  <a:srgbClr val="0B1B2D"/>
                </a:solidFill>
              </a:defRPr>
            </a:pPr>
            <a:r>
              <a:t>• Tanpa custom headers; browser LANGSUNG mengirim request ke backend</a:t>
            </a:r>
          </a:p>
          <a:p>
            <a:pPr>
              <a:spcAft>
                <a:spcPts val="400"/>
              </a:spcAft>
              <a:defRPr sz="1200">
                <a:solidFill>
                  <a:srgbClr val="0B1B2D"/>
                </a:solidFill>
              </a:defRPr>
            </a:pPr>
            <a:r>
              <a:t>• Target utama serangan formulir HTML CSRF klasik</a:t>
            </a:r>
          </a:p>
          <a:p>
            <a:pPr>
              <a:defRPr sz="1200" b="1">
                <a:solidFill>
                  <a:srgbClr val="087F76"/>
                </a:solidFill>
              </a:defRPr>
            </a:pPr>
            <a:r>
              <a:t>PREFLIGHT REQUEST (OPTIONS)</a:t>
            </a:r>
          </a:p>
          <a:p>
            <a:pPr>
              <a:spcAft>
                <a:spcPts val="400"/>
              </a:spcAft>
              <a:defRPr sz="1200">
                <a:solidFill>
                  <a:srgbClr val="0B1B2D"/>
                </a:solidFill>
              </a:defRPr>
            </a:pPr>
            <a:r>
              <a:t>• Method: PUT, DELETE, PATCH atau Content-Type: application/json</a:t>
            </a:r>
          </a:p>
          <a:p>
            <a:pPr>
              <a:spcAft>
                <a:spcPts val="400"/>
              </a:spcAft>
              <a:defRPr sz="1200">
                <a:solidFill>
                  <a:srgbClr val="0B1B2D"/>
                </a:solidFill>
              </a:defRPr>
            </a:pPr>
            <a:r>
              <a:t>• Memakai custom header seperti X-CSRF-Token atau Authorization</a:t>
            </a:r>
          </a:p>
          <a:p>
            <a:pPr>
              <a:spcAft>
                <a:spcPts val="400"/>
              </a:spcAft>
              <a:defRPr sz="1200">
                <a:solidFill>
                  <a:srgbClr val="0B1B2D"/>
                </a:solidFill>
              </a:defRPr>
            </a:pPr>
            <a:r>
              <a:t>• Browser mengirim OPTIONS terlebih dahulu untuk meminta izin CORS</a:t>
            </a:r>
          </a:p>
          <a:p>
            <a:pPr>
              <a:spcAft>
                <a:spcPts val="400"/>
              </a:spcAft>
              <a:defRPr sz="1200">
                <a:solidFill>
                  <a:srgbClr val="0B1B2D"/>
                </a:solidFill>
              </a:defRPr>
            </a:pPr>
            <a:r>
              <a:t>• Jika preflight gagal, actual request TIDAK AKAN PERNAH dikirim</a:t>
            </a:r>
          </a:p>
          <a:p>
            <a:pPr>
              <a:defRPr sz="1200" b="1">
                <a:solidFill>
                  <a:srgbClr val="087F76"/>
                </a:solidFill>
              </a:defRPr>
            </a:pPr>
            <a:r>
              <a:t>IMPLIKASI KEAMANAN</a:t>
            </a:r>
          </a:p>
          <a:p>
            <a:pPr>
              <a:spcAft>
                <a:spcPts val="400"/>
              </a:spcAft>
              <a:defRPr sz="1200">
                <a:solidFill>
                  <a:srgbClr val="0B1B2D"/>
                </a:solidFill>
              </a:defRPr>
            </a:pPr>
            <a:r>
              <a:t>• Penyerang CSRF memanfaatkan celah simple request agar server langsung mengeksekusi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Standar WHATWG Fetch membedakan request menjadi simple request dan non-simple request. Simple request menggunakan method standar dan encoding form tanpa custom header, sehingga dikirimkan langsung oleh browser tanpa konfirmasi awal. Sebaliknya, non-simple request memicu preflight OPTIONS. Penyerang CSRF memanfaatkan sifat simple request untuk mengeksekusi mutasi server seketika.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Simple requests fire immediately without asking; preflight requests ask permission first.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labs/36-cors-and-csrf/internal/cors/middleware.go:44-92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Serangan Cross-Site Request Forgery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situs penyerang mengeksploitasi cookie korban yang tersimpan di browser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LANGKAH EKSPLOITASI</a:t>
            </a:r>
          </a:p>
          <a:p>
            <a:pPr>
              <a:spcAft>
                <a:spcPts val="400"/>
              </a:spcAft>
              <a:defRPr sz="1200">
                <a:solidFill>
                  <a:srgbClr val="0B1B2D"/>
                </a:solidFill>
              </a:defRPr>
            </a:pPr>
            <a:r>
              <a:t>• 1. Korban login ke bank target dan memegang cookie sesi aktif di browser</a:t>
            </a:r>
          </a:p>
          <a:p>
            <a:pPr>
              <a:spcAft>
                <a:spcPts val="400"/>
              </a:spcAft>
              <a:defRPr sz="1200">
                <a:solidFill>
                  <a:srgbClr val="0B1B2D"/>
                </a:solidFill>
              </a:defRPr>
            </a:pPr>
            <a:r>
              <a:t>• 2. Korban terpancing membuka tab situs penyerang (evil-attacker.com)</a:t>
            </a:r>
          </a:p>
          <a:p>
            <a:pPr>
              <a:spcAft>
                <a:spcPts val="400"/>
              </a:spcAft>
              <a:defRPr sz="1200">
                <a:solidFill>
                  <a:srgbClr val="0B1B2D"/>
                </a:solidFill>
              </a:defRPr>
            </a:pPr>
            <a:r>
              <a:t>• 3. Halaman jahat menjalankan form submit tersembunyi via script JavaScript</a:t>
            </a:r>
          </a:p>
          <a:p>
            <a:pPr>
              <a:spcAft>
                <a:spcPts val="400"/>
              </a:spcAft>
              <a:defRPr sz="1200">
                <a:solidFill>
                  <a:srgbClr val="0B1B2D"/>
                </a:solidFill>
              </a:defRPr>
            </a:pPr>
            <a:r>
              <a:t>• 4. Browser otomatis menyertakan cookie sesi korban ke request POST bank</a:t>
            </a:r>
          </a:p>
          <a:p>
            <a:pPr>
              <a:spcAft>
                <a:spcPts val="400"/>
              </a:spcAft>
              <a:defRPr sz="1200">
                <a:solidFill>
                  <a:srgbClr val="0B1B2D"/>
                </a:solidFill>
              </a:defRPr>
            </a:pPr>
            <a:r>
              <a:t>• 5. Server backend memvalidasi cookie sesi dan mengeksekusi transfer dana</a:t>
            </a:r>
          </a:p>
          <a:p>
            <a:pPr>
              <a:defRPr sz="1200" b="1">
                <a:solidFill>
                  <a:srgbClr val="087F76"/>
                </a:solidFill>
              </a:defRPr>
            </a:pPr>
            <a:r>
              <a:t>KENAPA CORS GAGAL MENCEGAH?</a:t>
            </a:r>
          </a:p>
          <a:p>
            <a:pPr>
              <a:spcAft>
                <a:spcPts val="400"/>
              </a:spcAft>
              <a:defRPr sz="1200">
                <a:solidFill>
                  <a:srgbClr val="0B1B2D"/>
                </a:solidFill>
              </a:defRPr>
            </a:pPr>
            <a:r>
              <a:t>• Server mengeksekusi mutasi data sebelum mengirimkan HTTP response</a:t>
            </a:r>
          </a:p>
          <a:p>
            <a:pPr>
              <a:spcAft>
                <a:spcPts val="400"/>
              </a:spcAft>
              <a:defRPr sz="1200">
                <a:solidFill>
                  <a:srgbClr val="0B1B2D"/>
                </a:solidFill>
              </a:defRPr>
            </a:pPr>
            <a:r>
              <a:t>• Browser memblokir pembacaan respons oleh penyerang karena origin mismatch</a:t>
            </a:r>
          </a:p>
          <a:p>
            <a:pPr>
              <a:spcAft>
                <a:spcPts val="400"/>
              </a:spcAft>
              <a:defRPr sz="1200">
                <a:solidFill>
                  <a:srgbClr val="0B1B2D"/>
                </a:solidFill>
              </a:defRPr>
            </a:pPr>
            <a:r>
              <a:t>• Penyerang tidak butuh membaca respons; saldo korban sudah terlanjur lenyap</a:t>
            </a:r>
          </a:p>
          <a:p>
            <a:pPr>
              <a:defRPr sz="1200" b="1">
                <a:solidFill>
                  <a:srgbClr val="087F76"/>
                </a:solidFill>
              </a:defRPr>
            </a:pPr>
            <a:r>
              <a:t>KERUGIAN</a:t>
            </a:r>
          </a:p>
          <a:p>
            <a:pPr>
              <a:spcAft>
                <a:spcPts val="400"/>
              </a:spcAft>
              <a:defRPr sz="1200">
                <a:solidFill>
                  <a:srgbClr val="0B1B2D"/>
                </a:solidFill>
              </a:defRPr>
            </a:pPr>
            <a:r>
              <a:t>• Pemindahan aset finansial atau pembajakan email akun korban secara diam-diam</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Serangan CSRF mengeksploitasi kepercayaan server terhadap browser korban. Ketika form submit otomatis dipicu dari situs penyerang, browser melampirkan cookie sesi milik korban. Server bank memproses transfer tersebut hingga tuntas. Walaupun browser kemudian menolak memberikan isi response kepada penyerang karena aturan CORS, mutasi saldo sudah selesai dicatat di database.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CSRF is blind execution: the attacker does not need to read the reply to steal the prize.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Bukti Empiris: CORS Tidak Mencegah Eksekusi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 membuktikan saldo korban berkurang meskipun origin penyerang ditolak CORS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req := httptest.NewRequest(POST, "/api/transfer/vulnerable", body)</a:t>
            </a:r>
            <a:br/>
            <a:r>
              <a:t>req.Header.Set("Origin", "https://evil-attacker.com")</a:t>
            </a:r>
            <a:br/>
            <a:r>
              <a:t>req.AddCookie(&amp;http.Cookie{Name: "session_id", Value: "session-victim-secret"})</a:t>
            </a:r>
            <a:br/>
            <a:br/>
            <a:r>
              <a:t>app.ServeHTTP(rec, req)</a:t>
            </a:r>
            <a:br/>
            <a:r>
              <a:t>// Response: 200 OK!</a:t>
            </a:r>
            <a:br/>
            <a:r>
              <a:t>// ACAO Header: Kosong (ditolak untuk evil-attacker.com)</a:t>
            </a:r>
            <a:br/>
            <a:r>
              <a:t>// Saldo Korban: Turun dari $1000 menjadi $700!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TestIntegration_CORS_Does_Not_Prevent_CSRF_Execution membuktikan realitas ini secara definitif. Request POST dari origin evil-attacker.com berhasil memicu pemotongan saldo korban sebesar $300 dan menambah saldo penyerang. Meskipun middleware CORS tidak menyertakan header Access-Control-Allow-Origin, mutasi transaksi telah tuntas.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Backend execution occurs before header evaluation. No CORS header does not mean no mutation.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labs/36-cors-and-csrf/tests/integration_test.go:54-87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Implementasi Middleware CORS Standar W3C</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Menangani evaluasi origin, preflight OPTIONS, dan aturan kredensial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if !m.isOriginAllowed(origin) {</a:t>
            </a:r>
            <a:br/>
            <a:r>
              <a:t>    if r.Method == http.MethodOptions {</a:t>
            </a:r>
            <a:br/>
            <a:r>
              <a:t>        w.WriteHeader(http.StatusForbidden); return</a:t>
            </a:r>
            <a:br/>
            <a:r>
              <a:t>    }</a:t>
            </a:r>
            <a:br/>
            <a:r>
              <a:t>    next.ServeHTTP(w, r) // Non-preflight tetap diteruskan!</a:t>
            </a:r>
            <a:br/>
            <a:r>
              <a:t>    return</a:t>
            </a:r>
            <a:br/>
            <a:r>
              <a:t>}</a:t>
            </a:r>
            <a:br/>
            <a:r>
              <a:t>if m.config.AllowCredentials {</a:t>
            </a:r>
            <a:br/>
            <a:r>
              <a:t>    w.Header().Set("Access-Control-Allow-Origin", origin)</a:t>
            </a:r>
            <a:br/>
            <a:r>
              <a:t>    w.Header().Set("Access-Control-Allow-Credentials", "true")</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Di dalam internal/cors/middleware.go, kepatuhan terhadap spesifikasi W3C Fetch terlihat jelas. Ketika origin tidak terdaftar, request preflight OPTIONS langsung ditolak dengan HTTP 403. Namun, untuk request non-preflight (seperti simple POST), middleware harus meneruskan request ke handler berikutnya tanpa menyertakan header ACAO.</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Standard CORS middleware allows unwhitelisted simple requests through to the next handler.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labs/36-cors-and-csrf/internal/cors/middleware.go:44-78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Aturan Kredensial &amp; Wildcard Origin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Larangan spesifikasi: mengapa wildcard '*' ditolak saat membawa kredensial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LARANGAN SPESIFIKASI FETCH</a:t>
            </a:r>
          </a:p>
          <a:p>
            <a:pPr>
              <a:spcAft>
                <a:spcPts val="400"/>
              </a:spcAft>
              <a:defRPr sz="1200">
                <a:solidFill>
                  <a:srgbClr val="0B1B2D"/>
                </a:solidFill>
              </a:defRPr>
            </a:pPr>
            <a:r>
              <a:t>• Kombinasi ACAO: * dan ACAC: true dianggap ILEGAL oleh browser modern</a:t>
            </a:r>
          </a:p>
          <a:p>
            <a:pPr>
              <a:spcAft>
                <a:spcPts val="400"/>
              </a:spcAft>
              <a:defRPr sz="1200">
                <a:solidFill>
                  <a:srgbClr val="0B1B2D"/>
                </a:solidFill>
              </a:defRPr>
            </a:pPr>
            <a:r>
              <a:t>• Browser akan menolak memberikan respons ke JavaScript client</a:t>
            </a:r>
          </a:p>
          <a:p>
            <a:pPr>
              <a:spcAft>
                <a:spcPts val="400"/>
              </a:spcAft>
              <a:defRPr sz="1200">
                <a:solidFill>
                  <a:srgbClr val="0B1B2D"/>
                </a:solidFill>
              </a:defRPr>
            </a:pPr>
            <a:r>
              <a:t>• Mencegah kebocoran data terotentikasi secara tidak sengaja ke seluruh web</a:t>
            </a:r>
          </a:p>
          <a:p>
            <a:pPr>
              <a:defRPr sz="1200" b="1">
                <a:solidFill>
                  <a:srgbClr val="087F76"/>
                </a:solidFill>
              </a:defRPr>
            </a:pPr>
            <a:r>
              <a:t>IMPLEMENTASI VALIDASI GO</a:t>
            </a:r>
          </a:p>
          <a:p>
            <a:pPr>
              <a:spcAft>
                <a:spcPts val="400"/>
              </a:spcAft>
              <a:defRPr sz="1200">
                <a:solidFill>
                  <a:srgbClr val="0B1B2D"/>
                </a:solidFill>
              </a:defRPr>
            </a:pPr>
            <a:r>
              <a:t>• TestCORS_Credentials_With_Wildcard_DisallowedInSpec memvalidasi aturan ini</a:t>
            </a:r>
          </a:p>
          <a:p>
            <a:pPr>
              <a:spcAft>
                <a:spcPts val="400"/>
              </a:spcAft>
              <a:defRPr sz="1200">
                <a:solidFill>
                  <a:srgbClr val="0B1B2D"/>
                </a:solidFill>
              </a:defRPr>
            </a:pPr>
            <a:r>
              <a:t>• Jika AllowCredentials aktif, server wajib merefleksikan origin spesifik pemanggil</a:t>
            </a:r>
          </a:p>
          <a:p>
            <a:pPr>
              <a:spcAft>
                <a:spcPts val="400"/>
              </a:spcAft>
              <a:defRPr sz="1200">
                <a:solidFill>
                  <a:srgbClr val="0B1B2D"/>
                </a:solidFill>
              </a:defRPr>
            </a:pPr>
            <a:r>
              <a:t>• Server tidak boleh memancarkan '*' jika request menyertakan cookie otentikasi</a:t>
            </a:r>
          </a:p>
          <a:p>
            <a:pPr>
              <a:defRPr sz="1200" b="1">
                <a:solidFill>
                  <a:srgbClr val="087F76"/>
                </a:solidFill>
              </a:defRPr>
            </a:pPr>
            <a:r>
              <a:t>KESALAHAN UMUM</a:t>
            </a:r>
          </a:p>
          <a:p>
            <a:pPr>
              <a:spcAft>
                <a:spcPts val="400"/>
              </a:spcAft>
              <a:defRPr sz="1200">
                <a:solidFill>
                  <a:srgbClr val="0B1B2D"/>
                </a:solidFill>
              </a:defRPr>
            </a:pPr>
            <a:r>
              <a:t>• Merefleksikan Origin request secara membabi buta tanpa whitelist sama berbahayanya dengan wildcard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Spesifikasi web secara eksplisit melarang penggunaan Access-Control-Allow-Origin: * jika Access-Control-Allow-Credentials bernilai true. Jika server melanggar aturan ini, browser otomatis menolak respons. Backend wajib merefleksikan origin secara selektif hanya jika origin tersebut telah terverifikasi dalam whitelist aman.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Never pair wildcard origins with ambient credentials; explicit whitelisting is non-negotiable.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labs/36-cors-and-csrf/internal/cors/middleware_test.go:42-63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Arsitektur Pertahanan CSRF Multi-Layer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Menggabungkan 4 lapisan pertahanan untuk menjamin keamanan mutasi state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LAPISAN 1: SIGNED CSRF TOKEN</a:t>
            </a:r>
          </a:p>
          <a:p>
            <a:pPr>
              <a:spcAft>
                <a:spcPts val="400"/>
              </a:spcAft>
              <a:defRPr sz="1200">
                <a:solidFill>
                  <a:srgbClr val="0B1B2D"/>
                </a:solidFill>
              </a:defRPr>
            </a:pPr>
            <a:r>
              <a:t>• HMAC-SHA256 Token terikat Session ID, TTL, dan nonce (Double-Submit)</a:t>
            </a:r>
          </a:p>
          <a:p>
            <a:pPr>
              <a:defRPr sz="1200" b="1">
                <a:solidFill>
                  <a:srgbClr val="087F76"/>
                </a:solidFill>
              </a:defRPr>
            </a:pPr>
            <a:r>
              <a:t>LAPISAN 2: FETCH METADATA</a:t>
            </a:r>
          </a:p>
          <a:p>
            <a:pPr>
              <a:spcAft>
                <a:spcPts val="400"/>
              </a:spcAft>
              <a:defRPr sz="1200">
                <a:solidFill>
                  <a:srgbClr val="0B1B2D"/>
                </a:solidFill>
              </a:defRPr>
            </a:pPr>
            <a:r>
              <a:t>• Evaluasi header Sec-Fetch-Site (tolak jika cross-site pada method mutasi)</a:t>
            </a:r>
          </a:p>
          <a:p>
            <a:pPr>
              <a:defRPr sz="1200" b="1">
                <a:solidFill>
                  <a:srgbClr val="087F76"/>
                </a:solidFill>
              </a:defRPr>
            </a:pPr>
            <a:r>
              <a:t>LAPISAN 3: CUSTOM API HEADER</a:t>
            </a:r>
          </a:p>
          <a:p>
            <a:pPr>
              <a:spcAft>
                <a:spcPts val="400"/>
              </a:spcAft>
              <a:defRPr sz="1200">
                <a:solidFill>
                  <a:srgbClr val="0B1B2D"/>
                </a:solidFill>
              </a:defRPr>
            </a:pPr>
            <a:r>
              <a:t>• Wajibkan header kustom X-Requested-With (kebal dari submit form HTML)</a:t>
            </a:r>
          </a:p>
          <a:p>
            <a:pPr>
              <a:defRPr sz="1200" b="1">
                <a:solidFill>
                  <a:srgbClr val="087F76"/>
                </a:solidFill>
              </a:defRPr>
            </a:pPr>
            <a:r>
              <a:t>LAPISAN 4: SAMESITE COOKIE</a:t>
            </a:r>
          </a:p>
          <a:p>
            <a:pPr>
              <a:spcAft>
                <a:spcPts val="400"/>
              </a:spcAft>
              <a:defRPr sz="1200">
                <a:solidFill>
                  <a:srgbClr val="0B1B2D"/>
                </a:solidFill>
              </a:defRPr>
            </a:pPr>
            <a:r>
              <a:t>• Konfigurasi cookie SameSite=Lax atau SameSite=Strict pada layer auth</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Pertahanan CSRF yang tangguh tidak boleh bergantung pada satu mekanisme tunggal. Pendekatan defense-in-depth menggabungkan Signed Double-Submit Token berbasis HMAC, verifikasi Fetch Metadata dari browser, penegakan header custom untuk API AJAX, serta konfigurasi cookie SameSite yang ketat pada sisi klien.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Defense-in-depth: combine cryptographic tokens, browser metadata, and cookie boundaries.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Signed Double-Submit Token (HMAC-SHA256)</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Membuat token stateless tanpa beban memori session store di server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STRUKTUR PAYLOAD TOKEN</a:t>
            </a:r>
          </a:p>
          <a:p>
            <a:pPr>
              <a:spcAft>
                <a:spcPts val="400"/>
              </a:spcAft>
              <a:defRPr sz="1200">
                <a:solidFill>
                  <a:srgbClr val="0B1B2D"/>
                </a:solidFill>
              </a:defRPr>
            </a:pPr>
            <a:r>
              <a:t>• Payload: sessionID : timestamp : nonce</a:t>
            </a:r>
          </a:p>
          <a:p>
            <a:pPr>
              <a:spcAft>
                <a:spcPts val="400"/>
              </a:spcAft>
              <a:defRPr sz="1200">
                <a:solidFill>
                  <a:srgbClr val="0B1B2D"/>
                </a:solidFill>
              </a:defRPr>
            </a:pPr>
            <a:r>
              <a:t>• Signature: HMAC_SHA256(secret_key, payload)</a:t>
            </a:r>
          </a:p>
          <a:p>
            <a:pPr>
              <a:spcAft>
                <a:spcPts val="400"/>
              </a:spcAft>
              <a:defRPr sz="1200">
                <a:solidFill>
                  <a:srgbClr val="0B1B2D"/>
                </a:solidFill>
              </a:defRPr>
            </a:pPr>
            <a:r>
              <a:t>• Token Wire: base64(payload : base64(signature))</a:t>
            </a:r>
          </a:p>
          <a:p>
            <a:pPr>
              <a:defRPr sz="1200" b="1">
                <a:solidFill>
                  <a:srgbClr val="087F76"/>
                </a:solidFill>
              </a:defRPr>
            </a:pPr>
            <a:r>
              <a:t>KEUNGGULAN POLA INI</a:t>
            </a:r>
          </a:p>
          <a:p>
            <a:pPr>
              <a:spcAft>
                <a:spcPts val="400"/>
              </a:spcAft>
              <a:defRPr sz="1200">
                <a:solidFill>
                  <a:srgbClr val="0B1B2D"/>
                </a:solidFill>
              </a:defRPr>
            </a:pPr>
            <a:r>
              <a:t>• Stateless: Server tidak perlu menyimpan token di Redis atau database</a:t>
            </a:r>
          </a:p>
          <a:p>
            <a:pPr>
              <a:spcAft>
                <a:spcPts val="400"/>
              </a:spcAft>
              <a:defRPr sz="1200">
                <a:solidFill>
                  <a:srgbClr val="0B1B2D"/>
                </a:solidFill>
              </a:defRPr>
            </a:pPr>
            <a:r>
              <a:t>• Cryptographically Bound: Terikat pada ID sesi pengguna aktif</a:t>
            </a:r>
          </a:p>
          <a:p>
            <a:pPr>
              <a:spcAft>
                <a:spcPts val="400"/>
              </a:spcAft>
              <a:defRPr sz="1200">
                <a:solidFill>
                  <a:srgbClr val="0B1B2D"/>
                </a:solidFill>
              </a:defRPr>
            </a:pPr>
            <a:r>
              <a:t>• Anti-Replay &amp; Expiring: Dilengkapi batas waktu kedaluwarsa (TTL)</a:t>
            </a:r>
          </a:p>
          <a:p>
            <a:pPr>
              <a:defRPr sz="1200" b="1">
                <a:solidFill>
                  <a:srgbClr val="087F76"/>
                </a:solidFill>
              </a:defRPr>
            </a:pPr>
            <a:r>
              <a:t>KEBAL SUBDOMAIN TAKEOVER</a:t>
            </a:r>
          </a:p>
          <a:p>
            <a:pPr>
              <a:spcAft>
                <a:spcPts val="400"/>
              </a:spcAft>
              <a:defRPr sz="1200">
                <a:solidFill>
                  <a:srgbClr val="0B1B2D"/>
                </a:solidFill>
              </a:defRPr>
            </a:pPr>
            <a:r>
              <a:t>• Naive Double-Submit cookie dapat disuntik attacker; HMAC signature menggagalkannya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Pola Signed Double-Submit Token menggabungkan efisiensi stateless dengan integritas kriptografis. Payload token berisi Session ID, timestamp pembuatan, dan random nonce 16-byte yang ditandatangani dengan HMAC-SHA256. Penyerang yang menguasai subdomain tidak dapat memalsukan token karena tidak memiliki secret key server.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HMAC-signed double-submit tokens provide stateless security immune to cookie injection.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labs/36-cors-and-csrf/internal/csrf/token.go:43-59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Implementasi Generate &amp; Validate Token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Validasi tanda tangan, Session ID, masa aktif, dan constant-time compare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parts := strings.Split(string(decoded), ":")</a:t>
            </a:r>
            <a:br/>
            <a:r>
              <a:t>sessionID, tsStr, nonceStr, sigB64 := parts[0], parts[1], parts[2], parts[3]</a:t>
            </a:r>
            <a:br/>
            <a:r>
              <a:t>if sessionID != expectedSessionID { return ErrInvalidToken }</a:t>
            </a:r>
            <a:br/>
            <a:br/>
            <a:r>
              <a:t>ts, err := strconv.ParseInt(tsStr, 10, 64)</a:t>
            </a:r>
            <a:br/>
            <a:r>
              <a:t>if err != nil || time.Since(time.Unix(ts, 0)) &gt; tm.ttl {</a:t>
            </a:r>
            <a:br/>
            <a:r>
              <a:t>    return ErrExpiredToken</a:t>
            </a:r>
            <a:br/>
            <a:r>
              <a:t>}</a:t>
            </a:r>
            <a:br/>
            <a:r>
              <a:t>expectedSig := hmac.New(sha256.New, tm.secret).Sum(payload)</a:t>
            </a:r>
            <a:br/>
            <a:r>
              <a:t>if subtle.ConstantTimeCompare(actualSig, expectedSig) != 1 {</a:t>
            </a:r>
            <a:br/>
            <a:r>
              <a:t>    return ErrInvalidToken</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Method ValidateToken() di internal/csrf/token.go menjalankan validasi berlapis. Token diurai menjadi empat komponen. Validator memeriksa kecocokan Session ID, memastikan timestamp belum kedaluwarsa, dan menghitung ulang HMAC signature. subtle.ConstantTimeCompare digunakan untuk mencegah penyerang membongkar signature via timing attack.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Constant-time verification prevents side-channel timing attacks on cryptographic signatures.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labs/36-cors-and-csrf/internal/csrf/token.go:62-110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Middleware Proteksi CSRF di HTTP Handler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Mengabaikan method aman dan memvalidasi token dari header maupun form body</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if r.Method == GET || r.Method == HEAD || r.Method == OPTIONS {</a:t>
            </a:r>
            <a:br/>
            <a:r>
              <a:t>    next.ServeHTTP(w, r); return</a:t>
            </a:r>
            <a:br/>
            <a:r>
              <a:t>}</a:t>
            </a:r>
            <a:br/>
            <a:r>
              <a:t>cookie, err := r.Cookie(m.cookieName)</a:t>
            </a:r>
            <a:br/>
            <a:r>
              <a:t>if err != nil || cookie.Value == "" {</a:t>
            </a:r>
            <a:br/>
            <a:r>
              <a:t>    http.Error(w, "Unauthorized: missing cookie", 401); return</a:t>
            </a:r>
            <a:br/>
            <a:r>
              <a:t>}</a:t>
            </a:r>
            <a:br/>
            <a:r>
              <a:t>token := r.Header.Get("X-CSRF-Token")</a:t>
            </a:r>
            <a:br/>
            <a:r>
              <a:t>if token == "" { token = r.PostFormValue("csrf_token") }</a:t>
            </a:r>
            <a:br/>
            <a:br/>
            <a:r>
              <a:t>if err := m.tokenManager.ValidateToken(token, cookie.Value); err != nil {</a:t>
            </a:r>
            <a:br/>
            <a:r>
              <a:t>    http.Error(w, "Forbidden: CSRF validation failed", 403); return</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Middleware CSRF bertindak sebagai gerbang pengaman mutasi data. Request dengan method aman (GET, HEAD, OPTIONS) langsung dilewatkan. Untuk method mutasi (POST, PUT, DELETE), middleware mengekstrak cookie sesi dan mengambil token CSRF dari header atau form field. Jika token tidak cocok atau kedaluwarsa, server menolak dengan HTTP 403 Forbidden.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Safeguard state mutation: exempt safe methods, extract token from header/form, verify against session.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labs/36-cors-and-csrf/internal/csrf/middleware.go:24-53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Fetch Metadata: Memanfaatkan Sec-Fetch-Site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Header antipemalsuan browser untuk mengidentifikasi asal usul inisiasi request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fetchSite := r.Header.Get("Sec-Fetch-Site")</a:t>
            </a:r>
            <a:br/>
            <a:r>
              <a:t>if fetchSite == "cross-site" {</a:t>
            </a:r>
            <a:br/>
            <a:r>
              <a:t>    if r.Method != GET &amp;&amp; r.Method != HEAD &amp;&amp; r.Method != OPTIONS {</a:t>
            </a:r>
            <a:br/>
            <a:r>
              <a:t>        http.Error(w, "Forbidden: Cross-site rejected", 403)</a:t>
            </a:r>
            <a:br/>
            <a:r>
              <a:t>        return</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Fetch Metadata merupakan standar W3C modern di mana browser melampirkan header Sec-Fetch-Site pada setiap request keluar. Header ini bernilai cross-site jika dipicu dari domain luar. Karena header ini dikelola langsung oleh mesin browser dan dilindungi dari manipulasi JavaScript, backend dapat menolak request mutasi cross-site tanpa perlu token sama sekali.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Browser-controlled metadata tells the unvarnished truth about request origin.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labs/36-cors-and-csrf/internal/csrf/middleware.go:55-70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Custom Header Enforcement untuk API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Memanfaatkan keterbatasan form HTML standar untuk mematikan eksploitasi CSRF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RequireCustomHeaderMiddleware(headerKey, expectedValue string) {</a:t>
            </a:r>
            <a:br/>
            <a:r>
              <a:t>    val := r.Header.Get(headerKey)</a:t>
            </a:r>
            <a:br/>
            <a:r>
              <a:t>    if val == "" || !strings.EqualFold(val, expectedValue) {</a:t>
            </a:r>
            <a:br/>
            <a:r>
              <a:t>        http.Error(w, "Forbidden: Missing custom header", 403); return</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Salah satu pertahanan paling sederhana namun ampuh untuk API backend adalah mewajibkan header kustom seperti X-Requested-With: XMLHttpRequest. Karena tag form HTML standar di browser tidak memiliki kemampuan menambahkan custom header HTTP, seluruh upaya eksploitasi form CSRF klasik langsung gagal sebelum mencapai handler bisnis.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HTML forms cannot emit custom headers. Require a custom header, defeat form CSRF by definition.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labs/36-cors-and-csrf/internal/csrf/middleware.go:72-86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Peran Atribut Cookie SameSite: Lax vs Strict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Membendung pengiriman kredensial otomatis pada batas navigasi browser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SAMESITE=STRICT</a:t>
            </a:r>
          </a:p>
          <a:p>
            <a:pPr>
              <a:spcAft>
                <a:spcPts val="400"/>
              </a:spcAft>
              <a:defRPr sz="1200">
                <a:solidFill>
                  <a:srgbClr val="0B1B2D"/>
                </a:solidFill>
              </a:defRPr>
            </a:pPr>
            <a:r>
              <a:t>• Cookie tidak pernah dikirim pada request lintas situs dalam kondisi apapun</a:t>
            </a:r>
          </a:p>
          <a:p>
            <a:pPr>
              <a:spcAft>
                <a:spcPts val="400"/>
              </a:spcAft>
              <a:defRPr sz="1200">
                <a:solidFill>
                  <a:srgbClr val="0B1B2D"/>
                </a:solidFill>
              </a:defRPr>
            </a:pPr>
            <a:r>
              <a:t>• Bahkan saat user mengklik link dari email atau search engine, cookie ditahan</a:t>
            </a:r>
          </a:p>
          <a:p>
            <a:pPr>
              <a:spcAft>
                <a:spcPts val="400"/>
              </a:spcAft>
              <a:defRPr sz="1200">
                <a:solidFill>
                  <a:srgbClr val="0B1B2D"/>
                </a:solidFill>
              </a:defRPr>
            </a:pPr>
            <a:r>
              <a:t>• Sangat aman, namun mengorbankan kenyamanan login navigasi eksternal</a:t>
            </a:r>
          </a:p>
          <a:p>
            <a:pPr>
              <a:defRPr sz="1200" b="1">
                <a:solidFill>
                  <a:srgbClr val="087F76"/>
                </a:solidFill>
              </a:defRPr>
            </a:pPr>
            <a:r>
              <a:t>SAMESITE=LAX (DEFAULT BROWSER MODERN)</a:t>
            </a:r>
          </a:p>
          <a:p>
            <a:pPr>
              <a:spcAft>
                <a:spcPts val="400"/>
              </a:spcAft>
              <a:defRPr sz="1200">
                <a:solidFill>
                  <a:srgbClr val="0B1B2D"/>
                </a:solidFill>
              </a:defRPr>
            </a:pPr>
            <a:r>
              <a:t>• Cookie ditahan pada cross-site POST (memblokir serangan form CSRF)</a:t>
            </a:r>
          </a:p>
          <a:p>
            <a:pPr>
              <a:spcAft>
                <a:spcPts val="400"/>
              </a:spcAft>
              <a:defRPr sz="1200">
                <a:solidFill>
                  <a:srgbClr val="0B1B2D"/>
                </a:solidFill>
              </a:defRPr>
            </a:pPr>
            <a:r>
              <a:t>• Cookie tetap dikirim pada top-level GET navigation (misal klik link)</a:t>
            </a:r>
          </a:p>
          <a:p>
            <a:pPr>
              <a:spcAft>
                <a:spcPts val="400"/>
              </a:spcAft>
              <a:defRPr sz="1200">
                <a:solidFill>
                  <a:srgbClr val="0B1B2D"/>
                </a:solidFill>
              </a:defRPr>
            </a:pPr>
            <a:r>
              <a:t>• Wajib: Endpoint GET harus idempotent dan tidak boleh memutasi state!</a:t>
            </a:r>
          </a:p>
          <a:p>
            <a:pPr>
              <a:defRPr sz="1200" b="1">
                <a:solidFill>
                  <a:srgbClr val="087F76"/>
                </a:solidFill>
              </a:defRPr>
            </a:pPr>
            <a:r>
              <a:t>SAMESITE=NONE</a:t>
            </a:r>
          </a:p>
          <a:p>
            <a:pPr>
              <a:spcAft>
                <a:spcPts val="400"/>
              </a:spcAft>
              <a:defRPr sz="1200">
                <a:solidFill>
                  <a:srgbClr val="0B1B2D"/>
                </a:solidFill>
              </a:defRPr>
            </a:pPr>
            <a:r>
              <a:t>• Cookie selalu dikirim lintas situs; wajib menyertakan flag Secure (HTTPS)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Atribut SameSite pada cookie menentukan kapan browser diizinkan melampirkan cookie sesi. SameSite=Lax yang menjadi default browser modern menahan cookie pada request POST lintas situs. Namun, karena cookie tetap dikirim pada navigasi top-level GET, sistem tidak boleh melakukan mutasi saldo atau perubahan data melalui method GET.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SameSite=Lax blocks cross-origin POST cookies; keep GET endpoints strictly read-only.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Eksekusi Demo: Bukti Terminal Langsung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Simulasi nyata serangan dan pertahanan pada cmd/demo/main.go</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[1] Initial State: Victim: $1000 | Attacker: $50</a:t>
            </a:r>
            <a:br/>
            <a:r>
              <a:t>[2] DEMO: Attack on Vulnerable Endpoint (Origin: https://evil.com)</a:t>
            </a:r>
            <a:br/>
            <a:r>
              <a:t>    HTTP Response Code: 200 | CORS Header: ""</a:t>
            </a:r>
            <a:br/>
            <a:r>
              <a:t>    [RESULT] Transfer EXECUTED! Victim: $600 | Attacker: $450</a:t>
            </a:r>
            <a:br/>
            <a:r>
              <a:t>[3] DEMO: Attack on Protected Endpoint (No CSRF Token)</a:t>
            </a:r>
            <a:br/>
            <a:r>
              <a:t>    HTTP Response Code: 403</a:t>
            </a:r>
            <a:br/>
            <a:r>
              <a:t>    [RESULT] Transfer BLOCKED! Victim: $600 | Attacker: $450</a:t>
            </a:r>
            <a:br/>
            <a:r>
              <a:t>[4] DEMO: Legitimate Flow with Valid CSRF Token</a:t>
            </a:r>
            <a:br/>
            <a:r>
              <a:t>    Obtained Signed Token: c2Vzc2lvbi12aWN0aW0tc2Vjc...</a:t>
            </a:r>
            <a:br/>
            <a:r>
              <a:t>    [RESULT] Transfer Succeeded! Victim: $500 | Attacker: $550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Program demo di cmd/demo/main.go memperlihatkan realitas serangan secara nyata. Pada endpoint rentan, serangan transfer $400 dari evil.com sukses dieksekusi menghasilkan saldo korban $600. Namun, ketika serangan diarahkan ke endpoint terlindungi tanpa token CSRF, server mengembalikan status 403 Forbidden dan saldo korban tetap aman.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Terminal output confirms: vulnerable endpoints fall to simple POST; protected endpoints hold firm.</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Suite &amp; Bebas Race Condition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13 test case diverifikasi 100% lulus dengan Go Race Detector aktif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PASS: TestBankTransfer_VulnerableEndpoint       (0.00s)</a:t>
            </a:r>
            <a:br/>
            <a:r>
              <a:t>PASS: TestCORS_Preflight_Success               (0.00s)</a:t>
            </a:r>
            <a:br/>
            <a:r>
              <a:t>PASS: TestCORS_Credentials_With_Wildcard       (0.00s)</a:t>
            </a:r>
            <a:br/>
            <a:r>
              <a:t>PASS: TestTokenManager_GenerateAndValidate     (0.00s)</a:t>
            </a:r>
            <a:br/>
            <a:r>
              <a:t>PASS: TestTokenManager_ExpiredToken            (0.02s)</a:t>
            </a:r>
            <a:br/>
            <a:r>
              <a:t>PASS: TestIntegration_CORS_Does_Not_Prevent    (0.00s)</a:t>
            </a:r>
            <a:br/>
            <a:r>
              <a:t>PASS: TestIntegration_CSRF_Token_Prevents      (0.00s)</a:t>
            </a:r>
            <a:br/>
            <a:r>
              <a:t>PASS: TestIntegration_SecFetchSite_Protection  (0.00s)</a:t>
            </a:r>
            <a:br/>
            <a:r>
              <a:t>PASS: TestIntegration_Concurrency_RaceCondition (0.00s)</a:t>
            </a:r>
            <a:br/>
            <a:r>
              <a:t>PASS: go test -race ./... (Race-Clean Verified)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13 pengujian unit dan integrasi lulus dengan Go Race Detector aktif. Pengujian mencakup verifikasi penolakan origin CORS, validasi tanda tangan HMAC, penolakan token kedaluwarsa, blokade cross-site Sec-Fetch-Site, pencegahan token reuse lintas sesi, hingga stabilitas konkurensi di bawah beban paralel.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test assertions prove security invariants and concurrency safety.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labs/36-cors-and-csrf/tests/integration_test.go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Evaluasi: Mekanisme Pertahanan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Perbandingan komparatif 5 pendekatan keamanan web lintas origin</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024128"/>
                <a:gridCol w="1024128"/>
                <a:gridCol w="1024128"/>
                <a:gridCol w="1024128"/>
                <a:gridCol w="1024128"/>
              </a:tblGrid>
              <a:tr h="457200">
                <a:tc>
                  <a:txBody>
                    <a:bodyPr/>
                    <a:lstStyle/>
                    <a:p>
                      <a:pPr>
                        <a:defRPr b="1" sz="1100">
                          <a:solidFill>
                            <a:srgbClr val="FFFFFF"/>
                          </a:solidFill>
                        </a:defRPr>
                      </a:pPr>
                      <a:r>
                        <a:t>Mekanisme Keamanan</a:t>
                      </a:r>
                    </a:p>
                  </a:txBody>
                  <a:tcPr>
                    <a:solidFill>
                      <a:srgbClr val="0B1B2D"/>
                    </a:solidFill>
                  </a:tcPr>
                </a:tc>
                <a:tc>
                  <a:txBody>
                    <a:bodyPr/>
                    <a:lstStyle/>
                    <a:p>
                      <a:pPr>
                        <a:defRPr b="1" sz="1100">
                          <a:solidFill>
                            <a:srgbClr val="FFFFFF"/>
                          </a:solidFill>
                        </a:defRPr>
                      </a:pPr>
                      <a:r>
                        <a:t>Target Proteksi</a:t>
                      </a:r>
                    </a:p>
                  </a:txBody>
                  <a:tcPr>
                    <a:solidFill>
                      <a:srgbClr val="0B1B2D"/>
                    </a:solidFill>
                  </a:tcPr>
                </a:tc>
                <a:tc>
                  <a:txBody>
                    <a:bodyPr/>
                    <a:lstStyle/>
                    <a:p>
                      <a:pPr>
                        <a:defRPr b="1" sz="1100">
                          <a:solidFill>
                            <a:srgbClr val="FFFFFF"/>
                          </a:solidFill>
                        </a:defRPr>
                      </a:pPr>
                      <a:r>
                        <a:t>Lokasi Penegakan</a:t>
                      </a:r>
                    </a:p>
                  </a:txBody>
                  <a:tcPr>
                    <a:solidFill>
                      <a:srgbClr val="0B1B2D"/>
                    </a:solidFill>
                  </a:tcPr>
                </a:tc>
                <a:tc>
                  <a:txBody>
                    <a:bodyPr/>
                    <a:lstStyle/>
                    <a:p>
                      <a:pPr>
                        <a:defRPr b="1" sz="1100">
                          <a:solidFill>
                            <a:srgbClr val="FFFFFF"/>
                          </a:solidFill>
                        </a:defRPr>
                      </a:pPr>
                      <a:r>
                        <a:t>Tangkal Form CSRF?</a:t>
                      </a:r>
                    </a:p>
                  </a:txBody>
                  <a:tcPr>
                    <a:solidFill>
                      <a:srgbClr val="0B1B2D"/>
                    </a:solidFill>
                  </a:tcPr>
                </a:tc>
                <a:tc>
                  <a:txBody>
                    <a:bodyPr/>
                    <a:lstStyle/>
                    <a:p>
                      <a:pPr>
                        <a:defRPr b="1" sz="1100">
                          <a:solidFill>
                            <a:srgbClr val="FFFFFF"/>
                          </a:solidFill>
                        </a:defRPr>
                      </a:pPr>
                      <a:r>
                        <a:t>Ketergantungan Browser</a:t>
                      </a:r>
                    </a:p>
                  </a:txBody>
                  <a:tcPr>
                    <a:solidFill>
                      <a:srgbClr val="0B1B2D"/>
                    </a:solidFill>
                  </a:tcPr>
                </a:tc>
              </a:tr>
              <a:tr h="457200">
                <a:tc>
                  <a:txBody>
                    <a:bodyPr/>
                    <a:lstStyle/>
                    <a:p>
                      <a:pPr>
                        <a:defRPr sz="1000">
                          <a:solidFill>
                            <a:srgbClr val="0B1B2D"/>
                          </a:solidFill>
                        </a:defRPr>
                      </a:pPr>
                      <a:r>
                        <a:t>CORS Middleware</a:t>
                      </a:r>
                    </a:p>
                  </a:txBody>
                  <a:tcPr>
                    <a:solidFill>
                      <a:srgbClr val="FFFFFF"/>
                    </a:solidFill>
                  </a:tcPr>
                </a:tc>
                <a:tc>
                  <a:txBody>
                    <a:bodyPr/>
                    <a:lstStyle/>
                    <a:p>
                      <a:pPr>
                        <a:defRPr sz="1000">
                          <a:solidFill>
                            <a:srgbClr val="0B1B2D"/>
                          </a:solidFill>
                        </a:defRPr>
                      </a:pPr>
                      <a:r>
                        <a:t>Relaksasi Read</a:t>
                      </a:r>
                    </a:p>
                  </a:txBody>
                  <a:tcPr>
                    <a:solidFill>
                      <a:srgbClr val="FFFFFF"/>
                    </a:solidFill>
                  </a:tcPr>
                </a:tc>
                <a:tc>
                  <a:txBody>
                    <a:bodyPr/>
                    <a:lstStyle/>
                    <a:p>
                      <a:pPr>
                        <a:defRPr sz="1000">
                          <a:solidFill>
                            <a:srgbClr val="0B1B2D"/>
                          </a:solidFill>
                        </a:defRPr>
                      </a:pPr>
                      <a:r>
                        <a:t>Browser &amp; API</a:t>
                      </a:r>
                    </a:p>
                  </a:txBody>
                  <a:tcPr>
                    <a:solidFill>
                      <a:srgbClr val="FFFFFF"/>
                    </a:solidFill>
                  </a:tcPr>
                </a:tc>
                <a:tc>
                  <a:txBody>
                    <a:bodyPr/>
                    <a:lstStyle/>
                    <a:p>
                      <a:pPr>
                        <a:defRPr sz="1000">
                          <a:solidFill>
                            <a:srgbClr val="0B1B2D"/>
                          </a:solidFill>
                        </a:defRPr>
                      </a:pPr>
                      <a:r>
                        <a:t>TIDAK</a:t>
                      </a:r>
                    </a:p>
                  </a:txBody>
                  <a:tcPr>
                    <a:solidFill>
                      <a:srgbClr val="FFFFFF"/>
                    </a:solidFill>
                  </a:tcPr>
                </a:tc>
                <a:tc>
                  <a:txBody>
                    <a:bodyPr/>
                    <a:lstStyle/>
                    <a:p>
                      <a:pPr>
                        <a:defRPr sz="1000">
                          <a:solidFill>
                            <a:srgbClr val="0B1B2D"/>
                          </a:solidFill>
                        </a:defRPr>
                      </a:pPr>
                      <a:r>
                        <a:t>Penuh (Fetch Spec)</a:t>
                      </a:r>
                    </a:p>
                  </a:txBody>
                  <a:tcPr>
                    <a:solidFill>
                      <a:srgbClr val="FFFFFF"/>
                    </a:solidFill>
                  </a:tcPr>
                </a:tc>
              </a:tr>
              <a:tr h="457200">
                <a:tc>
                  <a:txBody>
                    <a:bodyPr/>
                    <a:lstStyle/>
                    <a:p>
                      <a:pPr>
                        <a:defRPr sz="1000">
                          <a:solidFill>
                            <a:srgbClr val="0B1B2D"/>
                          </a:solidFill>
                        </a:defRPr>
                      </a:pPr>
                      <a:r>
                        <a:t>Signed CSRF Token</a:t>
                      </a:r>
                    </a:p>
                  </a:txBody>
                  <a:tcPr>
                    <a:solidFill>
                      <a:srgbClr val="FFFFFF"/>
                    </a:solidFill>
                  </a:tcPr>
                </a:tc>
                <a:tc>
                  <a:txBody>
                    <a:bodyPr/>
                    <a:lstStyle/>
                    <a:p>
                      <a:pPr>
                        <a:defRPr sz="1000">
                          <a:solidFill>
                            <a:srgbClr val="0B1B2D"/>
                          </a:solidFill>
                        </a:defRPr>
                      </a:pPr>
                      <a:r>
                        <a:t>Mutasi Write</a:t>
                      </a:r>
                    </a:p>
                  </a:txBody>
                  <a:tcPr>
                    <a:solidFill>
                      <a:srgbClr val="FFFFFF"/>
                    </a:solidFill>
                  </a:tcPr>
                </a:tc>
                <a:tc>
                  <a:txBody>
                    <a:bodyPr/>
                    <a:lstStyle/>
                    <a:p>
                      <a:pPr>
                        <a:defRPr sz="1000">
                          <a:solidFill>
                            <a:srgbClr val="0B1B2D"/>
                          </a:solidFill>
                        </a:defRPr>
                      </a:pPr>
                      <a:r>
                        <a:t>Backend Server</a:t>
                      </a:r>
                    </a:p>
                  </a:txBody>
                  <a:tcPr>
                    <a:solidFill>
                      <a:srgbClr val="FFFFFF"/>
                    </a:solidFill>
                  </a:tcPr>
                </a:tc>
                <a:tc>
                  <a:txBody>
                    <a:bodyPr/>
                    <a:lstStyle/>
                    <a:p>
                      <a:pPr>
                        <a:defRPr sz="1000">
                          <a:solidFill>
                            <a:srgbClr val="0B1B2D"/>
                          </a:solidFill>
                        </a:defRPr>
                      </a:pPr>
                      <a:r>
                        <a:t>YA</a:t>
                      </a:r>
                    </a:p>
                  </a:txBody>
                  <a:tcPr>
                    <a:solidFill>
                      <a:srgbClr val="FFFFFF"/>
                    </a:solidFill>
                  </a:tcPr>
                </a:tc>
                <a:tc>
                  <a:txBody>
                    <a:bodyPr/>
                    <a:lstStyle/>
                    <a:p>
                      <a:pPr>
                        <a:defRPr sz="1000">
                          <a:solidFill>
                            <a:srgbClr val="0B1B2D"/>
                          </a:solidFill>
                        </a:defRPr>
                      </a:pPr>
                      <a:r>
                        <a:t>Nol (Bekerja di semua)</a:t>
                      </a:r>
                    </a:p>
                  </a:txBody>
                  <a:tcPr>
                    <a:solidFill>
                      <a:srgbClr val="FFFFFF"/>
                    </a:solidFill>
                  </a:tcPr>
                </a:tc>
              </a:tr>
              <a:tr h="457200">
                <a:tc>
                  <a:txBody>
                    <a:bodyPr/>
                    <a:lstStyle/>
                    <a:p>
                      <a:pPr>
                        <a:defRPr sz="1000">
                          <a:solidFill>
                            <a:srgbClr val="0B1B2D"/>
                          </a:solidFill>
                        </a:defRPr>
                      </a:pPr>
                      <a:r>
                        <a:t>Fetch Metadata</a:t>
                      </a:r>
                    </a:p>
                  </a:txBody>
                  <a:tcPr>
                    <a:solidFill>
                      <a:srgbClr val="FFFFFF"/>
                    </a:solidFill>
                  </a:tcPr>
                </a:tc>
                <a:tc>
                  <a:txBody>
                    <a:bodyPr/>
                    <a:lstStyle/>
                    <a:p>
                      <a:pPr>
                        <a:defRPr sz="1000">
                          <a:solidFill>
                            <a:srgbClr val="0B1B2D"/>
                          </a:solidFill>
                        </a:defRPr>
                      </a:pPr>
                      <a:r>
                        <a:t>Mutasi Write</a:t>
                      </a:r>
                    </a:p>
                  </a:txBody>
                  <a:tcPr>
                    <a:solidFill>
                      <a:srgbClr val="FFFFFF"/>
                    </a:solidFill>
                  </a:tcPr>
                </a:tc>
                <a:tc>
                  <a:txBody>
                    <a:bodyPr/>
                    <a:lstStyle/>
                    <a:p>
                      <a:pPr>
                        <a:defRPr sz="1000">
                          <a:solidFill>
                            <a:srgbClr val="0B1B2D"/>
                          </a:solidFill>
                        </a:defRPr>
                      </a:pPr>
                      <a:r>
                        <a:t>Gateway / App</a:t>
                      </a:r>
                    </a:p>
                  </a:txBody>
                  <a:tcPr>
                    <a:solidFill>
                      <a:srgbClr val="FFFFFF"/>
                    </a:solidFill>
                  </a:tcPr>
                </a:tc>
                <a:tc>
                  <a:txBody>
                    <a:bodyPr/>
                    <a:lstStyle/>
                    <a:p>
                      <a:pPr>
                        <a:defRPr sz="1000">
                          <a:solidFill>
                            <a:srgbClr val="0B1B2D"/>
                          </a:solidFill>
                        </a:defRPr>
                      </a:pPr>
                      <a:r>
                        <a:t>YA</a:t>
                      </a:r>
                    </a:p>
                  </a:txBody>
                  <a:tcPr>
                    <a:solidFill>
                      <a:srgbClr val="FFFFFF"/>
                    </a:solidFill>
                  </a:tcPr>
                </a:tc>
                <a:tc>
                  <a:txBody>
                    <a:bodyPr/>
                    <a:lstStyle/>
                    <a:p>
                      <a:pPr>
                        <a:defRPr sz="1000">
                          <a:solidFill>
                            <a:srgbClr val="0B1B2D"/>
                          </a:solidFill>
                        </a:defRPr>
                      </a:pPr>
                      <a:r>
                        <a:t>Butuh browser modern</a:t>
                      </a:r>
                    </a:p>
                  </a:txBody>
                  <a:tcPr>
                    <a:solidFill>
                      <a:srgbClr val="FFFFFF"/>
                    </a:solidFill>
                  </a:tcPr>
                </a:tc>
              </a:tr>
              <a:tr h="457200">
                <a:tc>
                  <a:txBody>
                    <a:bodyPr/>
                    <a:lstStyle/>
                    <a:p>
                      <a:pPr>
                        <a:defRPr sz="1000">
                          <a:solidFill>
                            <a:srgbClr val="0B1B2D"/>
                          </a:solidFill>
                        </a:defRPr>
                      </a:pPr>
                      <a:r>
                        <a:t>Custom Header API</a:t>
                      </a:r>
                    </a:p>
                  </a:txBody>
                  <a:tcPr>
                    <a:solidFill>
                      <a:srgbClr val="FFFFFF"/>
                    </a:solidFill>
                  </a:tcPr>
                </a:tc>
                <a:tc>
                  <a:txBody>
                    <a:bodyPr/>
                    <a:lstStyle/>
                    <a:p>
                      <a:pPr>
                        <a:defRPr sz="1000">
                          <a:solidFill>
                            <a:srgbClr val="0B1B2D"/>
                          </a:solidFill>
                        </a:defRPr>
                      </a:pPr>
                      <a:r>
                        <a:t>Mutasi Write</a:t>
                      </a:r>
                    </a:p>
                  </a:txBody>
                  <a:tcPr>
                    <a:solidFill>
                      <a:srgbClr val="FFFFFF"/>
                    </a:solidFill>
                  </a:tcPr>
                </a:tc>
                <a:tc>
                  <a:txBody>
                    <a:bodyPr/>
                    <a:lstStyle/>
                    <a:p>
                      <a:pPr>
                        <a:defRPr sz="1000">
                          <a:solidFill>
                            <a:srgbClr val="0B1B2D"/>
                          </a:solidFill>
                        </a:defRPr>
                      </a:pPr>
                      <a:r>
                        <a:t>Gateway / App</a:t>
                      </a:r>
                    </a:p>
                  </a:txBody>
                  <a:tcPr>
                    <a:solidFill>
                      <a:srgbClr val="FFFFFF"/>
                    </a:solidFill>
                  </a:tcPr>
                </a:tc>
                <a:tc>
                  <a:txBody>
                    <a:bodyPr/>
                    <a:lstStyle/>
                    <a:p>
                      <a:pPr>
                        <a:defRPr sz="1000">
                          <a:solidFill>
                            <a:srgbClr val="0B1B2D"/>
                          </a:solidFill>
                        </a:defRPr>
                      </a:pPr>
                      <a:r>
                        <a:t>YA</a:t>
                      </a:r>
                    </a:p>
                  </a:txBody>
                  <a:tcPr>
                    <a:solidFill>
                      <a:srgbClr val="FFFFFF"/>
                    </a:solidFill>
                  </a:tcPr>
                </a:tc>
                <a:tc>
                  <a:txBody>
                    <a:bodyPr/>
                    <a:lstStyle/>
                    <a:p>
                      <a:pPr>
                        <a:defRPr sz="1000">
                          <a:solidFill>
                            <a:srgbClr val="0B1B2D"/>
                          </a:solidFill>
                        </a:defRPr>
                      </a:pPr>
                      <a:r>
                        <a:t>Nol (API Client)</a:t>
                      </a:r>
                    </a:p>
                  </a:txBody>
                  <a:tcPr>
                    <a:solidFill>
                      <a:srgbClr val="FFFFFF"/>
                    </a:solidFill>
                  </a:tcPr>
                </a:tc>
              </a:tr>
              <a:tr h="457200">
                <a:tc>
                  <a:txBody>
                    <a:bodyPr/>
                    <a:lstStyle/>
                    <a:p>
                      <a:pPr>
                        <a:defRPr sz="1000">
                          <a:solidFill>
                            <a:srgbClr val="0B1B2D"/>
                          </a:solidFill>
                        </a:defRPr>
                      </a:pPr>
                      <a:r>
                        <a:t>Cookie SameSite</a:t>
                      </a:r>
                    </a:p>
                  </a:txBody>
                  <a:tcPr>
                    <a:solidFill>
                      <a:srgbClr val="FFFFFF"/>
                    </a:solidFill>
                  </a:tcPr>
                </a:tc>
                <a:tc>
                  <a:txBody>
                    <a:bodyPr/>
                    <a:lstStyle/>
                    <a:p>
                      <a:pPr>
                        <a:defRPr sz="1000">
                          <a:solidFill>
                            <a:srgbClr val="0B1B2D"/>
                          </a:solidFill>
                        </a:defRPr>
                      </a:pPr>
                      <a:r>
                        <a:t>Ambient Cookie</a:t>
                      </a:r>
                    </a:p>
                  </a:txBody>
                  <a:tcPr>
                    <a:solidFill>
                      <a:srgbClr val="FFFFFF"/>
                    </a:solidFill>
                  </a:tcPr>
                </a:tc>
                <a:tc>
                  <a:txBody>
                    <a:bodyPr/>
                    <a:lstStyle/>
                    <a:p>
                      <a:pPr>
                        <a:defRPr sz="1000">
                          <a:solidFill>
                            <a:srgbClr val="0B1B2D"/>
                          </a:solidFill>
                        </a:defRPr>
                      </a:pPr>
                      <a:r>
                        <a:t>Browser Engine</a:t>
                      </a:r>
                    </a:p>
                  </a:txBody>
                  <a:tcPr>
                    <a:solidFill>
                      <a:srgbClr val="FFFFFF"/>
                    </a:solidFill>
                  </a:tcPr>
                </a:tc>
                <a:tc>
                  <a:txBody>
                    <a:bodyPr/>
                    <a:lstStyle/>
                    <a:p>
                      <a:pPr>
                        <a:defRPr sz="1000">
                          <a:solidFill>
                            <a:srgbClr val="0B1B2D"/>
                          </a:solidFill>
                        </a:defRPr>
                      </a:pPr>
                      <a:r>
                        <a:t>YA (Lax/Strict)</a:t>
                      </a:r>
                    </a:p>
                  </a:txBody>
                  <a:tcPr>
                    <a:solidFill>
                      <a:srgbClr val="FFFFFF"/>
                    </a:solidFill>
                  </a:tcPr>
                </a:tc>
                <a:tc>
                  <a:txBody>
                    <a:bodyPr/>
                    <a:lstStyle/>
                    <a:p>
                      <a:pPr>
                        <a:defRPr sz="1000">
                          <a:solidFill>
                            <a:srgbClr val="0B1B2D"/>
                          </a:solidFill>
                        </a:defRPr>
                      </a:pPr>
                      <a:r>
                        <a:t>Butuh browser modern</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komparasi memperjelas posisi masing-masing mekanisme. CORS sama sekali tidak menangkal form CSRF karena fokusnya adalah relaksasi pembacaan respons. Signed CSRF Token adalah satu-satunya mekanisme yang 100% independen dari peramban karena divalidasi langsung oleh logika kriptografis backend.</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Only cryptographic tokens provide absolute backend independence; other layers reinforce the perimeter.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Ancaman Tersembunyi: XSS Melumpuhkan CSRF</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Mengapa pertahanan CSRF terbaik sekalipun runtuh jika origin memiliki celah XSS</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ALUR BYPASS VIA XSS</a:t>
            </a:r>
          </a:p>
          <a:p>
            <a:pPr>
              <a:spcAft>
                <a:spcPts val="400"/>
              </a:spcAft>
              <a:defRPr sz="1200">
                <a:solidFill>
                  <a:srgbClr val="0B1B2D"/>
                </a:solidFill>
              </a:defRPr>
            </a:pPr>
            <a:r>
              <a:t>• 1. Penyerang menemukan celah Stored / Reflected XSS pada domain target</a:t>
            </a:r>
          </a:p>
          <a:p>
            <a:pPr>
              <a:spcAft>
                <a:spcPts val="400"/>
              </a:spcAft>
              <a:defRPr sz="1200">
                <a:solidFill>
                  <a:srgbClr val="0B1B2D"/>
                </a:solidFill>
              </a:defRPr>
            </a:pPr>
            <a:r>
              <a:t>• 2. Script jahat penyerang dieksekusi di dalam context origin yang sah</a:t>
            </a:r>
          </a:p>
          <a:p>
            <a:pPr>
              <a:spcAft>
                <a:spcPts val="400"/>
              </a:spcAft>
              <a:defRPr sz="1200">
                <a:solidFill>
                  <a:srgbClr val="0B1B2D"/>
                </a:solidFill>
              </a:defRPr>
            </a:pPr>
            <a:r>
              <a:t>• 3. Karena berada di origin yang sama, SOP mengizinkan script membaca DOM</a:t>
            </a:r>
          </a:p>
          <a:p>
            <a:pPr>
              <a:spcAft>
                <a:spcPts val="400"/>
              </a:spcAft>
              <a:defRPr sz="1200">
                <a:solidFill>
                  <a:srgbClr val="0B1B2D"/>
                </a:solidFill>
              </a:defRPr>
            </a:pPr>
            <a:r>
              <a:t>• 4. Script melakukan fetch ke /api/csrf-token dan membaca token sah</a:t>
            </a:r>
          </a:p>
          <a:p>
            <a:pPr>
              <a:spcAft>
                <a:spcPts val="400"/>
              </a:spcAft>
              <a:defRPr sz="1200">
                <a:solidFill>
                  <a:srgbClr val="0B1B2D"/>
                </a:solidFill>
              </a:defRPr>
            </a:pPr>
            <a:r>
              <a:t>• 5. Script mengeksekusi POST transfer lengkap dengan token dan cookie korban</a:t>
            </a:r>
          </a:p>
          <a:p>
            <a:pPr>
              <a:defRPr sz="1200" b="1">
                <a:solidFill>
                  <a:srgbClr val="087F76"/>
                </a:solidFill>
              </a:defRPr>
            </a:pPr>
            <a:r>
              <a:t>IMPLIKASI KEAMANAN</a:t>
            </a:r>
          </a:p>
          <a:p>
            <a:pPr>
              <a:spcAft>
                <a:spcPts val="400"/>
              </a:spcAft>
              <a:defRPr sz="1200">
                <a:solidFill>
                  <a:srgbClr val="0B1B2D"/>
                </a:solidFill>
              </a:defRPr>
            </a:pPr>
            <a:r>
              <a:t>• XSS adalah kerentanan tingkat origin yang mengalahkan seluruh pertahanan CSRF</a:t>
            </a:r>
          </a:p>
          <a:p>
            <a:pPr>
              <a:spcAft>
                <a:spcPts val="400"/>
              </a:spcAft>
              <a:defRPr sz="1200">
                <a:solidFill>
                  <a:srgbClr val="0B1B2D"/>
                </a:solidFill>
              </a:defRPr>
            </a:pPr>
            <a:r>
              <a:t>• Pertahanan CSRF wajib didampingi Content Security Policy (CSP) dan sanitasi input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Penting untuk diingat bahwa seluruh pertahanan anti-CSRF (baik token, SameSite, maupun Fetch Metadata) runtuh jika aplikasi memiliki kerentanan Cross-Site Scripting (XSS). Jika penyerang dapat menyuntikkan script ke origin target, script tersebut memiliki hak istimewa SOP untuk membaca token CSRF secara sah dan mengeksekusi transaksi atas nama korban.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XSS invalidates all anti-CSRF defenses by executing within the trusted origin context.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labs/36-cors-and-csrf/content/01-content-brief.md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Model &amp; Implementasi Lab 36</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Penyederhanaan pedagogis untuk menonjolkan prinsip mekanika protokol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1: SECRET KEY IN-MEMORY</a:t>
            </a:r>
          </a:p>
          <a:p>
            <a:pPr>
              <a:spcAft>
                <a:spcPts val="400"/>
              </a:spcAft>
              <a:defRPr sz="1200">
                <a:solidFill>
                  <a:srgbClr val="0B1B2D"/>
                </a:solidFill>
              </a:defRPr>
            </a:pPr>
            <a:r>
              <a:t>• Kunci rahasia HMAC menggunakan byte slice statis dalam kode demo</a:t>
            </a:r>
          </a:p>
          <a:p>
            <a:pPr>
              <a:spcAft>
                <a:spcPts val="400"/>
              </a:spcAft>
              <a:defRPr sz="1200">
                <a:solidFill>
                  <a:srgbClr val="0B1B2D"/>
                </a:solidFill>
              </a:defRPr>
            </a:pPr>
            <a:r>
              <a:t>• Produksi wajib menggunakan AWS Secrets Manager, Vault, dan key rotation</a:t>
            </a:r>
          </a:p>
          <a:p>
            <a:pPr>
              <a:defRPr sz="1200" b="1">
                <a:solidFill>
                  <a:srgbClr val="087F76"/>
                </a:solidFill>
              </a:defRPr>
            </a:pPr>
            <a:r>
              <a:t>BATAS 2: DELIMITER STRING PARSER</a:t>
            </a:r>
          </a:p>
          <a:p>
            <a:pPr>
              <a:spcAft>
                <a:spcPts val="400"/>
              </a:spcAft>
              <a:defRPr sz="1200">
                <a:solidFill>
                  <a:srgbClr val="0B1B2D"/>
                </a:solidFill>
              </a:defRPr>
            </a:pPr>
            <a:r>
              <a:t>• Token memisahkan field menggunakan karakter titik dua (':')</a:t>
            </a:r>
          </a:p>
          <a:p>
            <a:pPr>
              <a:spcAft>
                <a:spcPts val="400"/>
              </a:spcAft>
              <a:defRPr sz="1200">
                <a:solidFill>
                  <a:srgbClr val="0B1B2D"/>
                </a:solidFill>
              </a:defRPr>
            </a:pPr>
            <a:r>
              <a:t>• Jika sessionID sistem memuat karakter ':', parsing token akan terganggu</a:t>
            </a:r>
          </a:p>
          <a:p>
            <a:pPr>
              <a:spcAft>
                <a:spcPts val="400"/>
              </a:spcAft>
              <a:defRPr sz="1200">
                <a:solidFill>
                  <a:srgbClr val="0B1B2D"/>
                </a:solidFill>
              </a:defRPr>
            </a:pPr>
            <a:r>
              <a:t>• Produksi memerlukan format terstruktur seperti JSON, Protobuf, atau hex encoding</a:t>
            </a:r>
          </a:p>
          <a:p>
            <a:pPr>
              <a:defRPr sz="1200" b="1">
                <a:solidFill>
                  <a:srgbClr val="087F76"/>
                </a:solidFill>
              </a:defRPr>
            </a:pPr>
            <a:r>
              <a:t>BATAS 3: LINGKUP BROWSER</a:t>
            </a:r>
          </a:p>
          <a:p>
            <a:pPr>
              <a:spcAft>
                <a:spcPts val="400"/>
              </a:spcAft>
              <a:defRPr sz="1200">
                <a:solidFill>
                  <a:srgbClr val="0B1B2D"/>
                </a:solidFill>
              </a:defRPr>
            </a:pPr>
            <a:r>
              <a:t>• SOP, CORS, dan CSRF murni berada pada lingkup runtime peramban web</a:t>
            </a:r>
          </a:p>
          <a:p>
            <a:pPr>
              <a:spcAft>
                <a:spcPts val="400"/>
              </a:spcAft>
              <a:defRPr sz="1200">
                <a:solidFill>
                  <a:srgbClr val="0B1B2D"/>
                </a:solidFill>
              </a:defRPr>
            </a:pPr>
            <a:r>
              <a:t>• HTTP client non-browser (cURL, script backend) tidak terikat aturan ini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menyederhanakan beberapa aspek infrastruktur untuk menjaga fokus edukasi. Kunci rahasia HMAC di-hardcode dalam memori, dan token diurai menggunakan string delimiter sederhana. Dalam sistem produksi riil, kunci HMAC wajib dikelola melalui key management service dan token sebaiknya menggunakan format terstruktur seperti JSON Web Signature (JWS) atau Protobuf.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lab isolates cryptographic mechanics; production demands secret management and structured payloads.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Audit Keamanan CORS &amp; CSRF</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9 langkah verifikasi wajib sebelum merilis backend ke lingkungan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VERIFIKASI CORS &amp; HTTP</a:t>
            </a:r>
          </a:p>
          <a:p>
            <a:pPr>
              <a:spcAft>
                <a:spcPts val="400"/>
              </a:spcAft>
              <a:defRPr sz="1200">
                <a:solidFill>
                  <a:srgbClr val="0B1B2D"/>
                </a:solidFill>
              </a:defRPr>
            </a:pPr>
            <a:r>
              <a:t>• [ ] Method GET, HEAD, OPTIONS dipastikan bebas dari mutasi data database</a:t>
            </a:r>
          </a:p>
          <a:p>
            <a:pPr>
              <a:spcAft>
                <a:spcPts val="400"/>
              </a:spcAft>
              <a:defRPr sz="1200">
                <a:solidFill>
                  <a:srgbClr val="0B1B2D"/>
                </a:solidFill>
              </a:defRPr>
            </a:pPr>
            <a:r>
              <a:t>• [ ] CORS whitelist hanya mencantumkan domain tepercaya (tanpa refleksi liar)</a:t>
            </a:r>
          </a:p>
          <a:p>
            <a:pPr>
              <a:spcAft>
                <a:spcPts val="400"/>
              </a:spcAft>
              <a:defRPr sz="1200">
                <a:solidFill>
                  <a:srgbClr val="0B1B2D"/>
                </a:solidFill>
              </a:defRPr>
            </a:pPr>
            <a:r>
              <a:t>• [ ] AllowCredentials: true TIDAK PERNAH dipadukan dengan origin '*'</a:t>
            </a:r>
          </a:p>
          <a:p>
            <a:pPr>
              <a:defRPr sz="1200" b="1">
                <a:solidFill>
                  <a:srgbClr val="087F76"/>
                </a:solidFill>
              </a:defRPr>
            </a:pPr>
            <a:r>
              <a:t>VERIFIKASI ANTI-CSRF</a:t>
            </a:r>
          </a:p>
          <a:p>
            <a:pPr>
              <a:spcAft>
                <a:spcPts val="400"/>
              </a:spcAft>
              <a:defRPr sz="1200">
                <a:solidFill>
                  <a:srgbClr val="0B1B2D"/>
                </a:solidFill>
              </a:defRPr>
            </a:pPr>
            <a:r>
              <a:t>• [ ] Seluruh rute mutasi state (POST/PUT/DELETE) dilindungi Anti-CSRF Token</a:t>
            </a:r>
          </a:p>
          <a:p>
            <a:pPr>
              <a:spcAft>
                <a:spcPts val="400"/>
              </a:spcAft>
              <a:defRPr sz="1200">
                <a:solidFill>
                  <a:srgbClr val="0B1B2D"/>
                </a:solidFill>
              </a:defRPr>
            </a:pPr>
            <a:r>
              <a:t>• [ ] Token CSRF ditandatangani HMAC-SHA256, terikat Session ID, dan memiliki TTL</a:t>
            </a:r>
          </a:p>
          <a:p>
            <a:pPr>
              <a:spcAft>
                <a:spcPts val="400"/>
              </a:spcAft>
              <a:defRPr sz="1200">
                <a:solidFill>
                  <a:srgbClr val="0B1B2D"/>
                </a:solidFill>
              </a:defRPr>
            </a:pPr>
            <a:r>
              <a:t>• [ ] Validasi signature menggunakan subtle.ConstantTimeCompare</a:t>
            </a:r>
          </a:p>
          <a:p>
            <a:pPr>
              <a:spcAft>
                <a:spcPts val="400"/>
              </a:spcAft>
              <a:defRPr sz="1200">
                <a:solidFill>
                  <a:srgbClr val="0B1B2D"/>
                </a:solidFill>
              </a:defRPr>
            </a:pPr>
            <a:r>
              <a:t>• [ ] Cookie otentikasi dipasangi flag HttpOnly, Secure, dan SameSite=Lax</a:t>
            </a:r>
          </a:p>
          <a:p>
            <a:pPr>
              <a:spcAft>
                <a:spcPts val="400"/>
              </a:spcAft>
              <a:defRPr sz="1200">
                <a:solidFill>
                  <a:srgbClr val="0B1B2D"/>
                </a:solidFill>
              </a:defRPr>
            </a:pPr>
            <a:r>
              <a:t>• [ ] API gateway memverifikasi header Sec-Fetch-Site dan Custom Header</a:t>
            </a:r>
          </a:p>
          <a:p>
            <a:pPr>
              <a:spcAft>
                <a:spcPts val="400"/>
              </a:spcAft>
              <a:defRPr sz="1200">
                <a:solidFill>
                  <a:srgbClr val="0B1B2D"/>
                </a:solidFill>
              </a:defRPr>
            </a:pPr>
            <a:r>
              <a:t>• [ ] Aplikasi terlindungi dari celah XSS via Content Security Policy (CSP)</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Gunakan checklist ini saat melakukan security audit pada sistem web Anda. Pastikan endpoint GET bebas dari efek samping mutasi data, jangan pernah menggabungkan wildcard CORS dengan kredensial, wajibkan validasi token HMAC yang terikat ke sesi pada setiap mutasi POST, dan perkuat perimeter dengan header Sec-Fetch-Site serta cookie SameSite.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Verify read-only GETs, strict origin whitelists, signed tokens, and CSP before shipping.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Prinsip Inti Keamanan Cross-Origin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Aksioma fundamental untuk melindungi backend dari eksploitasi browser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1. NEVER TRUST CLIENT BOUNDARIES FOR SERVER INTEGRITY</a:t>
            </a:r>
          </a:p>
          <a:p>
            <a:pPr>
              <a:spcAft>
                <a:spcPts val="400"/>
              </a:spcAft>
              <a:defRPr sz="1200">
                <a:solidFill>
                  <a:srgbClr val="0B1B2D"/>
                </a:solidFill>
              </a:defRPr>
            </a:pPr>
            <a:r>
              <a:t>• CORS adalah aturan kepatuhan browser, bukan pelindung integritas database</a:t>
            </a:r>
          </a:p>
          <a:p>
            <a:pPr>
              <a:spcAft>
                <a:spcPts val="400"/>
              </a:spcAft>
              <a:defRPr sz="1200">
                <a:solidFill>
                  <a:srgbClr val="0B1B2D"/>
                </a:solidFill>
              </a:defRPr>
            </a:pPr>
            <a:r>
              <a:t>• Validasi otorisasi dan mutasi data wajib ditegakkan sepenuhnya di sisi server</a:t>
            </a:r>
          </a:p>
          <a:p>
            <a:pPr>
              <a:defRPr sz="1200" b="1">
                <a:solidFill>
                  <a:srgbClr val="087F76"/>
                </a:solidFill>
              </a:defRPr>
            </a:pPr>
            <a:r>
              <a:t>2. BIND TOKENS CRYPTOGRAPHICALLY TO SESSIONS</a:t>
            </a:r>
          </a:p>
          <a:p>
            <a:pPr>
              <a:spcAft>
                <a:spcPts val="400"/>
              </a:spcAft>
              <a:defRPr sz="1200">
                <a:solidFill>
                  <a:srgbClr val="0B1B2D"/>
                </a:solidFill>
              </a:defRPr>
            </a:pPr>
            <a:r>
              <a:t>• Anti-CSRF Token harus terikat secara kriptografis ke identitas sesi aktif</a:t>
            </a:r>
          </a:p>
          <a:p>
            <a:pPr>
              <a:spcAft>
                <a:spcPts val="400"/>
              </a:spcAft>
              <a:defRPr sz="1200">
                <a:solidFill>
                  <a:srgbClr val="0B1B2D"/>
                </a:solidFill>
              </a:defRPr>
            </a:pPr>
            <a:r>
              <a:t>• Mencegah eksploitasi cross-session token reuse dan pemalsuan token</a:t>
            </a:r>
          </a:p>
          <a:p>
            <a:pPr>
              <a:defRPr sz="1200" b="1">
                <a:solidFill>
                  <a:srgbClr val="087F76"/>
                </a:solidFill>
              </a:defRPr>
            </a:pPr>
            <a:r>
              <a:t>3. DEFENSE IN DEPTH WINS</a:t>
            </a:r>
          </a:p>
          <a:p>
            <a:pPr>
              <a:spcAft>
                <a:spcPts val="400"/>
              </a:spcAft>
              <a:defRPr sz="1200">
                <a:solidFill>
                  <a:srgbClr val="0B1B2D"/>
                </a:solidFill>
              </a:defRPr>
            </a:pPr>
            <a:r>
              <a:t>• Kombinasikan Signed Token + SameSite Cookie + Fetch Metadata</a:t>
            </a:r>
          </a:p>
          <a:p>
            <a:pPr>
              <a:spcAft>
                <a:spcPts val="400"/>
              </a:spcAft>
              <a:defRPr sz="1200">
                <a:solidFill>
                  <a:srgbClr val="0B1B2D"/>
                </a:solidFill>
              </a:defRPr>
            </a:pPr>
            <a:r>
              <a:t>• Kekuatan sistem berlapis menjamin keamanan saat salah satu mekanisme gagal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Menjaga keamanan backend menuntut pemahaman arsitektural yang jelas. Jangan pernah mempercayai CORS untuk menjaga integritas database. Selalu ikat token CSRF ke ID sesi pengguna secara kriptografis, dan terapkan arsitektur pertahanan berlapis untuk menangkal berbagai vektor serangan lintas origin secara efektif.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CORS governs browser reads; cryptographic server tokens defend backend writes. Build multi-layered security.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labs/36-cors-and-csrf/content/05-key-takeaways.md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36</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Eksperimen kecil, interpretasi yang teliti.</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SOP restricts cross-origin read; CSRF exploits cross-origin write. CORS relaxes read, it never defends write.</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36 - CORS &amp; CSRF: Mengamankan Backend</a:t>
            </a:r>
          </a:p>
          <a:p>
            <a:pPr>
              <a:defRPr sz="1200">
                <a:solidFill>
                  <a:srgbClr val="CBD5E1"/>
                </a:solidFill>
              </a:defRPr>
            </a:pPr>
            <a:r>
              <a:t>labs/36-cors-and-csrf/README.md</a:t>
            </a:r>
          </a:p>
          <a:p>
            <a:br/>
            <a:pPr>
              <a:defRPr sz="1100" b="1">
                <a:solidFill>
                  <a:srgbClr val="20C997"/>
                </a:solidFill>
              </a:defRPr>
            </a:pPr>
            <a:r>
              <a:t>REPOSITORY</a:t>
            </a:r>
          </a:p>
          <a:p>
            <a:pPr>
              <a:defRPr sz="1100">
                <a:solidFill>
                  <a:srgbClr val="FFFFFF"/>
                </a:solidFill>
                <a:latin typeface="Courier New"/>
              </a:defRPr>
            </a:pPr>
            <a:r>
              <a:t>github.com/lukman-ss/software-engineering-lab/tree/main/labs/36-cors-and-csrf</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7ced81ed</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CORS • CSRF • Web Security • HMAC-SHA256 • Fetch Metadata • Go 1.22</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