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Optimistic vs Pessimistic Locking &amp; Atomic Updates</a:t>
            </a:r>
          </a:p>
          <a:p/>
          <a:p>
            <a:r>
              <a:t>Mental Model: Lost updates are silent data corruptions eliminated through blocking locks, pre-commit version checks, or statement atomicity.</a:t>
            </a:r>
          </a:p>
          <a:p/>
          <a:p>
            <a:r>
              <a:t>[]</a:t>
            </a:r>
          </a:p>
          <a:p>
            <a:r>
              <a:t>- Retro Terminal Visualizing Lost Update Anomaly, Row Locks, and Version Guards</a:t>
            </a:r>
          </a:p>
          <a:p>
            <a:r>
              <a:t>- Simulasi Konkurensi Mutasi Stok Inventaris dengan Goroutines dan Mutex di Go</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Anomali Lost Update: Korupsi Data Tanpa Sinyal Error</a:t>
            </a:r>
          </a:p>
          <a:p/>
          <a:p>
            <a:r>
              <a:t>Mental Model: Independent read-modify-write cycles over shared state silently obliterate intermediate committed modifications.</a:t>
            </a:r>
          </a:p>
          <a:p/>
          <a:p>
            <a:r>
              <a:t>[DAMPAK LOST UPDATE PADA SISTEM PRODUKSI]</a:t>
            </a:r>
          </a:p>
          <a:p>
            <a:r>
              <a:t>- Penulisan Siluman: Transaksi kedua menimpa mutasi transaksi pertama tanpa membangkitkan galat atau exception pada aplikasi.</a:t>
            </a:r>
          </a:p>
          <a:p>
            <a:r>
              <a:t>- Invarian Bisnis Hancur: Saldo dompet atau stok barang menyimpang dari rumus matematis: stock != initial - total_deductions.</a:t>
            </a:r>
          </a:p>
          <a:p>
            <a:r>
              <a:t>- Bukan Berarti Aman: Membungkus query dengan blok transaksi SQL biasa bukan berarti kebal terhadap tabrakan read-modify-write.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Mengapa Isolasi Default Database Gagal Mencegah Lost Update</a:t>
            </a:r>
          </a:p>
          <a:p/>
          <a:p>
            <a:r>
              <a:t>Mental Model: Default isolation levels isolate individual queries, not multi-statement application calculation lifecycles.</a:t>
            </a:r>
          </a:p>
          <a:p/>
          <a:p>
            <a:r>
              <a:t>[KELEMAHAN ISOLASI STANDAR PADA READ-MODIFY-WRITE]</a:t>
            </a:r>
          </a:p>
          <a:p>
            <a:r>
              <a:t>- READ COMMITTED Default: PostgreSQL dan Oracle memakai READ COMMITTED; setiap query membaca snapshot committed terbaru.</a:t>
            </a:r>
          </a:p>
          <a:p>
            <a:r>
              <a:t>- Celah Pemisahan Query: Jeda waktu antara SELECT dan UPDATE memberi ruang bagi transaksi lain menyisipkan commit baru.</a:t>
            </a:r>
          </a:p>
          <a:p>
            <a:r>
              <a:t>- Tidak Otomatis Aman: Isolasi database tidak otomatis memvalidasi apakah baris yang di-update telah berubah sejak dibaca.</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Anatomi Tabrakan Waktu: Dua Transaksi Berebut Stok</a:t>
            </a:r>
          </a:p>
          <a:p/>
          <a:p>
            <a:r>
              <a:t>Mental Model: Unsynchronized read-then-write pipelines collapse concurrent increments into stale, overwritten states.</a:t>
            </a:r>
          </a:p>
          <a:p/>
          <a:p>
            <a:r>
              <a:t>[SEKUENSI EKSEKUSI LOST UPDATE ANOMALY]</a:t>
            </a:r>
          </a:p>
          <a:p>
            <a:r>
              <a:t>- 1. Baca Serentak (Snapshot T1 &amp; T2): T1 dan T2 membaca stok awal 100 secara bersamaan sebelum ada komit baru.</a:t>
            </a:r>
          </a:p>
          <a:p>
            <a:r>
              <a:t>- 2. Kalkulasi Terpisah (State di Memori): T1 menghitung 100 - 1 = 99; T2 juga menghitung 100 - 1 = 99 di memori terpisah.</a:t>
            </a:r>
          </a:p>
          <a:p>
            <a:r>
              <a:t>- 3. Komit T1 (Write Database): T1 menyimpan stok = 99 ke database; state berubah tanpa diketahui proses T2.</a:t>
            </a:r>
          </a:p>
          <a:p>
            <a:r>
              <a:t>- 4. Komit T2 (Silent Overwrite): Hanya pada jalur ini T2 menimpa data menjadi 99, melenyapkan hasil mutasi T1.</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Tiga Taksonomi Strategi Pengendalian Konkurensi</a:t>
            </a:r>
          </a:p>
          <a:p/>
          <a:p>
            <a:r>
              <a:t>Mental Model: Select concurrency boundaries: block access proactively, validate versions defensively, or execute mutations atomically.</a:t>
            </a:r>
          </a:p>
          <a:p/>
          <a:p>
            <a:r>
              <a:t>[PERBANDINGAN ALUR KERJA PENANGANAN KONKURENSI]</a:t>
            </a:r>
          </a:p>
          <a:p>
            <a:r>
              <a:t>- 1. Pessimistic Lock (SELECT FOR UPDATE): Kunci baris saat dibaca; transaksi konkuren antre di lock hingga commit selesai.</a:t>
            </a:r>
          </a:p>
          <a:p>
            <a:r>
              <a:t>- 2. Optimistic Guard (Version Column): Baca tanpa lock; saat update cek version = V. Gagal jika affected_rows == 0.</a:t>
            </a:r>
          </a:p>
          <a:p>
            <a:r>
              <a:t>- 3. Atomic Update (Single Statement): Pangkas read-modify-write: UPDATE ... SET stock=stock-qty WHERE stock&gt;=qty.</a:t>
            </a:r>
          </a:p>
          <a:p>
            <a:r>
              <a:t>- 4. Evaluasi Lab (Simulasi In-Memory): Lab membuktikan logika ketiganya; belum membuktikan engine lock manager MySQL riil.</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Pola Naif Read-Modify-Write yang Membuka Celah Tabrakan</a:t>
            </a:r>
          </a:p>
          <a:p/>
          <a:p>
            <a:r>
              <a:t>Mental Model: Separating state inspection from state mutation without synchronization invites concurrency collision.</a:t>
            </a:r>
          </a:p>
          <a:p/>
          <a:p>
            <a:r>
              <a:t>[internal/inventory/store.go]</a:t>
            </a:r>
          </a:p>
          <a:p>
            <a:r>
              <a:t>- func (s *Store) NaiveDeduct(id int, qty int) error {</a:t>
            </a:r>
          </a:p>
          <a:p>
            <a:r>
              <a:t>-     p, err := s.Get(id) // 1. Read snapshot tanpa lock</a:t>
            </a:r>
          </a:p>
          <a:p>
            <a:r>
              <a:t>-     if err != nil { return err }</a:t>
            </a:r>
          </a:p>
          <a:p>
            <a:r>
              <a:t>-     if p.Stock &lt; qty { return ErrInsufficientStock }</a:t>
            </a:r>
          </a:p>
          <a:p>
            <a:r>
              <a:t>-     time.Sleep(100 * time.Microsecond) // perlebar celah balapan</a:t>
            </a:r>
          </a:p>
          <a:p>
            <a:r>
              <a:t>-     s.mu.Lock()</a:t>
            </a:r>
          </a:p>
          <a:p>
            <a:r>
              <a:t>-     curr := s.products[id]</a:t>
            </a:r>
          </a:p>
          <a:p>
            <a:r>
              <a:t>-     curr.Stock = p.Stock - qty // 2. Tulis memakai snapshot usang</a:t>
            </a:r>
          </a:p>
          <a:p>
            <a:r>
              <a:t>-     s.mu.Unlock()</a:t>
            </a:r>
          </a:p>
          <a:p>
            <a:r>
              <a:t>-     atomic.AddInt64(&amp;s.NaivelyDrawn, int64(qty))</a:t>
            </a:r>
          </a:p>
          <a:p>
            <a:r>
              <a:t>-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Kronologi Kegagalan: 50 Goroutine dan Hilangnya 49 Mutasi</a:t>
            </a:r>
          </a:p>
          <a:p/>
          <a:p>
            <a:r>
              <a:t>Mental Model: Concurrent stale overwrites cause severe inventory inflation and unrecoverable ledger drift.</a:t>
            </a:r>
          </a:p>
          <a:p/>
          <a:p>
            <a:r>
              <a:t>[ALUR PENURUNAN INTEGRITAS INVENTARIS]</a:t>
            </a:r>
          </a:p>
          <a:p>
            <a:r>
              <a:t>- Fase 1: Ledakan Akses: 50 goroutine membaca stok awal 100 secara paralel saat proses sistem baru dimulai.</a:t>
            </a:r>
          </a:p>
          <a:p>
            <a:r>
              <a:t>- Fase 2: Perhitungan Identik: Seluruh goroutine menghitung nilai baru 100 - 1 = 99 karena memegang data lokal yang sama.</a:t>
            </a:r>
          </a:p>
          <a:p>
            <a:r>
              <a:t>- Fase 3: Timpa Bertubi-tubi: Satu per satu goroutine menulis nilai 99 ke penyimpanan memori global secara bergantian.</a:t>
            </a:r>
          </a:p>
          <a:p>
            <a:r>
              <a:t>- Fase 4: Anomali Stok 99: Hanya pada jalur ini 50 mutasi berhasil tercatat namun stok fisik gudang hanya berkurang 1 unit.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Matriks Strategi: Evaluasi Tiga Pendekatan Mutasi Konkuren</a:t>
            </a:r>
          </a:p>
          <a:p/>
          <a:p>
            <a:r>
              <a:t>Mental Model: Match concurrency control primitives directly to data criticality, conflict probability, and update complexity.</a:t>
            </a:r>
          </a:p>
          <a:p/>
          <a:p>
            <a:r>
              <a:t>[KOMPARASI PENDEKATAN PENGENDALIAN KONKURENSI]</a:t>
            </a:r>
          </a:p>
          <a:p>
            <a:r>
              <a:t>- Dimensi Evaluasi | Naive Read-Modify-Write | Pessimistic Locking | Optimistic Locking | Atomic Update</a:t>
            </a:r>
          </a:p>
          <a:p>
            <a:r>
              <a:t>- Mekanisme Kunci | Tanpa isolasi mutasi | Row lock eksklusif | Version check saat commit | Single-statement lockless</a:t>
            </a:r>
          </a:p>
          <a:p>
            <a:r>
              <a:t>- Performa Beban Baca | Sangat cepat (tanpa lock) | Cepat (MVCC read aman) | Sangat cepat (tanpa lock) | Sangat cepat</a:t>
            </a:r>
          </a:p>
          <a:p>
            <a:r>
              <a:t>- Tingkat Konflik Tinggi | Korupsi data massal | Terblokir antrean (antre) | Lonjakan retry / error 409 | Optimal (sekuensial cepat)</a:t>
            </a:r>
          </a:p>
          <a:p>
            <a:r>
              <a:t>- Risiko Sistem | Lost update tanpa error | Deadlock / antrean panjang | Starvation pada retry loop | Terbatas pada aritmatika simpel</a:t>
            </a:r>
          </a:p>
          <a:p>
            <a:r>
              <a:t>- Skenario Ideal | Hanya sistem single-thread | Saldo bank / tiket terbatas | Edit profil / dokumen CMS | Counter hit / decrement stok</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Alur Pengambilan Keputusan Strategi Penguncian Data</a:t>
            </a:r>
          </a:p>
          <a:p/>
          <a:p>
            <a:r>
              <a:t>Mental Model: Navigate concurrency solutions by evaluating mutation locality, contention intensity, and operational retry costs.</a:t>
            </a:r>
          </a:p>
          <a:p/>
          <a:p>
            <a:r>
              <a:t>[PANDUAN PEMILIHAN STRATEGI MUTASI]</a:t>
            </a:r>
          </a:p>
          <a:p>
            <a:r>
              <a:t>- 1. Operasi Tunggal?: Jika mutasi hanya melibatkan pengurangan numerik sederhana tanpa aturan silang tabel, gunakan Atomic Update.</a:t>
            </a:r>
          </a:p>
          <a:p>
            <a:r>
              <a:t>- 2. Kontensi Padat?: Jika entitas sering diperebutkan (flash sale, saldo), gunakan Pessimistic Lock (SELECT FOR UPDATE).</a:t>
            </a:r>
          </a:p>
          <a:p>
            <a:r>
              <a:t>- 3. Baca-Dominan?: Bila konflik jarang, gunakan Optimistic Version Guard; bukan berarti tanpa retry, siapkan backoff.</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Bukti Eksekusi: Verifikasi Lima Skenario dan Race Detector</a:t>
            </a:r>
          </a:p>
          <a:p/>
          <a:p>
            <a:r>
              <a:t>Mental Model: Runtime test execution proves memory safety while domain assertions verify transactional business invariants.</a:t>
            </a:r>
          </a:p>
          <a:p/>
          <a:p>
            <a:r>
              <a:t>[TERMINAL OUTPUT: go test -v -race ./... &amp;&amp; go run ./cmd/demo]</a:t>
            </a:r>
          </a:p>
          <a:p>
            <a:r>
              <a:t>- === RUN   TestNaiveLostUpdate</a:t>
            </a:r>
          </a:p>
          <a:p>
            <a:r>
              <a:t>-     locking_test.go:37: Lost Update Demonstrated: final stock is 99 (expected 50)</a:t>
            </a:r>
          </a:p>
          <a:p>
            <a:r>
              <a:t>- --- PASS: TestNaiveLostUpdate (0.00s)</a:t>
            </a:r>
          </a:p>
          <a:p>
            <a:r>
              <a:t>- === RUN   TestPessimisticLocking -&gt; PASS: (stock == 50)</a:t>
            </a:r>
          </a:p>
          <a:p>
            <a:r>
              <a:t>- === RUN   TestOptimisticLockingConflict -&gt; PASS: (1 succeeded, 19 conflicts rejected)</a:t>
            </a:r>
          </a:p>
          <a:p>
            <a:r>
              <a:t>- === RUN   TestOptimisticLockingWithRetry -&gt; PASS: (20 total updates applied, stock == 80)</a:t>
            </a:r>
          </a:p>
          <a:p>
            <a:r>
              <a:t>- === RUN   TestAtomicConditionalUpdate -&gt; PASS: (stock == 50)</a:t>
            </a:r>
          </a:p>
          <a:p>
            <a:r>
              <a:t>- PASS: ok  labs/23-optimistic-vs-pessimistic-locking/tests  2.510s (race detector: clean)</a:t>
            </a:r>
          </a:p>
          <a:p>
            <a:r>
              <a:t>- [1] Naive Read-Modify-Write: Stock=99 (LOST UPDATE DETECTED!)</a:t>
            </a:r>
          </a:p>
          <a:p>
            <a:r>
              <a:t>- [2] Pessimistic Locking:    Stock=50 (SUCCESS - Fully Synchronized)</a:t>
            </a:r>
          </a:p>
          <a:p>
            <a:r>
              <a:t>- [3] Optimistic Direct:      Stock=99 (SUCCESS - 1 Succeeded, 19 Conflicts Rejected)</a:t>
            </a:r>
          </a:p>
          <a:p>
            <a:r>
              <a:t>- [4] Optimistic With Retry:  Stock=80 (SUCCESS - 20 Succeeded, 61 Retries Absorbed)</a:t>
            </a:r>
          </a:p>
          <a:p>
            <a:r>
              <a:t>- [5] Atomic Update:          Stock=50 (SUCCESS - Lockless Single Statement)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Batasan Bukti Lab: Yang Dibuktikan vs Belum</a:t>
            </a:r>
          </a:p>
          <a:p/>
          <a:p>
            <a:r>
              <a:t>Mental Model: Carefully demarcate application-level concurrency simulations from enterprise storage engine lock internals.</a:t>
            </a:r>
          </a:p>
          <a:p/>
          <a:p>
            <a:r>
              <a:t>[BATAS PEMBUKTIAN SISTEM LAB 23]</a:t>
            </a:r>
          </a:p>
          <a:p>
            <a:r>
              <a:t>- YANG DIBUKTIKAN: Reproduksi anomali lost update, proteksi row-lock per item, penolakan version mismatch, dan konvergensi retry.</a:t>
            </a:r>
          </a:p>
          <a:p>
            <a:r>
              <a:t>- YANG TIDAK DIBUKTIKAN: Engine lock table database riil, deadlock detector lintas-tabel, gap locking, dan isolasi MVCC fisik RDBMS.</a:t>
            </a:r>
          </a:p>
          <a:p>
            <a:r>
              <a:t>- BATAS KLAIM EMPIRIS: Lab belum membuktikan throughput performa riil di bawah beban 100.000 transaksi terdistribusi.</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Kompromi Rekayasa: Beban Tunggu vs Beban Percobaan Ulang</a:t>
            </a:r>
          </a:p>
          <a:p/>
          <a:p>
            <a:r>
              <a:t>Mental Model: Balance thread queue serialization delays against compute and network retry amplification costs.</a:t>
            </a:r>
          </a:p>
          <a:p/>
          <a:p>
            <a:r>
              <a:t>[ANALISIS TRADE-OFF PENGUNCIAN SISTEM]</a:t>
            </a:r>
          </a:p>
          <a:p>
            <a:r>
              <a:t>- Pessimistic: Latensi Antre: Jaminan konsistensi tinggi tanpa retry, namun latensi naik drastis saat baris yang sama diserbu transaksi.</a:t>
            </a:r>
          </a:p>
          <a:p>
            <a:r>
              <a:t>- Optimistic: Beban CPU/Retry: Throughput baca maksimal tanpa blocking, namun memboroskan komputasi saat conflict rate meninggi.</a:t>
            </a:r>
          </a:p>
          <a:p>
            <a:r>
              <a:t>- Tidak Otomatis Efisien: Mengandalkan retry tidak otomatis efisien bila kontensi tinggi memicu fenomena starvation.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Simulasi Row Lock Eksklusif Berbasis Mutex Per Baris</a:t>
            </a:r>
          </a:p>
          <a:p/>
          <a:p>
            <a:r>
              <a:t>Mental Model: Decouple structural table mutexes from granular entity locks to model row-level database serialization.</a:t>
            </a:r>
          </a:p>
          <a:p/>
          <a:p>
            <a:r>
              <a:t>[internal/inventory/store.go]</a:t>
            </a:r>
          </a:p>
          <a:p>
            <a:r>
              <a:t>- type Store struct {</a:t>
            </a:r>
          </a:p>
          <a:p>
            <a:r>
              <a:t>-     mu       sync.Mutex          // melindungi struktur map internal</a:t>
            </a:r>
          </a:p>
          <a:p>
            <a:r>
              <a:t>-     rowLocks map[int]*sync.Mutex // lock eksklusif per ID produk</a:t>
            </a:r>
          </a:p>
          <a:p>
            <a:r>
              <a:t>-     products map[int]*Product    // data penyimpanan stok dan versi</a:t>
            </a:r>
          </a:p>
          <a:p>
            <a:r>
              <a:t>- }</a:t>
            </a:r>
          </a:p>
          <a:p>
            <a:r>
              <a:t>- func (s *Store) GetRowLock(id int) *sync.Mutex {</a:t>
            </a:r>
          </a:p>
          <a:p>
            <a:r>
              <a:t>-     s.mu.Lock()</a:t>
            </a:r>
          </a:p>
          <a:p>
            <a:r>
              <a:t>-     defer s.mu.Unlock()</a:t>
            </a:r>
          </a:p>
          <a:p>
            <a:r>
              <a:t>-     lock, exists := s.rowLocks[id]</a:t>
            </a:r>
          </a:p>
          <a:p>
            <a:r>
              <a:t>-     if !exists { lock = &amp;sync.Mutex{}; s.rowLocks[id] = lock }</a:t>
            </a:r>
          </a:p>
          <a:p>
            <a:r>
              <a:t>-     return lock</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Transformasi: Dari Overwrite Diam-diam ke State Terproteksi</a:t>
            </a:r>
          </a:p>
          <a:p/>
          <a:p>
            <a:r>
              <a:t>Mental Model: Shift from blind data overwrites to guarded state invariants with minimal architectural overhead.</a:t>
            </a:r>
          </a:p>
          <a:p/>
          <a:p>
            <a:r>
              <a:t>[KOMPARASI STATUS EKSEKUSI MUTASI]</a:t>
            </a:r>
          </a:p>
          <a:p>
            <a:r>
              <a:t>- Sebelum: Naive RMW: 50 pemanggilan fungsi mutasi; stok akhir terkorupsi di angka 99; hilangnya 49 mutasi tanpa jejak peringatan.</a:t>
            </a:r>
          </a:p>
          <a:p>
            <a:r>
              <a:t>- Sesudah: Protected Invariant: Seluruh mutasi terkontrol; stok akhir tepat 50 (pessimistic/atomic) atau 80 dengan retry konvergen.</a:t>
            </a:r>
          </a:p>
          <a:p>
            <a:r>
              <a:t>- Bukan Berarti Rumit: Menjaga integritas bukan berarti harus rumit; atomic update menyelesaikan masalah dalam satu query SQL.</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Pessimistic Locking: Mengunci Sebelum Membaca Data</a:t>
            </a:r>
          </a:p>
          <a:p/>
          <a:p>
            <a:r>
              <a:t>Mental Model: Enforce exclusive ownership of mutable state throughout the entire read-compute-write transaction lifecycle.</a:t>
            </a:r>
          </a:p>
          <a:p/>
          <a:p>
            <a:r>
              <a:t>[internal/inventory/store.go]</a:t>
            </a:r>
          </a:p>
          <a:p>
            <a:r>
              <a:t>- func (s *Store) PessimisticDeduct(id int, qty int) error {</a:t>
            </a:r>
          </a:p>
          <a:p>
            <a:r>
              <a:t>-     rowLock := s.GetRowLock(id)</a:t>
            </a:r>
          </a:p>
          <a:p>
            <a:r>
              <a:t>-     rowLock.Lock() // akuisisi lock eksklusif baris</a:t>
            </a:r>
          </a:p>
          <a:p>
            <a:r>
              <a:t>-     defer rowLock.Unlock()</a:t>
            </a:r>
          </a:p>
          <a:p>
            <a:r>
              <a:t>-     s.mu.Lock()</a:t>
            </a:r>
          </a:p>
          <a:p>
            <a:r>
              <a:t>-     p, exists := s.products[id]</a:t>
            </a:r>
          </a:p>
          <a:p>
            <a:r>
              <a:t>-     if !exists { s.mu.Unlock(); return ErrNotFound }</a:t>
            </a:r>
          </a:p>
          <a:p>
            <a:r>
              <a:t>-     if p.Stock &lt; qty { s.mu.Unlock(); return ErrInsufficientStock }</a:t>
            </a:r>
          </a:p>
          <a:p>
            <a:r>
              <a:t>-     p.Stock -= qty</a:t>
            </a:r>
          </a:p>
          <a:p>
            <a:r>
              <a:t>-     s.mu.Unlock()</a:t>
            </a:r>
          </a:p>
          <a:p>
            <a:r>
              <a:t>-     atomic.AddInt64(&amp;s.Pessimistically, int64(qty))</a:t>
            </a:r>
          </a:p>
          <a:p>
            <a:r>
              <a:t>-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Optimistic Locking: Version Guard Tanpa Memblokir Pembaca</a:t>
            </a:r>
          </a:p>
          <a:p/>
          <a:p>
            <a:r>
              <a:t>Mental Model: Validate state immutability at commit time; reject modifications whenever baseline versions diverge.</a:t>
            </a:r>
          </a:p>
          <a:p/>
          <a:p>
            <a:r>
              <a:t>[internal/inventory/store.go]</a:t>
            </a:r>
          </a:p>
          <a:p>
            <a:r>
              <a:t>- func (s *Store) OptimisticDeduct(id int, qty int) error {</a:t>
            </a:r>
          </a:p>
          <a:p>
            <a:r>
              <a:t>-     p, err := s.Get(id) // ambil snapshot beserta nilai version</a:t>
            </a:r>
          </a:p>
          <a:p>
            <a:r>
              <a:t>-     if err != nil { return err }</a:t>
            </a:r>
          </a:p>
          <a:p>
            <a:r>
              <a:t>-     if p.Stock &lt; qty { return ErrInsufficientStock }</a:t>
            </a:r>
          </a:p>
          <a:p>
            <a:r>
              <a:t>-     time.Sleep(50 * time.Microsecond)</a:t>
            </a:r>
          </a:p>
          <a:p>
            <a:r>
              <a:t>-     s.mu.Lock()</a:t>
            </a:r>
          </a:p>
          <a:p>
            <a:r>
              <a:t>-     defer s.mu.Unlock()</a:t>
            </a:r>
          </a:p>
          <a:p>
            <a:r>
              <a:t>-     curr, exists := s.products[id]</a:t>
            </a:r>
          </a:p>
          <a:p>
            <a:r>
              <a:t>-     if curr.Version != p.Version { // cek version guard</a:t>
            </a:r>
          </a:p>
          <a:p>
            <a:r>
              <a:t>-         atomic.AddInt64(&amp;s.OptimisticFails, 1)</a:t>
            </a:r>
          </a:p>
          <a:p>
            <a:r>
              <a:t>-         return ErrOptimisticLock // equivalen affected_rows == 0</a:t>
            </a:r>
          </a:p>
          <a:p>
            <a:r>
              <a:t>-     }</a:t>
            </a:r>
          </a:p>
          <a:p>
            <a:r>
              <a:t>-     curr.Stock -= qty; curr.Version++</a:t>
            </a:r>
          </a:p>
          <a:p>
            <a:r>
              <a:t>-     atomic.AddInt64(&amp;s.Optimistically, int64(qty));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Konvergensi Optimistik: Exponential Backoff dengan Jitter</a:t>
            </a:r>
          </a:p>
          <a:p/>
          <a:p>
            <a:r>
              <a:t>Mental Model: De-synchronize competing retries via exponential randomized pauses to guarantee system-wide convergence.</a:t>
            </a:r>
          </a:p>
          <a:p/>
          <a:p>
            <a:r>
              <a:t>[internal/inventory/service.go]</a:t>
            </a:r>
          </a:p>
          <a:p>
            <a:r>
              <a:t>- func (svc *Service) DeductOptimisticWithRetry(id, qty, maxRetries int) error {</a:t>
            </a:r>
          </a:p>
          <a:p>
            <a:r>
              <a:t>-     for attempt := 0; attempt &lt;= maxRetries; attempt++ {</a:t>
            </a:r>
          </a:p>
          <a:p>
            <a:r>
              <a:t>-         err := svc.store.OptimisticDeduct(id, qty)</a:t>
            </a:r>
          </a:p>
          <a:p>
            <a:r>
              <a:t>-         if err == nil { return nil }</a:t>
            </a:r>
          </a:p>
          <a:p>
            <a:r>
              <a:t>-         if err != ErrOptimisticLock { return err }</a:t>
            </a:r>
          </a:p>
          <a:p>
            <a:r>
              <a:t>-         if attempt == maxRetries { return ErrOptimisticLock }</a:t>
            </a:r>
          </a:p>
          <a:p>
            <a:r>
              <a:t>-         sleepDuration := time.Duration(1&lt;&lt;attempt)*time.Millisecond +</a:t>
            </a:r>
          </a:p>
          <a:p>
            <a:r>
              <a:t>-             time.Duration(rand.Intn(5))*time.Millisecond</a:t>
            </a:r>
          </a:p>
          <a:p>
            <a:r>
              <a:t>-         time.Sleep(sleepDuration)</a:t>
            </a:r>
          </a:p>
          <a:p>
            <a:r>
              <a:t>-     }</a:t>
            </a:r>
          </a:p>
          <a:p>
            <a:r>
              <a:t>-     return ErrOptimisticLock</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Atomic Update: Memangkas Celah Read-Modify-Write</a:t>
            </a:r>
          </a:p>
          <a:p/>
          <a:p>
            <a:r>
              <a:t>Mental Model: Condense condition validation and state mutation into a unified, non-preemptible database operation.</a:t>
            </a:r>
          </a:p>
          <a:p/>
          <a:p>
            <a:r>
              <a:t>[internal/inventory/store.go]</a:t>
            </a:r>
          </a:p>
          <a:p>
            <a:r>
              <a:t>- // Ekuivalen SQL: UPDATE products SET stock = stock - ? WHERE id = ? AND stock &gt;= ?</a:t>
            </a:r>
          </a:p>
          <a:p>
            <a:r>
              <a:t>- func (s *Store) AtomicDeduct(id int, qty int) error {</a:t>
            </a:r>
          </a:p>
          <a:p>
            <a:r>
              <a:t>-     if qty &lt;= 0 { return ErrInvalidQuantity }</a:t>
            </a:r>
          </a:p>
          <a:p>
            <a:r>
              <a:t>-     s.mu.Lock()</a:t>
            </a:r>
          </a:p>
          <a:p>
            <a:r>
              <a:t>-     defer s.mu.Unlock()</a:t>
            </a:r>
          </a:p>
          <a:p>
            <a:r>
              <a:t>-     curr, exists := s.products[id]</a:t>
            </a:r>
          </a:p>
          <a:p>
            <a:r>
              <a:t>-     if !exists { return ErrNotFound }</a:t>
            </a:r>
          </a:p>
          <a:p>
            <a:r>
              <a:t>-     if curr.Stock &lt; qty { return ErrInsufficientStock }</a:t>
            </a:r>
          </a:p>
          <a:p>
            <a:r>
              <a:t>-     curr.Stock -= qty // validasi dan kalkulasi dalam satu seksi kritis</a:t>
            </a:r>
          </a:p>
          <a:p>
            <a:r>
              <a:t>-     atomic.AddInt64(&amp;s.Atomically, int64(qty))</a:t>
            </a:r>
          </a:p>
          <a:p>
            <a:r>
              <a:t>-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Verifikasi Invarian: Konsistensi Matematis di Bawah Beban</a:t>
            </a:r>
          </a:p>
          <a:p/>
          <a:p>
            <a:r>
              <a:t>Mental Model: Validate system correctness by proving conservation invariants across concurrent execution boundaries.</a:t>
            </a:r>
          </a:p>
          <a:p/>
          <a:p>
            <a:r>
              <a:t>[tests/locking_test.go]</a:t>
            </a:r>
          </a:p>
          <a:p>
            <a:r>
              <a:t>- func TestOptimisticLockingConflict(t *testing.T) {</a:t>
            </a:r>
          </a:p>
          <a:p>
            <a:r>
              <a:t>-     // 20 goroutines serempak DeductOptimisticDirect pada stok 100</a:t>
            </a:r>
          </a:p>
          <a:p>
            <a:r>
              <a:t>-     wg.Wait()</a:t>
            </a:r>
          </a:p>
          <a:p>
            <a:r>
              <a:t>-     p, _ := store.Get(3)</a:t>
            </a:r>
          </a:p>
          <a:p>
            <a:r>
              <a:t>-     // Pembuktian invarian: transaksi sukses + sisa stok wajib tepat 100</a:t>
            </a:r>
          </a:p>
          <a:p>
            <a:r>
              <a:t>-     if successCount+int64(p.Stock) != 100 {</a:t>
            </a:r>
          </a:p>
          <a:p>
            <a:r>
              <a:t>-         t.Fatalf("invarian stok rusak: sukses %d + stok %d != 100",</a:t>
            </a:r>
          </a:p>
          <a:p>
            <a:r>
              <a:t>-                  successCount, p.Stock)</a:t>
            </a:r>
          </a:p>
          <a:p>
            <a:r>
              <a:t>-     }</a:t>
            </a:r>
          </a:p>
          <a:p>
            <a:r>
              <a:t>-     if conflictCount == 0 { t.Fatalf("harus ada minimal 1 konflik")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Checklist Penerapan Concurrency Control di Produksi</a:t>
            </a:r>
          </a:p>
          <a:p/>
          <a:p>
            <a:r>
              <a:t>Mental Model: Enforce systematic production checklists to prevent concurrency bugs and runtime transaction starvation.</a:t>
            </a:r>
          </a:p>
          <a:p/>
          <a:p>
            <a:r>
              <a:t>[STANDAR REKAYASA MUTASI DATA DATABASE]</a:t>
            </a:r>
          </a:p>
          <a:p>
            <a:r>
              <a:t>- Identifikasi alur mutasi: apakah single-statement atomik atau read-modify-write multi-langkah.</a:t>
            </a:r>
          </a:p>
          <a:p>
            <a:r>
              <a:t>- Gunakan UPDATE ... WHERE stock &gt;= N untuk pembaruan counter/inventaris numerik sederhana.</a:t>
            </a:r>
          </a:p>
          <a:p>
            <a:r>
              <a:t>- Terapkan SELECT ... FOR UPDATE pada transaksi bernilai tinggi dengan tingkat tabrakan tinggi.</a:t>
            </a:r>
          </a:p>
          <a:p>
            <a:r>
              <a:t>- Jangan pernah menahan row lock database saat melakukan panggilan jaringan eksternal (HTTP/RPC).</a:t>
            </a:r>
          </a:p>
          <a:p>
            <a:r>
              <a:t>- Tambahkan kolom version integer/timestamp dan periksa affected_rows == 0 untuk optimistic lock.</a:t>
            </a:r>
          </a:p>
          <a:p>
            <a:r>
              <a:t>- Sediakan wrapper retry dengan randomized jittered backoff untuk menangani konflik optimistik.</a:t>
            </a:r>
          </a:p>
          <a:p>
            <a:r>
              <a:t>- Jalankan race detector Go (go test -race ./...) secara berkala pada seluruh pipeline CI/CD.</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Anti-Pattern Umum dalam Penanganan Transaksi Konkuren</a:t>
            </a:r>
          </a:p>
          <a:p/>
          <a:p>
            <a:r>
              <a:t>Mental Model: Eliminate cross-network lock retention and utilize native database primitives before introducing external lock managers.</a:t>
            </a:r>
          </a:p>
          <a:p/>
          <a:p>
            <a:r>
              <a:t>[KESALAHAN DESAIN MUTASI YANG HARUS DIHINDARI]</a:t>
            </a:r>
          </a:p>
          <a:p>
            <a:r>
              <a:t>- Mengabaikan Affected Rows: Tidak memeriksa jumlah baris terpengaruh pada query update optimistik, menganggap eksekusi selalu berhasil.</a:t>
            </a:r>
          </a:p>
          <a:p>
            <a:r>
              <a:t>- Lock Menyeberang I/O: Memegang lock database saat menunggu respons webhook payment gateway; memicu antrean sistemik.</a:t>
            </a:r>
          </a:p>
          <a:p>
            <a:r>
              <a:t>- Bukan Berarti Perlu Redis: Langsung memakai Redis lock bukan berarti tepat; database relasional sudah punya locking bawaan.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Reproduksi Mandiri di Mesin Lokal Menggunakan Go</a:t>
            </a:r>
          </a:p>
          <a:p/>
          <a:p>
            <a:r>
              <a:t>Mental Model: Zero-dependency concurrency harnesses provide rapid, deterministic validation of distributed transactional patterns.</a:t>
            </a:r>
          </a:p>
          <a:p/>
          <a:p>
            <a:r>
              <a:t>[COMMAND RUNNER (ZERO EXTERNAL DEPENDENCIES)]</a:t>
            </a:r>
          </a:p>
          <a:p>
            <a:r>
              <a:t>- cd labs/23-optimistic-vs-pessimistic-locking</a:t>
            </a:r>
          </a:p>
          <a:p>
            <a:r>
              <a:t>- go test -v ./...    # verifikasi 6 test skenario naive, pessimistic, optimistic &amp; atomic</a:t>
            </a:r>
          </a:p>
          <a:p>
            <a:r>
              <a:t>- go test -race ./... # pembuktian sinkronisasi konkuren bebas data race di Go memory</a:t>
            </a:r>
          </a:p>
          <a:p>
            <a:r>
              <a:t>- go run ./cmd/demo   # eksekusi demonstrasi CLI interaktif kelima skenario berdampingan</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Prinsip Inti: Tidak Ada Solusi Tunggal untuk Konkurensi</a:t>
            </a:r>
          </a:p>
          <a:p/>
          <a:p>
            <a:r>
              <a:t>Mental Model: Architectural excellence lies in pairing contention patterns with the exact concurrency primitive required.</a:t>
            </a:r>
          </a:p>
          <a:p/>
          <a:p>
            <a:r>
              <a:t>[TIGA PILAR PENGENDALIAN MUTASI DATA]</a:t>
            </a:r>
          </a:p>
          <a:p>
            <a:r>
              <a:t>- Pessimistic: Data Kritis: Pilihan utama bila tabrakan data berbiaya tinggi dan pembatalan transaksi tidak dapat ditoleransi pengguna.</a:t>
            </a:r>
          </a:p>
          <a:p>
            <a:r>
              <a:t>- Optimistic: Skalabilitas Baca: Pilihan optimal bila sistem dominan membaca data dan volume konflik tulis berada di tingkat rendah.</a:t>
            </a:r>
          </a:p>
          <a:p>
            <a:r>
              <a:t>- Atomic: Desain Sederhana: Pilihan terbaik untuk mutasi numerik tunggal; tidak otomatis rumit bila bisa diselesaikan satu query.</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Lost Update adalah korupsi data diam-diam. Transaksi biasa tidak mencegahnya; desain penguncian yang tepat yang menyelesaikannya.</a:t>
            </a:r>
          </a:p>
          <a:p/>
          <a:p>
            <a:r>
              <a:t>Mental Model: Lost updates are silent transactional hazards eradicated only through deliberate, explicit concurrency controls.</a:t>
            </a:r>
          </a:p>
          <a:p/>
          <a:p>
            <a:r>
              <a:t>[MODUL IMPLEMENTASI]</a:t>
            </a:r>
          </a:p>
          <a:p>
            <a:r>
              <a:t>- internal/inventory/model.go • internal/inventory/store.go</a:t>
            </a:r>
          </a:p>
          <a:p>
            <a:r>
              <a:t>- internal/inventory/service.go • cmd/demo/main.go</a:t>
            </a:r>
          </a:p>
          <a:p>
            <a:r>
              <a:t>- tests/locking_test.go • content/02-master-draft.md</a:t>
            </a:r>
          </a:p>
          <a:p>
            <a:r>
              <a:t>[VERIFIKASI &amp; STATUS]</a:t>
            </a:r>
          </a:p>
          <a:p>
            <a:r>
              <a:t>- Commit: aad5d78 • Status: APPROVED</a:t>
            </a:r>
          </a:p>
          <a:p>
            <a:r>
              <a:t>- Test passing: 6 automated test scenarios (LostUpdate, Pessimistic, InsufficientStock, OptimisticConflict, OptimisticRetry, AtomicUpdate)</a:t>
            </a:r>
          </a:p>
          <a:p>
            <a:r>
              <a:t>- Race detector: Clean (go test -race ./... PASS in 2.510s)</a:t>
            </a:r>
          </a:p>
          <a:p>
            <a:r>
              <a:t>- Zero external dependencies: 100% Go standard library.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23</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Optimistic vs Pessimistic Locking &amp; Atomic Updates</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Mekanisme Pencegahan Lost Update, Version Guard, dan Operasi Atomik di Go</a:t>
            </a:r>
          </a:p>
        </p:txBody>
      </p:sp>
      <p:sp>
        <p:nvSpPr>
          <p:cNvPr id="6" name="TextBox 5"/>
          <p:cNvSpPr txBox="1"/>
          <p:nvPr/>
        </p:nvSpPr>
        <p:spPr>
          <a:xfrm>
            <a:off x="914400" y="5303520"/>
            <a:ext cx="5486400" cy="548640"/>
          </a:xfrm>
          <a:prstGeom prst="rect">
            <a:avLst/>
          </a:prstGeom>
          <a:noFill/>
        </p:spPr>
        <p:txBody>
          <a:bodyPr wrap="none">
            <a:spAutoFit/>
          </a:bodyPr>
          <a:lstStyle/>
          <a:p>
            <a:pPr>
              <a:defRPr sz="1800" b="1">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Anomali Lost Update: Korupsi Data Tanpa Sinyal Error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Dua transaksi membaca snapshot identik, menghitung mandiri, lalu saling menimpa data.</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DAMPAK LOST UPDATE PADA SISTEM PRODUKSI</a:t>
            </a:r>
          </a:p>
          <a:p>
            <a:pPr>
              <a:spcAft>
                <a:spcPts val="400"/>
              </a:spcAft>
              <a:defRPr sz="1200">
                <a:solidFill>
                  <a:srgbClr val="0B1B2D"/>
                </a:solidFill>
              </a:defRPr>
            </a:pPr>
            <a:r>
              <a:t>• Penulisan Siluman: Transaksi kedua menimpa mutasi transaksi pertama tanpa membangkitkan galat atau exception pada aplikasi.</a:t>
            </a:r>
          </a:p>
          <a:p>
            <a:pPr>
              <a:spcAft>
                <a:spcPts val="400"/>
              </a:spcAft>
              <a:defRPr sz="1200">
                <a:solidFill>
                  <a:srgbClr val="0B1B2D"/>
                </a:solidFill>
              </a:defRPr>
            </a:pPr>
            <a:r>
              <a:t>• Invarian Bisnis Hancur: Saldo dompet atau stok barang menyimpang dari rumus matematis: stock != initial - total_deductions.</a:t>
            </a:r>
          </a:p>
          <a:p>
            <a:pPr>
              <a:spcAft>
                <a:spcPts val="400"/>
              </a:spcAft>
              <a:defRPr sz="1200">
                <a:solidFill>
                  <a:srgbClr val="0B1B2D"/>
                </a:solidFill>
              </a:defRPr>
            </a:pPr>
            <a:r>
              <a:t>• Bukan Berarti Aman: Membungkus query dengan blok transaksi SQL biasa bukan berarti kebal terhadap tabrakan read-modify-write.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Ketika dua request bersamaan membaca stok bernilai 100 lalu menguranginya sebesar 1 unit, keduanya menuliskan angka 99. Pembaruan pertama hilang tanpa jejak dan tanpa menghasilkan pesan error apapun di database. Membungkus query ke dalam transaksi SQL bukan berarti data otomatis aman dari korupsi ini.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Independent read-modify-write cycles over shared state silently obliterate intermediate committed modifications.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content/02-master-draft.md:3-21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Mengapa Isolasi Default Database Gagal Mencegah Lost Update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Tingkat isolasi standar READ COMMITTED membiarkan pembaruan data saling menimpa.</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KELEMAHAN ISOLASI STANDAR PADA READ-MODIFY-WRITE</a:t>
            </a:r>
          </a:p>
          <a:p>
            <a:pPr>
              <a:spcAft>
                <a:spcPts val="400"/>
              </a:spcAft>
              <a:defRPr sz="1200">
                <a:solidFill>
                  <a:srgbClr val="0B1B2D"/>
                </a:solidFill>
              </a:defRPr>
            </a:pPr>
            <a:r>
              <a:t>• READ COMMITTED Default: PostgreSQL dan Oracle memakai READ COMMITTED; setiap query membaca snapshot committed terbaru.</a:t>
            </a:r>
          </a:p>
          <a:p>
            <a:pPr>
              <a:spcAft>
                <a:spcPts val="400"/>
              </a:spcAft>
              <a:defRPr sz="1200">
                <a:solidFill>
                  <a:srgbClr val="0B1B2D"/>
                </a:solidFill>
              </a:defRPr>
            </a:pPr>
            <a:r>
              <a:t>• Celah Pemisahan Query: Jeda waktu antara SELECT dan UPDATE memberi ruang bagi transaksi lain menyisipkan commit baru.</a:t>
            </a:r>
          </a:p>
          <a:p>
            <a:pPr>
              <a:spcAft>
                <a:spcPts val="400"/>
              </a:spcAft>
              <a:defRPr sz="1200">
                <a:solidFill>
                  <a:srgbClr val="0B1B2D"/>
                </a:solidFill>
              </a:defRPr>
            </a:pPr>
            <a:r>
              <a:t>• Tidak Otomatis Aman: Isolasi database tidak otomatis memvalidasi apakah baris yang di-update telah berubah sejak dibaca.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Review kode manual kerap terkecoh karena mengira blok transaksi ACID sudah cukup melindungi integritas mutasi. Tingkat isolasi READ COMMITTED tidak otomatis mencegah lost update pada alur read-modify-write terpisah, karena setiap query membaca snapshot committed terbaru tanpa memblokir writer lain.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Default isolation levels isolate individual queries, not multi-statement application calculation lifecycles.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content/02-master-draft.md:9-21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Anatomi Tabrakan Waktu: Dua Transaksi Berebut Stok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Kronologi urutan eksekusi yang melenyapkan mutasi pertama di penyimpanan.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SEKUENSI EKSEKUSI LOST UPDATE ANOMALY</a:t>
            </a:r>
          </a:p>
          <a:p>
            <a:pPr>
              <a:spcAft>
                <a:spcPts val="400"/>
              </a:spcAft>
              <a:defRPr sz="1200">
                <a:solidFill>
                  <a:srgbClr val="0B1B2D"/>
                </a:solidFill>
              </a:defRPr>
            </a:pPr>
            <a:r>
              <a:t>• 1. Baca Serentak (Snapshot T1 &amp; T2): T1 dan T2 membaca stok awal 100 secara bersamaan sebelum ada komit baru.</a:t>
            </a:r>
          </a:p>
          <a:p>
            <a:pPr>
              <a:spcAft>
                <a:spcPts val="400"/>
              </a:spcAft>
              <a:defRPr sz="1200">
                <a:solidFill>
                  <a:srgbClr val="0B1B2D"/>
                </a:solidFill>
              </a:defRPr>
            </a:pPr>
            <a:r>
              <a:t>• 2. Kalkulasi Terpisah (State di Memori): T1 menghitung 100 - 1 = 99; T2 juga menghitung 100 - 1 = 99 di memori terpisah.</a:t>
            </a:r>
          </a:p>
          <a:p>
            <a:pPr>
              <a:spcAft>
                <a:spcPts val="400"/>
              </a:spcAft>
              <a:defRPr sz="1200">
                <a:solidFill>
                  <a:srgbClr val="0B1B2D"/>
                </a:solidFill>
              </a:defRPr>
            </a:pPr>
            <a:r>
              <a:t>• 3. Komit T1 (Write Database): T1 menyimpan stok = 99 ke database; state berubah tanpa diketahui proses T2.</a:t>
            </a:r>
          </a:p>
          <a:p>
            <a:pPr>
              <a:spcAft>
                <a:spcPts val="400"/>
              </a:spcAft>
              <a:defRPr sz="1200">
                <a:solidFill>
                  <a:srgbClr val="0B1B2D"/>
                </a:solidFill>
              </a:defRPr>
            </a:pPr>
            <a:r>
              <a:t>• 4. Komit T2 (Silent Overwrite): Hanya pada jalur ini T2 menimpa data menjadi 99, melenyapkan hasil mutasi T1.</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Kronologi ini memperlihatkan celah fatal ketika dua proses membaca angka awal yang sama lalu melakukan kalkulasi di memori aplikasi. Transaksi kedua menimpa pembaruan transaksi pertama tanpa menyadari versinya sudah usang. Hanya pada jalur ini mutasi ganda tereduksi menjadi pengurangan tunggal.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Unsynchronized read-then-write pipelines collapse concurrent increments into stale, overwritten states.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content/04-diagrams.md:3-15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Tiga Taksonomi Strategi Pengendalian Konkurensi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Membandingkan alur kerja Pessimistic Locking, Optimistic Locking, dan Atomic Statement.</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PERBANDINGAN ALUR KERJA PENANGANAN KONKURENSI</a:t>
            </a:r>
          </a:p>
          <a:p>
            <a:pPr>
              <a:spcAft>
                <a:spcPts val="400"/>
              </a:spcAft>
              <a:defRPr sz="1200">
                <a:solidFill>
                  <a:srgbClr val="0B1B2D"/>
                </a:solidFill>
              </a:defRPr>
            </a:pPr>
            <a:r>
              <a:t>• 1. Pessimistic Lock (SELECT FOR UPDATE): Kunci baris saat dibaca; transaksi konkuren antre di lock hingga commit selesai.</a:t>
            </a:r>
          </a:p>
          <a:p>
            <a:pPr>
              <a:spcAft>
                <a:spcPts val="400"/>
              </a:spcAft>
              <a:defRPr sz="1200">
                <a:solidFill>
                  <a:srgbClr val="0B1B2D"/>
                </a:solidFill>
              </a:defRPr>
            </a:pPr>
            <a:r>
              <a:t>• 2. Optimistic Guard (Version Column): Baca tanpa lock; saat update cek version = V. Gagal jika affected_rows == 0.</a:t>
            </a:r>
          </a:p>
          <a:p>
            <a:pPr>
              <a:spcAft>
                <a:spcPts val="400"/>
              </a:spcAft>
              <a:defRPr sz="1200">
                <a:solidFill>
                  <a:srgbClr val="0B1B2D"/>
                </a:solidFill>
              </a:defRPr>
            </a:pPr>
            <a:r>
              <a:t>• 3. Atomic Update (Single Statement): Pangkas read-modify-write: UPDATE ... SET stock=stock-qty WHERE stock&gt;=qty.</a:t>
            </a:r>
          </a:p>
          <a:p>
            <a:pPr>
              <a:spcAft>
                <a:spcPts val="400"/>
              </a:spcAft>
              <a:defRPr sz="1200">
                <a:solidFill>
                  <a:srgbClr val="0B1B2D"/>
                </a:solidFill>
              </a:defRPr>
            </a:pPr>
            <a:r>
              <a:t>• 4. Evaluasi Lab (Simulasi In-Memory): Lab membuktikan logika ketiganya; belum membuktikan engine lock manager MySQL riil.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Arsitektur modern menawarkan tiga strategi untuk menangkal lost update: memblokir baris dengan pessimistic lock, mendeteksi konflik pada commit dengan optimistic guard, atau memadatkan mutasi ke satu query atomik. Pengujian lab membuktikan validitas ketiga logika, tetapi belum membuktikan engine lock table PostgreSQL/MySQL berkapasitas jutaan baris.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Select concurrency boundaries: block access proactively, validate versions defensively, or execute mutations atomically.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content/02-master-draft.md:34-85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Pola Naif Read-Modify-Write yang Membuka Celah Tabrakan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Pemisahan fase baca dan tulis memicu anomali penulisan yang hilang di Go.</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*Store) NaiveDeduct(id int, qty int) error {</a:t>
            </a:r>
            <a:br/>
            <a:r>
              <a:t>    p, err := s.Get(id) // 1. Read snapshot tanpa lock</a:t>
            </a:r>
            <a:br/>
            <a:r>
              <a:t>    if err != nil { return err }</a:t>
            </a:r>
            <a:br/>
            <a:r>
              <a:t>    if p.Stock &lt; qty { return ErrInsufficientStock }</a:t>
            </a:r>
            <a:br/>
            <a:r>
              <a:t>    time.Sleep(100 * time.Microsecond) // perlebar celah balapan</a:t>
            </a:r>
            <a:br/>
            <a:r>
              <a:t>    s.mu.Lock()</a:t>
            </a:r>
            <a:br/>
            <a:r>
              <a:t>    curr := s.products[id]</a:t>
            </a:r>
            <a:br/>
            <a:r>
              <a:t>    curr.Stock = p.Stock - qty // 2. Tulis memakai snapshot usang</a:t>
            </a:r>
            <a:br/>
            <a:r>
              <a:t>    s.mu.Unlock()</a:t>
            </a:r>
            <a:br/>
            <a:r>
              <a:t>    atomic.AddInt64(&amp;s.NaivelyDrawn, int64(qty))</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Fungsi NaiveDeduct membaca stok tanpa mengunci baris, lalu melakukan kalkulasi sebelum menulis kembali. Menyisipkan jeda microsecond bukan berarti membuat sistem sengaja cacat, melainkan merefleksikan latensi I/O aplikasi yang nyata di lingkungan produksi berbeban tinggi.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Separating state inspection from state mutation without synchronization invites concurrency collision.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internal/inventory/store.go:65-89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Kronologi Kegagalan: 50 Goroutine dan Hilangnya 49 Mutasi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Bagaimana 50 pengurangan stok berakhir dengan sisa stok 99 alih-alih 50.</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ALUR PENURUNAN INTEGRITAS INVENTARIS</a:t>
            </a:r>
          </a:p>
          <a:p>
            <a:pPr>
              <a:spcAft>
                <a:spcPts val="400"/>
              </a:spcAft>
              <a:defRPr sz="1200">
                <a:solidFill>
                  <a:srgbClr val="0B1B2D"/>
                </a:solidFill>
              </a:defRPr>
            </a:pPr>
            <a:r>
              <a:t>• Fase 1: Ledakan Akses: 50 goroutine membaca stok awal 100 secara paralel saat proses sistem baru dimulai.</a:t>
            </a:r>
          </a:p>
          <a:p>
            <a:pPr>
              <a:spcAft>
                <a:spcPts val="400"/>
              </a:spcAft>
              <a:defRPr sz="1200">
                <a:solidFill>
                  <a:srgbClr val="0B1B2D"/>
                </a:solidFill>
              </a:defRPr>
            </a:pPr>
            <a:r>
              <a:t>• Fase 2: Perhitungan Identik: Seluruh goroutine menghitung nilai baru 100 - 1 = 99 karena memegang data lokal yang sama.</a:t>
            </a:r>
          </a:p>
          <a:p>
            <a:pPr>
              <a:spcAft>
                <a:spcPts val="400"/>
              </a:spcAft>
              <a:defRPr sz="1200">
                <a:solidFill>
                  <a:srgbClr val="0B1B2D"/>
                </a:solidFill>
              </a:defRPr>
            </a:pPr>
            <a:r>
              <a:t>• Fase 3: Timpa Bertubi-tubi: Satu per satu goroutine menulis nilai 99 ke penyimpanan memori global secara bergantian.</a:t>
            </a:r>
          </a:p>
          <a:p>
            <a:pPr>
              <a:spcAft>
                <a:spcPts val="400"/>
              </a:spcAft>
              <a:defRPr sz="1200">
                <a:solidFill>
                  <a:srgbClr val="0B1B2D"/>
                </a:solidFill>
              </a:defRPr>
            </a:pPr>
            <a:r>
              <a:t>• Fase 4: Anomali Stok 99: Hanya pada jalur ini 50 mutasi berhasil tercatat namun stok fisik gudang hanya berkurang 1 unit.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Saat 50 goroutine memanggil NaiveDeduct serempak pada stok awal 100, seluruh pekerja membaca angka 100 dan masing-masing menulis 99. Hanya pada jalur ini terjadi bencana inventaris riil: log transaksi mencatat 50 barang terjual, namun database mencatat stok tersisa 99.</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Concurrent stale overwrites cause severe inventory inflation and unrecoverable ledger drift.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content/02-master-draft.md:297-302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Matriks Strategi: Evaluasi Tiga Pendekatan Mutasi Konkuren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Membedakan karakteristik teknis, tingkat konkurensi, dan risiko operasional.</a:t>
            </a:r>
          </a:p>
        </p:txBody>
      </p:sp>
      <p:graphicFrame>
        <p:nvGraphicFramePr>
          <p:cNvPr id="6" name="Table 5"/>
          <p:cNvGraphicFramePr>
            <a:graphicFrameLocks noGrp="1"/>
          </p:cNvGraphicFramePr>
          <p:nvPr/>
        </p:nvGraphicFramePr>
        <p:xfrm>
          <a:off x="731520" y="1828800"/>
          <a:ext cx="5120640" cy="2743200"/>
        </p:xfrm>
        <a:graphic>
          <a:graphicData uri="http://schemas.openxmlformats.org/drawingml/2006/table">
            <a:tbl>
              <a:tblPr firstRow="1" bandRow="1">
                <a:tableStyleId>{5C22544A-7EE6-4342-B048-85BDC9FD1C3A}</a:tableStyleId>
              </a:tblPr>
              <a:tblGrid>
                <a:gridCol w="1024128"/>
                <a:gridCol w="1024128"/>
                <a:gridCol w="1024128"/>
                <a:gridCol w="1024128"/>
                <a:gridCol w="1024128"/>
              </a:tblGrid>
              <a:tr h="457200">
                <a:tc>
                  <a:txBody>
                    <a:bodyPr/>
                    <a:lstStyle/>
                    <a:p>
                      <a:pPr>
                        <a:defRPr b="1" sz="1100">
                          <a:solidFill>
                            <a:srgbClr val="FFFFFF"/>
                          </a:solidFill>
                        </a:defRPr>
                      </a:pPr>
                      <a:r>
                        <a:t>Dimensi Evaluasi</a:t>
                      </a:r>
                    </a:p>
                  </a:txBody>
                  <a:tcPr>
                    <a:solidFill>
                      <a:srgbClr val="0B1B2D"/>
                    </a:solidFill>
                  </a:tcPr>
                </a:tc>
                <a:tc>
                  <a:txBody>
                    <a:bodyPr/>
                    <a:lstStyle/>
                    <a:p>
                      <a:pPr>
                        <a:defRPr b="1" sz="1100">
                          <a:solidFill>
                            <a:srgbClr val="FFFFFF"/>
                          </a:solidFill>
                        </a:defRPr>
                      </a:pPr>
                      <a:r>
                        <a:t>Naive Read-Modify-Write</a:t>
                      </a:r>
                    </a:p>
                  </a:txBody>
                  <a:tcPr>
                    <a:solidFill>
                      <a:srgbClr val="0B1B2D"/>
                    </a:solidFill>
                  </a:tcPr>
                </a:tc>
                <a:tc>
                  <a:txBody>
                    <a:bodyPr/>
                    <a:lstStyle/>
                    <a:p>
                      <a:pPr>
                        <a:defRPr b="1" sz="1100">
                          <a:solidFill>
                            <a:srgbClr val="FFFFFF"/>
                          </a:solidFill>
                        </a:defRPr>
                      </a:pPr>
                      <a:r>
                        <a:t>Pessimistic Locking</a:t>
                      </a:r>
                    </a:p>
                  </a:txBody>
                  <a:tcPr>
                    <a:solidFill>
                      <a:srgbClr val="0B1B2D"/>
                    </a:solidFill>
                  </a:tcPr>
                </a:tc>
                <a:tc>
                  <a:txBody>
                    <a:bodyPr/>
                    <a:lstStyle/>
                    <a:p>
                      <a:pPr>
                        <a:defRPr b="1" sz="1100">
                          <a:solidFill>
                            <a:srgbClr val="FFFFFF"/>
                          </a:solidFill>
                        </a:defRPr>
                      </a:pPr>
                      <a:r>
                        <a:t>Optimistic Locking</a:t>
                      </a:r>
                    </a:p>
                  </a:txBody>
                  <a:tcPr>
                    <a:solidFill>
                      <a:srgbClr val="0B1B2D"/>
                    </a:solidFill>
                  </a:tcPr>
                </a:tc>
                <a:tc>
                  <a:txBody>
                    <a:bodyPr/>
                    <a:lstStyle/>
                    <a:p>
                      <a:pPr>
                        <a:defRPr b="1" sz="1100">
                          <a:solidFill>
                            <a:srgbClr val="FFFFFF"/>
                          </a:solidFill>
                        </a:defRPr>
                      </a:pPr>
                      <a:r>
                        <a:t>Atomic Update</a:t>
                      </a:r>
                    </a:p>
                  </a:txBody>
                  <a:tcPr>
                    <a:solidFill>
                      <a:srgbClr val="0B1B2D"/>
                    </a:solidFill>
                  </a:tcPr>
                </a:tc>
              </a:tr>
              <a:tr h="457200">
                <a:tc>
                  <a:txBody>
                    <a:bodyPr/>
                    <a:lstStyle/>
                    <a:p>
                      <a:pPr>
                        <a:defRPr sz="1000">
                          <a:solidFill>
                            <a:srgbClr val="0B1B2D"/>
                          </a:solidFill>
                        </a:defRPr>
                      </a:pPr>
                      <a:r>
                        <a:t>Mekanisme Kunci</a:t>
                      </a:r>
                    </a:p>
                  </a:txBody>
                  <a:tcPr>
                    <a:solidFill>
                      <a:srgbClr val="FFFFFF"/>
                    </a:solidFill>
                  </a:tcPr>
                </a:tc>
                <a:tc>
                  <a:txBody>
                    <a:bodyPr/>
                    <a:lstStyle/>
                    <a:p>
                      <a:pPr>
                        <a:defRPr sz="1000">
                          <a:solidFill>
                            <a:srgbClr val="0B1B2D"/>
                          </a:solidFill>
                        </a:defRPr>
                      </a:pPr>
                      <a:r>
                        <a:t>Tanpa isolasi mutasi</a:t>
                      </a:r>
                    </a:p>
                  </a:txBody>
                  <a:tcPr>
                    <a:solidFill>
                      <a:srgbClr val="FFFFFF"/>
                    </a:solidFill>
                  </a:tcPr>
                </a:tc>
                <a:tc>
                  <a:txBody>
                    <a:bodyPr/>
                    <a:lstStyle/>
                    <a:p>
                      <a:pPr>
                        <a:defRPr sz="1000">
                          <a:solidFill>
                            <a:srgbClr val="0B1B2D"/>
                          </a:solidFill>
                        </a:defRPr>
                      </a:pPr>
                      <a:r>
                        <a:t>Row lock eksklusif</a:t>
                      </a:r>
                    </a:p>
                  </a:txBody>
                  <a:tcPr>
                    <a:solidFill>
                      <a:srgbClr val="FFFFFF"/>
                    </a:solidFill>
                  </a:tcPr>
                </a:tc>
                <a:tc>
                  <a:txBody>
                    <a:bodyPr/>
                    <a:lstStyle/>
                    <a:p>
                      <a:pPr>
                        <a:defRPr sz="1000">
                          <a:solidFill>
                            <a:srgbClr val="0B1B2D"/>
                          </a:solidFill>
                        </a:defRPr>
                      </a:pPr>
                      <a:r>
                        <a:t>Version check saat commit</a:t>
                      </a:r>
                    </a:p>
                  </a:txBody>
                  <a:tcPr>
                    <a:solidFill>
                      <a:srgbClr val="FFFFFF"/>
                    </a:solidFill>
                  </a:tcPr>
                </a:tc>
                <a:tc>
                  <a:txBody>
                    <a:bodyPr/>
                    <a:lstStyle/>
                    <a:p>
                      <a:pPr>
                        <a:defRPr sz="1000">
                          <a:solidFill>
                            <a:srgbClr val="0B1B2D"/>
                          </a:solidFill>
                        </a:defRPr>
                      </a:pPr>
                      <a:r>
                        <a:t>Single-statement lockless</a:t>
                      </a:r>
                    </a:p>
                  </a:txBody>
                  <a:tcPr>
                    <a:solidFill>
                      <a:srgbClr val="FFFFFF"/>
                    </a:solidFill>
                  </a:tcPr>
                </a:tc>
              </a:tr>
              <a:tr h="457200">
                <a:tc>
                  <a:txBody>
                    <a:bodyPr/>
                    <a:lstStyle/>
                    <a:p>
                      <a:pPr>
                        <a:defRPr sz="1000">
                          <a:solidFill>
                            <a:srgbClr val="0B1B2D"/>
                          </a:solidFill>
                        </a:defRPr>
                      </a:pPr>
                      <a:r>
                        <a:t>Performa Beban Baca</a:t>
                      </a:r>
                    </a:p>
                  </a:txBody>
                  <a:tcPr>
                    <a:solidFill>
                      <a:srgbClr val="FFFFFF"/>
                    </a:solidFill>
                  </a:tcPr>
                </a:tc>
                <a:tc>
                  <a:txBody>
                    <a:bodyPr/>
                    <a:lstStyle/>
                    <a:p>
                      <a:pPr>
                        <a:defRPr sz="1000">
                          <a:solidFill>
                            <a:srgbClr val="0B1B2D"/>
                          </a:solidFill>
                        </a:defRPr>
                      </a:pPr>
                      <a:r>
                        <a:t>Sangat cepat (tanpa lock)</a:t>
                      </a:r>
                    </a:p>
                  </a:txBody>
                  <a:tcPr>
                    <a:solidFill>
                      <a:srgbClr val="FFFFFF"/>
                    </a:solidFill>
                  </a:tcPr>
                </a:tc>
                <a:tc>
                  <a:txBody>
                    <a:bodyPr/>
                    <a:lstStyle/>
                    <a:p>
                      <a:pPr>
                        <a:defRPr sz="1000">
                          <a:solidFill>
                            <a:srgbClr val="0B1B2D"/>
                          </a:solidFill>
                        </a:defRPr>
                      </a:pPr>
                      <a:r>
                        <a:t>Cepat (MVCC read aman)</a:t>
                      </a:r>
                    </a:p>
                  </a:txBody>
                  <a:tcPr>
                    <a:solidFill>
                      <a:srgbClr val="FFFFFF"/>
                    </a:solidFill>
                  </a:tcPr>
                </a:tc>
                <a:tc>
                  <a:txBody>
                    <a:bodyPr/>
                    <a:lstStyle/>
                    <a:p>
                      <a:pPr>
                        <a:defRPr sz="1000">
                          <a:solidFill>
                            <a:srgbClr val="0B1B2D"/>
                          </a:solidFill>
                        </a:defRPr>
                      </a:pPr>
                      <a:r>
                        <a:t>Sangat cepat (tanpa lock)</a:t>
                      </a:r>
                    </a:p>
                  </a:txBody>
                  <a:tcPr>
                    <a:solidFill>
                      <a:srgbClr val="FFFFFF"/>
                    </a:solidFill>
                  </a:tcPr>
                </a:tc>
                <a:tc>
                  <a:txBody>
                    <a:bodyPr/>
                    <a:lstStyle/>
                    <a:p>
                      <a:pPr>
                        <a:defRPr sz="1000">
                          <a:solidFill>
                            <a:srgbClr val="0B1B2D"/>
                          </a:solidFill>
                        </a:defRPr>
                      </a:pPr>
                      <a:r>
                        <a:t>Sangat cepat</a:t>
                      </a:r>
                    </a:p>
                  </a:txBody>
                  <a:tcPr>
                    <a:solidFill>
                      <a:srgbClr val="FFFFFF"/>
                    </a:solidFill>
                  </a:tcPr>
                </a:tc>
              </a:tr>
              <a:tr h="457200">
                <a:tc>
                  <a:txBody>
                    <a:bodyPr/>
                    <a:lstStyle/>
                    <a:p>
                      <a:pPr>
                        <a:defRPr sz="1000">
                          <a:solidFill>
                            <a:srgbClr val="0B1B2D"/>
                          </a:solidFill>
                        </a:defRPr>
                      </a:pPr>
                      <a:r>
                        <a:t>Tingkat Konflik Tinggi</a:t>
                      </a:r>
                    </a:p>
                  </a:txBody>
                  <a:tcPr>
                    <a:solidFill>
                      <a:srgbClr val="FFFFFF"/>
                    </a:solidFill>
                  </a:tcPr>
                </a:tc>
                <a:tc>
                  <a:txBody>
                    <a:bodyPr/>
                    <a:lstStyle/>
                    <a:p>
                      <a:pPr>
                        <a:defRPr sz="1000">
                          <a:solidFill>
                            <a:srgbClr val="0B1B2D"/>
                          </a:solidFill>
                        </a:defRPr>
                      </a:pPr>
                      <a:r>
                        <a:t>Korupsi data massal</a:t>
                      </a:r>
                    </a:p>
                  </a:txBody>
                  <a:tcPr>
                    <a:solidFill>
                      <a:srgbClr val="FFFFFF"/>
                    </a:solidFill>
                  </a:tcPr>
                </a:tc>
                <a:tc>
                  <a:txBody>
                    <a:bodyPr/>
                    <a:lstStyle/>
                    <a:p>
                      <a:pPr>
                        <a:defRPr sz="1000">
                          <a:solidFill>
                            <a:srgbClr val="0B1B2D"/>
                          </a:solidFill>
                        </a:defRPr>
                      </a:pPr>
                      <a:r>
                        <a:t>Terblokir antrean (antre)</a:t>
                      </a:r>
                    </a:p>
                  </a:txBody>
                  <a:tcPr>
                    <a:solidFill>
                      <a:srgbClr val="FFFFFF"/>
                    </a:solidFill>
                  </a:tcPr>
                </a:tc>
                <a:tc>
                  <a:txBody>
                    <a:bodyPr/>
                    <a:lstStyle/>
                    <a:p>
                      <a:pPr>
                        <a:defRPr sz="1000">
                          <a:solidFill>
                            <a:srgbClr val="0B1B2D"/>
                          </a:solidFill>
                        </a:defRPr>
                      </a:pPr>
                      <a:r>
                        <a:t>Lonjakan retry / error 409</a:t>
                      </a:r>
                    </a:p>
                  </a:txBody>
                  <a:tcPr>
                    <a:solidFill>
                      <a:srgbClr val="FFFFFF"/>
                    </a:solidFill>
                  </a:tcPr>
                </a:tc>
                <a:tc>
                  <a:txBody>
                    <a:bodyPr/>
                    <a:lstStyle/>
                    <a:p>
                      <a:pPr>
                        <a:defRPr sz="1000">
                          <a:solidFill>
                            <a:srgbClr val="0B1B2D"/>
                          </a:solidFill>
                        </a:defRPr>
                      </a:pPr>
                      <a:r>
                        <a:t>Optimal (sekuensial cepat)</a:t>
                      </a:r>
                    </a:p>
                  </a:txBody>
                  <a:tcPr>
                    <a:solidFill>
                      <a:srgbClr val="FFFFFF"/>
                    </a:solidFill>
                  </a:tcPr>
                </a:tc>
              </a:tr>
              <a:tr h="457200">
                <a:tc>
                  <a:txBody>
                    <a:bodyPr/>
                    <a:lstStyle/>
                    <a:p>
                      <a:pPr>
                        <a:defRPr sz="1000">
                          <a:solidFill>
                            <a:srgbClr val="0B1B2D"/>
                          </a:solidFill>
                        </a:defRPr>
                      </a:pPr>
                      <a:r>
                        <a:t>Risiko Sistem</a:t>
                      </a:r>
                    </a:p>
                  </a:txBody>
                  <a:tcPr>
                    <a:solidFill>
                      <a:srgbClr val="FFFFFF"/>
                    </a:solidFill>
                  </a:tcPr>
                </a:tc>
                <a:tc>
                  <a:txBody>
                    <a:bodyPr/>
                    <a:lstStyle/>
                    <a:p>
                      <a:pPr>
                        <a:defRPr sz="1000">
                          <a:solidFill>
                            <a:srgbClr val="0B1B2D"/>
                          </a:solidFill>
                        </a:defRPr>
                      </a:pPr>
                      <a:r>
                        <a:t>Lost update tanpa error</a:t>
                      </a:r>
                    </a:p>
                  </a:txBody>
                  <a:tcPr>
                    <a:solidFill>
                      <a:srgbClr val="FFFFFF"/>
                    </a:solidFill>
                  </a:tcPr>
                </a:tc>
                <a:tc>
                  <a:txBody>
                    <a:bodyPr/>
                    <a:lstStyle/>
                    <a:p>
                      <a:pPr>
                        <a:defRPr sz="1000">
                          <a:solidFill>
                            <a:srgbClr val="0B1B2D"/>
                          </a:solidFill>
                        </a:defRPr>
                      </a:pPr>
                      <a:r>
                        <a:t>Deadlock / antrean panjang</a:t>
                      </a:r>
                    </a:p>
                  </a:txBody>
                  <a:tcPr>
                    <a:solidFill>
                      <a:srgbClr val="FFFFFF"/>
                    </a:solidFill>
                  </a:tcPr>
                </a:tc>
                <a:tc>
                  <a:txBody>
                    <a:bodyPr/>
                    <a:lstStyle/>
                    <a:p>
                      <a:pPr>
                        <a:defRPr sz="1000">
                          <a:solidFill>
                            <a:srgbClr val="0B1B2D"/>
                          </a:solidFill>
                        </a:defRPr>
                      </a:pPr>
                      <a:r>
                        <a:t>Starvation pada retry loop</a:t>
                      </a:r>
                    </a:p>
                  </a:txBody>
                  <a:tcPr>
                    <a:solidFill>
                      <a:srgbClr val="FFFFFF"/>
                    </a:solidFill>
                  </a:tcPr>
                </a:tc>
                <a:tc>
                  <a:txBody>
                    <a:bodyPr/>
                    <a:lstStyle/>
                    <a:p>
                      <a:pPr>
                        <a:defRPr sz="1000">
                          <a:solidFill>
                            <a:srgbClr val="0B1B2D"/>
                          </a:solidFill>
                        </a:defRPr>
                      </a:pPr>
                      <a:r>
                        <a:t>Terbatas pada aritmatika simpel</a:t>
                      </a:r>
                    </a:p>
                  </a:txBody>
                  <a:tcPr>
                    <a:solidFill>
                      <a:srgbClr val="FFFFFF"/>
                    </a:solidFill>
                  </a:tcPr>
                </a:tc>
              </a:tr>
              <a:tr h="457200">
                <a:tc>
                  <a:txBody>
                    <a:bodyPr/>
                    <a:lstStyle/>
                    <a:p>
                      <a:pPr>
                        <a:defRPr sz="1000">
                          <a:solidFill>
                            <a:srgbClr val="0B1B2D"/>
                          </a:solidFill>
                        </a:defRPr>
                      </a:pPr>
                      <a:r>
                        <a:t>Skenario Ideal</a:t>
                      </a:r>
                    </a:p>
                  </a:txBody>
                  <a:tcPr>
                    <a:solidFill>
                      <a:srgbClr val="FFFFFF"/>
                    </a:solidFill>
                  </a:tcPr>
                </a:tc>
                <a:tc>
                  <a:txBody>
                    <a:bodyPr/>
                    <a:lstStyle/>
                    <a:p>
                      <a:pPr>
                        <a:defRPr sz="1000">
                          <a:solidFill>
                            <a:srgbClr val="0B1B2D"/>
                          </a:solidFill>
                        </a:defRPr>
                      </a:pPr>
                      <a:r>
                        <a:t>Hanya sistem single-thread</a:t>
                      </a:r>
                    </a:p>
                  </a:txBody>
                  <a:tcPr>
                    <a:solidFill>
                      <a:srgbClr val="FFFFFF"/>
                    </a:solidFill>
                  </a:tcPr>
                </a:tc>
                <a:tc>
                  <a:txBody>
                    <a:bodyPr/>
                    <a:lstStyle/>
                    <a:p>
                      <a:pPr>
                        <a:defRPr sz="1000">
                          <a:solidFill>
                            <a:srgbClr val="0B1B2D"/>
                          </a:solidFill>
                        </a:defRPr>
                      </a:pPr>
                      <a:r>
                        <a:t>Saldo bank / tiket terbatas</a:t>
                      </a:r>
                    </a:p>
                  </a:txBody>
                  <a:tcPr>
                    <a:solidFill>
                      <a:srgbClr val="FFFFFF"/>
                    </a:solidFill>
                  </a:tcPr>
                </a:tc>
                <a:tc>
                  <a:txBody>
                    <a:bodyPr/>
                    <a:lstStyle/>
                    <a:p>
                      <a:pPr>
                        <a:defRPr sz="1000">
                          <a:solidFill>
                            <a:srgbClr val="0B1B2D"/>
                          </a:solidFill>
                        </a:defRPr>
                      </a:pPr>
                      <a:r>
                        <a:t>Edit profil / dokumen CMS</a:t>
                      </a:r>
                    </a:p>
                  </a:txBody>
                  <a:tcPr>
                    <a:solidFill>
                      <a:srgbClr val="FFFFFF"/>
                    </a:solidFill>
                  </a:tcPr>
                </a:tc>
                <a:tc>
                  <a:txBody>
                    <a:bodyPr/>
                    <a:lstStyle/>
                    <a:p>
                      <a:pPr>
                        <a:defRPr sz="1000">
                          <a:solidFill>
                            <a:srgbClr val="0B1B2D"/>
                          </a:solidFill>
                        </a:defRPr>
                      </a:pPr>
                      <a:r>
                        <a:t>Counter hit / decrement stok</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ini memetakan trade-off komprehensif antara pendekatan naif, pessimistic locking, optimistic locking, dan pembaruan atomik. Pessimistic locking cocok untuk data bernilai tinggi dengan kontensi padat, sedangkan optimistic locking unggul pada beban baca dominan yang jarang mengalami tabrakan.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Match concurrency control primitives directly to data criticality, conflict probability, and update complexity.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content/02-master-draft.md:34-85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Alur Pengambilan Keputusan Strategi Penguncian Data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Tiga kriteria teknis menentukan pemilihan strategi konkurensi yang tepat sasaran.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PANDUAN PEMILIHAN STRATEGI MUTASI</a:t>
            </a:r>
          </a:p>
          <a:p>
            <a:pPr>
              <a:spcAft>
                <a:spcPts val="400"/>
              </a:spcAft>
              <a:defRPr sz="1200">
                <a:solidFill>
                  <a:srgbClr val="0B1B2D"/>
                </a:solidFill>
              </a:defRPr>
            </a:pPr>
            <a:r>
              <a:t>• 1. Operasi Tunggal?: Jika mutasi hanya melibatkan pengurangan numerik sederhana tanpa aturan silang tabel, gunakan Atomic Update.</a:t>
            </a:r>
          </a:p>
          <a:p>
            <a:pPr>
              <a:spcAft>
                <a:spcPts val="400"/>
              </a:spcAft>
              <a:defRPr sz="1200">
                <a:solidFill>
                  <a:srgbClr val="0B1B2D"/>
                </a:solidFill>
              </a:defRPr>
            </a:pPr>
            <a:r>
              <a:t>• 2. Kontensi Padat?: Jika entitas sering diperebutkan (flash sale, saldo), gunakan Pessimistic Lock (SELECT FOR UPDATE).</a:t>
            </a:r>
          </a:p>
          <a:p>
            <a:pPr>
              <a:spcAft>
                <a:spcPts val="400"/>
              </a:spcAft>
              <a:defRPr sz="1200">
                <a:solidFill>
                  <a:srgbClr val="0B1B2D"/>
                </a:solidFill>
              </a:defRPr>
            </a:pPr>
            <a:r>
              <a:t>• 3. Baca-Dominan?: Bila konflik jarang, gunakan Optimistic Version Guard; bukan berarti tanpa retry, siapkan backoff.</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Keputusan arsitektur bertumpu pada karakteristik mutasi data. Jika mutasi adalah pengurangan sederhana satu baris, atomic update adalah pilihan paling efisien. Memilih optimistic locking bukan berarti bebas dari penanganan kegagalan; lapisan pemanggil wajib menyiapkan algoritma retry backoff.</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Navigate concurrency solutions by evaluating mutation locality, contention intensity, and operational retry costs.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content/02-master-draft.md:330-342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Bukti Eksekusi: Verifikasi Lima Skenario dan Race Detector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Output terminal membuktikan anomali stok naif dan keberhasilan ketiga proteksi.</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RUN   TestNaiveLostUpdate</a:t>
            </a:r>
            <a:br/>
            <a:r>
              <a:t>    locking_test.go:37: Lost Update Demonstrated: final stock is 99 (expected 50)</a:t>
            </a:r>
            <a:br/>
            <a:r>
              <a:t>--- PASS: TestNaiveLostUpdate (0.00s)</a:t>
            </a:r>
            <a:br/>
            <a:r>
              <a:t>=== RUN   TestPessimisticLocking -&gt; PASS: (stock == 50)</a:t>
            </a:r>
            <a:br/>
            <a:r>
              <a:t>=== RUN   TestOptimisticLockingConflict -&gt; PASS: (1 succeeded, 19 conflicts rejected)</a:t>
            </a:r>
            <a:br/>
            <a:r>
              <a:t>=== RUN   TestOptimisticLockingWithRetry -&gt; PASS: (20 total updates applied, stock == 80)</a:t>
            </a:r>
            <a:br/>
            <a:r>
              <a:t>=== RUN   TestAtomicConditionalUpdate -&gt; PASS: (stock == 50)</a:t>
            </a:r>
            <a:br/>
            <a:r>
              <a:t>PASS: ok  labs/23-optimistic-vs-pessimistic-locking/tests  2.510s (race detector: clean)</a:t>
            </a:r>
            <a:br/>
            <a:r>
              <a:t>[1] Naive Read-Modify-Write: Stock=99 (LOST UPDATE DETECTED!)</a:t>
            </a:r>
            <a:br/>
            <a:r>
              <a:t>[2] Pessimistic Locking:    Stock=50 (SUCCESS - Fully Synchronized)</a:t>
            </a:r>
            <a:br/>
            <a:r>
              <a:t>[3] Optimistic Direct:      Stock=99 (SUCCESS - 1 Succeeded, 19 Conflicts Rejected)</a:t>
            </a:r>
            <a:br/>
            <a:r>
              <a:t>[4] Optimistic With Retry:  Stock=80 (SUCCESS - 20 Succeeded, 61 Retries Absorbed)</a:t>
            </a:r>
            <a:br/>
            <a:r>
              <a:t>[5] Atomic Update:          Stock=50 (SUCCESS - Lockless Single Statement)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Hasil eksekusi test suite dan demo CLI mengonfirmasi keakuratan seluruh strategi pengujian. Race detector Go melaporkan status bersih tanpa data race pada memori, sementara pemeriksaan logika membuktikan bahwa pendekatan naif melenyapkan 49 mutasi stok.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Runtime test execution proves memory safety while domain assertions verify transactional business invariants.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engineering/03-execution-result.md:14-91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Batasan Bukti Lab: Yang Dibuktikan vs Belum</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Menegaskan batasan simulasi Go in-memory terhadap kompleksitas RDBMS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BATAS PEMBUKTIAN SISTEM LAB 23</a:t>
            </a:r>
          </a:p>
          <a:p>
            <a:pPr>
              <a:spcAft>
                <a:spcPts val="400"/>
              </a:spcAft>
              <a:defRPr sz="1200">
                <a:solidFill>
                  <a:srgbClr val="0B1B2D"/>
                </a:solidFill>
              </a:defRPr>
            </a:pPr>
            <a:r>
              <a:t>• YANG DIBUKTIKAN: Reproduksi anomali lost update, proteksi row-lock per item, penolakan version mismatch, dan konvergensi retry.</a:t>
            </a:r>
          </a:p>
          <a:p>
            <a:pPr>
              <a:spcAft>
                <a:spcPts val="400"/>
              </a:spcAft>
              <a:defRPr sz="1200">
                <a:solidFill>
                  <a:srgbClr val="0B1B2D"/>
                </a:solidFill>
              </a:defRPr>
            </a:pPr>
            <a:r>
              <a:t>• YANG TIDAK DIBUKTIKAN: Engine lock table database riil, deadlock detector lintas-tabel, gap locking, dan isolasi MVCC fisik RDBMS.</a:t>
            </a:r>
          </a:p>
          <a:p>
            <a:pPr>
              <a:spcAft>
                <a:spcPts val="400"/>
              </a:spcAft>
              <a:defRPr sz="1200">
                <a:solidFill>
                  <a:srgbClr val="0B1B2D"/>
                </a:solidFill>
              </a:defRPr>
            </a:pPr>
            <a:r>
              <a:t>• BATAS KLAIM EMPIRIS: Lab belum membuktikan throughput performa riil di bawah beban 100.000 transaksi terdistribusi.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menggunakan simulasi sync.Mutex in-memory untuk memodelkan perilaku penguncian tingkat baris dan version check. Implementasi ini belum membuktikan mekanisme kompleks RDBMS fisik seperti lock manager tabel, gap locks, atau deadlock detection otomatis pada transaksi multi-baris.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Carefully demarcate application-level concurrency simulations from enterprise storage engine lock internals.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content/01-content-brief.md:46-55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Kompromi Rekayasa: Beban Tunggu vs Beban Percobaan Ulang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Mengevaluasi konsekuensi throughput, latensi, dan kompleksitas kode aplikasi.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ANALISIS TRADE-OFF PENGUNCIAN SISTEM</a:t>
            </a:r>
          </a:p>
          <a:p>
            <a:pPr>
              <a:spcAft>
                <a:spcPts val="400"/>
              </a:spcAft>
              <a:defRPr sz="1200">
                <a:solidFill>
                  <a:srgbClr val="0B1B2D"/>
                </a:solidFill>
              </a:defRPr>
            </a:pPr>
            <a:r>
              <a:t>• Pessimistic: Latensi Antre: Jaminan konsistensi tinggi tanpa retry, namun latensi naik drastis saat baris yang sama diserbu transaksi.</a:t>
            </a:r>
          </a:p>
          <a:p>
            <a:pPr>
              <a:spcAft>
                <a:spcPts val="400"/>
              </a:spcAft>
              <a:defRPr sz="1200">
                <a:solidFill>
                  <a:srgbClr val="0B1B2D"/>
                </a:solidFill>
              </a:defRPr>
            </a:pPr>
            <a:r>
              <a:t>• Optimistic: Beban CPU/Retry: Throughput baca maksimal tanpa blocking, namun memboroskan komputasi saat conflict rate meninggi.</a:t>
            </a:r>
          </a:p>
          <a:p>
            <a:pPr>
              <a:spcAft>
                <a:spcPts val="400"/>
              </a:spcAft>
              <a:defRPr sz="1200">
                <a:solidFill>
                  <a:srgbClr val="0B1B2D"/>
                </a:solidFill>
              </a:defRPr>
            </a:pPr>
            <a:r>
              <a:t>• Tidak Otomatis Efisien: Mengandalkan retry tidak otomatis efisien bila kontensi tinggi memicu fenomena starvation.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Setiap strategi menuntut ongkos operasional yang berbeda. Pessimistic locking mengorbankan waktu tunggu antrean transaksi, sedangkan optimistic locking mengonsumsi siklus CPU dan bandwidth jaringan untuk mencoba ulang transaksi yang gagal. Menggunakan retry tidak otomatis efisien jika konflik terjadi terus-menerus.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Balance thread queue serialization delays against compute and network retry amplification costs.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content/02-master-draft.md:50-72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Simulasi Row Lock Eksklusif Berbasis Mutex Per Baris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Memodelkan semantik SELECT FOR UPDATE di memori dengan row-level lock map.</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type Store struct {</a:t>
            </a:r>
            <a:br/>
            <a:r>
              <a:t>    mu       sync.Mutex          // melindungi struktur map internal</a:t>
            </a:r>
            <a:br/>
            <a:r>
              <a:t>    rowLocks map[int]*sync.Mutex // lock eksklusif per ID produk</a:t>
            </a:r>
            <a:br/>
            <a:r>
              <a:t>    products map[int]*Product    // data penyimpanan stok dan versi</a:t>
            </a:r>
            <a:br/>
            <a:r>
              <a:t>}</a:t>
            </a:r>
            <a:br/>
            <a:r>
              <a:t>func (s *Store) GetRowLock(id int) *sync.Mutex {</a:t>
            </a:r>
            <a:br/>
            <a:r>
              <a:t>    s.mu.Lock()</a:t>
            </a:r>
            <a:br/>
            <a:r>
              <a:t>    defer s.mu.Unlock()</a:t>
            </a:r>
            <a:br/>
            <a:r>
              <a:t>    lock, exists := s.rowLocks[id]</a:t>
            </a:r>
            <a:br/>
            <a:r>
              <a:t>    if !exists { lock = &amp;sync.Mutex{}; s.rowLocks[id] = lock }</a:t>
            </a:r>
            <a:br/>
            <a:r>
              <a:t>    return lock</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Store mengisolasi penguncian dengan memisahkan mutex struktur peta dari mutex baris individu. Simulasi ini tidak sama dengan lock manager PostgreSQL yang mengelola shared lock, exclusive lock, dan lock timeout, namun secara tepat merepresentasikan sifat serialisasi akses baris tunggal.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Decouple structural table mutexes from granular entity locks to model row-level database serialization.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internal/inventory/store.go:9-52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Transformasi: Dari Overwrite Diam-diam ke State Terproteksi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Pergeseran arsitektur mutasi data dari pembaruan tanpa pelindung ke kontrol ketat.</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KOMPARASI STATUS EKSEKUSI MUTASI</a:t>
            </a:r>
          </a:p>
          <a:p>
            <a:pPr>
              <a:spcAft>
                <a:spcPts val="400"/>
              </a:spcAft>
              <a:defRPr sz="1200">
                <a:solidFill>
                  <a:srgbClr val="0B1B2D"/>
                </a:solidFill>
              </a:defRPr>
            </a:pPr>
            <a:r>
              <a:t>• Sebelum: Naive RMW: 50 pemanggilan fungsi mutasi; stok akhir terkorupsi di angka 99; hilangnya 49 mutasi tanpa jejak peringatan.</a:t>
            </a:r>
          </a:p>
          <a:p>
            <a:pPr>
              <a:spcAft>
                <a:spcPts val="400"/>
              </a:spcAft>
              <a:defRPr sz="1200">
                <a:solidFill>
                  <a:srgbClr val="0B1B2D"/>
                </a:solidFill>
              </a:defRPr>
            </a:pPr>
            <a:r>
              <a:t>• Sesudah: Protected Invariant: Seluruh mutasi terkontrol; stok akhir tepat 50 (pessimistic/atomic) atau 80 dengan retry konvergen.</a:t>
            </a:r>
          </a:p>
          <a:p>
            <a:pPr>
              <a:spcAft>
                <a:spcPts val="400"/>
              </a:spcAft>
              <a:defRPr sz="1200">
                <a:solidFill>
                  <a:srgbClr val="0B1B2D"/>
                </a:solidFill>
              </a:defRPr>
            </a:pPr>
            <a:r>
              <a:t>• Bukan Berarti Rumit: Menjaga integritas bukan berarti harus rumit; atomic update menyelesaikan masalah dalam satu query SQL.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Sebelum penerapan strategi konkurensi, data inventaris hancur secara diam-diam akibat mutasi yang saling menimpa. Setelah proteksi diterapkan, invarian matematis stok terjaga sempurna di bawah beban serempak. Menerapkan proteksi bukan berarti menambah beban kode rumit jika kebutuhan mutasi dapat diselesaikan via query atomik.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Shift from blind data overwrites to guarded state invariants with minimal architectural overhead.</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content/02-master-draft.md:297-326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Pessimistic Locking: Mengunci Sebelum Membaca Data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Mengamankan siklus read-modify-write dengan menahan lock eksklusif hingga tuntas.</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*Store) PessimisticDeduct(id int, qty int) error {</a:t>
            </a:r>
            <a:br/>
            <a:r>
              <a:t>    rowLock := s.GetRowLock(id)</a:t>
            </a:r>
            <a:br/>
            <a:r>
              <a:t>    rowLock.Lock() // akuisisi lock eksklusif baris</a:t>
            </a:r>
            <a:br/>
            <a:r>
              <a:t>    defer rowLock.Unlock()</a:t>
            </a:r>
            <a:br/>
            <a:r>
              <a:t>    s.mu.Lock()</a:t>
            </a:r>
            <a:br/>
            <a:r>
              <a:t>    p, exists := s.products[id]</a:t>
            </a:r>
            <a:br/>
            <a:r>
              <a:t>    if !exists { s.mu.Unlock(); return ErrNotFound }</a:t>
            </a:r>
            <a:br/>
            <a:r>
              <a:t>    if p.Stock &lt; qty { s.mu.Unlock(); return ErrInsufficientStock }</a:t>
            </a:r>
            <a:br/>
            <a:r>
              <a:t>    p.Stock -= qty</a:t>
            </a:r>
            <a:br/>
            <a:r>
              <a:t>    s.mu.Unlock()</a:t>
            </a:r>
            <a:br/>
            <a:r>
              <a:t>    atomic.AddInt64(&amp;s.Pessimistically, int64(qty))</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Fungsi PessimisticDeduct mengunci rowLock sebelum melakukan pengecekan stok dan mutasi nilai. Logika pencegahan ini cakupannya mengikuti test konkurensi lab, membuktikan bahwa seluruh goroutine mengantre secara tertib sehingga stok berkurang tepat 50 unit tanpa ada mutasi yang hilang.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Enforce exclusive ownership of mutable state throughout the entire read-compute-write transaction lifecycle.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internal/inventory/store.go:93-116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Optimistic Locking: Version Guard Tanpa Memblokir Pembaca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Mendeteksi konflik pada fase tulis dengan memvalidasi versi data snapshot.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*Store) OptimisticDeduct(id int, qty int) error {</a:t>
            </a:r>
            <a:br/>
            <a:r>
              <a:t>    p, err := s.Get(id) // ambil snapshot beserta nilai version</a:t>
            </a:r>
            <a:br/>
            <a:r>
              <a:t>    if err != nil { return err }</a:t>
            </a:r>
            <a:br/>
            <a:r>
              <a:t>    if p.Stock &lt; qty { return ErrInsufficientStock }</a:t>
            </a:r>
            <a:br/>
            <a:r>
              <a:t>    time.Sleep(50 * time.Microsecond)</a:t>
            </a:r>
            <a:br/>
            <a:r>
              <a:t>    s.mu.Lock()</a:t>
            </a:r>
            <a:br/>
            <a:r>
              <a:t>    defer s.mu.Unlock()</a:t>
            </a:r>
            <a:br/>
            <a:r>
              <a:t>    curr, exists := s.products[id]</a:t>
            </a:r>
            <a:br/>
            <a:r>
              <a:t>    if curr.Version != p.Version { // cek version guard</a:t>
            </a:r>
            <a:br/>
            <a:r>
              <a:t>        atomic.AddInt64(&amp;s.OptimisticFails, 1)</a:t>
            </a:r>
            <a:br/>
            <a:r>
              <a:t>        return ErrOptimisticLock // equivalen affected_rows == 0</a:t>
            </a:r>
            <a:br/>
            <a:r>
              <a:t>    }</a:t>
            </a:r>
            <a:br/>
            <a:r>
              <a:t>    curr.Stock -= qty; curr.Version++</a:t>
            </a:r>
            <a:br/>
            <a:r>
              <a:t>    atomic.AddInt64(&amp;s.Optimistically, int64(qty));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Optimistic locking membaca data beserta nomor versinya tanpa menahan kunci baris. Saat commit, versi divalidasi; jika versi di memori telah berubah, update digagalkan dengan mengembalikan ErrOptimisticLock. Strategi ini tidak otomatis sukses jika aplikasi tidak menangani error konflik tersebut.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Validate state immutability at commit time; reject modifications whenever baseline versions diverge.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internal/inventory/store.go:120-153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Konvergensi Optimistik: Exponential Backoff dengan Jitter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Meredam benturan thundering-herd saat mencoba ulang mutasi yang gagal.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(svc *Service) DeductOptimisticWithRetry(id, qty, maxRetries int) error {</a:t>
            </a:r>
            <a:br/>
            <a:r>
              <a:t>    for attempt := 0; attempt &lt;= maxRetries; attempt++ {</a:t>
            </a:r>
            <a:br/>
            <a:r>
              <a:t>        err := svc.store.OptimisticDeduct(id, qty)</a:t>
            </a:r>
            <a:br/>
            <a:r>
              <a:t>        if err == nil { return nil }</a:t>
            </a:r>
            <a:br/>
            <a:r>
              <a:t>        if err != ErrOptimisticLock { return err }</a:t>
            </a:r>
            <a:br/>
            <a:r>
              <a:t>        if attempt == maxRetries { return ErrOptimisticLock }</a:t>
            </a:r>
            <a:br/>
            <a:r>
              <a:t>        sleepDuration := time.Duration(1&lt;&lt;attempt)*time.Millisecond +</a:t>
            </a:r>
            <a:br/>
            <a:r>
              <a:t>            time.Duration(rand.Intn(5))*time.Millisecond</a:t>
            </a:r>
            <a:br/>
            <a:r>
              <a:t>        time.Sleep(sleepDuration)</a:t>
            </a:r>
            <a:br/>
            <a:r>
              <a:t>    }</a:t>
            </a:r>
            <a:br/>
            <a:r>
              <a:t>    return ErrOptimisticLock</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Ketika konflik versi terjadi, Service melakukan percobaan ulang dengan jeda bertingkat eksponensial ditambah angka acak jitter. Jitter mencegah goroutine mencoba kembali pada detik yang sama persis. Hanya pada jalur ini 20 request konkuren yang saling berebut akhirnya konvergen dan sukses seluruhnya.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De-synchronize competing retries via exponential randomized pauses to guarantee system-wide convergence.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internal/inventory/service.go:28-45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Atomic Update: Memangkas Celah Read-Modify-Write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Melakukan pengecekan kondisi dan pembaruan data dalam satu siklus atomik.</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Ekuivalen SQL: UPDATE products SET stock = stock - ? WHERE id = ? AND stock &gt;= ?</a:t>
            </a:r>
            <a:br/>
            <a:r>
              <a:t>func (s *Store) AtomicDeduct(id int, qty int) error {</a:t>
            </a:r>
            <a:br/>
            <a:r>
              <a:t>    if qty &lt;= 0 { return ErrInvalidQuantity }</a:t>
            </a:r>
            <a:br/>
            <a:r>
              <a:t>    s.mu.Lock()</a:t>
            </a:r>
            <a:br/>
            <a:r>
              <a:t>    defer s.mu.Unlock()</a:t>
            </a:r>
            <a:br/>
            <a:r>
              <a:t>    curr, exists := s.products[id]</a:t>
            </a:r>
            <a:br/>
            <a:r>
              <a:t>    if !exists { return ErrNotFound }</a:t>
            </a:r>
            <a:br/>
            <a:r>
              <a:t>    if curr.Stock &lt; qty { return ErrInsufficientStock }</a:t>
            </a:r>
            <a:br/>
            <a:r>
              <a:t>    curr.Stock -= qty // validasi dan kalkulasi dalam satu seksi kritis</a:t>
            </a:r>
            <a:br/>
            <a:r>
              <a:t>    atomic.AddInt64(&amp;s.Atomically, int64(qty))</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AtomicDeduct menghilangkan jeda waktu antara membaca dan menulis dengan menggabungkan validasi stok dan pengurangan nilai ke dalam satu seksi kritis. Pola ini bukan berarti solusi untuk semua masalah, karena operasi atomik satu statement tidak mampu menangani validasi multi-tabel yang kompleks.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Condense condition validation and state mutation into a unified, non-preemptible database operation.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internal/inventory/store.go:155-173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Invarian: Konsistensi Matematis di Bawah Beban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Memastikan rumus InitialStock - TotalSuccessfulDeductions terpenuhi mutlak.</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TestOptimisticLockingConflict(t *testing.T) {</a:t>
            </a:r>
            <a:br/>
            <a:r>
              <a:t>    // 20 goroutines serempak DeductOptimisticDirect pada stok 100</a:t>
            </a:r>
            <a:br/>
            <a:r>
              <a:t>    wg.Wait()</a:t>
            </a:r>
            <a:br/>
            <a:r>
              <a:t>    p, _ := store.Get(3)</a:t>
            </a:r>
            <a:br/>
            <a:r>
              <a:t>    // Pembuktian invarian: transaksi sukses + sisa stok wajib tepat 100</a:t>
            </a:r>
            <a:br/>
            <a:r>
              <a:t>    if successCount+int64(p.Stock) != 100 {</a:t>
            </a:r>
            <a:br/>
            <a:r>
              <a:t>        t.Fatalf("invarian stok rusak: sukses %d + stok %d != 100",</a:t>
            </a:r>
            <a:br/>
            <a:r>
              <a:t>                 successCount, p.Stock)</a:t>
            </a:r>
            <a:br/>
            <a:r>
              <a:t>    }</a:t>
            </a:r>
            <a:br/>
            <a:r>
              <a:t>    if conflictCount == 0 { t.Fatalf("harus ada minimal 1 konflik")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Test suite memverifikasi bahwa penolakan optimistik tidak merusak integritas sistem: jumlah request yang sukses ditambah sisa stok wajib tepat bernilai 100. Verifikasi empiris ini cakupannya mengikuti test suite otomatis lab, membuktikan nol korupsi data meski terjadi penolakan massal.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Validate system correctness by proving conservation invariants across concurrent execution boundaries.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tests/locking_test.go:85-121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Penerapan Concurrency Control di Produksi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Pedoman teknis memilih dan mengonfigurasi mekanisme penguncian database.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STANDAR REKAYASA MUTASI DATA DATABASE</a:t>
            </a:r>
          </a:p>
          <a:p>
            <a:pPr>
              <a:spcAft>
                <a:spcPts val="400"/>
              </a:spcAft>
              <a:defRPr sz="1200">
                <a:solidFill>
                  <a:srgbClr val="0B1B2D"/>
                </a:solidFill>
              </a:defRPr>
            </a:pPr>
            <a:r>
              <a:t>• Identifikasi alur mutasi: apakah single-statement atomik atau read-modify-write multi-langkah.</a:t>
            </a:r>
          </a:p>
          <a:p>
            <a:pPr>
              <a:spcAft>
                <a:spcPts val="400"/>
              </a:spcAft>
              <a:defRPr sz="1200">
                <a:solidFill>
                  <a:srgbClr val="0B1B2D"/>
                </a:solidFill>
              </a:defRPr>
            </a:pPr>
            <a:r>
              <a:t>• Gunakan UPDATE ... WHERE stock &gt;= N untuk pembaruan counter/inventaris numerik sederhana.</a:t>
            </a:r>
          </a:p>
          <a:p>
            <a:pPr>
              <a:spcAft>
                <a:spcPts val="400"/>
              </a:spcAft>
              <a:defRPr sz="1200">
                <a:solidFill>
                  <a:srgbClr val="0B1B2D"/>
                </a:solidFill>
              </a:defRPr>
            </a:pPr>
            <a:r>
              <a:t>• Terapkan SELECT ... FOR UPDATE pada transaksi bernilai tinggi dengan tingkat tabrakan tinggi.</a:t>
            </a:r>
          </a:p>
          <a:p>
            <a:pPr>
              <a:spcAft>
                <a:spcPts val="400"/>
              </a:spcAft>
              <a:defRPr sz="1200">
                <a:solidFill>
                  <a:srgbClr val="0B1B2D"/>
                </a:solidFill>
              </a:defRPr>
            </a:pPr>
            <a:r>
              <a:t>• Jangan pernah menahan row lock database saat melakukan panggilan jaringan eksternal (HTTP/RPC).</a:t>
            </a:r>
          </a:p>
          <a:p>
            <a:pPr>
              <a:spcAft>
                <a:spcPts val="400"/>
              </a:spcAft>
              <a:defRPr sz="1200">
                <a:solidFill>
                  <a:srgbClr val="0B1B2D"/>
                </a:solidFill>
              </a:defRPr>
            </a:pPr>
            <a:r>
              <a:t>• Tambahkan kolom version integer/timestamp dan periksa affected_rows == 0 untuk optimistic lock.</a:t>
            </a:r>
          </a:p>
          <a:p>
            <a:pPr>
              <a:spcAft>
                <a:spcPts val="400"/>
              </a:spcAft>
              <a:defRPr sz="1200">
                <a:solidFill>
                  <a:srgbClr val="0B1B2D"/>
                </a:solidFill>
              </a:defRPr>
            </a:pPr>
            <a:r>
              <a:t>• Sediakan wrapper retry dengan randomized jittered backoff untuk menangani konflik optimistik.</a:t>
            </a:r>
          </a:p>
          <a:p>
            <a:pPr>
              <a:spcAft>
                <a:spcPts val="400"/>
              </a:spcAft>
              <a:defRPr sz="1200">
                <a:solidFill>
                  <a:srgbClr val="0B1B2D"/>
                </a:solidFill>
              </a:defRPr>
            </a:pPr>
            <a:r>
              <a:t>• Jalankan race detector Go (go test -race ./...) secara berkala pada seluruh pipeline CI/CD.</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Checklist ini merangkum langkah wajib sebelum merilis kode transaksional ke lingkungan produksi. Mengidentifikasi pola mutasi, membatasi durasi penguncian baris, memverifikasi affected_rows, mengimplementasikan jittered backoff, dan menjalankan race detector adalah pagar pengaman utama sistem backend.</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Enforce systematic production checklists to prevent concurrency bugs and runtime transaction starvation.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content/02-master-draft.md:330-342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Anti-Pattern Umum dalam Penanganan Transaksi Konkuren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Kesalahan desain arsitektur yang sering merusak konsistensi data di database.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KESALAHAN DESAIN MUTASI YANG HARUS DIHINDARI</a:t>
            </a:r>
          </a:p>
          <a:p>
            <a:pPr>
              <a:spcAft>
                <a:spcPts val="400"/>
              </a:spcAft>
              <a:defRPr sz="1200">
                <a:solidFill>
                  <a:srgbClr val="0B1B2D"/>
                </a:solidFill>
              </a:defRPr>
            </a:pPr>
            <a:r>
              <a:t>• Mengabaikan Affected Rows: Tidak memeriksa jumlah baris terpengaruh pada query update optimistik, menganggap eksekusi selalu berhasil.</a:t>
            </a:r>
          </a:p>
          <a:p>
            <a:pPr>
              <a:spcAft>
                <a:spcPts val="400"/>
              </a:spcAft>
              <a:defRPr sz="1200">
                <a:solidFill>
                  <a:srgbClr val="0B1B2D"/>
                </a:solidFill>
              </a:defRPr>
            </a:pPr>
            <a:r>
              <a:t>• Lock Menyeberang I/O: Memegang lock database saat menunggu respons webhook payment gateway; memicu antrean sistemik.</a:t>
            </a:r>
          </a:p>
          <a:p>
            <a:pPr>
              <a:spcAft>
                <a:spcPts val="400"/>
              </a:spcAft>
              <a:defRPr sz="1200">
                <a:solidFill>
                  <a:srgbClr val="0B1B2D"/>
                </a:solidFill>
              </a:defRPr>
            </a:pPr>
            <a:r>
              <a:t>• Bukan Berarti Perlu Redis: Langsung memakai Redis lock bukan berarti tepat; database relasional sudah punya locking bawaan.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Kesalahan paling umum di industri adalah menganggap query UPDATE selalu berhasil tanpa mengecek affected_rows, serta menahan lock database sambil menunggu panggilan HTTP pihak ketiga. Memasang distributed lock seperti Redis bukan berarti selalu tepat, karena database lokal sudah menyediakan mekanisme locking bawaan yang jauh lebih efisien.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Eliminate cross-network lock retention and utilize native database primitives before introducing external lock managers.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content/02-master-draft.md:285-292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Reproduksi Mandiri di Mesin Lokal Menggunakan Go</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Verifikasi mandiri anomali lost update dan ketiga strateginya tanpa dependensi.</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cd labs/23-optimistic-vs-pessimistic-locking</a:t>
            </a:r>
            <a:br/>
            <a:r>
              <a:t>go test -v ./...    # verifikasi 6 test skenario naive, pessimistic, optimistic &amp; atomic</a:t>
            </a:r>
            <a:br/>
            <a:r>
              <a:t>go test -race ./... # pembuktian sinkronisasi konkuren bebas data race di Go memory</a:t>
            </a:r>
            <a:br/>
            <a:r>
              <a:t>go run ./cmd/demo   # eksekusi demonstrasi CLI interaktif kelima skenario berdampingan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Seluruh pengujian dibangun murni menggunakan pustaka standar Go tanpa modul pihak ketiga. Eksperimen lokal ini membuktikan logika locking di memori secara cepat, namun production masih perlu mengonfigurasi batas lock timeout dan query analyzer pada database relasional yang sebenarnya.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Zero-dependency concurrency harnesses provide rapid, deterministic validation of distributed transactional patterns.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README.md:14-34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Prinsip Inti: Tidak Ada Solusi Tunggal untuk Konkurensi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Keseimbangan antara pencegahan proaktif, deteksi optimistik, dan kesederhanaan.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TIGA PILAR PENGENDALIAN MUTASI DATA</a:t>
            </a:r>
          </a:p>
          <a:p>
            <a:pPr>
              <a:spcAft>
                <a:spcPts val="400"/>
              </a:spcAft>
              <a:defRPr sz="1200">
                <a:solidFill>
                  <a:srgbClr val="0B1B2D"/>
                </a:solidFill>
              </a:defRPr>
            </a:pPr>
            <a:r>
              <a:t>• Pessimistic: Data Kritis: Pilihan utama bila tabrakan data berbiaya tinggi dan pembatalan transaksi tidak dapat ditoleransi pengguna.</a:t>
            </a:r>
          </a:p>
          <a:p>
            <a:pPr>
              <a:spcAft>
                <a:spcPts val="400"/>
              </a:spcAft>
              <a:defRPr sz="1200">
                <a:solidFill>
                  <a:srgbClr val="0B1B2D"/>
                </a:solidFill>
              </a:defRPr>
            </a:pPr>
            <a:r>
              <a:t>• Optimistic: Skalabilitas Baca: Pilihan optimal bila sistem dominan membaca data dan volume konflik tulis berada di tingkat rendah.</a:t>
            </a:r>
          </a:p>
          <a:p>
            <a:pPr>
              <a:spcAft>
                <a:spcPts val="400"/>
              </a:spcAft>
              <a:defRPr sz="1200">
                <a:solidFill>
                  <a:srgbClr val="0B1B2D"/>
                </a:solidFill>
              </a:defRPr>
            </a:pPr>
            <a:r>
              <a:t>• Atomic: Desain Sederhana: Pilihan terbaik untuk mutasi numerik tunggal; tidak otomatis rumit bila bisa diselesaikan satu query.</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Kunci arsitektur transaksional yang matang adalah menyesuaikan alat dengan karakteristik kontensi data. Transaksi kritis membutuhkan kepastian pemblokiran pessimistic, aplikasi baca-banyak memanfaatkan skalabilitas optimistic, dan counter sederhana diselesaikan oleh query atomik. Merancang sistem transaksional tidak otomatis membutuhkan solusi rumit bila kebutuhan mutasi dapat diakomodasi oleh operasi atomik database.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Architectural excellence lies in pairing contention patterns with the exact concurrency primitive required.</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content/05-key-takeaways.md:1-20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23</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Lost Update adalah korupsi data diam-diam. Transaksi biasa tidak mencegahnya; desain penguncian yang tepat yang menyelesaikannya.</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Lost updates are silent transactional hazards eradicated only through deliberate, explicit concurrency controls.</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23 - Optimistic vs Pessimistic Locking &amp; Atomic Updates</a:t>
            </a:r>
          </a:p>
          <a:p>
            <a:pPr>
              <a:defRPr sz="1200">
                <a:solidFill>
                  <a:srgbClr val="CBD5E1"/>
                </a:solidFill>
              </a:defRPr>
            </a:pPr>
            <a:r>
              <a:t>https://github.com/lukman-ss/software-engineering-lab/tree/main/labs/23-optimistic-vs-pessimistic-locking</a:t>
            </a:r>
          </a:p>
          <a:p>
            <a:br/>
            <a:pPr>
              <a:defRPr sz="1100" b="1">
                <a:solidFill>
                  <a:srgbClr val="20C997"/>
                </a:solidFill>
              </a:defRPr>
            </a:pPr>
            <a:r>
              <a:t>REPOSITORY</a:t>
            </a:r>
          </a:p>
          <a:p>
            <a:pPr>
              <a:defRPr sz="1100">
                <a:solidFill>
                  <a:srgbClr val="FFFFFF"/>
                </a:solidFill>
                <a:latin typeface="Courier New"/>
              </a:defRPr>
            </a:pPr>
            <a:r>
              <a:t>github.com/lukman-ss/software-engineering-lab/tree/main/labs/23-optimistic-vs-pessimistic-locking</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aad5d78</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Concurrency • Database Locks • Lost Update • Optimistic Locking • Row Locks • Go</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