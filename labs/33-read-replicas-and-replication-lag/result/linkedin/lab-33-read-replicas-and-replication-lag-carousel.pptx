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Read Replica dan Replication Lag</a:t>
            </a:r>
          </a:p>
          <a:p/>
          <a:p>
            <a:r>
              <a:t>Mental Model: Replication lag is the distance between primary LSN and replica applied-LSN; every read strategy is a closing mechanism for that gap.</a:t>
            </a:r>
          </a:p>
          <a:p/>
          <a:p>
            <a:r>
              <a:t>[]</a:t>
            </a:r>
          </a:p>
          <a:p>
            <a:r>
              <a:t>- Diagram cluster primary-replica dengan panah WAL streaming</a:t>
            </a:r>
          </a:p>
          <a:p>
            <a:r>
              <a:t>- Ilustrasi replication lag dan jalur routing read (naive vs sticky vs token vs sync)</a:t>
            </a:r>
          </a:p>
          <a:p>
            <a:r>
              <a:t>- Penulis: Lukman / lukman-ss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Masalah Nyata: Ilusi Freshness di Balik Read Replica</a:t>
            </a:r>
          </a:p>
          <a:p/>
          <a:p>
            <a:r>
              <a:t>Mental Model: Stale reads are not bugs; they are the expected behavior of eventually consistent replica systems.</a:t>
            </a:r>
          </a:p>
          <a:p/>
          <a:p>
            <a:r>
              <a:t>[WRITE COMMITTED]</a:t>
            </a:r>
          </a:p>
          <a:p>
            <a:r>
              <a:t>- User mengubah field 'tier' premium di endpoint PUT /profile.</a:t>
            </a:r>
          </a:p>
          <a:p>
            <a:r>
              <a:t>- Request dialihkan ke primary, LSN increment menjadi 47.</a:t>
            </a:r>
          </a:p>
          <a:p>
            <a:r>
              <a:t>- Write berhasil dengan status 200, response body berisi payload baru.</a:t>
            </a:r>
          </a:p>
          <a:p>
            <a:r>
              <a:t>[REPLICA LAGGING]</a:t>
            </a:r>
          </a:p>
          <a:p>
            <a:r>
              <a:t>- WAL entry dengan LSN 47 mengalir ke replica-1 namun belum di-apply.</a:t>
            </a:r>
          </a:p>
          <a:p>
            <a:r>
              <a:t>- Replica-1 masih menunjukkan appliedLSN = 44, data lama belum tersingkir.</a:t>
            </a:r>
          </a:p>
          <a:p>
            <a:r>
              <a:t>- Worker goroutine replica menunggu durasi lagDuration sebelum flush.</a:t>
            </a:r>
          </a:p>
          <a:p>
            <a:r>
              <a:t>[STALE READ TERJADI]</a:t>
            </a:r>
          </a:p>
          <a:p>
            <a:r>
              <a:t>- Load balancer mengalihkan read dashboard ke replica-1 secara round-robin.</a:t>
            </a:r>
          </a:p>
          <a:p>
            <a:r>
              <a:t>- Query SELECT profile WHERE id=user mendapat ErrNotFound atau data usang.</a:t>
            </a:r>
          </a:p>
          <a:p>
            <a:r>
              <a:t>- User merasa sistem rusak; actual cause adalah replication lag yang tak tertutup.</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Mengapa Read Naif ke Replica Selalu Berisiko?</a:t>
            </a:r>
          </a:p>
          <a:p/>
          <a:p>
            <a:r>
              <a:t>Mental Model: Naive load-balancing optimizes for throughput; it abandons consistency entirely.</a:t>
            </a:r>
          </a:p>
          <a:p/>
          <a:p>
            <a:r>
              <a:t>[KODE ROUTING NAIF]</a:t>
            </a:r>
          </a:p>
          <a:p>
            <a:r>
              <a:t>- func (r *Router) ReadNaive(key string) (string, string, uint64, error) {</a:t>
            </a:r>
          </a:p>
          <a:p>
            <a:r>
              <a:t>-     replicas := r.cluster.Replicas()</a:t>
            </a:r>
          </a:p>
          <a:p>
            <a:r>
              <a:t>-     if len(replicas) == 0 {</a:t>
            </a:r>
          </a:p>
          <a:p>
            <a:r>
              <a:t>-         return r.cluster.Primary().Read(key)  // Fallback aman</a:t>
            </a:r>
          </a:p>
          <a:p>
            <a:r>
              <a:t>-     }</a:t>
            </a:r>
          </a:p>
          <a:p>
            <a:r>
              <a:t>-     idx := r.rrIndex.Add(1) % uint64(len(replicas))</a:t>
            </a:r>
          </a:p>
          <a:p>
            <a:r>
              <a:t>-     target := replicas[idx]</a:t>
            </a:r>
          </a:p>
          <a:p>
            <a:r>
              <a:t>-     return target.Read(key)  // Tanpa cek appliedLSN!</a:t>
            </a:r>
          </a:p>
          <a:p>
            <a:r>
              <a:t>- }</a:t>
            </a:r>
          </a:p>
          <a:p>
            <a:r>
              <a:t>[KEGAGALAN FUNDAMENTAL]</a:t>
            </a:r>
          </a:p>
          <a:p>
            <a:r>
              <a:t>- Tidak ada validasi AppliedLSN vs currentLSN sebelum melayani read.</a:t>
            </a:r>
          </a:p>
          <a:p>
            <a:r>
              <a:t>- Round-robin indifferent terhadap freshness state setiap replica.</a:t>
            </a:r>
          </a:p>
          <a:p>
            <a:r>
              <a:t>- Stale read probability berbanding lurus dengan throughput write dan lag duration.</a:t>
            </a:r>
          </a:p>
          <a:p>
            <a:r>
              <a:t>- Write-after-read pada session yang sama paling rentan terhadap anomali ini.</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Mental Model: LSN sebagai Jangkar Konsistensi</a:t>
            </a:r>
          </a:p>
          <a:p/>
          <a:p>
            <a:r>
              <a:t>Mental Model: LSN is the universal causal anchor; replication lag is simply distance from that anchor.</a:t>
            </a:r>
          </a:p>
          <a:p/>
          <a:p>
            <a:r>
              <a:t>[STRUKTUR DATA WAL]</a:t>
            </a:r>
          </a:p>
          <a:p>
            <a:r>
              <a:t>- type WALEntry struct {</a:t>
            </a:r>
          </a:p>
          <a:p>
            <a:r>
              <a:t>-     LSN       uint64    // monotonik naik dari primary</a:t>
            </a:r>
          </a:p>
          <a:p>
            <a:r>
              <a:t>-     Key       string</a:t>
            </a:r>
          </a:p>
          <a:p>
            <a:r>
              <a:t>-     Value     string</a:t>
            </a:r>
          </a:p>
          <a:p>
            <a:r>
              <a:t>-     Timestamp time.Time</a:t>
            </a:r>
          </a:p>
          <a:p>
            <a:r>
              <a:t>- }</a:t>
            </a:r>
          </a:p>
          <a:p>
            <a:r>
              <a:t>[DUO KEADAAN SETIAP NODE]</a:t>
            </a:r>
          </a:p>
          <a:p>
            <a:r>
              <a:t>- Primary: mengasign LSN atomic saat commit write; sumber kebenaran tunggal.</a:t>
            </a:r>
          </a:p>
          <a:p>
            <a:r>
              <a:t>- Replica: menyimpan map data KV + appliedLSN + goroutine worker consumption WAL.</a:t>
            </a:r>
          </a:p>
          <a:p>
            <a:r>
              <a:t>- Gap: delta(PrimaryLSN, ReplicaAppliedLSN) = ukuran replikasi lag saat ini.</a:t>
            </a:r>
          </a:p>
          <a:p>
            <a:r>
              <a:t>- Kunci: setiap read strategy harus meminimalkan atau menutup gap ini untuk sesi yang relevan.</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Pipeline Write-Read dengan Replication Lag</a:t>
            </a:r>
          </a:p>
          <a:p/>
          <a:p>
            <a:r>
              <a:t>Mental Model: Writes flow forward in LSN order; reads must synchronize with that order or fall back to the source.</a:t>
            </a:r>
          </a:p>
          <a:p/>
          <a:p>
            <a:r>
              <a:t>[SEKUENSI PIPELINE DISTRIBUSI]</a:t>
            </a:r>
          </a:p>
          <a:p>
            <a:r>
              <a:t>- 1. Client.Write(session, key, value) → Primary commit, LSN increment atomic, WAL entry broadcast ke replica channel</a:t>
            </a:r>
          </a:p>
          <a:p>
            <a:r>
              <a:t>- 2. Replica worker sleep(lagDuration) → entry apply ke local data map, appliedLSN = entry.LSN, cond.Broadcast wake WaitForLSN</a:t>
            </a:r>
          </a:p>
          <a:p>
            <a:r>
              <a:t>- 3a. ReadNaive: round-robin pilih replica → jika appliedLSN &lt; lastWriteLSN → stale read atau ErrNotFound</a:t>
            </a:r>
          </a:p>
          <a:p>
            <a:r>
              <a:t>- 3b. ReadWithStickySession: cek time.Since(lastWriteTime) &lt; T_sticky → redirect ke primary; setelah TTL expired → ReadLagAware</a:t>
            </a:r>
          </a:p>
          <a:p>
            <a:r>
              <a:t>- 3c. ReadWithToken: iterasi replica untuk appliedLSN &gt;= minLSN; blocking WaitForLSN + timeout context → fallback primary</a:t>
            </a:r>
          </a:p>
          <a:p>
            <a:r>
              <a:t>- 3d. ReadLagAware: hitung diff = primaryLSN - appliedLSN; filter eligible diff &lt;= MaxLSNDiff; fallback primary jika kosong</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Implementasi Sticky Session Router</a:t>
            </a:r>
          </a:p>
          <a:p/>
          <a:p>
            <a:r>
              <a:t>Mental Model: Sticky windows trade read throughput for guaranteed freshness within a bounded temporal envelope.</a:t>
            </a:r>
          </a:p>
          <a:p/>
          <a:p>
            <a:r>
              <a:t>[READ WITH STICKY SESSION]</a:t>
            </a:r>
          </a:p>
          <a:p>
            <a:r>
              <a:t>- func (r *Router) ReadWithStickySession(sessionID, key string) (string, string, uint64, error) {</a:t>
            </a:r>
          </a:p>
          <a:p>
            <a:r>
              <a:t>-     if stateVal, ok := r.sessions.Load(sessionID); ok {</a:t>
            </a:r>
          </a:p>
          <a:p>
            <a:r>
              <a:t>-         state := stateVal.(SessionState)</a:t>
            </a:r>
          </a:p>
          <a:p>
            <a:r>
              <a:t>-         if time.Since(state.LastWriteTime) &lt; r.config.StickyDuration {</a:t>
            </a:r>
          </a:p>
          <a:p>
            <a:r>
              <a:t>-             val, lsn, err := r.cluster.Primary().Read(key)</a:t>
            </a:r>
          </a:p>
          <a:p>
            <a:r>
              <a:t>-             return val, r.cluster.Primary().ID(), lsn, err</a:t>
            </a:r>
          </a:p>
          <a:p>
            <a:r>
              <a:t>-         }</a:t>
            </a:r>
          </a:p>
          <a:p>
            <a:r>
              <a:t>-     }</a:t>
            </a:r>
          </a:p>
          <a:p>
            <a:r>
              <a:t>-     return r.ReadLagAware(key)</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Failure Path: Stale Read Anomali di Demo CLI</a:t>
            </a:r>
          </a:p>
          <a:p/>
          <a:p>
            <a:r>
              <a:t>Mental Model: Silent correctness failures hurt more than loud crashes; they erode trust without trace.</a:t>
            </a:r>
          </a:p>
          <a:p/>
          <a:p>
            <a:r>
              <a:t>[TERMINAL FAILURE LOG]</a:t>
            </a:r>
          </a:p>
          <a:p>
            <a:r>
              <a:t>- [Write Primary] Wrote key 'user:profile:123', Primary LSN: 1</a:t>
            </a:r>
          </a:p>
          <a:p>
            <a:r>
              <a:t>- [Naive Read] Node: replica-2, Applied LSN: 0, Val: '', Err: key not found</a:t>
            </a:r>
          </a:p>
          <a:p>
            <a:r>
              <a:t>- </a:t>
            </a:r>
          </a:p>
          <a:p>
            <a:r>
              <a:t>- Analisis:</a:t>
            </a:r>
          </a:p>
          <a:p>
            <a:r>
              <a:t>- Primary commit LSN 1 tetapi replica-2 appliedLSN masih 0 karena lag 200ms belum berlalu.</a:t>
            </a:r>
          </a:p>
          <a:p>
            <a:r>
              <a:t>- ReadNaive memilih replica-2 via round-robin tanpa pengecekan LSN.</a:t>
            </a:r>
          </a:p>
          <a:p>
            <a:r>
              <a:t>- Key tidak ditemukan karena belum di-apply di replica; user menerima ErrNotFound senyap.</a:t>
            </a:r>
          </a:p>
          <a:p>
            <a:r>
              <a:t>[Dampak UX]</a:t>
            </a:r>
          </a:p>
          <a:p>
            <a:r>
              <a:t>- User melihat halaman kosong atau 404 setelah upload data baru.</a:t>
            </a:r>
          </a:p>
          <a:p>
            <a:r>
              <a:t>- Trust erosion: user yakin input berhasil tetapi output tidak mencerminkan input.</a:t>
            </a:r>
          </a:p>
          <a:p>
            <a:r>
              <a:t>- Debug cost tinggi karena write log sukses dan read log juga 'berhasil' (bukan error sistem).</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Mekanisme vs Gejala: Evaluasi Strategi Read Routing</a:t>
            </a:r>
          </a:p>
          <a:p/>
          <a:p>
            <a:r>
              <a:t>Mental Model: Every routing strategy sits on a spectrum between consistency, latency, and operational complexity.</a:t>
            </a:r>
          </a:p>
          <a:p/>
          <a:p>
            <a:r>
              <a:t>[TABEL PERBANDINGAN STRATEGI]</a:t>
            </a:r>
          </a:p>
          <a:p>
            <a:r>
              <a:t>- Strategi | Jaminan | Overhead | Fallback | Cocok Untuk</a:t>
            </a:r>
          </a:p>
          <a:p>
            <a:r>
              <a:t>- ReadNaive | None | Zero | Primary jika replica kosong | Development, debugging</a:t>
            </a:r>
          </a:p>
          <a:p>
            <a:r>
              <a:t>- Sticky Session | Session-level fresh | Time check O(1), session map | Lag-aware filtering | Session-bound writes</a:t>
            </a:r>
          </a:p>
          <a:p>
            <a:r>
              <a:t>- Causal Token | Causal ordering | LSN check + blocking wait | Context timeout + primary | Critical data reads</a:t>
            </a:r>
          </a:p>
          <a:p>
            <a:r>
              <a:t>- Lag-Aware | Threshold-bound | Delta LSN calculation + filter | Primary jika eligible kosong | Bulk reads, analytics</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3 Keputusan Desain Kritis Replication Strategy</a:t>
            </a:r>
          </a:p>
          <a:p/>
          <a:p>
            <a:r>
              <a:t>Mental Model: Design decisions cascade from requirements to parameters to implementation; never skip upstream thinking.</a:t>
            </a:r>
          </a:p>
          <a:p/>
          <a:p>
            <a:r>
              <a:t>[1. TENTUKAN CONSISTENCY REQUIREMENT]</a:t>
            </a:r>
          </a:p>
          <a:p>
            <a:r>
              <a:t>- Apakah session ini memerlukan read-your-own-writes (CRUD critical)?</a:t>
            </a:r>
          </a:p>
          <a:p>
            <a:r>
              <a:t>- Jika ya → sticky session atau causal token wajib digunakan.</a:t>
            </a:r>
          </a:p>
          <a:p>
            <a:r>
              <a:t>- Jika tidak → lag-aware filtering cukup untuk bulk analytics reads.</a:t>
            </a:r>
          </a:p>
          <a:p>
            <a:r>
              <a:t>[2. KALIBRASI PARAMETER WAKTU]</a:t>
            </a:r>
          </a:p>
          <a:p>
            <a:r>
              <a:t>- T_sticky harus ≥ p99 replication lag aktual di production.</a:t>
            </a:r>
          </a:p>
          <a:p>
            <a:r>
              <a:t>- Default industri 5 detik bersifat heuristik; perlu tuning berbasis monitoring.</a:t>
            </a:r>
          </a:p>
          <a:p>
            <a:r>
              <a:t>- WaitTimeout pada causal token harus ≥ worst-case catch-up duration + buffer.</a:t>
            </a:r>
          </a:p>
          <a:p>
            <a:r>
              <a:t>[3. PILIH FENCING LAYER YANG TEPAT]</a:t>
            </a:r>
          </a:p>
          <a:p>
            <a:r>
              <a:t>- Gunakan mode synchronous remote_apply jika freshness mutlak dibutuhkan.</a:t>
            </a:r>
          </a:p>
          <a:p>
            <a:r>
              <a:t>- Accept async replication + application-level fencing untuk throughput maksimal.</a:t>
            </a:r>
          </a:p>
          <a:p>
            <a:r>
              <a:t>- Jangan mencampuradukkan semi-sync (durability) dengan synchronous (visibility).</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Bukti Eksekusi: Siklus Lengkap Replication &amp; Mitigasi</a:t>
            </a:r>
          </a:p>
          <a:p/>
          <a:p>
            <a:r>
              <a:t>Mental Model: Terminal traces convert abstract consistency guarantees into observable execution evidence.</a:t>
            </a:r>
          </a:p>
          <a:p/>
          <a:p>
            <a:r>
              <a:t>[DEMO EXECUTION TRACE]</a:t>
            </a:r>
          </a:p>
          <a:p>
            <a:r>
              <a:t>- === Lab 33: Read Replicas and Replication Lag Demo ===</a:t>
            </a:r>
          </a:p>
          <a:p>
            <a:r>
              <a:t>- </a:t>
            </a:r>
          </a:p>
          <a:p>
            <a:r>
              <a:t>- --- 1. Async Replication Lag Anomaly ---</a:t>
            </a:r>
          </a:p>
          <a:p>
            <a:r>
              <a:t>- [Write Primary] Wrote key 'user:profile:123', Primary LSN: 1</a:t>
            </a:r>
          </a:p>
          <a:p>
            <a:r>
              <a:t>- [Naive Read] Node: replica-2, Applied LSN: 0, Val: '', Err: key not found</a:t>
            </a:r>
          </a:p>
          <a:p>
            <a:r>
              <a:t>- </a:t>
            </a:r>
          </a:p>
          <a:p>
            <a:r>
              <a:t>- --- 2. Sticky Session Routing ---</a:t>
            </a:r>
          </a:p>
          <a:p>
            <a:r>
              <a:t>- [Sticky Read (within 500ms)] Node: primary, LSN: 1, Val: '{...}', Err: nil</a:t>
            </a:r>
          </a:p>
          <a:p>
            <a:r>
              <a:t>- [Sticky Read (after TTL)] Node: replica-1, LSN: 1, Val: '{...}', Err: nil</a:t>
            </a:r>
          </a:p>
          <a:p>
            <a:r>
              <a:t>- </a:t>
            </a:r>
          </a:p>
          <a:p>
            <a:r>
              <a:t>- --- 3. Causal Token / LSN Wait ---</a:t>
            </a:r>
          </a:p>
          <a:p>
            <a:r>
              <a:t>- [Token Read (MinLSN=2)] Node: replica-1, LSN: 2, Val: '{...}', Err: nil</a:t>
            </a:r>
          </a:p>
          <a:p>
            <a:r>
              <a:t>- </a:t>
            </a:r>
          </a:p>
          <a:p>
            <a:r>
              <a:t>- --- 4. Synchronous Replication ---</a:t>
            </a:r>
          </a:p>
          <a:p>
            <a:r>
              <a:t>- [Sync Write] LSN: 1, Write Duration: 104.055166ms</a:t>
            </a:r>
          </a:p>
          <a:p>
            <a:r>
              <a:t>- [Sync Naive Read] Node: replica-2, LSN: 1, Val: '{...}', Err: nil</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YANG TIDAK DIBUKTIKAN</a:t>
            </a:r>
          </a:p>
          <a:p/>
          <a:p>
            <a:r>
              <a:t>Mental Model: Lab proofs establish behavioral correctness, not production-scale resilience or observability.</a:t>
            </a:r>
          </a:p>
          <a:p/>
          <a:p>
            <a:r>
              <a:t>[YANG TIDAK DIBUKTIKAN]</a:t>
            </a:r>
          </a:p>
          <a:p>
            <a:r>
              <a:t>- Cluster in-memory tanpa persistence layer; tidak membuktikan recovery pasca-crash.</a:t>
            </a:r>
          </a:p>
          <a:p>
            <a:r>
              <a:t>- Tidak ada topologi cascading replica (replica-of-replica) atau multi-region replication.</a:t>
            </a:r>
          </a:p>
          <a:p>
            <a:r>
              <a:t>- Sticky 500ms dan lag 200ms bersifat ilustratif lab; bukan rekomendasi tuning produksi.</a:t>
            </a:r>
          </a:p>
          <a:p>
            <a:r>
              <a:t>- Router state disimpan di sync.Map single-process; tidak membuktikan stateless horizontal scaling.</a:t>
            </a:r>
          </a:p>
          <a:p>
            <a:r>
              <a:t>- Tidak mencakup network partition antar primary dan replica, only simulated timing lag.</a:t>
            </a:r>
          </a:p>
          <a:p>
            <a:r>
              <a:t>- p99 lag multi-region dan cross-datacenter topology tidak diuji di dalam lab.</a:t>
            </a:r>
          </a:p>
          <a:p>
            <a:r>
              <a:t>- Tidak mengimplementasikan change data capture (CDC) atau binlog-based synchronization.</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Trade-off Arsitektur: Freshness vs Throughput</a:t>
            </a:r>
          </a:p>
          <a:p/>
          <a:p>
            <a:r>
              <a:t>Mental Model: Consistency is purchased with either latency, complexity, or primary throughput sacrifice.</a:t>
            </a:r>
          </a:p>
          <a:p/>
          <a:p>
            <a:r>
              <a:t>[MANFAAT &amp; KEUNGGULAN]</a:t>
            </a:r>
          </a:p>
          <a:p>
            <a:r>
              <a:t>- Read-Your-Own-Writes Guaranteed: User selalu melihat hasil tulisannya sendiri segera.</a:t>
            </a:r>
          </a:p>
          <a:p>
            <a:r>
              <a:t>- Scalable Reads: Replica menanggung sebagian besar beban read after sticky window expired.</a:t>
            </a:r>
          </a:p>
          <a:p>
            <a:r>
              <a:t>- Graceful Degradation: Fallback ke primary terjadi secara eksplisit, bukan silent failure.</a:t>
            </a:r>
          </a:p>
          <a:p>
            <a:r>
              <a:t>- Observability: LSN metrics dapat di-monitor untuk mendeteksi anomaly replication topology.</a:t>
            </a:r>
          </a:p>
          <a:p>
            <a:r>
              <a:t>[KONSEKUENSI &amp; BIAYA]</a:t>
            </a:r>
          </a:p>
          <a:p>
            <a:r>
              <a:t>- Sticky Window Overhead: Primary menerima traffic read ekstra selama T_sticky per session.</a:t>
            </a:r>
          </a:p>
          <a:p>
            <a:r>
              <a:t>- Blocking Latency: Causal token wait menambah p99 read latency saat replica belum catch-up.</a:t>
            </a:r>
          </a:p>
          <a:p>
            <a:r>
              <a:t>- Complexity Cost: Router membutuhkan session state management dan LSN inspection logic.</a:t>
            </a:r>
          </a:p>
          <a:p>
            <a:r>
              <a:t>- Fallback Concentration: Semua degraded reads terakumulasi di primary → potential bottleneck.</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Validasi Konkurensi: 15 Goroutine × 20 Operasi Race-Free</a:t>
            </a:r>
          </a:p>
          <a:p/>
          <a:p>
            <a:r>
              <a:t>Mental Model: Thread-safe shared state requires explicit mutex boundaries; race detector catches what humans miss.</a:t>
            </a:r>
          </a:p>
          <a:p/>
          <a:p>
            <a:r>
              <a:t>[KODE TEST KONKURENSI]</a:t>
            </a:r>
          </a:p>
          <a:p>
            <a:r>
              <a:t>- func TestConcurrentAccess_RaceFree(t *testing.T) {</a:t>
            </a:r>
          </a:p>
          <a:p>
            <a:r>
              <a:t>-     c := cluster.NewCluster(3, 10*time.Millisecond, cluster.AsyncReplication)</a:t>
            </a:r>
          </a:p>
          <a:p>
            <a:r>
              <a:t>-     defer c.Close()</a:t>
            </a:r>
          </a:p>
          <a:p>
            <a:r>
              <a:t>-     r := router.NewRouter(c, router.DefaultConfig())</a:t>
            </a:r>
          </a:p>
          <a:p>
            <a:r>
              <a:t>- </a:t>
            </a:r>
          </a:p>
          <a:p>
            <a:r>
              <a:t>-     var wg sync.WaitGroup</a:t>
            </a:r>
          </a:p>
          <a:p>
            <a:r>
              <a:t>-     for i := 0; i &lt; 15; i++ {</a:t>
            </a:r>
          </a:p>
          <a:p>
            <a:r>
              <a:t>-         wg.Add(1)</a:t>
            </a:r>
          </a:p>
          <a:p>
            <a:r>
              <a:t>-         go func(id int) {</a:t>
            </a:r>
          </a:p>
          <a:p>
            <a:r>
              <a:t>-             defer wg.Done()</a:t>
            </a:r>
          </a:p>
          <a:p>
            <a:r>
              <a:t>-             sid := fmt.Sprintf('s%d', id)</a:t>
            </a:r>
          </a:p>
          <a:p>
            <a:r>
              <a:t>-             _, _ = r.Write(sid, fmt.Sprintf('k%d', id), fmt.Sprintf('v%d', id))</a:t>
            </a:r>
          </a:p>
          <a:p>
            <a:r>
              <a:t>-             for j := 0; j &lt; 20; j++ {</a:t>
            </a:r>
          </a:p>
          <a:p>
            <a:r>
              <a:t>-                 _, _, _, _ = r.ReadWithStickySession(sid, fmt.Sprintf('k%d', id))</a:t>
            </a:r>
          </a:p>
          <a:p>
            <a:r>
              <a:t>-             }</a:t>
            </a:r>
          </a:p>
          <a:p>
            <a:r>
              <a:t>-         }(i)</a:t>
            </a:r>
          </a:p>
          <a:p>
            <a:r>
              <a:t>-     }</a:t>
            </a:r>
          </a:p>
          <a:p>
            <a:r>
              <a:t>-     wg.Wait()</a:t>
            </a:r>
          </a:p>
          <a:p>
            <a:r>
              <a:t>- }</a:t>
            </a:r>
          </a:p>
          <a:p>
            <a:r>
              <a:t>[HASIL VERIFIKASI]</a:t>
            </a:r>
          </a:p>
          <a:p>
            <a:r>
              <a:t>- Race Detector: PASS (go test -race ./... tanpa flag data race).</a:t>
            </a:r>
          </a:p>
          <a:p>
            <a:r>
              <a:t>- Session Isolation: 15 session unik tidak saling mengganggu state sync.Map.</a:t>
            </a:r>
          </a:p>
          <a:p>
            <a:r>
              <a:t>- Write-Read Consistency: Setiap session melihat data yang ditulis sendiri setelah sticky window.</a:t>
            </a:r>
          </a:p>
          <a:p>
            <a:r>
              <a:t>- Cluster Stability: 3 replica workers tetap stabil tanpa goroutine leak atau deadlock.</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Before vs After: Evolusi Read Routing Strategy</a:t>
            </a:r>
          </a:p>
          <a:p/>
          <a:p>
            <a:r>
              <a:t>Mental Model: Before: blind distribution amplifies inconsistency. After: informed routing turns lag into a measurable variable.</a:t>
            </a:r>
          </a:p>
          <a:p/>
          <a:p>
            <a:r>
              <a:t>[BEFORE (Naive Round-Robin)]</a:t>
            </a:r>
          </a:p>
          <a:p>
            <a:r>
              <a:t>- Routing: Pilih replica secara acak tanpa awareness LSN state.</a:t>
            </a:r>
          </a:p>
          <a:p>
            <a:r>
              <a:t>- Failure Mode: Stale read atau ErrNotFound terjadi setiap write-then-read window.</a:t>
            </a:r>
          </a:p>
          <a:p>
            <a:r>
              <a:t>- Observability: Tidak ada metric untuk mendeteksi replication lag anomaly.</a:t>
            </a:r>
          </a:p>
          <a:p>
            <a:r>
              <a:t>- Dampak: User experience degradasi senyap tanpa error reporting yang meaningful.</a:t>
            </a:r>
          </a:p>
          <a:p>
            <a:r>
              <a:t>[AFTER (Four-Layer Mitigation)]</a:t>
            </a:r>
          </a:p>
          <a:p>
            <a:r>
              <a:t>- Routing: Sticky session untuk session-bound writes, token wait untuk causal reads.</a:t>
            </a:r>
          </a:p>
          <a:p>
            <a:r>
              <a:t>- Failure Mode: Fallback eksplisit ke primary dengan logging node ID dan LSN delta.</a:t>
            </a:r>
          </a:p>
          <a:p>
            <a:r>
              <a:t>- Observability: appliedLSN per replica dapat dipromonitor untuk alerting threshold breach.</a:t>
            </a:r>
          </a:p>
          <a:p>
            <a:r>
              <a:t>- Dampak: Read-your-own-writes terjamin 100% dengan graceful degradation ketika replica lagging.</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Test 1: Stale Read Terjadi Tanpa Proteksi</a:t>
            </a:r>
          </a:p>
          <a:p/>
          <a:p>
            <a:r>
              <a:t>Mental Model: Stale reads are deterministic consequences of timing gaps, not random network failures.</a:t>
            </a:r>
          </a:p>
          <a:p/>
          <a:p>
            <a:r>
              <a:t>[TEST KONTRAK STALE READ]</a:t>
            </a:r>
          </a:p>
          <a:p>
            <a:r>
              <a:t>- func TestNaiveReplicationLag_StaleRead(t *testing.T) {</a:t>
            </a:r>
          </a:p>
          <a:p>
            <a:r>
              <a:t>-     c := cluster.NewCluster(2, 200*time.Millisecond, cluster.AsyncReplication)</a:t>
            </a:r>
          </a:p>
          <a:p>
            <a:r>
              <a:t>-     defer c.Close()</a:t>
            </a:r>
          </a:p>
          <a:p>
            <a:r>
              <a:t>-     r := router.NewRouter(c, router.DefaultConfig())</a:t>
            </a:r>
          </a:p>
          <a:p>
            <a:r>
              <a:t>- </a:t>
            </a:r>
          </a:p>
          <a:p>
            <a:r>
              <a:t>-     _, err := r.Write("s1", "key:A", "value-A")</a:t>
            </a:r>
          </a:p>
          <a:p>
            <a:r>
              <a:t>-     if err != nil { t.Fatalf("Write failed: %v", err) }</a:t>
            </a:r>
          </a:p>
          <a:p>
            <a:r>
              <a:t>- </a:t>
            </a:r>
          </a:p>
          <a:p>
            <a:r>
              <a:t>-     // Immediately read without any mitigation</a:t>
            </a:r>
          </a:p>
          <a:p>
            <a:r>
              <a:t>-     val, nodeID, lsn, err := r.ReadNaive("key:A")</a:t>
            </a:r>
          </a:p>
          <a:p>
            <a:r>
              <a:t>-     if err == nil {</a:t>
            </a:r>
          </a:p>
          <a:p>
            <a:r>
              <a:t>-         t.Fatalf("Expected stale read error, got val=%s node=%s lsn=%d", val, nodeID, lsn)</a:t>
            </a:r>
          </a:p>
          <a:p>
            <a:r>
              <a:t>-     }</a:t>
            </a:r>
          </a:p>
          <a:p>
            <a:r>
              <a:t>-     // After waiting for lag to expire, read should succeed</a:t>
            </a:r>
          </a:p>
          <a:p>
            <a:r>
              <a:t>-     time.Sleep(250 * time.Millisecond)</a:t>
            </a:r>
          </a:p>
          <a:p>
            <a:r>
              <a:t>-     val, nodeID, lsn, err = r.ReadNaive("key:A")</a:t>
            </a:r>
          </a:p>
          <a:p>
            <a:r>
              <a:t>-     if err != nil { t.Fatalf("Post-lag read failed: %v", err) }</a:t>
            </a:r>
          </a:p>
          <a:p>
            <a:r>
              <a:t>- }</a:t>
            </a:r>
          </a:p>
          <a:p>
            <a:r>
              <a:t>[VERIFIKASI INVARIAN]</a:t>
            </a:r>
          </a:p>
          <a:p>
            <a:r>
              <a:t>- Immediate Read: ReadNaive pasca-write langsung menghasilkan ErrNotFound (stale read).</a:t>
            </a:r>
          </a:p>
          <a:p>
            <a:r>
              <a:t>- Post-Lag Read: Setelah sleep 250ms (&gt; lag 200ms), read berhasil dengan nilai fresh.</a:t>
            </a:r>
          </a:p>
          <a:p>
            <a:r>
              <a:t>- Node Affinity: Setelah catch-up, read dapat berhasil dari replica manapun.</a:t>
            </a:r>
          </a:p>
          <a:p>
            <a:r>
              <a:t>- Timing Proof: Perbedaan hasil sebelum dan sesudah lag membuktikan anomali temporal.</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Test 2: Sticky Session Menjamin Read-Your-Own-Writes</a:t>
            </a:r>
          </a:p>
          <a:p/>
          <a:p>
            <a:r>
              <a:t>Mental Model: Time-bounded primary redirection trades read throughput for guaranteed session consistency.</a:t>
            </a:r>
          </a:p>
          <a:p/>
          <a:p>
            <a:r>
              <a:t>[TEST KONTRAK STICKY ROUTING]</a:t>
            </a:r>
          </a:p>
          <a:p>
            <a:r>
              <a:t>- func TestStickySessionRouting(t *testing.T) {</a:t>
            </a:r>
          </a:p>
          <a:p>
            <a:r>
              <a:t>-     c := cluster.NewCluster(2, 200*time.Millisecond, cluster.AsyncReplication)</a:t>
            </a:r>
          </a:p>
          <a:p>
            <a:r>
              <a:t>-     defer c.Close()</a:t>
            </a:r>
          </a:p>
          <a:p>
            <a:r>
              <a:t>-     cfg := router.DefaultConfig()</a:t>
            </a:r>
          </a:p>
          <a:p>
            <a:r>
              <a:t>-     cfg.StickyDuration = 500 * time.Millisecond</a:t>
            </a:r>
          </a:p>
          <a:p>
            <a:r>
              <a:t>-     r := router.NewRouter(c, cfg)</a:t>
            </a:r>
          </a:p>
          <a:p>
            <a:r>
              <a:t>- </a:t>
            </a:r>
          </a:p>
          <a:p>
            <a:r>
              <a:t>-     _, err := r.Write("s1", "key:B", "value-B")</a:t>
            </a:r>
          </a:p>
          <a:p>
            <a:r>
              <a:t>-     if err != nil { t.Fatalf("Write failed: %v", err) }</a:t>
            </a:r>
          </a:p>
          <a:p>
            <a:r>
              <a:t>- </a:t>
            </a:r>
          </a:p>
          <a:p>
            <a:r>
              <a:t>-     // Read within sticky window — must hit primary</a:t>
            </a:r>
          </a:p>
          <a:p>
            <a:r>
              <a:t>-     val, nodeID, _, err := r.ReadWithStickySession("s1", "key:B")</a:t>
            </a:r>
          </a:p>
          <a:p>
            <a:r>
              <a:t>-     if err != nil || val != "value-B" || !strings.HasSuffix(nodeID, "primary") {</a:t>
            </a:r>
          </a:p>
          <a:p>
            <a:r>
              <a:t>-         t.Fatalf("Sticky read failed or hit wrong node: val=%s node=%s err=%v", val, nodeID, err)</a:t>
            </a:r>
          </a:p>
          <a:p>
            <a:r>
              <a:t>-     }</a:t>
            </a:r>
          </a:p>
          <a:p>
            <a:r>
              <a:t>- </a:t>
            </a:r>
          </a:p>
          <a:p>
            <a:r>
              <a:t>-     time.Sleep(600 * time.Millisecond) // Expire sticky window</a:t>
            </a:r>
          </a:p>
          <a:p>
            <a:r>
              <a:t>-     val, nodeID, _, err = r.ReadWithStickySession("s1", "key:B")</a:t>
            </a:r>
          </a:p>
          <a:p>
            <a:r>
              <a:t>-     if err != nil || nodeID == "primary" {</a:t>
            </a:r>
          </a:p>
          <a:p>
            <a:r>
              <a:t>-         t.Fatalf("Post-sticky read should route to replica, got node=%s", nodeID)</a:t>
            </a:r>
          </a:p>
          <a:p>
            <a:r>
              <a:t>-     }</a:t>
            </a:r>
          </a:p>
          <a:p>
            <a:r>
              <a:t>- }</a:t>
            </a:r>
          </a:p>
          <a:p>
            <a:r>
              <a:t>[ATURAN STRICT TIMING]</a:t>
            </a:r>
          </a:p>
          <a:p>
            <a:r>
              <a:t>- Pre-Expiration: Read dalam 500ms pertama selalu diarahkan ke primary, bukan replica.</a:t>
            </a:r>
          </a:p>
          <a:p>
            <a:r>
              <a:t>- Post-Expiration: Setelah 600ms, routing berubah ke ReadLagAware (replica eligible).</a:t>
            </a:r>
          </a:p>
          <a:p>
            <a:r>
              <a:t>- Value Integrity: Payload 'value-B' konsisten tersedia di primary dan replica catch-up.</a:t>
            </a:r>
          </a:p>
          <a:p>
            <a:r>
              <a:t>- Session Isolation: Session ID lain tidak terpengaruh oleh sticky state session s1.</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Test 3: Causal Token Tunggu Catch-Up Sebelum Serve Read</a:t>
            </a:r>
          </a:p>
          <a:p/>
          <a:p>
            <a:r>
              <a:t>Mental Model: Causal tokens convert temporal uncertainty into deterministic ordering guarantees.</a:t>
            </a:r>
          </a:p>
          <a:p/>
          <a:p>
            <a:r>
              <a:t>[TEST KONTRAK CAUSAL TOKEN]</a:t>
            </a:r>
          </a:p>
          <a:p>
            <a:r>
              <a:t>- func TestReadWithToken_LSN(t *testing.T) {</a:t>
            </a:r>
          </a:p>
          <a:p>
            <a:r>
              <a:t>-     c := cluster.NewCluster(1, 200*time.Millisecond, cluster.AsyncReplication)</a:t>
            </a:r>
          </a:p>
          <a:p>
            <a:r>
              <a:t>-     defer c.Close()</a:t>
            </a:r>
          </a:p>
          <a:p>
            <a:r>
              <a:t>-     r := router.NewRouter(c, router.DefaultConfig())</a:t>
            </a:r>
          </a:p>
          <a:p>
            <a:r>
              <a:t>- </a:t>
            </a:r>
          </a:p>
          <a:p>
            <a:r>
              <a:t>-     lsn, err := r.Write("s1", "key:C", "value-C")</a:t>
            </a:r>
          </a:p>
          <a:p>
            <a:r>
              <a:t>-     if err != nil { t.Fatalf("Write failed: %v", err) }</a:t>
            </a:r>
          </a:p>
          <a:p>
            <a:r>
              <a:t>- </a:t>
            </a:r>
          </a:p>
          <a:p>
            <a:r>
              <a:t>-     start := time.Now()</a:t>
            </a:r>
          </a:p>
          <a:p>
            <a:r>
              <a:t>-     val, nodeID, readLSN, err := r.ReadWithToken(context.Background(), lsn, "key:C")</a:t>
            </a:r>
          </a:p>
          <a:p>
            <a:r>
              <a:t>-     elapsed := time.Since(start)</a:t>
            </a:r>
          </a:p>
          <a:p>
            <a:r>
              <a:t>- </a:t>
            </a:r>
          </a:p>
          <a:p>
            <a:r>
              <a:t>-     if err != nil { t.Fatalf("ReadWithToken failed: %v", err) }</a:t>
            </a:r>
          </a:p>
          <a:p>
            <a:r>
              <a:t>-     if val != "value-C" { t.Fatalf("Expected value-C, got %s", val) }</a:t>
            </a:r>
          </a:p>
          <a:p>
            <a:r>
              <a:t>-     if readLSN &lt; lsn { t.Fatalf("Expected LSN &gt;= %d, got %d", lsn, readLSN) }</a:t>
            </a:r>
          </a:p>
          <a:p>
            <a:r>
              <a:t>-     if elapsed &lt; 150*time.Millisecond {</a:t>
            </a:r>
          </a:p>
          <a:p>
            <a:r>
              <a:t>-         t.Fatalf("Expected token read to wait ~200ms, finished in %v on node %s", elapsed, nodeID)</a:t>
            </a:r>
          </a:p>
          <a:p>
            <a:r>
              <a:t>-     }</a:t>
            </a:r>
          </a:p>
          <a:p>
            <a:r>
              <a:t>- }</a:t>
            </a:r>
          </a:p>
          <a:p>
            <a:r>
              <a:t>[INVARIAN BLOCKING WAIT]</a:t>
            </a:r>
          </a:p>
          <a:p>
            <a:r>
              <a:t>- Deterministic Wait: ReadWithToken blocking hingga replica appliedLSN &gt;= minLSN terbukti.</a:t>
            </a:r>
          </a:p>
          <a:p>
            <a:r>
              <a:t>- Elapsed Timing: Test asserting elapsed &gt;= 150ms mengkonfirmasi blocking behavior aktif.</a:t>
            </a:r>
          </a:p>
          <a:p>
            <a:r>
              <a:t>- LSN Guarantee: readLSN &gt;= minLSN menjamin causal ordering terpenuhi sebelum serve response.</a:t>
            </a:r>
          </a:p>
          <a:p>
            <a:r>
              <a:t>- Fallback Safety: Jika timeout, method fallback ke primary dengan suffix '(fallback)' di nodeID.</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Studi Kasus Industri: Replication Lag di Database Production</a:t>
            </a:r>
          </a:p>
          <a:p/>
          <a:p>
            <a:r>
              <a:t>Mental Model: Production systems treat replication lag as an operational variable, not an inflexible constraint.</a:t>
            </a:r>
          </a:p>
          <a:p/>
          <a:p>
            <a:r>
              <a:t>[AWS RDS / AURORA READ REPLICAS]</a:t>
            </a:r>
          </a:p>
          <a:p>
            <a:r>
              <a:t>- Default: Asynchronous replication dengan lag bervariasi tergantung region dan instance size.</a:t>
            </a:r>
          </a:p>
          <a:p>
            <a:r>
              <a:t>- Read-Your-Own-Writes: AWS DocumentDB menyediakan 'session consistency' via sticky routing otomatis.</a:t>
            </a:r>
          </a:p>
          <a:p>
            <a:r>
              <a:t>- Monitoring: CloudWatch metric 'ReplicaLag' exposing seconds behind primary secara real-time.</a:t>
            </a:r>
          </a:p>
          <a:p>
            <a:r>
              <a:t>- Failover: Automated promotion namun read splitter perlu rekonfigurasi sticky session state.</a:t>
            </a:r>
          </a:p>
          <a:p>
            <a:r>
              <a:t>[POSTGRESQL STREAMING REPLICATION]</a:t>
            </a:r>
          </a:p>
          <a:p>
            <a:r>
              <a:t>- Async Default: wal_level = replica, synchronous_commit = off, remote_apply belum diaktifkan.</a:t>
            </a:r>
          </a:p>
          <a:p>
            <a:r>
              <a:t>- Synchronous Commit: Setting synchronous_commit = remote_apply menjamin write visibility di semua replica.</a:t>
            </a:r>
          </a:p>
          <a:p>
            <a:r>
              <a:t>- pg_stat_replication: System view exposing replay_lsn vs write_lsn untuk monitoring lag.</a:t>
            </a:r>
          </a:p>
          <a:p>
            <a:r>
              <a:t>- Application Level: Driver seperti PgBouncer atau connection pooler bisa implement sticky routing.</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Bagaimana WaitForLSN Membedakan Blocking dan Timeout?</a:t>
            </a:r>
          </a:p>
          <a:p/>
          <a:p>
            <a:r>
              <a:t>Mental Model: Condition variables replace polling loops; context cancellation ensures graceful deadline enforcement.</a:t>
            </a:r>
          </a:p>
          <a:p/>
          <a:p>
            <a:r>
              <a:t>[IMPLEMENTASI WAITER]</a:t>
            </a:r>
          </a:p>
          <a:p>
            <a:r>
              <a:t>- func (n *Node) WaitForLSN(ctx context.Context, targetLSN uint64) error {</a:t>
            </a:r>
          </a:p>
          <a:p>
            <a:r>
              <a:t>-     ch := make(chan struct{})</a:t>
            </a:r>
          </a:p>
          <a:p>
            <a:r>
              <a:t>-     stop := make(chan struct{})</a:t>
            </a:r>
          </a:p>
          <a:p>
            <a:r>
              <a:t>-     go func() {</a:t>
            </a:r>
          </a:p>
          <a:p>
            <a:r>
              <a:t>-         n.mu.Lock()</a:t>
            </a:r>
          </a:p>
          <a:p>
            <a:r>
              <a:t>-         defer n.mu.Unlock()</a:t>
            </a:r>
          </a:p>
          <a:p>
            <a:r>
              <a:t>-         for n.appliedLSN &lt; targetLSN {</a:t>
            </a:r>
          </a:p>
          <a:p>
            <a:r>
              <a:t>-             select {</a:t>
            </a:r>
          </a:p>
          <a:p>
            <a:r>
              <a:t>-             case &lt;-stop:</a:t>
            </a:r>
          </a:p>
          <a:p>
            <a:r>
              <a:t>-                 return</a:t>
            </a:r>
          </a:p>
          <a:p>
            <a:r>
              <a:t>-             default:</a:t>
            </a:r>
          </a:p>
          <a:p>
            <a:r>
              <a:t>-             }</a:t>
            </a:r>
          </a:p>
          <a:p>
            <a:r>
              <a:t>-             n.cond.Wait()  // Release lock, block until Broadcast</a:t>
            </a:r>
          </a:p>
          <a:p>
            <a:r>
              <a:t>-         }</a:t>
            </a:r>
          </a:p>
          <a:p>
            <a:r>
              <a:t>-         close(ch)</a:t>
            </a:r>
          </a:p>
          <a:p>
            <a:r>
              <a:t>-     }()</a:t>
            </a:r>
          </a:p>
          <a:p>
            <a:r>
              <a:t>-     select {</a:t>
            </a:r>
          </a:p>
          <a:p>
            <a:r>
              <a:t>-     case &lt;-ctx.Done():</a:t>
            </a:r>
          </a:p>
          <a:p>
            <a:r>
              <a:t>-         close(stop); n.cond.Broadcast(); return ctx.Err()</a:t>
            </a:r>
          </a:p>
          <a:p>
            <a:r>
              <a:t>-     case &lt;-ch:</a:t>
            </a:r>
          </a:p>
          <a:p>
            <a:r>
              <a:t>-         return nil</a:t>
            </a:r>
          </a:p>
          <a:p>
            <a:r>
              <a:t>-     }</a:t>
            </a:r>
          </a:p>
          <a:p>
            <a:r>
              <a:t>- }</a:t>
            </a:r>
          </a:p>
          <a:p>
            <a:r>
              <a:t>[MEKANISME PENGUNCIAN]</a:t>
            </a:r>
          </a:p>
          <a:p>
            <a:r>
              <a:t>- cond.Wait() melepas mutex sementara goroutine block, menghindari busy-wait CPU spinning.</a:t>
            </a:r>
          </a:p>
          <a:p>
            <a:r>
              <a:t>- Worker goroutine memanggil cond.Broadcast() setelah apply entry, waking semua waiter.</a:t>
            </a:r>
          </a:p>
          <a:p>
            <a:r>
              <a:t>- Context deadline memicu close(stop) + Broadcast() untuk emergency wakeup dan cleanup.</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Checklist Implementasi Read Replica Strategy</a:t>
            </a:r>
          </a:p>
          <a:p/>
          <a:p>
            <a:r>
              <a:t>Mental Model: Calibrate timing empirically, monitor continuously, and distinguish path criticality explicitly.</a:t>
            </a:r>
          </a:p>
          <a:p/>
          <a:p>
            <a:r>
              <a:t>[CHECKLIST ARSITEKTUR REPLIKASI]</a:t>
            </a:r>
          </a:p>
          <a:p>
            <a:r>
              <a:t>- [ ] Tentukan consistency requirement: session-bound vs casual reads untuk memilih strategi.</a:t>
            </a:r>
          </a:p>
          <a:p>
            <a:r>
              <a:t>- [ ] Kalibrasi T_sticky ≥ p99 replication lag aktual di production environment (bukan asumsi).</a:t>
            </a:r>
          </a:p>
          <a:p>
            <a:r>
              <a:t>- [ ] Konfigurasi MaxLSNDiff berdasarkan observasi delta LSN normal vs anomaly threshold.</a:t>
            </a:r>
          </a:p>
          <a:p>
            <a:r>
              <a:t>- [ ] Set WaitTimeout causal token ≥ worst-case catch-up duration + 20% buffer.</a:t>
            </a:r>
          </a:p>
          <a:p>
            <a:r>
              <a:t>- [ ] Deploy monitoring metrics: replica lag histogram, stale read rate, primary fallback frequency.</a:t>
            </a:r>
          </a:p>
          <a:p>
            <a:r>
              <a:t>- [ ] Implement circuit breaker untuk primary fallback ketika semua replica exceed threshold.</a:t>
            </a:r>
          </a:p>
          <a:p>
            <a:r>
              <a:t>- [ ] Distribusikan router session state ke shared store (Redis/memcached) untuk horizontal scaling.</a:t>
            </a:r>
          </a:p>
          <a:p>
            <a:r>
              <a:t>- [ ] Validasi bahwa sticky session map tidak memory-leak pada session idle jangka panjang.</a:t>
            </a:r>
          </a:p>
          <a:p>
            <a:r>
              <a:t>- [ ] Uji synchronous replication mode hanya untuk write-critical paths, bukan seluruh traffic.</a:t>
            </a:r>
          </a:p>
          <a:p>
            <a:r>
              <a:t>- [ ] Prepare runbook deteksi anomaly: cara membedakan network partition dari replication lag spike.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Anti-Pattern: Kesalahan Desain yang Harus Dihindari</a:t>
            </a:r>
          </a:p>
          <a:p/>
          <a:p>
            <a:r>
              <a:t>Mental Model: Naive fallbacks and uncalibrated timers turn transient replication lag into catastrophic outages.</a:t>
            </a:r>
          </a:p>
          <a:p/>
          <a:p>
            <a:r>
              <a:t>[ANTI-PATTERN UMUM]</a:t>
            </a:r>
          </a:p>
          <a:p>
            <a:r>
              <a:t>- Mencampuradukkan semi-sync dengan synchronous: MySQL semi-sync menjamin relay log receipt, bukan apply visibility.</a:t>
            </a:r>
          </a:p>
          <a:p>
            <a:r>
              <a:t>- Sticky Duration Terlalu Pendek: T_sticky &lt; p99 lag menyebabkan session masih mengalami stale read selepas jendela.</a:t>
            </a:r>
          </a:p>
          <a:p>
            <a:r>
              <a:t>- Tidak Ada Fallback Primary: ReadLagAware tanpa fallback utama menyebabkan total read unavailability saat semua replica lagging.</a:t>
            </a:r>
          </a:p>
          <a:p>
            <a:r>
              <a:t>- Ignore LSN pada Cached Reads: Read dari application cache tanpa invalidasi berdasarkan LSN menghasilkan dirty reads persisten.</a:t>
            </a:r>
          </a:p>
          <a:p>
            <a:r>
              <a:t>- Hardcode Waiting Durasi: Menggunakan time.Sleep statis alih-alih context timeout menyebabkan goroutine leak dan deadlock.</a:t>
            </a:r>
          </a:p>
          <a:p>
            <a:r>
              <a:t>[CARA REPRODUKSI GAGAL DI LAB]</a:t>
            </a:r>
          </a:p>
          <a:p>
            <a:r>
              <a:t>- 1. Ubah router.go ReadLagAware: hapus fallback primary → test TestReplicaLagThreshold_Fallback akan fail.</a:t>
            </a:r>
          </a:p>
          <a:p>
            <a:r>
              <a:t>- 2. Set MaxLSNDiff = 0 → semua replica terfilter, read selalu fallback primary; throughput read drop drastis.</a:t>
            </a:r>
          </a:p>
          <a:p>
            <a:r>
              <a:t>- 3. Hapus WaitForLSN context timeout → TestReadWithToken_LSN hanging indefinitely pada replica yang crash.</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Verifikasi Mandiri: Uji &amp; Jalankan Lab</a:t>
            </a:r>
          </a:p>
          <a:p/>
          <a:p>
            <a:r>
              <a:t>Mental Model: Zero-dependency standard library code enables instant, deterministic peer verification.</a:t>
            </a:r>
          </a:p>
          <a:p/>
          <a:p>
            <a:r>
              <a:t>[PERINTAH VERIFIKASI RESMI]</a:t>
            </a:r>
          </a:p>
          <a:p>
            <a:r>
              <a:t>- cd labs/33-read-replicas-and-replication-lag</a:t>
            </a:r>
          </a:p>
          <a:p>
            <a:r>
              <a:t>- go test -v ./...</a:t>
            </a:r>
          </a:p>
          <a:p>
            <a:r>
              <a:t>- go test -race ./...</a:t>
            </a:r>
          </a:p>
          <a:p>
            <a:r>
              <a:t>- go run ./cmd/demo</a:t>
            </a:r>
          </a:p>
          <a:p>
            <a:r>
              <a:t>[RINGKASAN METRIK LAB]</a:t>
            </a:r>
          </a:p>
          <a:p>
            <a:r>
              <a:t>- Test Suite: 7 test cases lulus 100% tanpa kegagalan (2.13s total runtime).</a:t>
            </a:r>
          </a:p>
          <a:p>
            <a:r>
              <a:t>- Race Detector: Bersih dari thread contention dan data races (3.98s pass).</a:t>
            </a:r>
          </a:p>
          <a:p>
            <a:r>
              <a:t>- Dependencies: Murni Go Standard Library (sync, time, context, atomic) tanpa dependensi pihak ketiga.</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Prinsip Arsitektur: Desain untuk Asinkronitas</a:t>
            </a:r>
          </a:p>
          <a:p/>
          <a:p>
            <a:r>
              <a:t>Mental Model: Asynchrony is reality; smart routing bridges the gap between scalability and user trust.</a:t>
            </a:r>
          </a:p>
          <a:p/>
          <a:p>
            <a:r>
              <a:t>[1. ASINKRONITAS ADALAH KENYATAAN DEFAULT]</a:t>
            </a:r>
          </a:p>
          <a:p>
            <a:r>
              <a:t>- Replication lag bukan anomali yang harus dihilangkan, melainkan realitas yang harus dikelola.</a:t>
            </a:r>
          </a:p>
          <a:p>
            <a:r>
              <a:t>- Asumsikan setiap read ke replica berpotensi stale kecuali dibuktikan sebaliknya oleh router.</a:t>
            </a:r>
          </a:p>
          <a:p>
            <a:r>
              <a:t>[2. CLOSING MECHANISM ADALAH HAK KLIEN]</a:t>
            </a:r>
          </a:p>
          <a:p>
            <a:r>
              <a:t>- Aplikasi bertanggung jawab memilih mekanisme penutupan jarak (sticky, token, threshold).</a:t>
            </a:r>
          </a:p>
          <a:p>
            <a:r>
              <a:t>- Database engine menyediakan primitives (LSN, WAL), tetapi router aplikasi menentukan kebijakan.</a:t>
            </a:r>
          </a:p>
          <a:p>
            <a:r>
              <a:t>[3. DEGRADASI EKSPLISIT MENGALAHKAN CRASH SENYAP]</a:t>
            </a:r>
          </a:p>
          <a:p>
            <a:r>
              <a:t>- Fallback ke primary dengan logging terstruktur jauh lebih baik daripada menyajikan data basi.</a:t>
            </a:r>
          </a:p>
          <a:p>
            <a:r>
              <a:t>- Transparansi status node dan LSN watermark menjaga integritas sistem jangka panjang.</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Skalabilitas Baca Terjaga, Konsistensi Terjamin.</a:t>
            </a:r>
          </a:p>
          <a:p/>
          <a:p>
            <a:r>
              <a:t>Mental Model: Replication scales reads; application routing safeguards consistency.</a:t>
            </a:r>
          </a:p>
          <a:p/>
          <a:p>
            <a:r>
              <a:t>[KOMPONEN ARSITEKTUR LAB]</a:t>
            </a:r>
          </a:p>
          <a:p>
            <a:r>
              <a:t>- internal/cluster/cluster.go — Primary-replica simulation, WAL streaming, LSN tracking, &amp; sync/async paths</a:t>
            </a:r>
          </a:p>
          <a:p>
            <a:r>
              <a:t>- internal/router/router.go — Four-strategy read splitter with session-affinity &amp; dynamic lag filtering</a:t>
            </a:r>
          </a:p>
          <a:p>
            <a:r>
              <a:t>- tests/replication_test.go — 7 comprehensive test suites (stale reads, sticky routing, token wait, race-free)</a:t>
            </a:r>
          </a:p>
          <a:p>
            <a:r>
              <a:t>- cmd/demo/main.go — Complete interactive lifecycle demonstration of 4 routing scenarios</a:t>
            </a:r>
          </a:p>
          <a:p>
            <a:r>
              <a:t>[VERIFIKASI &amp; REPOSITORI]</a:t>
            </a:r>
          </a:p>
          <a:p>
            <a:r>
              <a:t>- Commit SHA: b41fffb</a:t>
            </a:r>
          </a:p>
          <a:p>
            <a:r>
              <a:t>- Unit Tests: 7/7 PASS (100% clean, 2.13s)</a:t>
            </a:r>
          </a:p>
          <a:p>
            <a:r>
              <a:t>- Race Detector: PASS (zero data race, 3.98s)</a:t>
            </a:r>
          </a:p>
          <a:p>
            <a:r>
              <a:t>- Repositori: github.com/lukman-ss/software-engineering-lab/tree/main/labs/33-read-replicas-and-replication-lag</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33</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Read Replica dan Replication Lag</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Menjaga Read-Your-Own-Writes Tanpa Mengorbankan Skalabilitas Baca</a:t>
            </a:r>
          </a:p>
        </p:txBody>
      </p:sp>
      <p:sp>
        <p:nvSpPr>
          <p:cNvPr id="6" name="TextBox 5"/>
          <p:cNvSpPr txBox="1"/>
          <p:nvPr/>
        </p:nvSpPr>
        <p:spPr>
          <a:xfrm>
            <a:off x="914400" y="5303520"/>
            <a:ext cx="5486400" cy="548640"/>
          </a:xfrm>
          <a:prstGeom prst="rect">
            <a:avLst/>
          </a:prstGeom>
          <a:noFill/>
        </p:spPr>
        <p:txBody>
          <a:bodyPr wrap="none">
            <a:spAutoFit/>
          </a:bodyPr>
          <a:lstStyle/>
          <a:p>
            <a:pPr>
              <a:defRPr sz="1800" b="1">
                <a:solidFill>
                  <a:srgbClr val="D97706"/>
                </a:solidFill>
              </a:defRPr>
            </a:pPr>
            <a:r>
              <a:t>Lukman / lukman-ss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Masalah Nyata: Ilusi Freshness di Balik Read Replica</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User menulis profil baru, tapi dashboard menampilkan data lama atau kosong.</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WRITE COMMITTED</a:t>
            </a:r>
          </a:p>
          <a:p>
            <a:pPr>
              <a:spcAft>
                <a:spcPts val="400"/>
              </a:spcAft>
              <a:defRPr sz="1200">
                <a:solidFill>
                  <a:srgbClr val="0B1B2D"/>
                </a:solidFill>
              </a:defRPr>
            </a:pPr>
            <a:r>
              <a:t>• User mengubah field 'tier' premium di endpoint PUT /profile.</a:t>
            </a:r>
          </a:p>
          <a:p>
            <a:pPr>
              <a:spcAft>
                <a:spcPts val="400"/>
              </a:spcAft>
              <a:defRPr sz="1200">
                <a:solidFill>
                  <a:srgbClr val="0B1B2D"/>
                </a:solidFill>
              </a:defRPr>
            </a:pPr>
            <a:r>
              <a:t>• Request dialihkan ke primary, LSN increment menjadi 47.</a:t>
            </a:r>
          </a:p>
          <a:p>
            <a:pPr>
              <a:spcAft>
                <a:spcPts val="400"/>
              </a:spcAft>
              <a:defRPr sz="1200">
                <a:solidFill>
                  <a:srgbClr val="0B1B2D"/>
                </a:solidFill>
              </a:defRPr>
            </a:pPr>
            <a:r>
              <a:t>• Write berhasil dengan status 200, response body berisi payload baru.</a:t>
            </a:r>
          </a:p>
          <a:p>
            <a:pPr>
              <a:defRPr sz="1200" b="1">
                <a:solidFill>
                  <a:srgbClr val="087F76"/>
                </a:solidFill>
              </a:defRPr>
            </a:pPr>
            <a:r>
              <a:t>REPLICA LAGGING</a:t>
            </a:r>
          </a:p>
          <a:p>
            <a:pPr>
              <a:spcAft>
                <a:spcPts val="400"/>
              </a:spcAft>
              <a:defRPr sz="1200">
                <a:solidFill>
                  <a:srgbClr val="0B1B2D"/>
                </a:solidFill>
              </a:defRPr>
            </a:pPr>
            <a:r>
              <a:t>• WAL entry dengan LSN 47 mengalir ke replica-1 namun belum di-apply.</a:t>
            </a:r>
          </a:p>
          <a:p>
            <a:pPr>
              <a:spcAft>
                <a:spcPts val="400"/>
              </a:spcAft>
              <a:defRPr sz="1200">
                <a:solidFill>
                  <a:srgbClr val="0B1B2D"/>
                </a:solidFill>
              </a:defRPr>
            </a:pPr>
            <a:r>
              <a:t>• Replica-1 masih menunjukkan appliedLSN = 44, data lama belum tersingkir.</a:t>
            </a:r>
          </a:p>
          <a:p>
            <a:pPr>
              <a:spcAft>
                <a:spcPts val="400"/>
              </a:spcAft>
              <a:defRPr sz="1200">
                <a:solidFill>
                  <a:srgbClr val="0B1B2D"/>
                </a:solidFill>
              </a:defRPr>
            </a:pPr>
            <a:r>
              <a:t>• Worker goroutine replica menunggu durasi lagDuration sebelum flush.</a:t>
            </a:r>
          </a:p>
          <a:p>
            <a:pPr>
              <a:defRPr sz="1200" b="1">
                <a:solidFill>
                  <a:srgbClr val="087F76"/>
                </a:solidFill>
              </a:defRPr>
            </a:pPr>
            <a:r>
              <a:t>STALE READ TERJADI</a:t>
            </a:r>
          </a:p>
          <a:p>
            <a:pPr>
              <a:spcAft>
                <a:spcPts val="400"/>
              </a:spcAft>
              <a:defRPr sz="1200">
                <a:solidFill>
                  <a:srgbClr val="0B1B2D"/>
                </a:solidFill>
              </a:defRPr>
            </a:pPr>
            <a:r>
              <a:t>• Load balancer mengalihkan read dashboard ke replica-1 secara round-robin.</a:t>
            </a:r>
          </a:p>
          <a:p>
            <a:pPr>
              <a:spcAft>
                <a:spcPts val="400"/>
              </a:spcAft>
              <a:defRPr sz="1200">
                <a:solidFill>
                  <a:srgbClr val="0B1B2D"/>
                </a:solidFill>
              </a:defRPr>
            </a:pPr>
            <a:r>
              <a:t>• Query SELECT profile WHERE id=user mendapat ErrNotFound atau data usang.</a:t>
            </a:r>
          </a:p>
          <a:p>
            <a:pPr>
              <a:spcAft>
                <a:spcPts val="400"/>
              </a:spcAft>
              <a:defRPr sz="1200">
                <a:solidFill>
                  <a:srgbClr val="0B1B2D"/>
                </a:solidFill>
              </a:defRPr>
            </a:pPr>
            <a:r>
              <a:t>• User merasa sistem rusak; actual cause adalah replication lag yang tak tertutup.</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Skenario ini terjadi secara default di hampir semua database production yang menggunakan primary-replica topology. PostgreSQL streaming replication, MySQL async replication, AWS RDS read replicas, dan Azure Database for PostgreSQL semuanya menjalankan replikasi asinkron secara default tanpa konfigurasi khusus. Ketika client application melakukan pattern write-then-read pada session yang sama, ia tidak memiliki awareness bahwa data yang baru ditulis belum tersedia di replica target. Akibatnya, user mengalami anomali UX yang sulit dilacak karena log menunjukkan write sukses, tapi query berikutnya gagal membaca data yang sama.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Stale reads are not bugs; they are the expected behavior of eventually consistent replica systems.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labs/33-read-replicas-and-replication-lag/content/01-content-brief.md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Mengapa Read Naif ke Replica Selalu Berisiko?</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Round-robin tanpa awareness LSN membuka celah read basi di setiap write window.</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(r *Router) ReadNaive(key string) (string, string, uint64, error) {</a:t>
            </a:r>
            <a:br/>
            <a:r>
              <a:t>    replicas := r.cluster.Replicas()</a:t>
            </a:r>
            <a:br/>
            <a:r>
              <a:t>    if len(replicas) == 0 {</a:t>
            </a:r>
            <a:br/>
            <a:r>
              <a:t>        return r.cluster.Primary().Read(key)  // Fallback aman</a:t>
            </a:r>
            <a:br/>
            <a:r>
              <a:t>    }</a:t>
            </a:r>
            <a:br/>
            <a:r>
              <a:t>    idx := r.rrIndex.Add(1) % uint64(len(replicas))</a:t>
            </a:r>
            <a:br/>
            <a:r>
              <a:t>    target := replicas[idx]</a:t>
            </a:r>
            <a:br/>
            <a:r>
              <a:t>    return target.Read(key)  // Tanpa cek appliedLSN!</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Implementasi ReadNaive menunjukkan pendekatan paling sederhana dalam read splitting: arahkan setiap request ke replica berikutnya secara berputar. Namun pendekatan ini mengabaikan fakta fundamental bahwa setiap replica memiliki appliedLSN yang mungkin jauh di belakang currentLSN primary. Dalam kondisi write-heavy workload dengan replication lag 200 milidetik, probabilitas mendapatkan stale read bisa mendekati 100% untuk key yang baru ditulis. Bug ini termasuk subtle karena tidak menghasilkan panic atau crash — hanya mengembalikan data salah yang terasa aneh bagi pengguna akhir.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Naive load-balancing optimizes for throughput; it abandons consistency entirely.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internal/router/router.go:67-78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Mental Model: LSN sebagai Jangkar Konsistensi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Log Sequence Number membangun urutan kausal yang memungkinkan routing deterministic.</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WALEntry struct {</a:t>
            </a:r>
            <a:br/>
            <a:r>
              <a:t>    LSN       uint64    // monotonik naik dari primary</a:t>
            </a:r>
            <a:br/>
            <a:r>
              <a:t>    Key       string</a:t>
            </a:r>
            <a:br/>
            <a:r>
              <a:t>    Value     string</a:t>
            </a:r>
            <a:br/>
            <a:r>
              <a:t>    Timestamp time.Time</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Model mental ini memisahkan dua lapisan abstraction: lapisan konsistensi (LSN sequence) dan lapisan ketersediaan (data distribution). Primary bertindak sebagai single writer yang memberi nomor urut absolut pada setiap transaksi. Setiap replica secara independen consume dan apply entry WAL dengan latensi tertentu. Router membaca appliedLSN setiap replica untuk membuat keputusan routing yang informed. Tanpa LSN, kita tidak bisa membedakan replica yang fresh versus lagging secara terukur — routing menjadi guesswork belaka.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LSN is the universal causal anchor; replication lag is simply distance from that anchor.</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internal/cluster/cluster.go:18-23 • internal/router/router.go:34-37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Pipeline Write-Read dengan Replication Lag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Dari client write sampai routing decision: empat jalur strategi mitigasi.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SEKUENSI PIPELINE DISTRIBUSI</a:t>
            </a:r>
          </a:p>
          <a:p>
            <a:pPr>
              <a:spcAft>
                <a:spcPts val="400"/>
              </a:spcAft>
              <a:defRPr sz="1200">
                <a:solidFill>
                  <a:srgbClr val="0B1B2D"/>
                </a:solidFill>
              </a:defRPr>
            </a:pPr>
            <a:r>
              <a:t>1. Client.Write(session, key, value) → Primary commit, LSN increment atomic, WAL entry broadcast ke replica channel</a:t>
            </a:r>
          </a:p>
          <a:p>
            <a:pPr>
              <a:spcAft>
                <a:spcPts val="400"/>
              </a:spcAft>
              <a:defRPr sz="1200">
                <a:solidFill>
                  <a:srgbClr val="0B1B2D"/>
                </a:solidFill>
              </a:defRPr>
            </a:pPr>
            <a:r>
              <a:t>2. Replica worker sleep(lagDuration) → entry apply ke local data map, appliedLSN = entry.LSN, cond.Broadcast wake WaitForLSN</a:t>
            </a:r>
          </a:p>
          <a:p>
            <a:pPr>
              <a:spcAft>
                <a:spcPts val="400"/>
              </a:spcAft>
              <a:defRPr sz="1200">
                <a:solidFill>
                  <a:srgbClr val="0B1B2D"/>
                </a:solidFill>
              </a:defRPr>
            </a:pPr>
            <a:r>
              <a:t>3a. ReadNaive: round-robin pilih replica → jika appliedLSN &lt; lastWriteLSN → stale read atau ErrNotFound</a:t>
            </a:r>
          </a:p>
          <a:p>
            <a:pPr>
              <a:spcAft>
                <a:spcPts val="400"/>
              </a:spcAft>
              <a:defRPr sz="1200">
                <a:solidFill>
                  <a:srgbClr val="0B1B2D"/>
                </a:solidFill>
              </a:defRPr>
            </a:pPr>
            <a:r>
              <a:t>3b. ReadWithStickySession: cek time.Since(lastWriteTime) &lt; T_sticky → redirect ke primary; setelah TTL expired → ReadLagAware</a:t>
            </a:r>
          </a:p>
          <a:p>
            <a:pPr>
              <a:spcAft>
                <a:spcPts val="400"/>
              </a:spcAft>
              <a:defRPr sz="1200">
                <a:solidFill>
                  <a:srgbClr val="0B1B2D"/>
                </a:solidFill>
              </a:defRPr>
            </a:pPr>
            <a:r>
              <a:t>3c. ReadWithToken: iterasi replica untuk appliedLSN &gt;= minLSN; blocking WaitForLSN + timeout context → fallback primary</a:t>
            </a:r>
          </a:p>
          <a:p>
            <a:pPr>
              <a:spcAft>
                <a:spcPts val="400"/>
              </a:spcAft>
              <a:defRPr sz="1200">
                <a:solidFill>
                  <a:srgbClr val="0B1B2D"/>
                </a:solidFill>
              </a:defRPr>
            </a:pPr>
            <a:r>
              <a:t>• 3d. ReadLagAware: hitung diff = primaryLSN - appliedLSN; filter eligible diff &lt;= MaxLSNDiff; fallback primary jika kosong</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Pipeline ini menggambarkan perjalanan lengkap sebuah request dari penulisan hingga pembacaan dengan empat varian routing strategy. Jalur pertama menelusuri write path di mana primary mengincrement currentLSN secara atomik lalu broadcasting WAL entry ke channel setiap replica. Jalur kedua mensimulasikan replication lag melalui goroutine worker yang tidur sesuai duration sebelum apply. Empat jalur ketiga menunjukkan bagaimana router memilih target read: naive round-robin tanpa proteksi, sticky session berbasis waktu, token-based LSN wait dengan blocking, atau lag-aware dynamic filtering dengan threshold.</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Writes flow forward in LSN order; reads must synchronize with that order or fall back to the source.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cmd/demo/main.go:15-64 • internal/cluster/cluster.go:148-178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Implementasi Sticky Session Router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Cek lastWriteTime per session untuk mengalihkan read ke primary selama jendela sticky.</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(r *Router) ReadWithStickySession(sessionID, key string) (string, string, uint64, error) {</a:t>
            </a:r>
            <a:br/>
            <a:r>
              <a:t>    if stateVal, ok := r.sessions.Load(sessionID); ok {</a:t>
            </a:r>
            <a:br/>
            <a:r>
              <a:t>        state := stateVal.(SessionState)</a:t>
            </a:r>
            <a:br/>
            <a:r>
              <a:t>        if time.Since(state.LastWriteTime) &lt; r.config.StickyDuration {</a:t>
            </a:r>
            <a:br/>
            <a:r>
              <a:t>            val, lsn, err := r.cluster.Primary().Read(key)</a:t>
            </a:r>
            <a:br/>
            <a:r>
              <a:t>            return val, r.cluster.Primary().ID(), lsn, err</a:t>
            </a:r>
            <a:br/>
            <a:r>
              <a:t>        }</a:t>
            </a:r>
            <a:br/>
            <a:r>
              <a:t>    }</a:t>
            </a:r>
            <a:br/>
            <a:r>
              <a:t>    return r.ReadLagAware(key)</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Potongan kode ini merupakan implementasi time-based sticky routing yang paling sederhana namun efektif. Method pertama-tama memeriksa apakah session ID memiliki state yang terekam di sync.Map. Jika state ditemukan dan waktu sejak lastWrite masih dalam batas StickyDuration, router secara deterministik mengarahkan read ke primary — bukan replica manapun. Ini memastikan read-your-own-writes dalam jendela sticky tanpa biaya LSN check. Setelah jendela habis, flow jatuh ke ReadLagAware yang menggunakan threshold filtering.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Sticky windows trade read throughput for guaranteed freshness within a bounded temporal envelope.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internal/router/router.go:80-90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Failure Path: Stale Read Anomali di Demo CLI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Output terminal membuktikan read ke replica-2 gagal meski write baru sukses di primary.</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TERMINAL FAILURE LOG</a:t>
            </a:r>
          </a:p>
          <a:p>
            <a:pPr>
              <a:spcAft>
                <a:spcPts val="400"/>
              </a:spcAft>
              <a:defRPr sz="1200">
                <a:solidFill>
                  <a:srgbClr val="0B1B2D"/>
                </a:solidFill>
              </a:defRPr>
            </a:pPr>
            <a:r>
              <a:t>• [Write Primary] Wrote key 'user:profile:123', Primary LSN: 1</a:t>
            </a:r>
          </a:p>
          <a:p>
            <a:pPr>
              <a:spcAft>
                <a:spcPts val="400"/>
              </a:spcAft>
              <a:defRPr sz="1200">
                <a:solidFill>
                  <a:srgbClr val="0B1B2D"/>
                </a:solidFill>
              </a:defRPr>
            </a:pPr>
            <a:r>
              <a:t>• [Naive Read] Node: replica-2, Applied LSN: 0, Val: '', Err: key not found</a:t>
            </a:r>
          </a:p>
          <a:p>
            <a:pPr>
              <a:spcAft>
                <a:spcPts val="400"/>
              </a:spcAft>
              <a:defRPr sz="1200">
                <a:solidFill>
                  <a:srgbClr val="0B1B2D"/>
                </a:solidFill>
              </a:defRPr>
            </a:pPr>
            <a:r>
              <a:t>• </a:t>
            </a:r>
          </a:p>
          <a:p>
            <a:pPr>
              <a:spcAft>
                <a:spcPts val="400"/>
              </a:spcAft>
              <a:defRPr sz="1200">
                <a:solidFill>
                  <a:srgbClr val="0B1B2D"/>
                </a:solidFill>
              </a:defRPr>
            </a:pPr>
            <a:r>
              <a:t>• Analisis:</a:t>
            </a:r>
          </a:p>
          <a:p>
            <a:pPr>
              <a:spcAft>
                <a:spcPts val="400"/>
              </a:spcAft>
              <a:defRPr sz="1200">
                <a:solidFill>
                  <a:srgbClr val="0B1B2D"/>
                </a:solidFill>
              </a:defRPr>
            </a:pPr>
            <a:r>
              <a:t>• Primary commit LSN 1 tetapi replica-2 appliedLSN masih 0 karena lag 200ms belum berlalu.</a:t>
            </a:r>
          </a:p>
          <a:p>
            <a:pPr>
              <a:spcAft>
                <a:spcPts val="400"/>
              </a:spcAft>
              <a:defRPr sz="1200">
                <a:solidFill>
                  <a:srgbClr val="0B1B2D"/>
                </a:solidFill>
              </a:defRPr>
            </a:pPr>
            <a:r>
              <a:t>• ReadNaive memilih replica-2 via round-robin tanpa pengecekan LSN.</a:t>
            </a:r>
          </a:p>
          <a:p>
            <a:pPr>
              <a:spcAft>
                <a:spcPts val="400"/>
              </a:spcAft>
              <a:defRPr sz="1200">
                <a:solidFill>
                  <a:srgbClr val="0B1B2D"/>
                </a:solidFill>
              </a:defRPr>
            </a:pPr>
            <a:r>
              <a:t>• Key tidak ditemukan karena belum di-apply di replica; user menerima ErrNotFound senyap.</a:t>
            </a:r>
          </a:p>
          <a:p>
            <a:pPr>
              <a:defRPr sz="1200" b="1">
                <a:solidFill>
                  <a:srgbClr val="087F76"/>
                </a:solidFill>
              </a:defRPr>
            </a:pPr>
            <a:r>
              <a:t>DAMPAK UX</a:t>
            </a:r>
          </a:p>
          <a:p>
            <a:pPr>
              <a:spcAft>
                <a:spcPts val="400"/>
              </a:spcAft>
              <a:defRPr sz="1200">
                <a:solidFill>
                  <a:srgbClr val="0B1B2D"/>
                </a:solidFill>
              </a:defRPr>
            </a:pPr>
            <a:r>
              <a:t>• User melihat halaman kosong atau 404 setelah upload data baru.</a:t>
            </a:r>
          </a:p>
          <a:p>
            <a:pPr>
              <a:spcAft>
                <a:spcPts val="400"/>
              </a:spcAft>
              <a:defRPr sz="1200">
                <a:solidFill>
                  <a:srgbClr val="0B1B2D"/>
                </a:solidFill>
              </a:defRPr>
            </a:pPr>
            <a:r>
              <a:t>• Trust erosion: user yakin input berhasil tetapi output tidak mencerminkan input.</a:t>
            </a:r>
          </a:p>
          <a:p>
            <a:pPr>
              <a:spcAft>
                <a:spcPts val="400"/>
              </a:spcAft>
              <a:defRPr sz="1200">
                <a:solidFill>
                  <a:srgbClr val="0B1B2D"/>
                </a:solidFill>
              </a:defRPr>
            </a:pPr>
            <a:r>
              <a:t>• Debug cost tinggi karena write log sukses dan read log juga 'berhasil' (bukan error sistem).</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Failure path ini diambil langsung dari demo CLI ketika ReadNaive dipanggil tepat setelah write. Primary LSN meningkat ke 1, namun replica-2 masih berada di appliedLSN 0 karena worker goroutine belum menyelesaikan sleep 200 milidetik. Load balancer round-robin memilih replica-2 untuk read berikutnya, menyebabkan key not found karena data belum tersedia. Error ini berbeda dengan koneksi mati atau timeout — aplikasi merespons 200 dengan body kosong, membuat debugging menjadi nightmare bagi engineer yang tidak memahami replication topology.</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Silent correctness failures hurt more than loud crashes; they erode trust without trace.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cmd/demo/main.go:23-32 • engineering/03-execution-result.md:53-58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Mekanisme vs Gejala: Evaluasi Strategi Read Routing</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Membandingkan empat pendekatan dalam hal jaminan, overhead, dan fallback behavior.</a:t>
            </a:r>
          </a:p>
        </p:txBody>
      </p:sp>
      <p:graphicFrame>
        <p:nvGraphicFramePr>
          <p:cNvPr id="6" name="Table 5"/>
          <p:cNvGraphicFramePr>
            <a:graphicFrameLocks noGrp="1"/>
          </p:cNvGraphicFramePr>
          <p:nvPr/>
        </p:nvGraphicFramePr>
        <p:xfrm>
          <a:off x="731520" y="1828800"/>
          <a:ext cx="5120640" cy="2286000"/>
        </p:xfrm>
        <a:graphic>
          <a:graphicData uri="http://schemas.openxmlformats.org/drawingml/2006/table">
            <a:tbl>
              <a:tblPr firstRow="1" bandRow="1">
                <a:tableStyleId>{5C22544A-7EE6-4342-B048-85BDC9FD1C3A}</a:tableStyleId>
              </a:tblPr>
              <a:tblGrid>
                <a:gridCol w="1024128"/>
                <a:gridCol w="1024128"/>
                <a:gridCol w="1024128"/>
                <a:gridCol w="1024128"/>
                <a:gridCol w="1024128"/>
              </a:tblGrid>
              <a:tr h="457200">
                <a:tc>
                  <a:txBody>
                    <a:bodyPr/>
                    <a:lstStyle/>
                    <a:p>
                      <a:pPr>
                        <a:defRPr b="1" sz="1100">
                          <a:solidFill>
                            <a:srgbClr val="FFFFFF"/>
                          </a:solidFill>
                        </a:defRPr>
                      </a:pPr>
                      <a:r>
                        <a:t>Strategi</a:t>
                      </a:r>
                    </a:p>
                  </a:txBody>
                  <a:tcPr>
                    <a:solidFill>
                      <a:srgbClr val="0B1B2D"/>
                    </a:solidFill>
                  </a:tcPr>
                </a:tc>
                <a:tc>
                  <a:txBody>
                    <a:bodyPr/>
                    <a:lstStyle/>
                    <a:p>
                      <a:pPr>
                        <a:defRPr b="1" sz="1100">
                          <a:solidFill>
                            <a:srgbClr val="FFFFFF"/>
                          </a:solidFill>
                        </a:defRPr>
                      </a:pPr>
                      <a:r>
                        <a:t>Jaminan</a:t>
                      </a:r>
                    </a:p>
                  </a:txBody>
                  <a:tcPr>
                    <a:solidFill>
                      <a:srgbClr val="0B1B2D"/>
                    </a:solidFill>
                  </a:tcPr>
                </a:tc>
                <a:tc>
                  <a:txBody>
                    <a:bodyPr/>
                    <a:lstStyle/>
                    <a:p>
                      <a:pPr>
                        <a:defRPr b="1" sz="1100">
                          <a:solidFill>
                            <a:srgbClr val="FFFFFF"/>
                          </a:solidFill>
                        </a:defRPr>
                      </a:pPr>
                      <a:r>
                        <a:t>Overhead</a:t>
                      </a:r>
                    </a:p>
                  </a:txBody>
                  <a:tcPr>
                    <a:solidFill>
                      <a:srgbClr val="0B1B2D"/>
                    </a:solidFill>
                  </a:tcPr>
                </a:tc>
                <a:tc>
                  <a:txBody>
                    <a:bodyPr/>
                    <a:lstStyle/>
                    <a:p>
                      <a:pPr>
                        <a:defRPr b="1" sz="1100">
                          <a:solidFill>
                            <a:srgbClr val="FFFFFF"/>
                          </a:solidFill>
                        </a:defRPr>
                      </a:pPr>
                      <a:r>
                        <a:t>Fallback</a:t>
                      </a:r>
                    </a:p>
                  </a:txBody>
                  <a:tcPr>
                    <a:solidFill>
                      <a:srgbClr val="0B1B2D"/>
                    </a:solidFill>
                  </a:tcPr>
                </a:tc>
                <a:tc>
                  <a:txBody>
                    <a:bodyPr/>
                    <a:lstStyle/>
                    <a:p>
                      <a:pPr>
                        <a:defRPr b="1" sz="1100">
                          <a:solidFill>
                            <a:srgbClr val="FFFFFF"/>
                          </a:solidFill>
                        </a:defRPr>
                      </a:pPr>
                      <a:r>
                        <a:t>Cocok Untuk</a:t>
                      </a:r>
                    </a:p>
                  </a:txBody>
                  <a:tcPr>
                    <a:solidFill>
                      <a:srgbClr val="0B1B2D"/>
                    </a:solidFill>
                  </a:tcPr>
                </a:tc>
              </a:tr>
              <a:tr h="457200">
                <a:tc>
                  <a:txBody>
                    <a:bodyPr/>
                    <a:lstStyle/>
                    <a:p>
                      <a:pPr>
                        <a:defRPr sz="1000">
                          <a:solidFill>
                            <a:srgbClr val="0B1B2D"/>
                          </a:solidFill>
                        </a:defRPr>
                      </a:pPr>
                      <a:r>
                        <a:t>ReadNaive</a:t>
                      </a:r>
                    </a:p>
                  </a:txBody>
                  <a:tcPr>
                    <a:solidFill>
                      <a:srgbClr val="FFFFFF"/>
                    </a:solidFill>
                  </a:tcPr>
                </a:tc>
                <a:tc>
                  <a:txBody>
                    <a:bodyPr/>
                    <a:lstStyle/>
                    <a:p>
                      <a:pPr>
                        <a:defRPr sz="1000">
                          <a:solidFill>
                            <a:srgbClr val="0B1B2D"/>
                          </a:solidFill>
                        </a:defRPr>
                      </a:pPr>
                      <a:r>
                        <a:t>None</a:t>
                      </a:r>
                    </a:p>
                  </a:txBody>
                  <a:tcPr>
                    <a:solidFill>
                      <a:srgbClr val="FFFFFF"/>
                    </a:solidFill>
                  </a:tcPr>
                </a:tc>
                <a:tc>
                  <a:txBody>
                    <a:bodyPr/>
                    <a:lstStyle/>
                    <a:p>
                      <a:pPr>
                        <a:defRPr sz="1000">
                          <a:solidFill>
                            <a:srgbClr val="0B1B2D"/>
                          </a:solidFill>
                        </a:defRPr>
                      </a:pPr>
                      <a:r>
                        <a:t>Zero</a:t>
                      </a:r>
                    </a:p>
                  </a:txBody>
                  <a:tcPr>
                    <a:solidFill>
                      <a:srgbClr val="FFFFFF"/>
                    </a:solidFill>
                  </a:tcPr>
                </a:tc>
                <a:tc>
                  <a:txBody>
                    <a:bodyPr/>
                    <a:lstStyle/>
                    <a:p>
                      <a:pPr>
                        <a:defRPr sz="1000">
                          <a:solidFill>
                            <a:srgbClr val="0B1B2D"/>
                          </a:solidFill>
                        </a:defRPr>
                      </a:pPr>
                      <a:r>
                        <a:t>Primary jika replica kosong</a:t>
                      </a:r>
                    </a:p>
                  </a:txBody>
                  <a:tcPr>
                    <a:solidFill>
                      <a:srgbClr val="FFFFFF"/>
                    </a:solidFill>
                  </a:tcPr>
                </a:tc>
                <a:tc>
                  <a:txBody>
                    <a:bodyPr/>
                    <a:lstStyle/>
                    <a:p>
                      <a:pPr>
                        <a:defRPr sz="1000">
                          <a:solidFill>
                            <a:srgbClr val="0B1B2D"/>
                          </a:solidFill>
                        </a:defRPr>
                      </a:pPr>
                      <a:r>
                        <a:t>Development, debugging</a:t>
                      </a:r>
                    </a:p>
                  </a:txBody>
                  <a:tcPr>
                    <a:solidFill>
                      <a:srgbClr val="FFFFFF"/>
                    </a:solidFill>
                  </a:tcPr>
                </a:tc>
              </a:tr>
              <a:tr h="457200">
                <a:tc>
                  <a:txBody>
                    <a:bodyPr/>
                    <a:lstStyle/>
                    <a:p>
                      <a:pPr>
                        <a:defRPr sz="1000">
                          <a:solidFill>
                            <a:srgbClr val="0B1B2D"/>
                          </a:solidFill>
                        </a:defRPr>
                      </a:pPr>
                      <a:r>
                        <a:t>Sticky Session</a:t>
                      </a:r>
                    </a:p>
                  </a:txBody>
                  <a:tcPr>
                    <a:solidFill>
                      <a:srgbClr val="FFFFFF"/>
                    </a:solidFill>
                  </a:tcPr>
                </a:tc>
                <a:tc>
                  <a:txBody>
                    <a:bodyPr/>
                    <a:lstStyle/>
                    <a:p>
                      <a:pPr>
                        <a:defRPr sz="1000">
                          <a:solidFill>
                            <a:srgbClr val="0B1B2D"/>
                          </a:solidFill>
                        </a:defRPr>
                      </a:pPr>
                      <a:r>
                        <a:t>Session-level fresh</a:t>
                      </a:r>
                    </a:p>
                  </a:txBody>
                  <a:tcPr>
                    <a:solidFill>
                      <a:srgbClr val="FFFFFF"/>
                    </a:solidFill>
                  </a:tcPr>
                </a:tc>
                <a:tc>
                  <a:txBody>
                    <a:bodyPr/>
                    <a:lstStyle/>
                    <a:p>
                      <a:pPr>
                        <a:defRPr sz="1000">
                          <a:solidFill>
                            <a:srgbClr val="0B1B2D"/>
                          </a:solidFill>
                        </a:defRPr>
                      </a:pPr>
                      <a:r>
                        <a:t>Time check O(1), session map</a:t>
                      </a:r>
                    </a:p>
                  </a:txBody>
                  <a:tcPr>
                    <a:solidFill>
                      <a:srgbClr val="FFFFFF"/>
                    </a:solidFill>
                  </a:tcPr>
                </a:tc>
                <a:tc>
                  <a:txBody>
                    <a:bodyPr/>
                    <a:lstStyle/>
                    <a:p>
                      <a:pPr>
                        <a:defRPr sz="1000">
                          <a:solidFill>
                            <a:srgbClr val="0B1B2D"/>
                          </a:solidFill>
                        </a:defRPr>
                      </a:pPr>
                      <a:r>
                        <a:t>Lag-aware filtering</a:t>
                      </a:r>
                    </a:p>
                  </a:txBody>
                  <a:tcPr>
                    <a:solidFill>
                      <a:srgbClr val="FFFFFF"/>
                    </a:solidFill>
                  </a:tcPr>
                </a:tc>
                <a:tc>
                  <a:txBody>
                    <a:bodyPr/>
                    <a:lstStyle/>
                    <a:p>
                      <a:pPr>
                        <a:defRPr sz="1000">
                          <a:solidFill>
                            <a:srgbClr val="0B1B2D"/>
                          </a:solidFill>
                        </a:defRPr>
                      </a:pPr>
                      <a:r>
                        <a:t>Session-bound writes</a:t>
                      </a:r>
                    </a:p>
                  </a:txBody>
                  <a:tcPr>
                    <a:solidFill>
                      <a:srgbClr val="FFFFFF"/>
                    </a:solidFill>
                  </a:tcPr>
                </a:tc>
              </a:tr>
              <a:tr h="457200">
                <a:tc>
                  <a:txBody>
                    <a:bodyPr/>
                    <a:lstStyle/>
                    <a:p>
                      <a:pPr>
                        <a:defRPr sz="1000">
                          <a:solidFill>
                            <a:srgbClr val="0B1B2D"/>
                          </a:solidFill>
                        </a:defRPr>
                      </a:pPr>
                      <a:r>
                        <a:t>Causal Token</a:t>
                      </a:r>
                    </a:p>
                  </a:txBody>
                  <a:tcPr>
                    <a:solidFill>
                      <a:srgbClr val="FFFFFF"/>
                    </a:solidFill>
                  </a:tcPr>
                </a:tc>
                <a:tc>
                  <a:txBody>
                    <a:bodyPr/>
                    <a:lstStyle/>
                    <a:p>
                      <a:pPr>
                        <a:defRPr sz="1000">
                          <a:solidFill>
                            <a:srgbClr val="0B1B2D"/>
                          </a:solidFill>
                        </a:defRPr>
                      </a:pPr>
                      <a:r>
                        <a:t>Causal ordering</a:t>
                      </a:r>
                    </a:p>
                  </a:txBody>
                  <a:tcPr>
                    <a:solidFill>
                      <a:srgbClr val="FFFFFF"/>
                    </a:solidFill>
                  </a:tcPr>
                </a:tc>
                <a:tc>
                  <a:txBody>
                    <a:bodyPr/>
                    <a:lstStyle/>
                    <a:p>
                      <a:pPr>
                        <a:defRPr sz="1000">
                          <a:solidFill>
                            <a:srgbClr val="0B1B2D"/>
                          </a:solidFill>
                        </a:defRPr>
                      </a:pPr>
                      <a:r>
                        <a:t>LSN check + blocking wait</a:t>
                      </a:r>
                    </a:p>
                  </a:txBody>
                  <a:tcPr>
                    <a:solidFill>
                      <a:srgbClr val="FFFFFF"/>
                    </a:solidFill>
                  </a:tcPr>
                </a:tc>
                <a:tc>
                  <a:txBody>
                    <a:bodyPr/>
                    <a:lstStyle/>
                    <a:p>
                      <a:pPr>
                        <a:defRPr sz="1000">
                          <a:solidFill>
                            <a:srgbClr val="0B1B2D"/>
                          </a:solidFill>
                        </a:defRPr>
                      </a:pPr>
                      <a:r>
                        <a:t>Context timeout + primary</a:t>
                      </a:r>
                    </a:p>
                  </a:txBody>
                  <a:tcPr>
                    <a:solidFill>
                      <a:srgbClr val="FFFFFF"/>
                    </a:solidFill>
                  </a:tcPr>
                </a:tc>
                <a:tc>
                  <a:txBody>
                    <a:bodyPr/>
                    <a:lstStyle/>
                    <a:p>
                      <a:pPr>
                        <a:defRPr sz="1000">
                          <a:solidFill>
                            <a:srgbClr val="0B1B2D"/>
                          </a:solidFill>
                        </a:defRPr>
                      </a:pPr>
                      <a:r>
                        <a:t>Critical data reads</a:t>
                      </a:r>
                    </a:p>
                  </a:txBody>
                  <a:tcPr>
                    <a:solidFill>
                      <a:srgbClr val="FFFFFF"/>
                    </a:solidFill>
                  </a:tcPr>
                </a:tc>
              </a:tr>
              <a:tr h="457200">
                <a:tc>
                  <a:txBody>
                    <a:bodyPr/>
                    <a:lstStyle/>
                    <a:p>
                      <a:pPr>
                        <a:defRPr sz="1000">
                          <a:solidFill>
                            <a:srgbClr val="0B1B2D"/>
                          </a:solidFill>
                        </a:defRPr>
                      </a:pPr>
                      <a:r>
                        <a:t>Lag-Aware</a:t>
                      </a:r>
                    </a:p>
                  </a:txBody>
                  <a:tcPr>
                    <a:solidFill>
                      <a:srgbClr val="FFFFFF"/>
                    </a:solidFill>
                  </a:tcPr>
                </a:tc>
                <a:tc>
                  <a:txBody>
                    <a:bodyPr/>
                    <a:lstStyle/>
                    <a:p>
                      <a:pPr>
                        <a:defRPr sz="1000">
                          <a:solidFill>
                            <a:srgbClr val="0B1B2D"/>
                          </a:solidFill>
                        </a:defRPr>
                      </a:pPr>
                      <a:r>
                        <a:t>Threshold-bound</a:t>
                      </a:r>
                    </a:p>
                  </a:txBody>
                  <a:tcPr>
                    <a:solidFill>
                      <a:srgbClr val="FFFFFF"/>
                    </a:solidFill>
                  </a:tcPr>
                </a:tc>
                <a:tc>
                  <a:txBody>
                    <a:bodyPr/>
                    <a:lstStyle/>
                    <a:p>
                      <a:pPr>
                        <a:defRPr sz="1000">
                          <a:solidFill>
                            <a:srgbClr val="0B1B2D"/>
                          </a:solidFill>
                        </a:defRPr>
                      </a:pPr>
                      <a:r>
                        <a:t>Delta LSN calculation + filter</a:t>
                      </a:r>
                    </a:p>
                  </a:txBody>
                  <a:tcPr>
                    <a:solidFill>
                      <a:srgbClr val="FFFFFF"/>
                    </a:solidFill>
                  </a:tcPr>
                </a:tc>
                <a:tc>
                  <a:txBody>
                    <a:bodyPr/>
                    <a:lstStyle/>
                    <a:p>
                      <a:pPr>
                        <a:defRPr sz="1000">
                          <a:solidFill>
                            <a:srgbClr val="0B1B2D"/>
                          </a:solidFill>
                        </a:defRPr>
                      </a:pPr>
                      <a:r>
                        <a:t>Primary jika eligible kosong</a:t>
                      </a:r>
                    </a:p>
                  </a:txBody>
                  <a:tcPr>
                    <a:solidFill>
                      <a:srgbClr val="FFFFFF"/>
                    </a:solidFill>
                  </a:tcPr>
                </a:tc>
                <a:tc>
                  <a:txBody>
                    <a:bodyPr/>
                    <a:lstStyle/>
                    <a:p>
                      <a:pPr>
                        <a:defRPr sz="1000">
                          <a:solidFill>
                            <a:srgbClr val="0B1B2D"/>
                          </a:solidFill>
                        </a:defRPr>
                      </a:pPr>
                      <a:r>
                        <a:t>Bulk reads, analytics</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Tabel ini mengklasifikasikan empat strategi routing berdasarkan empat dimensi evaluasi. ReadNaive menghilangkan overhead komunikasi tetapi mengorbankan konsistensi sepenuhnya. Sticky session menawarkan jaminan session-level freshness dengan overhead minimal berupa time comparison dan session map lookup. Causal token memberikan jaminan kausal terukur tetapi memperkenalkan blocking wait yang dapat meningkatkan p99 latency. Lag-aware filtering menyeimbangkan throughput dan freshness melalui threshold predicate, degraded gracefully ke primary ketika tidak ada replica yang memenuhi syarat.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Every routing strategy sits on a spectrum between consistency, latency, and operational complexity.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content/02-master-draft.md:62-70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3 Keputusan Desain Kritis Replication Strategy</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Urutan keputusan arsitektur untuk menyeimbangkan consistency dan throughput.</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1. TENTUKAN CONSISTENCY REQUIREMENT</a:t>
            </a:r>
          </a:p>
          <a:p>
            <a:pPr>
              <a:spcAft>
                <a:spcPts val="400"/>
              </a:spcAft>
              <a:defRPr sz="1200">
                <a:solidFill>
                  <a:srgbClr val="0B1B2D"/>
                </a:solidFill>
              </a:defRPr>
            </a:pPr>
            <a:r>
              <a:t>• Apakah session ini memerlukan read-your-own-writes (CRUD critical)?</a:t>
            </a:r>
          </a:p>
          <a:p>
            <a:pPr>
              <a:spcAft>
                <a:spcPts val="400"/>
              </a:spcAft>
              <a:defRPr sz="1200">
                <a:solidFill>
                  <a:srgbClr val="0B1B2D"/>
                </a:solidFill>
              </a:defRPr>
            </a:pPr>
            <a:r>
              <a:t>Jika ya → sticky session atau causal token wajib digunakan.</a:t>
            </a:r>
          </a:p>
          <a:p>
            <a:pPr>
              <a:spcAft>
                <a:spcPts val="400"/>
              </a:spcAft>
              <a:defRPr sz="1200">
                <a:solidFill>
                  <a:srgbClr val="0B1B2D"/>
                </a:solidFill>
              </a:defRPr>
            </a:pPr>
            <a:r>
              <a:t>Jika tidak → lag-aware filtering cukup untuk bulk analytics reads.</a:t>
            </a:r>
          </a:p>
          <a:p>
            <a:pPr>
              <a:defRPr sz="1200" b="1">
                <a:solidFill>
                  <a:srgbClr val="087F76"/>
                </a:solidFill>
              </a:defRPr>
            </a:pPr>
            <a:r>
              <a:t>2. KALIBRASI PARAMETER WAKTU</a:t>
            </a:r>
          </a:p>
          <a:p>
            <a:pPr>
              <a:spcAft>
                <a:spcPts val="400"/>
              </a:spcAft>
              <a:defRPr sz="1200">
                <a:solidFill>
                  <a:srgbClr val="0B1B2D"/>
                </a:solidFill>
              </a:defRPr>
            </a:pPr>
            <a:r>
              <a:t>• T_sticky harus ≥ p99 replication lag aktual di production.</a:t>
            </a:r>
          </a:p>
          <a:p>
            <a:pPr>
              <a:spcAft>
                <a:spcPts val="400"/>
              </a:spcAft>
              <a:defRPr sz="1200">
                <a:solidFill>
                  <a:srgbClr val="0B1B2D"/>
                </a:solidFill>
              </a:defRPr>
            </a:pPr>
            <a:r>
              <a:t>• Default industri 5 detik bersifat heuristik; perlu tuning berbasis monitoring.</a:t>
            </a:r>
          </a:p>
          <a:p>
            <a:pPr>
              <a:spcAft>
                <a:spcPts val="400"/>
              </a:spcAft>
              <a:defRPr sz="1200">
                <a:solidFill>
                  <a:srgbClr val="0B1B2D"/>
                </a:solidFill>
              </a:defRPr>
            </a:pPr>
            <a:r>
              <a:t>• WaitTimeout pada causal token harus ≥ worst-case catch-up duration + buffer.</a:t>
            </a:r>
          </a:p>
          <a:p>
            <a:pPr>
              <a:defRPr sz="1200" b="1">
                <a:solidFill>
                  <a:srgbClr val="087F76"/>
                </a:solidFill>
              </a:defRPr>
            </a:pPr>
            <a:r>
              <a:t>3. PILIH FENCING LAYER YANG TEPAT</a:t>
            </a:r>
          </a:p>
          <a:p>
            <a:pPr>
              <a:spcAft>
                <a:spcPts val="400"/>
              </a:spcAft>
              <a:defRPr sz="1200">
                <a:solidFill>
                  <a:srgbClr val="0B1B2D"/>
                </a:solidFill>
              </a:defRPr>
            </a:pPr>
            <a:r>
              <a:t>• Gunakan mode synchronous remote_apply jika freshness mutlak dibutuhkan.</a:t>
            </a:r>
          </a:p>
          <a:p>
            <a:pPr>
              <a:spcAft>
                <a:spcPts val="400"/>
              </a:spcAft>
              <a:defRPr sz="1200">
                <a:solidFill>
                  <a:srgbClr val="0B1B2D"/>
                </a:solidFill>
              </a:defRPr>
            </a:pPr>
            <a:r>
              <a:t>• Accept async replication + application-level fencing untuk throughput maksimal.</a:t>
            </a:r>
          </a:p>
          <a:p>
            <a:pPr>
              <a:spcAft>
                <a:spcPts val="400"/>
              </a:spcAft>
              <a:defRPr sz="1200">
                <a:solidFill>
                  <a:srgbClr val="0B1B2D"/>
                </a:solidFill>
              </a:defRPr>
            </a:pPr>
            <a:r>
              <a:t>• Jangan mencampuradukkan semi-sync (durability) dengan synchronous (visibility).</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Tiga keputusan desain ini membentuk kerangka kerja strategis sebelum memilih implementasi teknis. Keputusan pertama menentukan level consistency requirement yang membedakan use case mana yang memerlukan protection ketat versus mana yang bisa menerima eventual consistency. Keputusan kedua menyangkut kalibrasi parameter waktu berdasarkan observasi empiris production latency distribution — bukan asumsi teoretis. Keputusan ketiga memilih lapisan proteksi yang sesuai dengan SLA bisnis, antara synchronous replication berbiaya tinggi atau application-level fencing dengan graceful degradation.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Design decisions cascade from requirements to parameters to implementation; never skip upstream thinking.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labs/33-read-replicas-and-replication-lag/content/05-key-takeaways.md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Bukti Eksekusi: Siklus Lengkap Replication &amp; Mitigasi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Output demo CLI mengkonfirmasi empat skenario berjalan sesuai spesifikasi.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DEMO EXECUTION TRACE</a:t>
            </a:r>
          </a:p>
          <a:p>
            <a:pPr>
              <a:spcAft>
                <a:spcPts val="400"/>
              </a:spcAft>
              <a:defRPr sz="1200">
                <a:solidFill>
                  <a:srgbClr val="0B1B2D"/>
                </a:solidFill>
              </a:defRPr>
            </a:pPr>
            <a:r>
              <a:t>• === Lab 33: Read Replicas and Replication Lag Demo ===</a:t>
            </a:r>
          </a:p>
          <a:p>
            <a:pPr>
              <a:spcAft>
                <a:spcPts val="400"/>
              </a:spcAft>
              <a:defRPr sz="1200">
                <a:solidFill>
                  <a:srgbClr val="0B1B2D"/>
                </a:solidFill>
              </a:defRPr>
            </a:pPr>
            <a:r>
              <a:t>• </a:t>
            </a:r>
          </a:p>
          <a:p>
            <a:pPr>
              <a:spcAft>
                <a:spcPts val="400"/>
              </a:spcAft>
              <a:defRPr sz="1200">
                <a:solidFill>
                  <a:srgbClr val="0B1B2D"/>
                </a:solidFill>
              </a:defRPr>
            </a:pPr>
            <a:r>
              <a:t>• --- 1. Async Replication Lag Anomaly ---</a:t>
            </a:r>
          </a:p>
          <a:p>
            <a:pPr>
              <a:spcAft>
                <a:spcPts val="400"/>
              </a:spcAft>
              <a:defRPr sz="1200">
                <a:solidFill>
                  <a:srgbClr val="0B1B2D"/>
                </a:solidFill>
              </a:defRPr>
            </a:pPr>
            <a:r>
              <a:t>• [Write Primary] Wrote key 'user:profile:123', Primary LSN: 1</a:t>
            </a:r>
          </a:p>
          <a:p>
            <a:pPr>
              <a:spcAft>
                <a:spcPts val="400"/>
              </a:spcAft>
              <a:defRPr sz="1200">
                <a:solidFill>
                  <a:srgbClr val="0B1B2D"/>
                </a:solidFill>
              </a:defRPr>
            </a:pPr>
            <a:r>
              <a:t>• [Naive Read] Node: replica-2, Applied LSN: 0, Val: '', Err: key not found</a:t>
            </a:r>
          </a:p>
          <a:p>
            <a:pPr>
              <a:spcAft>
                <a:spcPts val="400"/>
              </a:spcAft>
              <a:defRPr sz="1200">
                <a:solidFill>
                  <a:srgbClr val="0B1B2D"/>
                </a:solidFill>
              </a:defRPr>
            </a:pPr>
            <a:r>
              <a:t>• </a:t>
            </a:r>
          </a:p>
          <a:p>
            <a:pPr>
              <a:spcAft>
                <a:spcPts val="400"/>
              </a:spcAft>
              <a:defRPr sz="1200">
                <a:solidFill>
                  <a:srgbClr val="0B1B2D"/>
                </a:solidFill>
              </a:defRPr>
            </a:pPr>
            <a:r>
              <a:t>• --- 2. Sticky Session Routing ---</a:t>
            </a:r>
          </a:p>
          <a:p>
            <a:pPr>
              <a:spcAft>
                <a:spcPts val="400"/>
              </a:spcAft>
              <a:defRPr sz="1200">
                <a:solidFill>
                  <a:srgbClr val="0B1B2D"/>
                </a:solidFill>
              </a:defRPr>
            </a:pPr>
            <a:r>
              <a:t>• [Sticky Read (within 500ms)] Node: primary, LSN: 1, Val: '{...}', Err: nil</a:t>
            </a:r>
          </a:p>
          <a:p>
            <a:pPr>
              <a:spcAft>
                <a:spcPts val="400"/>
              </a:spcAft>
              <a:defRPr sz="1200">
                <a:solidFill>
                  <a:srgbClr val="0B1B2D"/>
                </a:solidFill>
              </a:defRPr>
            </a:pPr>
            <a:r>
              <a:t>• [Sticky Read (after TTL)] Node: replica-1, LSN: 1, Val: '{...}', Err: nil</a:t>
            </a:r>
          </a:p>
          <a:p>
            <a:pPr>
              <a:spcAft>
                <a:spcPts val="400"/>
              </a:spcAft>
              <a:defRPr sz="1200">
                <a:solidFill>
                  <a:srgbClr val="0B1B2D"/>
                </a:solidFill>
              </a:defRPr>
            </a:pPr>
            <a:r>
              <a:t>• </a:t>
            </a:r>
          </a:p>
          <a:p>
            <a:pPr>
              <a:spcAft>
                <a:spcPts val="400"/>
              </a:spcAft>
              <a:defRPr sz="1200">
                <a:solidFill>
                  <a:srgbClr val="0B1B2D"/>
                </a:solidFill>
              </a:defRPr>
            </a:pPr>
            <a:r>
              <a:t>• --- 3. Causal Token / LSN Wait ---</a:t>
            </a:r>
          </a:p>
          <a:p>
            <a:pPr>
              <a:spcAft>
                <a:spcPts val="400"/>
              </a:spcAft>
              <a:defRPr sz="1200">
                <a:solidFill>
                  <a:srgbClr val="0B1B2D"/>
                </a:solidFill>
              </a:defRPr>
            </a:pPr>
            <a:r>
              <a:t>• [Token Read (MinLSN=2)] Node: replica-1, LSN: 2, Val: '{...}', Err: nil</a:t>
            </a:r>
          </a:p>
          <a:p>
            <a:pPr>
              <a:spcAft>
                <a:spcPts val="400"/>
              </a:spcAft>
              <a:defRPr sz="1200">
                <a:solidFill>
                  <a:srgbClr val="0B1B2D"/>
                </a:solidFill>
              </a:defRPr>
            </a:pPr>
            <a:r>
              <a:t>• </a:t>
            </a:r>
          </a:p>
          <a:p>
            <a:pPr>
              <a:spcAft>
                <a:spcPts val="400"/>
              </a:spcAft>
              <a:defRPr sz="1200">
                <a:solidFill>
                  <a:srgbClr val="0B1B2D"/>
                </a:solidFill>
              </a:defRPr>
            </a:pPr>
            <a:r>
              <a:t>• --- 4. Synchronous Replication ---</a:t>
            </a:r>
          </a:p>
          <a:p>
            <a:pPr>
              <a:spcAft>
                <a:spcPts val="400"/>
              </a:spcAft>
              <a:defRPr sz="1200">
                <a:solidFill>
                  <a:srgbClr val="0B1B2D"/>
                </a:solidFill>
              </a:defRPr>
            </a:pPr>
            <a:r>
              <a:t>• [Sync Write] LSN: 1, Write Duration: 104.055166ms</a:t>
            </a:r>
          </a:p>
          <a:p>
            <a:pPr>
              <a:spcAft>
                <a:spcPts val="400"/>
              </a:spcAft>
              <a:defRPr sz="1200">
                <a:solidFill>
                  <a:srgbClr val="0B1B2D"/>
                </a:solidFill>
              </a:defRPr>
            </a:pPr>
            <a:r>
              <a:t>• [Sync Naive Read] Node: replica-2, LSN: 1, Val: '{...}', Err: nil</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Output terminal ini menyajikan empat bukti eksekusi yang masing-masing mengonfirmasi perilaku strategi routing. Bagian pertama membuktikan anomali stale read terjadi ketika ReadNaive dipanggil pasca-write. Bagian kedua menunjukkan sticky session berhasil mengarahkan read ke primary dalam jendela 500ms, kemudian beralih ke replica setelah TTL expire. Bagian ketiga memverifikasi causal token menunggu catch-up sekitar 200ms sebelum melayani read dari replica yang sudah sesuai LSN. Bagian keempat memperlihatkan synchronous replication membutuhkan tambahan ~104ms pada write latency untuk menjamin freshness instan.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Terminal traces convert abstract consistency guarantees into observable execution evidence.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cmd/demo/main.go:1-65 • engineering/03-execution-result.md:48-73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YANG TIDAK DIBUKTIKAN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Batasan ruang lingkup laboratorium yang wajib dipahami sebelum implementasi produksi.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YANG TIDAK DIBUKTIKAN</a:t>
            </a:r>
          </a:p>
          <a:p>
            <a:pPr>
              <a:spcAft>
                <a:spcPts val="400"/>
              </a:spcAft>
              <a:defRPr sz="1200">
                <a:solidFill>
                  <a:srgbClr val="0B1B2D"/>
                </a:solidFill>
              </a:defRPr>
            </a:pPr>
            <a:r>
              <a:t>• Cluster in-memory tanpa persistence layer; tidak membuktikan recovery pasca-crash.</a:t>
            </a:r>
          </a:p>
          <a:p>
            <a:pPr>
              <a:spcAft>
                <a:spcPts val="400"/>
              </a:spcAft>
              <a:defRPr sz="1200">
                <a:solidFill>
                  <a:srgbClr val="0B1B2D"/>
                </a:solidFill>
              </a:defRPr>
            </a:pPr>
            <a:r>
              <a:t>• Tidak ada topologi cascading replica (replica-of-replica) atau multi-region replication.</a:t>
            </a:r>
          </a:p>
          <a:p>
            <a:pPr>
              <a:spcAft>
                <a:spcPts val="400"/>
              </a:spcAft>
              <a:defRPr sz="1200">
                <a:solidFill>
                  <a:srgbClr val="0B1B2D"/>
                </a:solidFill>
              </a:defRPr>
            </a:pPr>
            <a:r>
              <a:t>• Sticky 500ms dan lag 200ms bersifat ilustratif lab; bukan rekomendasi tuning produksi.</a:t>
            </a:r>
          </a:p>
          <a:p>
            <a:pPr>
              <a:spcAft>
                <a:spcPts val="400"/>
              </a:spcAft>
              <a:defRPr sz="1200">
                <a:solidFill>
                  <a:srgbClr val="0B1B2D"/>
                </a:solidFill>
              </a:defRPr>
            </a:pPr>
            <a:r>
              <a:t>• Router state disimpan di sync.Map single-process; tidak membuktikan stateless horizontal scaling.</a:t>
            </a:r>
          </a:p>
          <a:p>
            <a:pPr>
              <a:spcAft>
                <a:spcPts val="400"/>
              </a:spcAft>
              <a:defRPr sz="1200">
                <a:solidFill>
                  <a:srgbClr val="0B1B2D"/>
                </a:solidFill>
              </a:defRPr>
            </a:pPr>
            <a:r>
              <a:t>• Tidak mencakup network partition antar primary dan replica, only simulated timing lag.</a:t>
            </a:r>
          </a:p>
          <a:p>
            <a:pPr>
              <a:spcAft>
                <a:spcPts val="400"/>
              </a:spcAft>
              <a:defRPr sz="1200">
                <a:solidFill>
                  <a:srgbClr val="0B1B2D"/>
                </a:solidFill>
              </a:defRPr>
            </a:pPr>
            <a:r>
              <a:t>• p99 lag multi-region dan cross-datacenter topology tidak diuji di dalam lab.</a:t>
            </a:r>
          </a:p>
          <a:p>
            <a:pPr>
              <a:spcAft>
                <a:spcPts val="400"/>
              </a:spcAft>
              <a:defRPr sz="1200">
                <a:solidFill>
                  <a:srgbClr val="0B1B2D"/>
                </a:solidFill>
              </a:defRPr>
            </a:pPr>
            <a:r>
              <a:t>• Tidak mengimplementasikan change data capture (CDC) atau binlog-based synchronization.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Klaim teknis laboratorium ini dibatasi oleh parameter lingkungan pengujian yang disederhanakan. Cluster yang digunakan berjalan in-memory tanpa persistence disk, sehingga tidak bisa membuktikan perilaku recovery setelah node crash. State router disimpan dalam sync.Map lokal single-process, berbeda dengan arsitektur stateless production yang memerlukan Redis atau shared session store. Simulasi replication lag menggunakan timer sleep 200 milidetik, bukan network latency riil yang bervariasi. Konstanta timing seperti sticky 500ms dipilih untuk deterministik demo, bukan sebagai guideline tuning produksi.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Lab proofs establish behavioral correctness, not production-scale resilience or observability.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labs/33-read-replicas-and-replication-lag/content/01-content-brief.md • research-audit/06-gaps.md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Trade-off Arsitektur: Freshness vs Throughput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Menilai biaya operasional penambahan routing intelligence dibandingkan benefit konsistensi.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MANFAAT &amp; KEUNGGULAN</a:t>
            </a:r>
          </a:p>
          <a:p>
            <a:pPr>
              <a:spcAft>
                <a:spcPts val="400"/>
              </a:spcAft>
              <a:defRPr sz="1200">
                <a:solidFill>
                  <a:srgbClr val="0B1B2D"/>
                </a:solidFill>
              </a:defRPr>
            </a:pPr>
            <a:r>
              <a:t>• Read-Your-Own-Writes Guaranteed: User selalu melihat hasil tulisannya sendiri segera.</a:t>
            </a:r>
          </a:p>
          <a:p>
            <a:pPr>
              <a:spcAft>
                <a:spcPts val="400"/>
              </a:spcAft>
              <a:defRPr sz="1200">
                <a:solidFill>
                  <a:srgbClr val="0B1B2D"/>
                </a:solidFill>
              </a:defRPr>
            </a:pPr>
            <a:r>
              <a:t>• Scalable Reads: Replica menanggung sebagian besar beban read after sticky window expired.</a:t>
            </a:r>
          </a:p>
          <a:p>
            <a:pPr>
              <a:spcAft>
                <a:spcPts val="400"/>
              </a:spcAft>
              <a:defRPr sz="1200">
                <a:solidFill>
                  <a:srgbClr val="0B1B2D"/>
                </a:solidFill>
              </a:defRPr>
            </a:pPr>
            <a:r>
              <a:t>• Graceful Degradation: Fallback ke primary terjadi secara eksplisit, bukan silent failure.</a:t>
            </a:r>
          </a:p>
          <a:p>
            <a:pPr>
              <a:spcAft>
                <a:spcPts val="400"/>
              </a:spcAft>
              <a:defRPr sz="1200">
                <a:solidFill>
                  <a:srgbClr val="0B1B2D"/>
                </a:solidFill>
              </a:defRPr>
            </a:pPr>
            <a:r>
              <a:t>• Observability: LSN metrics dapat di-monitor untuk mendeteksi anomaly replication topology.</a:t>
            </a:r>
          </a:p>
          <a:p>
            <a:pPr>
              <a:defRPr sz="1200" b="1">
                <a:solidFill>
                  <a:srgbClr val="087F76"/>
                </a:solidFill>
              </a:defRPr>
            </a:pPr>
            <a:r>
              <a:t>KONSEKUENSI &amp; BIAYA</a:t>
            </a:r>
          </a:p>
          <a:p>
            <a:pPr>
              <a:spcAft>
                <a:spcPts val="400"/>
              </a:spcAft>
              <a:defRPr sz="1200">
                <a:solidFill>
                  <a:srgbClr val="0B1B2D"/>
                </a:solidFill>
              </a:defRPr>
            </a:pPr>
            <a:r>
              <a:t>• Sticky Window Overhead: Primary menerima traffic read ekstra selama T_sticky per session.</a:t>
            </a:r>
          </a:p>
          <a:p>
            <a:pPr>
              <a:spcAft>
                <a:spcPts val="400"/>
              </a:spcAft>
              <a:defRPr sz="1200">
                <a:solidFill>
                  <a:srgbClr val="0B1B2D"/>
                </a:solidFill>
              </a:defRPr>
            </a:pPr>
            <a:r>
              <a:t>• Blocking Latency: Causal token wait menambah p99 read latency saat replica belum catch-up.</a:t>
            </a:r>
          </a:p>
          <a:p>
            <a:pPr>
              <a:spcAft>
                <a:spcPts val="400"/>
              </a:spcAft>
              <a:defRPr sz="1200">
                <a:solidFill>
                  <a:srgbClr val="0B1B2D"/>
                </a:solidFill>
              </a:defRPr>
            </a:pPr>
            <a:r>
              <a:t>• Complexity Cost: Router membutuhkan session state management dan LSN inspection logic.</a:t>
            </a:r>
          </a:p>
          <a:p>
            <a:pPr>
              <a:spcAft>
                <a:spcPts val="400"/>
              </a:spcAft>
              <a:defRPr sz="1200">
                <a:solidFill>
                  <a:srgbClr val="0B1B2D"/>
                </a:solidFill>
              </a:defRPr>
            </a:pPr>
            <a:r>
              <a:t>Fallback Concentration: Semua degraded reads terakumulasi di primary → potential bottleneck.</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Penerapan strategi replication lag mitigation menuntut kompromi arsitektural antara freshness guarantee dan read throughput. Sticky session menambahkan overhead berupa concentrated primary reads selama jendela waktu, tetapi eliminasi stale read sepenuhnya untuk session-bound operations. Causal token menawarkan presisi deterministik namun memperkenalkan blocking wait yang menggeser p99 latency read path. Lag-aware filtering menyeimbangkan keduanya dengan filtering threshold yang dapat dikonfigurasi, degraded gracefully ke primary ketika semua replica terlambat. Synchronous replication menghilangkan lag sama sekali dengan harga write latency ekstra yang proporsional dengan jumlah replica.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Consistency is purchased with either latency, complexity, or primary throughput sacrifice.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labs/33-read-replicas-and-replication-lag/content/02-master-draft.md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Validasi Konkurensi: 15 Goroutine × 20 Operasi Race-Free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TestConcurrentAccess_RaceFree membuktikan thread-safety Router dan Cluster di bawah beban.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TestConcurrentAccess_RaceFree(t *testing.T) {</a:t>
            </a:r>
            <a:br/>
            <a:r>
              <a:t>    c := cluster.NewCluster(3, 10*time.Millisecond, cluster.AsyncReplication)</a:t>
            </a:r>
            <a:br/>
            <a:r>
              <a:t>    defer c.Close()</a:t>
            </a:r>
            <a:br/>
            <a:r>
              <a:t>    r := router.NewRouter(c, router.DefaultConfig())</a:t>
            </a:r>
            <a:br/>
            <a:br/>
            <a:r>
              <a:t>    var wg sync.WaitGroup</a:t>
            </a:r>
            <a:br/>
            <a:r>
              <a:t>    for i := 0; i &lt; 15; i++ {</a:t>
            </a:r>
            <a:br/>
            <a:r>
              <a:t>        wg.Add(1)</a:t>
            </a:r>
            <a:br/>
            <a:r>
              <a:t>        go func(id int) {</a:t>
            </a:r>
            <a:br/>
            <a:r>
              <a:t>            defer wg.Done()</a:t>
            </a:r>
            <a:br/>
            <a:r>
              <a:t>            sid := fmt.Sprintf('s%d', id)</a:t>
            </a:r>
            <a:br/>
            <a:r>
              <a:t>            _, _ = r.Write(sid, fmt.Sprintf('k%d', id), fmt.Sprintf('v%d', id))</a:t>
            </a:r>
            <a:br/>
            <a:r>
              <a:t>            for j := 0; j &lt; 20; j++ {</a:t>
            </a:r>
            <a:br/>
            <a:r>
              <a:t>                _, _, _, _ = r.ReadWithStickySession(sid, fmt.Sprintf('k%d', id))</a:t>
            </a:r>
            <a:br/>
            <a:r>
              <a:t>            }</a:t>
            </a:r>
            <a:br/>
            <a:r>
              <a:t>        }(i)</a:t>
            </a:r>
            <a:br/>
            <a:r>
              <a:t>    }</a:t>
            </a:r>
            <a:br/>
            <a:r>
              <a:t>    wg.Wait()</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Uji konkurensi ini membuktikan ketahanan implementasi saat 15 goroutine bersamaan mengeksekusi pattern write-then-read pada 20 iterasi per session. Setiap goroutine menggunakan session ID unik yang menjaga isolation state di Router sync.Map. Cluster dengan tiga replica worker memproses WAL entries secara paralel dengan gap 10 milidetik. Di bawah go race detector, tidak ada data race terdeteksi di seluruh memory accesses Router methods maupun Cluster nodes. Test ini mengonfirmasi bahwa concurrent access ke shared state tetap linearizable berkat mutex proteksi di setiap node.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Thread-safe shared state requires explicit mutex boundaries; race detector catches what humans miss.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tests/replication_test.go:173-210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Before vs After: Evolusi Read Routing Strategy</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Transformasi dari read naif berisiko stale hingga arsitektur four-layer mitigation.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BEFORE (NAIVE ROUND-ROBIN)</a:t>
            </a:r>
          </a:p>
          <a:p>
            <a:pPr>
              <a:spcAft>
                <a:spcPts val="400"/>
              </a:spcAft>
              <a:defRPr sz="1200">
                <a:solidFill>
                  <a:srgbClr val="0B1B2D"/>
                </a:solidFill>
              </a:defRPr>
            </a:pPr>
            <a:r>
              <a:t>• Routing: Pilih replica secara acak tanpa awareness LSN state.</a:t>
            </a:r>
          </a:p>
          <a:p>
            <a:pPr>
              <a:spcAft>
                <a:spcPts val="400"/>
              </a:spcAft>
              <a:defRPr sz="1200">
                <a:solidFill>
                  <a:srgbClr val="0B1B2D"/>
                </a:solidFill>
              </a:defRPr>
            </a:pPr>
            <a:r>
              <a:t>• Failure Mode: Stale read atau ErrNotFound terjadi setiap write-then-read window.</a:t>
            </a:r>
          </a:p>
          <a:p>
            <a:pPr>
              <a:spcAft>
                <a:spcPts val="400"/>
              </a:spcAft>
              <a:defRPr sz="1200">
                <a:solidFill>
                  <a:srgbClr val="0B1B2D"/>
                </a:solidFill>
              </a:defRPr>
            </a:pPr>
            <a:r>
              <a:t>• Observability: Tidak ada metric untuk mendeteksi replication lag anomaly.</a:t>
            </a:r>
          </a:p>
          <a:p>
            <a:pPr>
              <a:spcAft>
                <a:spcPts val="400"/>
              </a:spcAft>
              <a:defRPr sz="1200">
                <a:solidFill>
                  <a:srgbClr val="0B1B2D"/>
                </a:solidFill>
              </a:defRPr>
            </a:pPr>
            <a:r>
              <a:t>• Dampak: User experience degradasi senyap tanpa error reporting yang meaningful.</a:t>
            </a:r>
          </a:p>
          <a:p>
            <a:pPr>
              <a:defRPr sz="1200" b="1">
                <a:solidFill>
                  <a:srgbClr val="087F76"/>
                </a:solidFill>
              </a:defRPr>
            </a:pPr>
            <a:r>
              <a:t>AFTER (FOUR-LAYER MITIGATION)</a:t>
            </a:r>
          </a:p>
          <a:p>
            <a:pPr>
              <a:spcAft>
                <a:spcPts val="400"/>
              </a:spcAft>
              <a:defRPr sz="1200">
                <a:solidFill>
                  <a:srgbClr val="0B1B2D"/>
                </a:solidFill>
              </a:defRPr>
            </a:pPr>
            <a:r>
              <a:t>• Routing: Sticky session untuk session-bound writes, token wait untuk causal reads.</a:t>
            </a:r>
          </a:p>
          <a:p>
            <a:pPr>
              <a:spcAft>
                <a:spcPts val="400"/>
              </a:spcAft>
              <a:defRPr sz="1200">
                <a:solidFill>
                  <a:srgbClr val="0B1B2D"/>
                </a:solidFill>
              </a:defRPr>
            </a:pPr>
            <a:r>
              <a:t>• Failure Mode: Fallback eksplisit ke primary dengan logging node ID dan LSN delta.</a:t>
            </a:r>
          </a:p>
          <a:p>
            <a:pPr>
              <a:spcAft>
                <a:spcPts val="400"/>
              </a:spcAft>
              <a:defRPr sz="1200">
                <a:solidFill>
                  <a:srgbClr val="0B1B2D"/>
                </a:solidFill>
              </a:defRPr>
            </a:pPr>
            <a:r>
              <a:t>• Observability: appliedLSN per replica dapat dipromonitor untuk alerting threshold breach.</a:t>
            </a:r>
          </a:p>
          <a:p>
            <a:pPr>
              <a:spcAft>
                <a:spcPts val="400"/>
              </a:spcAft>
              <a:defRPr sz="1200">
                <a:solidFill>
                  <a:srgbClr val="0B1B2D"/>
                </a:solidFill>
              </a:defRPr>
            </a:pPr>
            <a:r>
              <a:t>• Dampak: Read-your-own-writes terjamin 100% dengan graceful degradation ketika replica lagging.</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Perbandingan before-after ini menunjukkan evolusi arsitektur read routing dari pendekatan naif yang rentan stale read menuju sistem four-layer mitigation dengan fallback bertingkat. Sebelum penerapan strategi, setiap write-then-read cycle berisiko tinggi menghasilkan data usang karena tidak ada mekanisme penutupan replication gap. Setelah implementasi, sistem memiliki tiga lapis proteksi: sticky session untuk session-bound operations, causal token untuk critical reads, dan lag-aware filtering untuk bulk analytics. Setiap lapis memiliki fallback eksplisit ke primary dengan logging yang dapat diobservasi.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Before: blind distribution amplifies inconsistency. After: informed routing turns lag into a measurable variable.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labs/33-read-replicas-and-replication-lag/content/02-master-draft.md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Test 1: Stale Read Terjadi Tanpa Proteksi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TestNaiveReplicationLag_StaleRead membuktikan anomaly read-then-write window.</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TestNaiveReplicationLag_StaleRead(t *testing.T) {</a:t>
            </a:r>
            <a:br/>
            <a:r>
              <a:t>    c := cluster.NewCluster(2, 200*time.Millisecond, cluster.AsyncReplication)</a:t>
            </a:r>
            <a:br/>
            <a:r>
              <a:t>    defer c.Close()</a:t>
            </a:r>
            <a:br/>
            <a:r>
              <a:t>    r := router.NewRouter(c, router.DefaultConfig())</a:t>
            </a:r>
            <a:br/>
            <a:br/>
            <a:r>
              <a:t>    _, err := r.Write("s1", "key:A", "value-A")</a:t>
            </a:r>
            <a:br/>
            <a:r>
              <a:t>    if err != nil { t.Fatalf("Write failed: %v", err) }</a:t>
            </a:r>
            <a:br/>
            <a:br/>
            <a:r>
              <a:t>    // Immediately read without any mitigation</a:t>
            </a:r>
            <a:br/>
            <a:r>
              <a:t>    val, nodeID, lsn, err := r.ReadNaive("key:A")</a:t>
            </a:r>
            <a:br/>
            <a:r>
              <a:t>    if err == nil {</a:t>
            </a:r>
            <a:br/>
            <a:r>
              <a:t>        t.Fatalf("Expected stale read error, got val=%s node=%s lsn=%d", val, nodeID, lsn)</a:t>
            </a:r>
            <a:br/>
            <a:r>
              <a:t>    }</a:t>
            </a:r>
            <a:br/>
            <a:r>
              <a:t>    // After waiting for lag to expire, read should succeed</a:t>
            </a:r>
            <a:br/>
            <a:r>
              <a:t>    time.Sleep(250 * time.Millisecond)</a:t>
            </a:r>
            <a:br/>
            <a:r>
              <a:t>    val, nodeID, lsn, err = r.ReadNaive("key:A")</a:t>
            </a:r>
            <a:br/>
            <a:r>
              <a:t>    if err != nil { t.Fatalf("Post-lag read failed: %v", err)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Unit test pertama membuktikan keberadaan stale read anomaly secara eksplisit. Setelah write ke primary dengan key 'key:A', panggilan ReadNaive seketika menghasilkan error ErrNotFound karena replica belum menerapkan WAL entry. Setelah menunggu 250 milidetik yang melampaui batas lag 200 milidetik, read yang sama berhasil mengembalikan value yang benar. Test ini mengonfirmasi bahwa anomali bersifat temporal — bukan permanen — dan dapat dicegah dengan menambahkan lapisan routing intelligence di antara write commit dan read dispatch.</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Stale reads are deterministic consequences of timing gaps, not random network failures.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tests/replication_test.go:1-45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Test 2: Sticky Session Menjamin Read-Your-Own-Writes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TestStickySessionRouting membuktikan primary redirect dalam jendela T_sticky.</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TestStickySessionRouting(t *testing.T) {</a:t>
            </a:r>
            <a:br/>
            <a:r>
              <a:t>    c := cluster.NewCluster(2, 200*time.Millisecond, cluster.AsyncReplication)</a:t>
            </a:r>
            <a:br/>
            <a:r>
              <a:t>    defer c.Close()</a:t>
            </a:r>
            <a:br/>
            <a:r>
              <a:t>    cfg := router.DefaultConfig()</a:t>
            </a:r>
            <a:br/>
            <a:r>
              <a:t>    cfg.StickyDuration = 500 * time.Millisecond</a:t>
            </a:r>
            <a:br/>
            <a:r>
              <a:t>    r := router.NewRouter(c, cfg)</a:t>
            </a:r>
            <a:br/>
            <a:br/>
            <a:r>
              <a:t>    _, err := r.Write("s1", "key:B", "value-B")</a:t>
            </a:r>
            <a:br/>
            <a:r>
              <a:t>    if err != nil { t.Fatalf("Write failed: %v", err) }</a:t>
            </a:r>
            <a:br/>
            <a:br/>
            <a:r>
              <a:t>    // Read within sticky window — must hit primary</a:t>
            </a:r>
            <a:br/>
            <a:r>
              <a:t>    val, nodeID, _, err := r.ReadWithStickySession("s1", "key:B")</a:t>
            </a:r>
            <a:br/>
            <a:r>
              <a:t>    if err != nil || val != "value-B" || !strings.HasSuffix(nodeID, "primary") {</a:t>
            </a:r>
            <a:br/>
            <a:r>
              <a:t>        t.Fatalf("Sticky read failed or hit wrong node: val=%s node=%s err=%v", val, nodeID, err)</a:t>
            </a:r>
            <a:br/>
            <a:r>
              <a:t>    }</a:t>
            </a:r>
            <a:br/>
            <a:br/>
            <a:r>
              <a:t>    time.Sleep(600 * time.Millisecond) // Expire sticky window</a:t>
            </a:r>
            <a:br/>
            <a:r>
              <a:t>    val, nodeID, _, err = r.ReadWithStickySession("s1", "key:B")</a:t>
            </a:r>
            <a:br/>
            <a:r>
              <a:t>    if err != nil || nodeID == "primary" {</a:t>
            </a:r>
            <a:br/>
            <a:r>
              <a:t>        t.Fatalf("Post-sticky read should route to replica, got node=%s", nodeID)</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Unit test kedua mengonfirmasi bahwa sticky session routing berhasil mencegah stale read dalam jendela waktu yang ditentukan. Read yang dipanggil dalam 500 milidetik pasca-write secara konsisten diarahkan ke primary node, menjamin data fresh tersedia. Setelah jendela expire dengan sleep 600 milidetik, routing otomatis bergeser ke ReadLagAware yang menyeleksi replica berdasarkan threshold eligibility. Test ini membuktikan bahwa pendekatan time-based sederhana namun efektif untuk session-bound read patterns tanpa memerlukan LSN tracking di setiap request.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Time-bounded primary redirection trades read throughput for guaranteed session consistency.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tests/replication_test.go:47-98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Test 3: Causal Token Tunggu Catch-Up Sebelum Serve Read</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TestReadWithToken_LSN membuktikan blocking wait dengan LSN deterministik.</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TestReadWithToken_LSN(t *testing.T) {</a:t>
            </a:r>
            <a:br/>
            <a:r>
              <a:t>    c := cluster.NewCluster(1, 200*time.Millisecond, cluster.AsyncReplication)</a:t>
            </a:r>
            <a:br/>
            <a:r>
              <a:t>    defer c.Close()</a:t>
            </a:r>
            <a:br/>
            <a:r>
              <a:t>    r := router.NewRouter(c, router.DefaultConfig())</a:t>
            </a:r>
            <a:br/>
            <a:br/>
            <a:r>
              <a:t>    lsn, err := r.Write("s1", "key:C", "value-C")</a:t>
            </a:r>
            <a:br/>
            <a:r>
              <a:t>    if err != nil { t.Fatalf("Write failed: %v", err) }</a:t>
            </a:r>
            <a:br/>
            <a:br/>
            <a:r>
              <a:t>    start := time.Now()</a:t>
            </a:r>
            <a:br/>
            <a:r>
              <a:t>    val, nodeID, readLSN, err := r.ReadWithToken(context.Background(), lsn, "key:C")</a:t>
            </a:r>
            <a:br/>
            <a:r>
              <a:t>    elapsed := time.Since(start)</a:t>
            </a:r>
            <a:br/>
            <a:br/>
            <a:r>
              <a:t>    if err != nil { t.Fatalf("ReadWithToken failed: %v", err) }</a:t>
            </a:r>
            <a:br/>
            <a:r>
              <a:t>    if val != "value-C" { t.Fatalf("Expected value-C, got %s", val) }</a:t>
            </a:r>
            <a:br/>
            <a:r>
              <a:t>    if readLSN &lt; lsn { t.Fatalf("Expected LSN &gt;= %d, got %d", lsn, readLSN) }</a:t>
            </a:r>
            <a:br/>
            <a:r>
              <a:t>    if elapsed &lt; 150*time.Millisecond {</a:t>
            </a:r>
            <a:br/>
            <a:r>
              <a:t>        t.Fatalf("Expected token read to wait ~200ms, finished in %v on node %s", elapsed, nodeID)</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Unit test ketiga menguji implementasi causal token routing yang melibatkan blocking wait mechanism. Setelah write dengan LSN tertentu, ReadWithToken iterasi replica untuk menemukan yang sudah mencapai threshold LSN. Ketika tidak ada replica yang match, method memanggil WaitForLSN pada replica pertama dengan context timeout. Test ini memvalidasi bahwa read blocked selama sekitar 200 milidetik menunggu replica catch-up, kemudian melayani response dengan nilai fresh dan LSN yang sesuai. Blocking behavior ini merupakan bedanya dengan sticky session yang hanya mengandalkan waktu tanpa memeriksa LSN aktual.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Causal tokens convert temporal uncertainty into deterministic ordering guarantees.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tests/replication_test.go:100-121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Studi Kasus Industri: Replication Lag di Database Production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Bagaimana ekosistem database kelas dunia menangani stale read problem secara praktis.</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AWS RDS / AURORA READ REPLICAS</a:t>
            </a:r>
          </a:p>
          <a:p>
            <a:pPr>
              <a:spcAft>
                <a:spcPts val="400"/>
              </a:spcAft>
              <a:defRPr sz="1200">
                <a:solidFill>
                  <a:srgbClr val="0B1B2D"/>
                </a:solidFill>
              </a:defRPr>
            </a:pPr>
            <a:r>
              <a:t>• Default: Asynchronous replication dengan lag bervariasi tergantung region dan instance size.</a:t>
            </a:r>
          </a:p>
          <a:p>
            <a:pPr>
              <a:spcAft>
                <a:spcPts val="400"/>
              </a:spcAft>
              <a:defRPr sz="1200">
                <a:solidFill>
                  <a:srgbClr val="0B1B2D"/>
                </a:solidFill>
              </a:defRPr>
            </a:pPr>
            <a:r>
              <a:t>• Read-Your-Own-Writes: AWS DocumentDB menyediakan 'session consistency' via sticky routing otomatis.</a:t>
            </a:r>
          </a:p>
          <a:p>
            <a:pPr>
              <a:spcAft>
                <a:spcPts val="400"/>
              </a:spcAft>
              <a:defRPr sz="1200">
                <a:solidFill>
                  <a:srgbClr val="0B1B2D"/>
                </a:solidFill>
              </a:defRPr>
            </a:pPr>
            <a:r>
              <a:t>• Monitoring: CloudWatch metric 'ReplicaLag' exposing seconds behind primary secara real-time.</a:t>
            </a:r>
          </a:p>
          <a:p>
            <a:pPr>
              <a:spcAft>
                <a:spcPts val="400"/>
              </a:spcAft>
              <a:defRPr sz="1200">
                <a:solidFill>
                  <a:srgbClr val="0B1B2D"/>
                </a:solidFill>
              </a:defRPr>
            </a:pPr>
            <a:r>
              <a:t>• Failover: Automated promotion namun read splitter perlu rekonfigurasi sticky session state.</a:t>
            </a:r>
          </a:p>
          <a:p>
            <a:pPr>
              <a:defRPr sz="1200" b="1">
                <a:solidFill>
                  <a:srgbClr val="087F76"/>
                </a:solidFill>
              </a:defRPr>
            </a:pPr>
            <a:r>
              <a:t>POSTGRESQL STREAMING REPLICATION</a:t>
            </a:r>
          </a:p>
          <a:p>
            <a:pPr>
              <a:spcAft>
                <a:spcPts val="400"/>
              </a:spcAft>
              <a:defRPr sz="1200">
                <a:solidFill>
                  <a:srgbClr val="0B1B2D"/>
                </a:solidFill>
              </a:defRPr>
            </a:pPr>
            <a:r>
              <a:t>• Async Default: wal_level = replica, synchronous_commit = off, remote_apply belum diaktifkan.</a:t>
            </a:r>
          </a:p>
          <a:p>
            <a:pPr>
              <a:spcAft>
                <a:spcPts val="400"/>
              </a:spcAft>
              <a:defRPr sz="1200">
                <a:solidFill>
                  <a:srgbClr val="0B1B2D"/>
                </a:solidFill>
              </a:defRPr>
            </a:pPr>
            <a:r>
              <a:t>• Synchronous Commit: Setting synchronous_commit = remote_apply menjamin write visibility di semua replica.</a:t>
            </a:r>
          </a:p>
          <a:p>
            <a:pPr>
              <a:spcAft>
                <a:spcPts val="400"/>
              </a:spcAft>
              <a:defRPr sz="1200">
                <a:solidFill>
                  <a:srgbClr val="0B1B2D"/>
                </a:solidFill>
              </a:defRPr>
            </a:pPr>
            <a:r>
              <a:t>• pg_stat_replication: System view exposing replay_lsn vs write_lsn untuk monitoring lag.</a:t>
            </a:r>
          </a:p>
          <a:p>
            <a:pPr>
              <a:spcAft>
                <a:spcPts val="400"/>
              </a:spcAft>
              <a:defRPr sz="1200">
                <a:solidFill>
                  <a:srgbClr val="0B1B2D"/>
                </a:solidFill>
              </a:defRPr>
            </a:pPr>
            <a:r>
              <a:t>• Application Level: Driver seperti PgBouncer atau connection pooler bisa implement sticky routing.</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Studi kasus industri menunjukkan bahwa masalah replication lag bukan teoretis melainkan operasional sehari-hari di infrastruktur cloud modern. AWS RDS menyediakan metric ReplicaLag melalui CloudWatch yang memungkinkan tim SRE mendeteksi anomali sebelum user complaint muncul. PostgreSQL streaming replication memberikan kontrol granular melalui synchronous_commit parameter yang membedakan antara durability guarantee dan visibility guarantee. Aplikasi enterprise besar seperti Twitter dan Netflix mengimplementasikan custom session-affinity routing di layer client library untuk menutup gap readability tanpa menunggu perbaikan di database engine.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Production systems treat replication lag as an operational variable, not an inflexible constraint.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research/05-report.md • research/03-evidence.md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Bagaimana WaitForLSN Membedakan Blocking dan Timeout?</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Konkurensi pattern menggunakan sync.Cond + context cancellation untuk polling efisien.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(n *Node) WaitForLSN(ctx context.Context, targetLSN uint64) error {</a:t>
            </a:r>
            <a:br/>
            <a:r>
              <a:t>    ch := make(chan struct{})</a:t>
            </a:r>
            <a:br/>
            <a:r>
              <a:t>    stop := make(chan struct{})</a:t>
            </a:r>
            <a:br/>
            <a:r>
              <a:t>    go func() {</a:t>
            </a:r>
            <a:br/>
            <a:r>
              <a:t>        n.mu.Lock()</a:t>
            </a:r>
            <a:br/>
            <a:r>
              <a:t>        defer n.mu.Unlock()</a:t>
            </a:r>
            <a:br/>
            <a:r>
              <a:t>        for n.appliedLSN &lt; targetLSN {</a:t>
            </a:r>
            <a:br/>
            <a:r>
              <a:t>            select {</a:t>
            </a:r>
            <a:br/>
            <a:r>
              <a:t>            case &lt;-stop:</a:t>
            </a:r>
            <a:br/>
            <a:r>
              <a:t>                return</a:t>
            </a:r>
            <a:br/>
            <a:r>
              <a:t>            default:</a:t>
            </a:r>
            <a:br/>
            <a:r>
              <a:t>            }</a:t>
            </a:r>
            <a:br/>
            <a:r>
              <a:t>            n.cond.Wait()  // Release lock, block until Broadcast</a:t>
            </a:r>
            <a:br/>
            <a:r>
              <a:t>        }</a:t>
            </a:r>
            <a:br/>
            <a:r>
              <a:t>        close(ch)</a:t>
            </a:r>
            <a:br/>
            <a:r>
              <a:t>    }()</a:t>
            </a:r>
            <a:br/>
            <a:r>
              <a:t>    select {</a:t>
            </a:r>
            <a:br/>
            <a:r>
              <a:t>    case &lt;-ctx.Done():</a:t>
            </a:r>
            <a:br/>
            <a:r>
              <a:t>        close(stop); n.cond.Broadcast(); return ctx.Err()</a:t>
            </a:r>
            <a:br/>
            <a:r>
              <a:t>    case &lt;-ch:</a:t>
            </a:r>
            <a:br/>
            <a:r>
              <a:t>        return nil</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Implementasi WaitForLSN menunjukkan pola konkurensi Go yang elegan untuk menunggu kondisi berbasis channel dan condvar. Goroutine waiter mengakuisisi mutex node, loop until appliedLSN memenuhi target, dan memanggil cond.Wait() yang secara atomik melepaskan mutex sambil memblokir goroutine. Worker goroutine setelah apply WAL entry memanggil cond.Broadcast() untuk membangunkan semua waiter yang sedang blocked. Context cancellation memberikan jalur escape yang aman dengan menutup stop channel dan memicu broadcast ulang agar waiter tidak stuck selamanya.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Condition variables replace polling loops; context cancellation ensures graceful deadline enforcement.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internal/cluster/cluster.go:79-107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Checklist Implementasi Read Replica Strategy</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10 poin verifikasi wajib sebelum merutekan traffic ke environment production.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CHECKLIST ARSITEKTUR REPLIKASI</a:t>
            </a:r>
          </a:p>
          <a:p>
            <a:pPr>
              <a:spcAft>
                <a:spcPts val="400"/>
              </a:spcAft>
              <a:defRPr sz="1200">
                <a:solidFill>
                  <a:srgbClr val="0B1B2D"/>
                </a:solidFill>
              </a:defRPr>
            </a:pPr>
            <a:r>
              <a:t>• [ ] Tentukan consistency requirement: session-bound vs casual reads untuk memilih strategi.</a:t>
            </a:r>
          </a:p>
          <a:p>
            <a:pPr>
              <a:spcAft>
                <a:spcPts val="400"/>
              </a:spcAft>
              <a:defRPr sz="1200">
                <a:solidFill>
                  <a:srgbClr val="0B1B2D"/>
                </a:solidFill>
              </a:defRPr>
            </a:pPr>
            <a:r>
              <a:t>• [ ] Kalibrasi T_sticky ≥ p99 replication lag aktual di production environment (bukan asumsi).</a:t>
            </a:r>
          </a:p>
          <a:p>
            <a:pPr>
              <a:spcAft>
                <a:spcPts val="400"/>
              </a:spcAft>
              <a:defRPr sz="1200">
                <a:solidFill>
                  <a:srgbClr val="0B1B2D"/>
                </a:solidFill>
              </a:defRPr>
            </a:pPr>
            <a:r>
              <a:t>• [ ] Konfigurasi MaxLSNDiff berdasarkan observasi delta LSN normal vs anomaly threshold.</a:t>
            </a:r>
          </a:p>
          <a:p>
            <a:pPr>
              <a:spcAft>
                <a:spcPts val="400"/>
              </a:spcAft>
              <a:defRPr sz="1200">
                <a:solidFill>
                  <a:srgbClr val="0B1B2D"/>
                </a:solidFill>
              </a:defRPr>
            </a:pPr>
            <a:r>
              <a:t>• [ ] Set WaitTimeout causal token ≥ worst-case catch-up duration + 20% buffer.</a:t>
            </a:r>
          </a:p>
          <a:p>
            <a:pPr>
              <a:spcAft>
                <a:spcPts val="400"/>
              </a:spcAft>
              <a:defRPr sz="1200">
                <a:solidFill>
                  <a:srgbClr val="0B1B2D"/>
                </a:solidFill>
              </a:defRPr>
            </a:pPr>
            <a:r>
              <a:t>• [ ] Deploy monitoring metrics: replica lag histogram, stale read rate, primary fallback frequency.</a:t>
            </a:r>
          </a:p>
          <a:p>
            <a:pPr>
              <a:spcAft>
                <a:spcPts val="400"/>
              </a:spcAft>
              <a:defRPr sz="1200">
                <a:solidFill>
                  <a:srgbClr val="0B1B2D"/>
                </a:solidFill>
              </a:defRPr>
            </a:pPr>
            <a:r>
              <a:t>• [ ] Implement circuit breaker untuk primary fallback ketika semua replica exceed threshold.</a:t>
            </a:r>
          </a:p>
          <a:p>
            <a:pPr>
              <a:spcAft>
                <a:spcPts val="400"/>
              </a:spcAft>
              <a:defRPr sz="1200">
                <a:solidFill>
                  <a:srgbClr val="0B1B2D"/>
                </a:solidFill>
              </a:defRPr>
            </a:pPr>
            <a:r>
              <a:t>• [ ] Distribusikan router session state ke shared store (Redis/memcached) untuk horizontal scaling.</a:t>
            </a:r>
          </a:p>
          <a:p>
            <a:pPr>
              <a:spcAft>
                <a:spcPts val="400"/>
              </a:spcAft>
              <a:defRPr sz="1200">
                <a:solidFill>
                  <a:srgbClr val="0B1B2D"/>
                </a:solidFill>
              </a:defRPr>
            </a:pPr>
            <a:r>
              <a:t>• [ ] Validasi bahwa sticky session map tidak memory-leak pada session idle jangka panjang.</a:t>
            </a:r>
          </a:p>
          <a:p>
            <a:pPr>
              <a:spcAft>
                <a:spcPts val="400"/>
              </a:spcAft>
              <a:defRPr sz="1200">
                <a:solidFill>
                  <a:srgbClr val="0B1B2D"/>
                </a:solidFill>
              </a:defRPr>
            </a:pPr>
            <a:r>
              <a:t>• [ ] Uji synchronous replication mode hanya untuk write-critical paths, bukan seluruh traffic.</a:t>
            </a:r>
          </a:p>
          <a:p>
            <a:pPr>
              <a:spcAft>
                <a:spcPts val="400"/>
              </a:spcAft>
              <a:defRPr sz="1200">
                <a:solidFill>
                  <a:srgbClr val="0B1B2D"/>
                </a:solidFill>
              </a:defRPr>
            </a:pPr>
            <a:r>
              <a:t>• [ ] Prepare runbook deteksi anomaly: cara membedakan network partition dari replication lag spike.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Daftar periksa ini merangkum sepuluh prinsip krusial yang wajib dipenuhi sebelum deploying read replica strategy ke production. Parameter timing seperti sticky duration dan wait timeout tidak boleh di-set berdasarkan feeling, melainkan harus dikalibrasi dari data historis replication lag percentile. Monitoring dan alerting menjadi mata telinga operator untuk mendeteksi degradation sebelum user complain. State management router perlu diverifikasi tidak menyebabkan memory leak pada session lifecycle yang panjang. Terakhir, dibedakan antara synchronous replication untuk critical path versus asynchronous dengan application-level fencing untuk read-heavy workload.</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Calibrate timing empirically, monitor continuously, and distinguish path criticality explicitly.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labs/33-read-replicas-and-replication-lag/content/05-key-takeaways.md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Anti-Pattern: Kesalahan Desain yang Harus Dihindari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Kekeliruan arsitektur yang melumpuhkan jaminan keselamatan replication topology.</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ANTI-PATTERN UMUM</a:t>
            </a:r>
          </a:p>
          <a:p>
            <a:pPr>
              <a:spcAft>
                <a:spcPts val="400"/>
              </a:spcAft>
              <a:defRPr sz="1200">
                <a:solidFill>
                  <a:srgbClr val="0B1B2D"/>
                </a:solidFill>
              </a:defRPr>
            </a:pPr>
            <a:r>
              <a:t>• Mencampuradukkan semi-sync dengan synchronous: MySQL semi-sync menjamin relay log receipt, bukan apply visibility.</a:t>
            </a:r>
          </a:p>
          <a:p>
            <a:pPr>
              <a:spcAft>
                <a:spcPts val="400"/>
              </a:spcAft>
              <a:defRPr sz="1200">
                <a:solidFill>
                  <a:srgbClr val="0B1B2D"/>
                </a:solidFill>
              </a:defRPr>
            </a:pPr>
            <a:r>
              <a:t>• Sticky Duration Terlalu Pendek: T_sticky &lt; p99 lag menyebabkan session masih mengalami stale read selepas jendela.</a:t>
            </a:r>
          </a:p>
          <a:p>
            <a:pPr>
              <a:spcAft>
                <a:spcPts val="400"/>
              </a:spcAft>
              <a:defRPr sz="1200">
                <a:solidFill>
                  <a:srgbClr val="0B1B2D"/>
                </a:solidFill>
              </a:defRPr>
            </a:pPr>
            <a:r>
              <a:t>• Tidak Ada Fallback Primary: ReadLagAware tanpa fallback utama menyebabkan total read unavailability saat semua replica lagging.</a:t>
            </a:r>
          </a:p>
          <a:p>
            <a:pPr>
              <a:spcAft>
                <a:spcPts val="400"/>
              </a:spcAft>
              <a:defRPr sz="1200">
                <a:solidFill>
                  <a:srgbClr val="0B1B2D"/>
                </a:solidFill>
              </a:defRPr>
            </a:pPr>
            <a:r>
              <a:t>• Ignore LSN pada Cached Reads: Read dari application cache tanpa invalidasi berdasarkan LSN menghasilkan dirty reads persisten.</a:t>
            </a:r>
          </a:p>
          <a:p>
            <a:pPr>
              <a:spcAft>
                <a:spcPts val="400"/>
              </a:spcAft>
              <a:defRPr sz="1200">
                <a:solidFill>
                  <a:srgbClr val="0B1B2D"/>
                </a:solidFill>
              </a:defRPr>
            </a:pPr>
            <a:r>
              <a:t>• Hardcode Waiting Durasi: Menggunakan time.Sleep statis alih-alih context timeout menyebabkan goroutine leak dan deadlock.</a:t>
            </a:r>
          </a:p>
          <a:p>
            <a:pPr>
              <a:defRPr sz="1200" b="1">
                <a:solidFill>
                  <a:srgbClr val="087F76"/>
                </a:solidFill>
              </a:defRPr>
            </a:pPr>
            <a:r>
              <a:t>CARA REPRODUKSI GAGAL DI LAB</a:t>
            </a:r>
          </a:p>
          <a:p>
            <a:pPr>
              <a:spcAft>
                <a:spcPts val="400"/>
              </a:spcAft>
              <a:defRPr sz="1200">
                <a:solidFill>
                  <a:srgbClr val="0B1B2D"/>
                </a:solidFill>
              </a:defRPr>
            </a:pPr>
            <a:r>
              <a:t>1. Ubah router.go ReadLagAware: hapus fallback primary → test TestReplicaLagThreshold_Fallback akan fail.</a:t>
            </a:r>
          </a:p>
          <a:p>
            <a:pPr>
              <a:spcAft>
                <a:spcPts val="400"/>
              </a:spcAft>
              <a:defRPr sz="1200">
                <a:solidFill>
                  <a:srgbClr val="0B1B2D"/>
                </a:solidFill>
              </a:defRPr>
            </a:pPr>
            <a:r>
              <a:t>2. Set MaxLSNDiff = 0 → semua replica terfilter, read selalu fallback primary; throughput read drop drastis.</a:t>
            </a:r>
          </a:p>
          <a:p>
            <a:pPr>
              <a:spcAft>
                <a:spcPts val="400"/>
              </a:spcAft>
              <a:defRPr sz="1200">
                <a:solidFill>
                  <a:srgbClr val="0B1B2D"/>
                </a:solidFill>
              </a:defRPr>
            </a:pPr>
            <a:r>
              <a:t>3. Hapus WaitForLSN context timeout → TestReadWithToken_LSN hanging indefinitely pada replica yang crash.</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Mengabaikan prinsip desain replication topology dapat berakibat fatal bagi availability dan consistency system. Anti-pattern yang paling sering terjadi adalah underestimate durasi sticky window dibanding actual replication lag, menghasilkan false sense of security bagi engineer. Tidak menyertakan fallback primary pada lag-aware routing berarti read operations akan total unavailable ketika semua replica mengalami lag spike simultan. Hardcoding sleep duration alih-alih menggunakan context timeout juga menyebabkan goroutine leakage yang dapat mematikan seluruh cluster worker.</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Naive fallbacks and uncalibrated timers turn transient replication lag into catastrophic outages.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labs/33-read-replicas-and-replication-lag/content/05-key-takeaways.md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Verifikasi Mandiri: Uji &amp; Jalankan Lab</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Reproduksi seluruh bukti teknis, benchmark race detector, dan demo interaktif di terminal Anda.</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cd labs/33-read-replicas-and-replication-lag</a:t>
            </a:r>
            <a:br/>
            <a:r>
              <a:t>go test -v ./...</a:t>
            </a:r>
            <a:br/>
            <a:r>
              <a:t>go test -race ./...</a:t>
            </a:r>
            <a:br/>
            <a:r>
              <a:t>go run ./cmd/demo</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 ini dirancang agar dapat diverifikasi secara mandiri dalam hitungan detik di mesin lokal. Seluruh implementasi dibangun murni menggunakan standard library Go tanpa memerlukan server eksternal seperti PostgreSQL atau MySQL. Perintah go test -v mengeksekusi tujuh pengujian komprehensif mulai dari anomali stale read hingga konkurensi race-free. Perintah go test -race memvalidasi keamanan thread di bawah beban 15 goroutine intensif, dan go run ./cmd/demo menampilkan demonstrasi terminal interaktif keempat skenario routing.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Zero-dependency standard library code enables instant, deterministic peer verification.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README.md:19-34 • engineering/03-execution-result.md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Prinsip Arsitektur: Desain untuk Asinkronitas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Pelajaran abadi dalam merancang sistem terdistribusi yang tahan terhadap replication lag.</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1. ASINKRONITAS ADALAH KENYATAAN DEFAULT</a:t>
            </a:r>
          </a:p>
          <a:p>
            <a:pPr>
              <a:spcAft>
                <a:spcPts val="400"/>
              </a:spcAft>
              <a:defRPr sz="1200">
                <a:solidFill>
                  <a:srgbClr val="0B1B2D"/>
                </a:solidFill>
              </a:defRPr>
            </a:pPr>
            <a:r>
              <a:t>• Replication lag bukan anomali yang harus dihilangkan, melainkan realitas yang harus dikelola.</a:t>
            </a:r>
          </a:p>
          <a:p>
            <a:pPr>
              <a:spcAft>
                <a:spcPts val="400"/>
              </a:spcAft>
              <a:defRPr sz="1200">
                <a:solidFill>
                  <a:srgbClr val="0B1B2D"/>
                </a:solidFill>
              </a:defRPr>
            </a:pPr>
            <a:r>
              <a:t>• Asumsikan setiap read ke replica berpotensi stale kecuali dibuktikan sebaliknya oleh router.</a:t>
            </a:r>
          </a:p>
          <a:p>
            <a:pPr>
              <a:defRPr sz="1200" b="1">
                <a:solidFill>
                  <a:srgbClr val="087F76"/>
                </a:solidFill>
              </a:defRPr>
            </a:pPr>
            <a:r>
              <a:t>2. CLOSING MECHANISM ADALAH HAK KLIEN</a:t>
            </a:r>
          </a:p>
          <a:p>
            <a:pPr>
              <a:spcAft>
                <a:spcPts val="400"/>
              </a:spcAft>
              <a:defRPr sz="1200">
                <a:solidFill>
                  <a:srgbClr val="0B1B2D"/>
                </a:solidFill>
              </a:defRPr>
            </a:pPr>
            <a:r>
              <a:t>• Aplikasi bertanggung jawab memilih mekanisme penutupan jarak (sticky, token, threshold).</a:t>
            </a:r>
          </a:p>
          <a:p>
            <a:pPr>
              <a:spcAft>
                <a:spcPts val="400"/>
              </a:spcAft>
              <a:defRPr sz="1200">
                <a:solidFill>
                  <a:srgbClr val="0B1B2D"/>
                </a:solidFill>
              </a:defRPr>
            </a:pPr>
            <a:r>
              <a:t>• Database engine menyediakan primitives (LSN, WAL), tetapi router aplikasi menentukan kebijakan.</a:t>
            </a:r>
          </a:p>
          <a:p>
            <a:pPr>
              <a:defRPr sz="1200" b="1">
                <a:solidFill>
                  <a:srgbClr val="087F76"/>
                </a:solidFill>
              </a:defRPr>
            </a:pPr>
            <a:r>
              <a:t>3. DEGRADASI EKSPLISIT MENGALAHKAN CRASH SENYAP</a:t>
            </a:r>
          </a:p>
          <a:p>
            <a:pPr>
              <a:spcAft>
                <a:spcPts val="400"/>
              </a:spcAft>
              <a:defRPr sz="1200">
                <a:solidFill>
                  <a:srgbClr val="0B1B2D"/>
                </a:solidFill>
              </a:defRPr>
            </a:pPr>
            <a:r>
              <a:t>• Fallback ke primary dengan logging terstruktur jauh lebih baik daripada menyajikan data basi.</a:t>
            </a:r>
          </a:p>
          <a:p>
            <a:pPr>
              <a:spcAft>
                <a:spcPts val="400"/>
              </a:spcAft>
              <a:defRPr sz="1200">
                <a:solidFill>
                  <a:srgbClr val="0B1B2D"/>
                </a:solidFill>
              </a:defRPr>
            </a:pPr>
            <a:r>
              <a:t>• Transparansi status node dan LSN watermark menjaga integritas sistem jangka panjang.</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Tiga prinsip arsitektur ini berlaku universal di luar implementasi lab Go ini. Pertama, sadari bahwa asinkronitas adalah default industri dan upaya menghilangkannya secara total akan mengorbankan skalabilitas tulis. Kedua, tempatkan tanggung jawab penutupan replication gap di lapisan aplikasi karena hanya aplikasilah yang memahami konteks konsistensi setiap use case. Ketiga, prioritaskan degradasi eksplisit ke primary dengan observabilitas lengkap dibandingkan membiarkan user menerima data stale secara senyap.</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Asynchrony is reality; smart routing bridges the gap between scalability and user trust.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labs/33-read-replicas-and-replication-lag/content/05-key-takeaways.md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33</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Skalabilitas Baca Terjaga, Konsistensi Terjamin.</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Replication scales reads; application routing safeguards consistency.</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33 - Read Replica dan Replication Lag</a:t>
            </a:r>
          </a:p>
          <a:p>
            <a:pPr>
              <a:defRPr sz="1200">
                <a:solidFill>
                  <a:srgbClr val="CBD5E1"/>
                </a:solidFill>
              </a:defRPr>
            </a:pPr>
            <a:r>
              <a:t>https://github.com/lukman-ss/software-engineering-lab/tree/main/labs/33-read-replicas-and-replication-lag</a:t>
            </a:r>
          </a:p>
          <a:p>
            <a:br/>
            <a:pPr>
              <a:defRPr sz="1100" b="1">
                <a:solidFill>
                  <a:srgbClr val="20C997"/>
                </a:solidFill>
              </a:defRPr>
            </a:pPr>
            <a:r>
              <a:t>REPOSITORY</a:t>
            </a:r>
          </a:p>
          <a:p>
            <a:pPr>
              <a:defRPr sz="1100">
                <a:solidFill>
                  <a:srgbClr val="FFFFFF"/>
                </a:solidFill>
                <a:latin typeface="Courier New"/>
              </a:defRPr>
            </a:pPr>
            <a:r>
              <a:t>github.com/lukman-ss/software-engineering-lab/tree/main/labs/33-read-replicas-and-replication-lag</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b41fffb</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Read Replica dan Replication Lag • Software Engineering Lab</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