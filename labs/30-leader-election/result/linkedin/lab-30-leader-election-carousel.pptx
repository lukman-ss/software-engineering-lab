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Leader Election dengan Fencing Tokens</a:t>
            </a:r>
          </a:p>
          <a:p/>
          <a:p>
            <a:r>
              <a:t>Mental Model: Leases grant temporal authority; monotonic fencing tokens enforce permanent ordering at storage.</a:t>
            </a:r>
          </a:p>
          <a:p/>
          <a:p>
            <a:r>
              <a:t>[]</a:t>
            </a:r>
          </a:p>
          <a:p>
            <a:r>
              <a:t>- Retro CRT monitor dengan scanlines</a:t>
            </a:r>
          </a:p>
          <a:p>
            <a:r>
              <a:t>- Diagram leader election: Lease TTL, pause window, and monotonic fencing check</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Masalah Nyata: Ilusi Otoritas Tunggal</a:t>
            </a:r>
          </a:p>
          <a:p/>
          <a:p>
            <a:r>
              <a:t>Mental Model: Time passes invisibly to a paused process; local belief of leadership is never sufficient proof.</a:t>
            </a:r>
          </a:p>
          <a:p/>
          <a:p>
            <a:r>
              <a:t>[UNANNOUNCED PAUSE]</a:t>
            </a:r>
          </a:p>
          <a:p>
            <a:r>
              <a:t>- Garbage collector pause atau network hiccup menghentikan thread leader.</a:t>
            </a:r>
          </a:p>
          <a:p>
            <a:r>
              <a:t>- Leader tidak dapat mengirim heartbeat renewal sebelum lease TTL habis.</a:t>
            </a:r>
          </a:p>
          <a:p>
            <a:r>
              <a:t>- Node tidak menyadari bahwa ia sedang membeku dan kehilangan otoritas.</a:t>
            </a:r>
          </a:p>
          <a:p>
            <a:r>
              <a:t>[PREMATURE FAILOVER]</a:t>
            </a:r>
          </a:p>
          <a:p>
            <a:r>
              <a:t>- Coordinator menganggap leader lama mati karena TTL kedaluwarsa.</a:t>
            </a:r>
          </a:p>
          <a:p>
            <a:r>
              <a:t>- Kandidat berikutnya memenangkan election dan dipromosikan jadi leader baru.</a:t>
            </a:r>
          </a:p>
          <a:p>
            <a:r>
              <a:t>- Dua node kini sama-sama menganggap dirinya pemegang mandat sah.</a:t>
            </a:r>
          </a:p>
          <a:p>
            <a:r>
              <a:t>[STALE WRITE HAZARD]</a:t>
            </a:r>
          </a:p>
          <a:p>
            <a:r>
              <a:t>- Leader lama terbangun tanpa menyadari posisinya telah digantikan.</a:t>
            </a:r>
          </a:p>
          <a:p>
            <a:r>
              <a:t>- Ia mengirim mutasi usang ke storage bersama menimpa data leader baru.</a:t>
            </a:r>
          </a:p>
          <a:p>
            <a:r>
              <a:t>- Korupsi data senyap terjadi tanpa mekanisme validasi di storage.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Mengapa Lease Berbasis Waktu Saja Gagal?</a:t>
            </a:r>
          </a:p>
          <a:p/>
          <a:p>
            <a:r>
              <a:t>Mental Model: Local validation suffers from TOCTOU gaps; true mutual exclusion must be verified by the shared target.</a:t>
            </a:r>
          </a:p>
          <a:p/>
          <a:p>
            <a:r>
              <a:t>[KODE MUTASI NAIF]</a:t>
            </a:r>
          </a:p>
          <a:p>
            <a:r>
              <a:t>- func (n *Node) DoWorkNaive(val string) error {</a:t>
            </a:r>
          </a:p>
          <a:p>
            <a:r>
              <a:t>-     if n.state != StateLeader { return ErrNotLeader }</a:t>
            </a:r>
          </a:p>
          <a:p>
            <a:r>
              <a:t>-     // GC pause terjadi tepat di sini selama 350ms!</a:t>
            </a:r>
          </a:p>
          <a:p>
            <a:r>
              <a:t>-     // Lease TTL 200ms kedaluwarsa di coordinator.</a:t>
            </a:r>
          </a:p>
          <a:p>
            <a:r>
              <a:t>-     // Node-B terpilih sebagai leader baru.</a:t>
            </a:r>
          </a:p>
          <a:p>
            <a:r>
              <a:t>-     return n.sharedStorage.Save(val) // Menimpa data Node-B!</a:t>
            </a:r>
          </a:p>
          <a:p>
            <a:r>
              <a:t>- }</a:t>
            </a:r>
          </a:p>
          <a:p>
            <a:r>
              <a:t>[KEGAGALAN FUNDAMENTAL]</a:t>
            </a:r>
          </a:p>
          <a:p>
            <a:r>
              <a:t>- Gap waktu antara pengecekan status (check) dan mutasi storage (act).</a:t>
            </a:r>
          </a:p>
          <a:p>
            <a:r>
              <a:t>- Asinkronitas jaringan dan runtime membuat pengecekan waktu lokal tidak dapat dipercaya.</a:t>
            </a:r>
          </a:p>
          <a:p>
            <a:r>
              <a:t>- Storage pasif menerima semua write tanpa memverifikasi urutan generasi pengirim.</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Mental Model: Otoritas Temporal vs Validasi Monotonik</a:t>
            </a:r>
          </a:p>
          <a:p/>
          <a:p>
            <a:r>
              <a:t>Mental Model: Leases decide who should try to write; fencing tokens decide whose write is allowed to persist.</a:t>
            </a:r>
          </a:p>
          <a:p/>
          <a:p>
            <a:r>
              <a:t>[STRUKTUR DATA KOORDINASI]</a:t>
            </a:r>
          </a:p>
          <a:p>
            <a:r>
              <a:t>- type Lease struct {</a:t>
            </a:r>
          </a:p>
          <a:p>
            <a:r>
              <a:t>-     Key          string</a:t>
            </a:r>
          </a:p>
          <a:p>
            <a:r>
              <a:t>-     HolderID     string</a:t>
            </a:r>
          </a:p>
          <a:p>
            <a:r>
              <a:t>-     FencingToken int64         // revision monotonik naik</a:t>
            </a:r>
          </a:p>
          <a:p>
            <a:r>
              <a:t>-     ExpiresAt    time.Time</a:t>
            </a:r>
          </a:p>
          <a:p>
            <a:r>
              <a:t>-     TTL          time.Duration</a:t>
            </a:r>
          </a:p>
          <a:p>
            <a:r>
              <a:t>- }</a:t>
            </a:r>
          </a:p>
          <a:p>
            <a:r>
              <a:t>[PRINSIP FENCING TOKEN]</a:t>
            </a:r>
          </a:p>
          <a:p>
            <a:r>
              <a:t>- Strict Monotonicity: Counter revision coordinator selalu bertambah di setiap kepemimpinan baru.</a:t>
            </a:r>
          </a:p>
          <a:p>
            <a:r>
              <a:t>- Resource Gatekeeping: Storage melacak lastSeenToken dan menolak token &lt;= lastSeenToken.</a:t>
            </a:r>
          </a:p>
          <a:p>
            <a:r>
              <a:t>- Temporal Decoupling: Integritas data tidak bergantung pada sinkronisasi wall-clock mesin klien.</a:t>
            </a:r>
          </a:p>
          <a:p>
            <a:r>
              <a:t>- Self-Defending Store: Sistem kebal meskipun terjadi transient dual-leader state di memori.</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Alur Koordinasi &amp; Penolakan Mutasi Basi</a:t>
            </a:r>
          </a:p>
          <a:p/>
          <a:p>
            <a:r>
              <a:t>Mental Model: Coordinators manage failover transitions; storage gatekeepers enforce immutable monotonic ordering.</a:t>
            </a:r>
          </a:p>
          <a:p/>
          <a:p>
            <a:r>
              <a:t>[SEKUENSI PIPELINE DISTRIBUSI]</a:t>
            </a:r>
          </a:p>
          <a:p>
            <a:r>
              <a:t>- 1. Node-A.Acquire() → Coordinator terbitkan Lease(Holder=A, Token=1, TTL=200ms)</a:t>
            </a:r>
          </a:p>
          <a:p>
            <a:r>
              <a:t>- 2. Node-A.PerformFencedWrite(val) → Storage terima: incoming 1 &gt; lastSeen 0 → lastSeen=1</a:t>
            </a:r>
          </a:p>
          <a:p>
            <a:r>
              <a:t>- 3. Node-A mengalami Simulasi Pause 350ms (eksekusi berhenti, heartbeat terhenti)</a:t>
            </a:r>
          </a:p>
          <a:p>
            <a:r>
              <a:t>- 4. Waktu berjalan melewati 200ms → Lease Node-A kedaluwarsa di Coordinator</a:t>
            </a:r>
          </a:p>
          <a:p>
            <a:r>
              <a:t>- 5. Node-B.Acquire() → Coordinator terbitkan Lease(Holder=B, Token=2, TTL=200ms)</a:t>
            </a:r>
          </a:p>
          <a:p>
            <a:r>
              <a:t>- 6. Node-B.PerformFencedWrite(val) → Storage terima: incoming 2 &gt; lastSeen 1 → lastSeen=2</a:t>
            </a:r>
          </a:p>
          <a:p>
            <a:r>
              <a:t>- 7. Node-A bangun dari pause → Mencoba Write dengan Token=1 usang</a:t>
            </a:r>
          </a:p>
          <a:p>
            <a:r>
              <a:t>- 8. Storage Gatekeeper menolak: token 1 &lt;= lastSeen 2 → ErrStaleFencingToken!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Implementasi Gerbang Fencing di Shared Storage</a:t>
            </a:r>
          </a:p>
          <a:p/>
          <a:p>
            <a:r>
              <a:t>Mental Model: Strict inequality incoming &gt; lastSeenToken turns disordered distributed writes into a monotonic stream.</a:t>
            </a:r>
          </a:p>
          <a:p/>
          <a:p>
            <a:r>
              <a:t>[FENCED STORAGE WRITE GATE]</a:t>
            </a:r>
          </a:p>
          <a:p>
            <a:r>
              <a:t>- func (s *FencedStorage) Write(author string, token int64, value string) error {</a:t>
            </a:r>
          </a:p>
          <a:p>
            <a:r>
              <a:t>-     s.mu.Lock()</a:t>
            </a:r>
          </a:p>
          <a:p>
            <a:r>
              <a:t>-     defer s.mu.Unlock()</a:t>
            </a:r>
          </a:p>
          <a:p>
            <a:r>
              <a:t>- </a:t>
            </a:r>
          </a:p>
          <a:p>
            <a:r>
              <a:t>-     if token &lt;= s.lastSeenToken {</a:t>
            </a:r>
          </a:p>
          <a:p>
            <a:r>
              <a:t>-         return fmt.Errorf("%w: token %d &lt;= last seen %d (author: %s)",</a:t>
            </a:r>
          </a:p>
          <a:p>
            <a:r>
              <a:t>-             ErrStaleFencingToken, token, s.lastSeenToken, author)</a:t>
            </a:r>
          </a:p>
          <a:p>
            <a:r>
              <a:t>-     }</a:t>
            </a:r>
          </a:p>
          <a:p>
            <a:r>
              <a:t>-     s.lastSeenToken = token</a:t>
            </a:r>
          </a:p>
          <a:p>
            <a:r>
              <a:t>-     s.records = append(s.records, Record{FencingToken: token, Author: author, Value: value, Timestamp: time.Now()})</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Failure Path: Penolakan Stale Write Pascajeda GC</a:t>
            </a:r>
          </a:p>
          <a:p/>
          <a:p>
            <a:r>
              <a:t>Mental Model: Transient dual-leader states are inevitable in asynchronous networks; fencing tokens make them safe.</a:t>
            </a:r>
          </a:p>
          <a:p/>
          <a:p>
            <a:r>
              <a:t>[TERMINAL FAILURE LOG]</a:t>
            </a:r>
          </a:p>
          <a:p>
            <a:r>
              <a:t>- [4] Simulating Stop-the-World GC Pause / Network Partition on Node-A (350ms &gt; TTL 200ms)...</a:t>
            </a:r>
          </a:p>
          <a:p>
            <a:r>
              <a:t>- [5] Status after TTL expiration: Node-A=LEADER, Node-B=LEADER</a:t>
            </a:r>
          </a:p>
          <a:p>
            <a:r>
              <a:t>- [6] New Leader promoted: Node-B (Fencing Token: 2)</a:t>
            </a:r>
          </a:p>
          <a:p>
            <a:r>
              <a:t>- [7] New Leader Node-B performing fenced write...</a:t>
            </a:r>
          </a:p>
          <a:p>
            <a:r>
              <a:t>- Write SUCCESS by Node-B (Token 2)</a:t>
            </a:r>
          </a:p>
          <a:p>
            <a:r>
              <a:t>- [8] Old Leader Node-A wakes up from GC pause (still holding stale token 1)...</a:t>
            </a:r>
          </a:p>
          <a:p>
            <a:r>
              <a:t>- [9] Old Leader Node-A attempts write to shared storage using stale token 1...</a:t>
            </a:r>
          </a:p>
          <a:p>
            <a:r>
              <a:t>- Write REJECTED by FencedStorage: stale fencing token: rejected to prevent split-brain write: token 1 &lt;= last seen 2 (author: Node-A)</a:t>
            </a:r>
          </a:p>
          <a:p>
            <a:r>
              <a:t>[ANALISIS KEGAGALAN]</a:t>
            </a:r>
          </a:p>
          <a:p>
            <a:r>
              <a:t>- Pada baris [5], terjadi transient dual-leader: Node-A dan Node-B sama-sama berstatus LEADER.</a:t>
            </a:r>
          </a:p>
          <a:p>
            <a:r>
              <a:t>- Meskipun Node-A merasa sah, storage berhasil mendeteksi anomali generasi (token 1 &lt;= 2).</a:t>
            </a:r>
          </a:p>
          <a:p>
            <a:r>
              <a:t>- Shared storage history tetap bersih: hanya mencatat record dari generasi kepemimpinan yang valid.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Mekanisme vs Gejala: Evaluasi Solusi Koordinasi</a:t>
            </a:r>
          </a:p>
          <a:p/>
          <a:p>
            <a:r>
              <a:t>Mental Model: Locks optimize efficiency; monotonic fencing tokens protect data correctness.</a:t>
            </a:r>
          </a:p>
          <a:p/>
          <a:p>
            <a:r>
              <a:t>[TABEL PERBANDINGAN MEKANISME]</a:t>
            </a:r>
          </a:p>
          <a:p>
            <a:r>
              <a:t>- Pendekatan | Mekanisme Koordinasi | Gejala / Failure Mode | Garansi Split-Brain</a:t>
            </a:r>
          </a:p>
          <a:p>
            <a:r>
              <a:t>- Heartbeat Naif | Ping status via interval | Network partition memicu dual-leader | Tidak Aman (korupsi data)</a:t>
            </a:r>
          </a:p>
          <a:p>
            <a:r>
              <a:t>- Lease TTL Murni | Kunci kedaluwarsa otomatis | GC pause memicu stale write pasca-wake | Tidak Aman (TOCTOU gap)</a:t>
            </a:r>
          </a:p>
          <a:p>
            <a:r>
              <a:t>- Distributed Lock | Mutex terpusat (Redis SETNX) | Lock lepas sebelum job tuntas | Sebagian (hanya efisiensi)</a:t>
            </a:r>
          </a:p>
          <a:p>
            <a:r>
              <a:t>- Lease + Fencing | Monotonic revision + check-and-set | Stale write dihentikan di resource | Aman Mutlak (linierizable)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 Keputusan Desain Kritis Leader Election</a:t>
            </a:r>
          </a:p>
          <a:p/>
          <a:p>
            <a:r>
              <a:t>Mental Model: Monotonic clocks measure duration; monotonic counters establish immutable authority sequence.</a:t>
            </a:r>
          </a:p>
          <a:p/>
          <a:p>
            <a:r>
              <a:t>[1. MONOTONIC CLOCK FOR LEASES]</a:t>
            </a:r>
          </a:p>
          <a:p>
            <a:r>
              <a:t>- Wajib gunakan time.Now() (monotonic reading) untuk evaluasi TTL dan renewal.</a:t>
            </a:r>
          </a:p>
          <a:p>
            <a:r>
              <a:t>- Mencegah anomali perpindahan waktu akibat sinkronisasi NTP step clock drift.</a:t>
            </a:r>
          </a:p>
          <a:p>
            <a:r>
              <a:t>- Terapkan interval renewal jauh lebih cepat dari TTL (contoh: renewRate &lt;= TTL / 3).</a:t>
            </a:r>
          </a:p>
          <a:p>
            <a:r>
              <a:t>[2. STRICT MONOTONIC REVISION]</a:t>
            </a:r>
          </a:p>
          <a:p>
            <a:r>
              <a:t>- Coordinator wajib mengincrement counter revision secara atomik di setiap lease baru.</a:t>
            </a:r>
          </a:p>
          <a:p>
            <a:r>
              <a:t>- Hindari penggunaan UUID atau hash acak karena tidak memiliki relasi urutan (ordering).</a:t>
            </a:r>
          </a:p>
          <a:p>
            <a:r>
              <a:t>- Renewal pada holder yang sama mempertahankan nilai token yang sudah ada.</a:t>
            </a:r>
          </a:p>
          <a:p>
            <a:r>
              <a:t>[3. ATOMIC CHECK-AND-SET GATE]</a:t>
            </a:r>
          </a:p>
          <a:p>
            <a:r>
              <a:t>- Storage wajib menegakkan aturan incomingToken &gt; lastSeenToken di bawah mutex/CAS.</a:t>
            </a:r>
          </a:p>
          <a:p>
            <a:r>
              <a:t>- Tolak operasi dengan status kode kesalahan eksplisit (ErrStaleFencingToken).</a:t>
            </a:r>
          </a:p>
          <a:p>
            <a:r>
              <a:t>- Simpan histori watermark generasi tertinggi yang pernah berhasil diterima.</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Bukti Eksekusi: Siklus Lengkap Election &amp; Fencing</a:t>
            </a:r>
          </a:p>
          <a:p/>
          <a:p>
            <a:r>
              <a:t>Mental Model: Terminal logs provide indisputable evidence: stale writes fail loudly, preserving storage state.</a:t>
            </a:r>
          </a:p>
          <a:p/>
          <a:p>
            <a:r>
              <a:t>[DEMO EXECUTION TRACE]</a:t>
            </a:r>
          </a:p>
          <a:p>
            <a:r>
              <a:t>- === Distributed Leader Election with Fencing Tokens Demo ===</a:t>
            </a:r>
          </a:p>
          <a:p>
            <a:r>
              <a:t>- [1] Starting Node-A and Node-B election campaigns...</a:t>
            </a:r>
          </a:p>
          <a:p>
            <a:r>
              <a:t>- Status: Node-A=LEADER, Node-B=FOLLOWER</a:t>
            </a:r>
          </a:p>
          <a:p>
            <a:r>
              <a:t>- [2] Leader elected: Node-A (Fencing Token: 1)</a:t>
            </a:r>
          </a:p>
          <a:p>
            <a:r>
              <a:t>- [3] Node-A performing legitimate fenced write... Write SUCCESS by Node-A (Token 1)</a:t>
            </a:r>
          </a:p>
          <a:p>
            <a:r>
              <a:t>- [4] Simulating Stop-the-World GC Pause / Network Partition on Node-A (350ms &gt; TTL 200ms)...</a:t>
            </a:r>
          </a:p>
          <a:p>
            <a:r>
              <a:t>- [5] Status after TTL expiration: Node-A=LEADER, Node-B=LEADER</a:t>
            </a:r>
          </a:p>
          <a:p>
            <a:r>
              <a:t>- [6] New Leader promoted: Node-B (Fencing Token: 2)</a:t>
            </a:r>
          </a:p>
          <a:p>
            <a:r>
              <a:t>- [7] New Leader Node-B performing fenced write... Write SUCCESS by Node-B (Token 2)</a:t>
            </a:r>
          </a:p>
          <a:p>
            <a:r>
              <a:t>- [8] Old Leader Node-A wakes up from GC pause (still holding stale token 1)...</a:t>
            </a:r>
          </a:p>
          <a:p>
            <a:r>
              <a:t>- [9] Old Leader Node-A attempts write to shared storage using stale token 1...</a:t>
            </a:r>
          </a:p>
          <a:p>
            <a:r>
              <a:t>- Write REJECTED by FencedStorage: stale fencing token: rejected to prevent split-brain write: token 1 &lt;= last seen 2 (author: Node-A)</a:t>
            </a:r>
          </a:p>
          <a:p>
            <a:r>
              <a:t>- Result: Split-brain prevented! Old leader's stale write was safely rejected.</a:t>
            </a:r>
          </a:p>
          <a:p>
            <a:r>
              <a:t>- [10] Shared Storage History:</a:t>
            </a:r>
          </a:p>
          <a:p>
            <a:r>
              <a:t>-   1. Token: 1 | Author: Node-A | Value: record-from-initial-leader</a:t>
            </a:r>
          </a:p>
          <a:p>
            <a:r>
              <a:t>-   2. Token: 2 | Author: Node-B | Value: record-from-failover-leader</a:t>
            </a:r>
          </a:p>
          <a:p>
            <a:r>
              <a:t>- === Demo completed successfully ===</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YANG TIDAK DIBUKTIKAN</a:t>
            </a:r>
          </a:p>
          <a:p/>
          <a:p>
            <a:r>
              <a:t>Mental Model: Acknowledge lab constraints to avoid confusing conceptual proofs with production-grade topology.</a:t>
            </a:r>
          </a:p>
          <a:p/>
          <a:p>
            <a:r>
              <a:t>[YANG TIDAK DIBUKTIKAN]</a:t>
            </a:r>
          </a:p>
          <a:p>
            <a:r>
              <a:t>- Coordinator bersifat single-node in-memory; tidak membuktikan konsensus multi-node Raft riil.</a:t>
            </a:r>
          </a:p>
          <a:p>
            <a:r>
              <a:t>- Tidak menguji fault injeksi disk fisik, network loss paket parsial, atau Byzantine failures.</a:t>
            </a:r>
          </a:p>
          <a:p>
            <a:r>
              <a:t>- Clock offset diuji melalui manipulasi software; tidak menguji hardware clock skew ekstrem.</a:t>
            </a:r>
          </a:p>
          <a:p>
            <a:r>
              <a:t>- Storage diimplementasikan via in-memory sync.RWMutex; bukan PostgreSQL CAS atau etcd revision check.</a:t>
            </a:r>
          </a:p>
          <a:p>
            <a:r>
              <a:t>- Nilai waktu (TTL 200ms, renew 50ms) bersifat ilustratif lab; bukan panduan tuning produksi.</a:t>
            </a:r>
          </a:p>
          <a:p>
            <a:r>
              <a:t>- Tidak mencakup mekanisme automated fencing token compaction atau database sequence recycling.</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Trade-off Arsitektur: Fencing vs Kompleksitas</a:t>
            </a:r>
          </a:p>
          <a:p/>
          <a:p>
            <a:r>
              <a:t>Mental Model: Safety requires storage collaboration; you trade write simplicity for bulletproof consistency.</a:t>
            </a:r>
          </a:p>
          <a:p/>
          <a:p>
            <a:r>
              <a:t>[MANFAAT &amp; KEUNGGULAN]</a:t>
            </a:r>
          </a:p>
          <a:p>
            <a:r>
              <a:t>- Jaminan Konsistensi Mutlak: Menghilangkan risiko split-brain write pada shared storage.</a:t>
            </a:r>
          </a:p>
          <a:p>
            <a:r>
              <a:t>- Decoupled Failure Recovery: Node baru dapat langsung menulis tanpa menunggu node lama mengonfirmasi mati.</a:t>
            </a:r>
          </a:p>
          <a:p>
            <a:r>
              <a:t>- Auditability: Setiap record memiliki fencing token yang merefleksikan generasi pemimpin penulis.</a:t>
            </a:r>
          </a:p>
          <a:p>
            <a:r>
              <a:t>[KONSEKUENSI &amp; BIAYA]</a:t>
            </a:r>
          </a:p>
          <a:p>
            <a:r>
              <a:t>- Modifikasi Storage Layer: Resource bersama wajib mendukung skema token dan check-and-set.</a:t>
            </a:r>
          </a:p>
          <a:p>
            <a:r>
              <a:t>- Failover Latency: Masa transisi pemimpin baru terikat pada durasi TTL lease yang dipilih.</a:t>
            </a:r>
          </a:p>
          <a:p>
            <a:r>
              <a:t>- Client Error Handling: Aplikasi klien wajib memiliki alur penanganan saat write ditolak ErrStaleFencingToken.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Validasi Konkurensi: 5 Node Berlomba Rebut Lease</a:t>
            </a:r>
          </a:p>
          <a:p/>
          <a:p>
            <a:r>
              <a:t>Mental Model: Serialized coordinator primitives resolve concurrent contention into a single unambiguous leader.</a:t>
            </a:r>
          </a:p>
          <a:p/>
          <a:p>
            <a:r>
              <a:t>[KODE TEST KONKURENSI]</a:t>
            </a:r>
          </a:p>
          <a:p>
            <a:r>
              <a:t>- func TestConcurrentElectionRace(t *testing.T) {</a:t>
            </a:r>
          </a:p>
          <a:p>
            <a:r>
              <a:t>-     coord := coordinator.New()</a:t>
            </a:r>
          </a:p>
          <a:p>
            <a:r>
              <a:t>-     store := storage.New()</a:t>
            </a:r>
          </a:p>
          <a:p>
            <a:r>
              <a:t>-     nodes := make([]*candidate.Node, 5)</a:t>
            </a:r>
          </a:p>
          <a:p>
            <a:r>
              <a:t>-     for i := 0; i &lt; 5; i++ {</a:t>
            </a:r>
          </a:p>
          <a:p>
            <a:r>
              <a:t>-         nodes[i] = candidate.NewNode(string(rune('A'+i)), "leader-lock", 100*time.Millisecond, 20*time.Millisecond, coord, store)</a:t>
            </a:r>
          </a:p>
          <a:p>
            <a:r>
              <a:t>-         nodes[i].Start(ctx)</a:t>
            </a:r>
          </a:p>
          <a:p>
            <a:r>
              <a:t>-     }</a:t>
            </a:r>
          </a:p>
          <a:p>
            <a:r>
              <a:t>-     time.Sleep(100 * time.Millisecond)</a:t>
            </a:r>
          </a:p>
          <a:p>
            <a:r>
              <a:t>-     // Assert: leaderCount == 1 di antara 5 node yang berlomba</a:t>
            </a:r>
          </a:p>
          <a:p>
            <a:r>
              <a:t>- }</a:t>
            </a:r>
          </a:p>
          <a:p>
            <a:r>
              <a:t>[HASIL VERIFIKASI]</a:t>
            </a:r>
          </a:p>
          <a:p>
            <a:r>
              <a:t>- Race Detector: PASS (bebas dari data race condition).</a:t>
            </a:r>
          </a:p>
          <a:p>
            <a:r>
              <a:t>- Linearizable Mutex: Semua permintaan Acquire dan Renew dieksekusi secara serial.</a:t>
            </a:r>
          </a:p>
          <a:p>
            <a:r>
              <a:t>- Tepat 1 Leader: 4 kandidat lainnya tetap berstatus FOLLOWER secara stabil.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Before vs After: Evolusi Sistem Koordinasi</a:t>
            </a:r>
          </a:p>
          <a:p/>
          <a:p>
            <a:r>
              <a:t>Mental Model: Before: passive storage vulnerable to split-brain. After: active fencing guarantees immutable epochs.</a:t>
            </a:r>
          </a:p>
          <a:p/>
          <a:p>
            <a:r>
              <a:t>[BEFORE (Lease TTL Murni)]</a:t>
            </a:r>
          </a:p>
          <a:p>
            <a:r>
              <a:t>- Koordinasi: Node mengandalkan local state check sebelum eksekusi.</a:t>
            </a:r>
          </a:p>
          <a:p>
            <a:r>
              <a:t>- Failure Mode: Stop-the-world pause memicu penulisan ganda pasca-wake.</a:t>
            </a:r>
          </a:p>
          <a:p>
            <a:r>
              <a:t>- Penyimpanan: Storage pasif menerima semua data tanpa validasi urutan.</a:t>
            </a:r>
          </a:p>
          <a:p>
            <a:r>
              <a:t>- Dampak: Korupsi data senyap dan state database tidak konsisten.</a:t>
            </a:r>
          </a:p>
          <a:p>
            <a:r>
              <a:t>[AFTER (Lease + Fencing Tokens)]</a:t>
            </a:r>
          </a:p>
          <a:p>
            <a:r>
              <a:t>- Koordinasi: Lease berbatas waktu dipadukan dengan revision counter monotonik.</a:t>
            </a:r>
          </a:p>
          <a:p>
            <a:r>
              <a:t>- Failure Mode: Leader lama terbangun, namun mutasinya otomatis ditolak.</a:t>
            </a:r>
          </a:p>
          <a:p>
            <a:r>
              <a:t>- Penyimpanan: Storage aktif memeriksa aturan incomingToken &gt; lastSeenToken.</a:t>
            </a:r>
          </a:p>
          <a:p>
            <a:r>
              <a:t>- Dampak: Integritas data terjamin 100% aman dari ancaman split-brain.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Test 1: Akuisisi, Renewal, dan Kedaluwarsa Lease</a:t>
            </a:r>
          </a:p>
          <a:p/>
          <a:p>
            <a:r>
              <a:t>Mental Model: Lease renewal preserves the generation token; lease expiration monotonically advances it.</a:t>
            </a:r>
          </a:p>
          <a:p/>
          <a:p>
            <a:r>
              <a:t>[TEST KONTRAK LEASE]</a:t>
            </a:r>
          </a:p>
          <a:p>
            <a:r>
              <a:t>- func TestCoordinatorLeaseAcquisitionAndRenewal(t *testing.T) {</a:t>
            </a:r>
          </a:p>
          <a:p>
            <a:r>
              <a:t>-     coord := coordinator.New()</a:t>
            </a:r>
          </a:p>
          <a:p>
            <a:r>
              <a:t>-     ttl := 200 * time.Millisecond</a:t>
            </a:r>
          </a:p>
          <a:p>
            <a:r>
              <a:t>-     lease1, err := coord.Acquire("leader-lock", "node-1", ttl)</a:t>
            </a:r>
          </a:p>
          <a:p>
            <a:r>
              <a:t>-     // Assert: lease1.FencingToken == 1</a:t>
            </a:r>
          </a:p>
          <a:p>
            <a:r>
              <a:t>-     _, err = coord.Acquire("leader-lock", "node-2", ttl)</a:t>
            </a:r>
          </a:p>
          <a:p>
            <a:r>
              <a:t>-     // Assert: errors.Is(err, coordinator.ErrLeaseHeld)</a:t>
            </a:r>
          </a:p>
          <a:p>
            <a:r>
              <a:t>-     time.Sleep(250 * time.Millisecond) // Lampaui TTL 200ms</a:t>
            </a:r>
          </a:p>
          <a:p>
            <a:r>
              <a:t>-     lease2, err := coord.Acquire("leader-lock", "node-2", ttl)</a:t>
            </a:r>
          </a:p>
          <a:p>
            <a:r>
              <a:t>-     // Assert: lease2.FencingToken == 2</a:t>
            </a:r>
          </a:p>
          <a:p>
            <a:r>
              <a:t>- }</a:t>
            </a:r>
          </a:p>
          <a:p>
            <a:r>
              <a:t>[VERIFIKASI INVARIAN]</a:t>
            </a:r>
          </a:p>
          <a:p>
            <a:r>
              <a:t>- Mutual Exclusion: Node-2 ditolak ErrLeaseHeld selama lease Node-1 masih dalam masa aktif.</a:t>
            </a:r>
          </a:p>
          <a:p>
            <a:r>
              <a:t>- Token Stability: Memanggil Renew() memperpanjang masa aktif tanpa mengubah nilai token (tetap 1).</a:t>
            </a:r>
          </a:p>
          <a:p>
            <a:r>
              <a:t>- Monotonic Increment: Setelah TTL kedaluwarsa, akuisisi oleh Node-2 menghasilkan token 2.</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Test 2: Storage Menolak Token Usang &amp; Duplikat</a:t>
            </a:r>
          </a:p>
          <a:p/>
          <a:p>
            <a:r>
              <a:t>Mental Model: Strict inequality incomingToken &gt; lastSeenToken closes both stale replay and duplicate mutation vulnerabilities.</a:t>
            </a:r>
          </a:p>
          <a:p/>
          <a:p>
            <a:r>
              <a:t>[TEST PENOLAKAN STORAGE]</a:t>
            </a:r>
          </a:p>
          <a:p>
            <a:r>
              <a:t>- func TestFencedStorageRejectsStaleTokens(t *testing.T) {</a:t>
            </a:r>
          </a:p>
          <a:p>
            <a:r>
              <a:t>-     store := storage.New()</a:t>
            </a:r>
          </a:p>
          <a:p>
            <a:r>
              <a:t>-     _ = store.Write("node-1", 10, "state-1") // Sukses: 10 &gt; 0</a:t>
            </a:r>
          </a:p>
          <a:p>
            <a:r>
              <a:t>-     _ = store.Write("node-2", 11, "state-2") // Sukses: 11 &gt; 10</a:t>
            </a:r>
          </a:p>
          <a:p>
            <a:r>
              <a:t>-     err1 := store.Write("node-1", 10, "stale-state")</a:t>
            </a:r>
          </a:p>
          <a:p>
            <a:r>
              <a:t>-     // Assert: errors.Is(err1, storage.ErrStaleFencingToken)</a:t>
            </a:r>
          </a:p>
          <a:p>
            <a:r>
              <a:t>-     err2 := store.Write("node-2", 11, "duplicate-token")</a:t>
            </a:r>
          </a:p>
          <a:p>
            <a:r>
              <a:t>-     // Assert: errors.Is(err2, storage.ErrStaleFencingToken)</a:t>
            </a:r>
          </a:p>
          <a:p>
            <a:r>
              <a:t>-     // Assert: len(store.History()) == 2 (mutasi ilegal tidak dicatat)</a:t>
            </a:r>
          </a:p>
          <a:p>
            <a:r>
              <a:t>- }</a:t>
            </a:r>
          </a:p>
          <a:p>
            <a:r>
              <a:t>[ATURAN STRICT INEQUALITY]</a:t>
            </a:r>
          </a:p>
          <a:p>
            <a:r>
              <a:t>- Token Mundur Ditolak: Token 10 ditolak setelah storage melihat token 11 (10 &lt; 11).</a:t>
            </a:r>
          </a:p>
          <a:p>
            <a:r>
              <a:t>- Token Sama Ditolak: Token 11 duplikat ditolak karena tidak memenuhi syarat strict greater (11 == 11).</a:t>
            </a:r>
          </a:p>
          <a:p>
            <a:r>
              <a:t>- Integritas Riwayat: Penyimpanan bersama hanya berisi tepat 2 record legal.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Test 3: Failover Otomatis &amp; Pertahanan Split-Brain</a:t>
            </a:r>
          </a:p>
          <a:p/>
          <a:p>
            <a:r>
              <a:t>Mental Model: Simulated pause triggers clean failover; resumed stale leader is intercepted at storage boundary.</a:t>
            </a:r>
          </a:p>
          <a:p/>
          <a:p>
            <a:r>
              <a:t>[SIMULASI GC PAUSE PADA NODE AKTIF]</a:t>
            </a:r>
          </a:p>
          <a:p>
            <a:r>
              <a:t>- // 1. Leader-1 terpilih dan menulis sukses dengan token1</a:t>
            </a:r>
          </a:p>
          <a:p>
            <a:r>
              <a:t>- leader1.SimulatePause(250 * time.Millisecond) // Lebih lama dari TTL 150ms</a:t>
            </a:r>
          </a:p>
          <a:p>
            <a:r>
              <a:t>- time.Sleep(200 * time.Millisecond)</a:t>
            </a:r>
          </a:p>
          <a:p>
            <a:r>
              <a:t>- // 2. Leader-2 mengambil alih kepemimpinan dengan token2 &gt; token1</a:t>
            </a:r>
          </a:p>
          <a:p>
            <a:r>
              <a:t>- err = leader2.PerformFencedWrite("leader-2-write") // SUKSES</a:t>
            </a:r>
          </a:p>
          <a:p>
            <a:r>
              <a:t>- // 3. Leader-1 bangun dan mencoba menulis dengan token1 usang</a:t>
            </a:r>
          </a:p>
          <a:p>
            <a:r>
              <a:t>- err = store.Write(leader1.ID(), token1, "stale-write-after-gc-pause")</a:t>
            </a:r>
          </a:p>
          <a:p>
            <a:r>
              <a:t>- // Assert: errors.Is(err, storage.ErrStaleFencingToken)</a:t>
            </a:r>
          </a:p>
          <a:p>
            <a:r>
              <a:t>[FAKTA PERILAKU SISTEM]</a:t>
            </a:r>
          </a:p>
          <a:p>
            <a:r>
              <a:t>- Leader 1 dibekukan selama 250ms melalui SimulatePause yang menghentikan loop renewal.</a:t>
            </a:r>
          </a:p>
          <a:p>
            <a:r>
              <a:t>- Kandidat kedua mendeteksi lease habis dan dipromosikan dengan token lebih tinggi.</a:t>
            </a:r>
          </a:p>
          <a:p>
            <a:r>
              <a:t>- Saat Leader 1 bangun, percobaan tulisnya digagalkan oleh pagar validasi storage.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Studi Kasus Industri: Mekanisme Fencing Nyata</a:t>
            </a:r>
          </a:p>
          <a:p/>
          <a:p>
            <a:r>
              <a:t>Mental Model: Without monotonic fencing tokens at the storage boundary, distributed locks provide efficiency, not safety.</a:t>
            </a:r>
          </a:p>
          <a:p/>
          <a:p>
            <a:r>
              <a:t>[SISTEM KOORDINASI MODERN]</a:t>
            </a:r>
          </a:p>
          <a:p>
            <a:r>
              <a:t>- etcd v3: Menggunakan Lease TTL dipadukan dengan Revision Raft 64-bit sebagai fencing token bawaan.</a:t>
            </a:r>
          </a:p>
          <a:p>
            <a:r>
              <a:t>- Apache ZooKeeper: Menghasilkan Ephemeral Sequential Znodes; nomor urut zxid bertindak sebagai token.</a:t>
            </a:r>
          </a:p>
          <a:p>
            <a:r>
              <a:t>- Consul: Mengandalkan internal Raft sessions dengan Session TTL dan periodic health checks.</a:t>
            </a:r>
          </a:p>
          <a:p>
            <a:r>
              <a:t>[DEBAT REDIS REDLOCK (KLEPPMANN VS ANTIREZ)]</a:t>
            </a:r>
          </a:p>
          <a:p>
            <a:r>
              <a:t>- Martin Kleppmann (2016): Redlock tidak menghasilkan fencing token monotonik; rentan GC pause &amp; NTP jump.</a:t>
            </a:r>
          </a:p>
          <a:p>
            <a:r>
              <a:t>- Salvatore Sanfilippo (antirez): Redlock dirancang untuk timed lock praktis, bukan linearizable consensus.</a:t>
            </a:r>
          </a:p>
          <a:p>
            <a:r>
              <a:t>- Konsensus Industri: Jika resource tidak mendukung fencing check, Redlock tidak menjamin mutual exclusion mutlak.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Mengapa Lease Wajib Menggunakan Monotonic Clock?</a:t>
            </a:r>
          </a:p>
          <a:p/>
          <a:p>
            <a:r>
              <a:t>Mental Model: Wall-clocks tell human time and jump; monotonic clocks measure duration and never step backwards.</a:t>
            </a:r>
          </a:p>
          <a:p/>
          <a:p>
            <a:r>
              <a:t>[ANOMALI WALL-CLOCK (REAL-TIME)]</a:t>
            </a:r>
          </a:p>
          <a:p>
            <a:r>
              <a:t>- Sinkronisasi waktu jaringan (NTP step) dapat memajukan atau memundurkan wall-clock sistem.</a:t>
            </a:r>
          </a:p>
          <a:p>
            <a:r>
              <a:t>- Jika jam melompat mundur: Lease dianggap aktif selamanya, mematikan kemampuan failover otomatis.</a:t>
            </a:r>
          </a:p>
          <a:p>
            <a:r>
              <a:t>- Jika jam melompat maju: Lease dianggap kedaluwarsa prematur saat leader masih sehat.</a:t>
            </a:r>
          </a:p>
          <a:p>
            <a:r>
              <a:t>[GARANSI MONOTONIC CLOCK DI GO]</a:t>
            </a:r>
          </a:p>
          <a:p>
            <a:r>
              <a:t>- time.Now() di Go membaca monotonic clock hardware secara otomatis untuk pengukuran durasi.</a:t>
            </a:r>
          </a:p>
          <a:p>
            <a:r>
              <a:t>- time.Since(start) dan now.Before(expiresAt) kebal terhadap manipulasi penyesuaian jam sistem.</a:t>
            </a:r>
          </a:p>
          <a:p>
            <a:r>
              <a:t>- Coordinator dan Candidate lab ini murni menggunakan durasi monotonik untuk semua logika TTL.</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Implementasi Leader Election &amp; Fencing</a:t>
            </a:r>
          </a:p>
          <a:p/>
          <a:p>
            <a:r>
              <a:t>Mental Model: Calibrate timeouts empirically, increment tokens monotonically, and enforce boundaries atomically.</a:t>
            </a:r>
          </a:p>
          <a:p/>
          <a:p>
            <a:r>
              <a:t>[CHECKLIST ARSITEKTUR KOORDINASI]</a:t>
            </a:r>
          </a:p>
          <a:p>
            <a:r>
              <a:t>- [ ] Parameter TTL lease dikalibrasi berdasarkan observasi empiris p99 GC pause dan RTT jaringan.</a:t>
            </a:r>
          </a:p>
          <a:p>
            <a:r>
              <a:t>- [ ] Loop renewal diatur dengan frekuensi aman (renewRate &lt;= TTL / 3) dengan backoff terukur.</a:t>
            </a:r>
          </a:p>
          <a:p>
            <a:r>
              <a:t>- [ ] Semua perhitungan durasi lease dan renewal murni menggunakan monotonic clock.</a:t>
            </a:r>
          </a:p>
          <a:p>
            <a:r>
              <a:t>- [ ] Coordinator menghasilkan revision counter yang strictly monotonically increasing di setiap lease baru.</a:t>
            </a:r>
          </a:p>
          <a:p>
            <a:r>
              <a:t>- [ ] Pembaharuan lease (renew) oleh pemegang yang sama mempertahankan fencing token yang ada.</a:t>
            </a:r>
          </a:p>
          <a:p>
            <a:r>
              <a:t>- [ ] Shared resource (database/storage) mengimplementasikan check-and-set atomik (incoming &gt; lastSeen).</a:t>
            </a:r>
          </a:p>
          <a:p>
            <a:r>
              <a:t>- [ ] Permintaan tulis dengan token &lt;= lastSeenToken ditolak dengan error eksplisit yang dapat dipantau.</a:t>
            </a:r>
          </a:p>
          <a:p>
            <a:r>
              <a:t>- [ ] Metric alerting dipasang untuk mendeteksi lonjakan kejadian penolakan token basi (stale write spike).</a:t>
            </a:r>
          </a:p>
          <a:p>
            <a:r>
              <a:t>- [ ] Sistem aplikasi memahami batas antara timed lock untuk efisiensi vs linearizable fencing untuk keamanan.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Kesalahan Desain yang Harus Dihindari</a:t>
            </a:r>
          </a:p>
          <a:p/>
          <a:p>
            <a:r>
              <a:t>Mental Model: Client-side checks are advisory; only server-side resource fencing guarantees mutual exclusion.</a:t>
            </a:r>
          </a:p>
          <a:p/>
          <a:p>
            <a:r>
              <a:t>[ANTI-PATTERN UMUM]</a:t>
            </a:r>
          </a:p>
          <a:p>
            <a:r>
              <a:t>- Fencing di Klien: Melakukan validasi token di memori klien sebelum memanggil storage (rentan TOCTOU).</a:t>
            </a:r>
          </a:p>
          <a:p>
            <a:r>
              <a:t>- Menerima Token Sama: Menggunakan syarat token &gt;= lastSeen membuka celah eksekusi mutasi ganda.</a:t>
            </a:r>
          </a:p>
          <a:p>
            <a:r>
              <a:t>- Token Non-Monotonik: Memakai UUID acak atau timestamp lokal yang tidak memiliki garansi urutan kausal.</a:t>
            </a:r>
          </a:p>
          <a:p>
            <a:r>
              <a:t>- Wall-Clock TTL: Menggunakan jam dinding sistem rentan manipulasi penyesuaian NTP clock skew.</a:t>
            </a:r>
          </a:p>
          <a:p>
            <a:r>
              <a:t>[CARA REPRODUKSI GAGAL DI LAB]</a:t>
            </a:r>
          </a:p>
          <a:p>
            <a:r>
              <a:t>- 1. Ubah internal/storage/storage.go baris 37 menjadi token &lt; s.lastSeenToken (izinkan token sama).</a:t>
            </a:r>
          </a:p>
          <a:p>
            <a:r>
              <a:t>- 2. Jalankan go test -v ./tests: TestFencedStorageRejectsStaleTokens langsung gagal pada duplicate check.</a:t>
            </a:r>
          </a:p>
          <a:p>
            <a:r>
              <a:t>- 3. Hapus validasi storage sama sekali: stale write dari Node-A akan menimpa histori sah milik Node-B!</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Verifikasi Mandiri: Uji &amp; Jalankan Lab</a:t>
            </a:r>
          </a:p>
          <a:p/>
          <a:p>
            <a:r>
              <a:t>Mental Model: Zero-dependency standard library code enables instant, deterministic peer verification.</a:t>
            </a:r>
          </a:p>
          <a:p/>
          <a:p>
            <a:r>
              <a:t>[PERINTAH VERIFIKASI RESMI]</a:t>
            </a:r>
          </a:p>
          <a:p>
            <a:r>
              <a:t>- cd labs/30-leader-election</a:t>
            </a:r>
          </a:p>
          <a:p>
            <a:r>
              <a:t>- go test -v ./...</a:t>
            </a:r>
          </a:p>
          <a:p>
            <a:r>
              <a:t>- go test -race ./...</a:t>
            </a:r>
          </a:p>
          <a:p>
            <a:r>
              <a:t>- go run ./cmd/demo</a:t>
            </a:r>
          </a:p>
          <a:p>
            <a:r>
              <a:t>[RINGKASAN METRIK LAB]</a:t>
            </a:r>
          </a:p>
          <a:p>
            <a:r>
              <a:t>- Test Suite: 4 test cases lulus 100% tanpa kegagalan (1.17s total runtime).</a:t>
            </a:r>
          </a:p>
          <a:p>
            <a:r>
              <a:t>- Race Detector: Bersih dari thread contention dan data races (2.01s pass).</a:t>
            </a:r>
          </a:p>
          <a:p>
            <a:r>
              <a:t>- Dependencies: Murni Go Standard Library (sync, time, context, errors) tanpa dependensi pihak ketiga.</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Arsitektur: Desain untuk Asinkronitas</a:t>
            </a:r>
          </a:p>
          <a:p/>
          <a:p>
            <a:r>
              <a:t>Mental Model: Time is subjective in distributed systems; monotonic order at the resource is absolute truth.</a:t>
            </a:r>
          </a:p>
          <a:p/>
          <a:p>
            <a:r>
              <a:t>[1. LEASE MEMBERIKAN EFISIENSI, BUKAN SAFETY]</a:t>
            </a:r>
          </a:p>
          <a:p>
            <a:r>
              <a:t>- Lease berbatas waktu sangat baik untuk mencegah duplikasi pekerjaan komputasi.</a:t>
            </a:r>
          </a:p>
          <a:p>
            <a:r>
              <a:t>- Namun, lease tidak pernah cukup untuk menjamin integritas penulisan pada shared storage non-idempoten.</a:t>
            </a:r>
          </a:p>
          <a:p>
            <a:r>
              <a:t>[2. RESOURCE ADALAH HAKIM TERTINGGI]</a:t>
            </a:r>
          </a:p>
          <a:p>
            <a:r>
              <a:t>- Klien yang mengalami pause tidak pernah tahu bahwa dirinya sudah kedaluwarsa.</a:t>
            </a:r>
          </a:p>
          <a:p>
            <a:r>
              <a:t>- Hanya shared resource yang memiliki perspektif global untuk menolak instruksi usang melalui fencing.</a:t>
            </a:r>
          </a:p>
          <a:p>
            <a:r>
              <a:t>[3. URUTAN GENERASI MENGALAHKAN ASUMSI WAKTU]</a:t>
            </a:r>
          </a:p>
          <a:p>
            <a:r>
              <a:t>- Jangan pernah bergantung pada asumsi bahwa proses Anda akan selesai sebelum waktu T habis.</a:t>
            </a:r>
          </a:p>
          <a:p>
            <a:r>
              <a:t>- Gunakan nomor urut generasi (monotonic epoch) yang dapat divalidasi secara deterministik.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Otoritas Terdistribusi Terjaga, Split-Brain Dicegah.</a:t>
            </a:r>
          </a:p>
          <a:p/>
          <a:p>
            <a:r>
              <a:t>Mental Model: Lease TTL grants temporal leadership; monotonic fencing tokens protect permanent storage.</a:t>
            </a:r>
          </a:p>
          <a:p/>
          <a:p>
            <a:r>
              <a:t>[KOMPONEN ARSITEKTUR LAB]</a:t>
            </a:r>
          </a:p>
          <a:p>
            <a:r>
              <a:t>- internal/coordinator/coordinator.go — Linearizable lease &amp; monotonic revision issuer</a:t>
            </a:r>
          </a:p>
          <a:p>
            <a:r>
              <a:t>- internal/candidate/candidate.go — Campaign runner, heartbeat renewal, &amp; pause simulation</a:t>
            </a:r>
          </a:p>
          <a:p>
            <a:r>
              <a:t>- internal/storage/storage.go — Fenced storage gate with atomic check-and-set</a:t>
            </a:r>
          </a:p>
          <a:p>
            <a:r>
              <a:t>- tests/election_test.go — 4 comprehensive suites (concurrency, failover, rejection)</a:t>
            </a:r>
          </a:p>
          <a:p>
            <a:r>
              <a:t>- cmd/demo/main.go — Complete interactive lifecycle demonstration</a:t>
            </a:r>
          </a:p>
          <a:p>
            <a:r>
              <a:t>[VERIFIKASI &amp; REPOSITORI]</a:t>
            </a:r>
          </a:p>
          <a:p>
            <a:r>
              <a:t>- Commit SHA: ba4b6216</a:t>
            </a:r>
          </a:p>
          <a:p>
            <a:r>
              <a:t>- Unit Tests: 4/4 PASS (100% clean)</a:t>
            </a:r>
          </a:p>
          <a:p>
            <a:r>
              <a:t>- Race Detector: PASS (zero data race)</a:t>
            </a:r>
          </a:p>
          <a:p>
            <a:r>
              <a:t>- Repositori: github.com/lukman-ss/software-engineering-lab/tree/main/labs/30-leader-election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30</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Leader Election dengan Fencing Tokens</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Mencegah Split-Brain dan State Corruption Menggunakan Lease TTL dan Monotonic Revision</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Masalah Nyata: Ilusi Otoritas Tunggal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Ketika node mengalami stop-the-world GC pause, koordinasi terdistribusi rentan terbelah.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UNANNOUNCED PAUSE</a:t>
            </a:r>
          </a:p>
          <a:p>
            <a:pPr>
              <a:spcAft>
                <a:spcPts val="400"/>
              </a:spcAft>
              <a:defRPr sz="1200">
                <a:solidFill>
                  <a:srgbClr val="0B1B2D"/>
                </a:solidFill>
              </a:defRPr>
            </a:pPr>
            <a:r>
              <a:t>• Garbage collector pause atau network hiccup menghentikan thread leader.</a:t>
            </a:r>
          </a:p>
          <a:p>
            <a:pPr>
              <a:spcAft>
                <a:spcPts val="400"/>
              </a:spcAft>
              <a:defRPr sz="1200">
                <a:solidFill>
                  <a:srgbClr val="0B1B2D"/>
                </a:solidFill>
              </a:defRPr>
            </a:pPr>
            <a:r>
              <a:t>• Leader tidak dapat mengirim heartbeat renewal sebelum lease TTL habis.</a:t>
            </a:r>
          </a:p>
          <a:p>
            <a:pPr>
              <a:spcAft>
                <a:spcPts val="400"/>
              </a:spcAft>
              <a:defRPr sz="1200">
                <a:solidFill>
                  <a:srgbClr val="0B1B2D"/>
                </a:solidFill>
              </a:defRPr>
            </a:pPr>
            <a:r>
              <a:t>• Node tidak menyadari bahwa ia sedang membeku dan kehilangan otoritas.</a:t>
            </a:r>
          </a:p>
          <a:p>
            <a:pPr>
              <a:defRPr sz="1200" b="1">
                <a:solidFill>
                  <a:srgbClr val="087F76"/>
                </a:solidFill>
              </a:defRPr>
            </a:pPr>
            <a:r>
              <a:t>PREMATURE FAILOVER</a:t>
            </a:r>
          </a:p>
          <a:p>
            <a:pPr>
              <a:spcAft>
                <a:spcPts val="400"/>
              </a:spcAft>
              <a:defRPr sz="1200">
                <a:solidFill>
                  <a:srgbClr val="0B1B2D"/>
                </a:solidFill>
              </a:defRPr>
            </a:pPr>
            <a:r>
              <a:t>• Coordinator menganggap leader lama mati karena TTL kedaluwarsa.</a:t>
            </a:r>
          </a:p>
          <a:p>
            <a:pPr>
              <a:spcAft>
                <a:spcPts val="400"/>
              </a:spcAft>
              <a:defRPr sz="1200">
                <a:solidFill>
                  <a:srgbClr val="0B1B2D"/>
                </a:solidFill>
              </a:defRPr>
            </a:pPr>
            <a:r>
              <a:t>• Kandidat berikutnya memenangkan election dan dipromosikan jadi leader baru.</a:t>
            </a:r>
          </a:p>
          <a:p>
            <a:pPr>
              <a:spcAft>
                <a:spcPts val="400"/>
              </a:spcAft>
              <a:defRPr sz="1200">
                <a:solidFill>
                  <a:srgbClr val="0B1B2D"/>
                </a:solidFill>
              </a:defRPr>
            </a:pPr>
            <a:r>
              <a:t>• Dua node kini sama-sama menganggap dirinya pemegang mandat sah.</a:t>
            </a:r>
          </a:p>
          <a:p>
            <a:pPr>
              <a:defRPr sz="1200" b="1">
                <a:solidFill>
                  <a:srgbClr val="087F76"/>
                </a:solidFill>
              </a:defRPr>
            </a:pPr>
            <a:r>
              <a:t>STALE WRITE HAZARD</a:t>
            </a:r>
          </a:p>
          <a:p>
            <a:pPr>
              <a:spcAft>
                <a:spcPts val="400"/>
              </a:spcAft>
              <a:defRPr sz="1200">
                <a:solidFill>
                  <a:srgbClr val="0B1B2D"/>
                </a:solidFill>
              </a:defRPr>
            </a:pPr>
            <a:r>
              <a:t>• Leader lama terbangun tanpa menyadari posisinya telah digantikan.</a:t>
            </a:r>
          </a:p>
          <a:p>
            <a:pPr>
              <a:spcAft>
                <a:spcPts val="400"/>
              </a:spcAft>
              <a:defRPr sz="1200">
                <a:solidFill>
                  <a:srgbClr val="0B1B2D"/>
                </a:solidFill>
              </a:defRPr>
            </a:pPr>
            <a:r>
              <a:t>• Ia mengirim mutasi usang ke storage bersama menimpa data leader baru.</a:t>
            </a:r>
          </a:p>
          <a:p>
            <a:pPr>
              <a:spcAft>
                <a:spcPts val="400"/>
              </a:spcAft>
              <a:defRPr sz="1200">
                <a:solidFill>
                  <a:srgbClr val="0B1B2D"/>
                </a:solidFill>
              </a:defRPr>
            </a:pPr>
            <a:r>
              <a:t>• Korupsi data senyap terjadi tanpa mekanisme validasi di storage.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Dalam arsitektur terdistribusi nyata, proses tidak pernah mati secara instan dan rapi. Fenomena runtime seperti stop-the-world garbage collection pause pada runtime modern atau network partition parsial dapat membekukan proses selama ratusan milidetik. Selama periode pause tersebut, lease TTL milik leader lama akan kedaluwarsa di coordinator, memicu failover otomatis ke kandidat baru. Ketika leader lama bangun dari pause, ia tidak menyadari waktu telah berlalu dan tetap mengeksekusi operasi tulis yang berpotensi merusak integritas data sistem.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Time passes invisibly to a paused process; local belief of leadership is never sufficient proof.</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labs/30-leader-election/content/01-content-brief.md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Mengapa Lease Berbasis Waktu Saja Gagal?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Pemeriksaan status lokal di sisi klien tidak memiliki jaminan linieritas saat eksekusi terdistribusi.</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(n *Node) DoWorkNaive(val string) error {</a:t>
            </a:r>
            <a:br/>
            <a:r>
              <a:t>    if n.state != StateLeader { return ErrNotLeader }</a:t>
            </a:r>
            <a:br/>
            <a:r>
              <a:t>    // GC pause terjadi tepat di sini selama 350ms!</a:t>
            </a:r>
            <a:br/>
            <a:r>
              <a:t>    // Lease TTL 200ms kedaluwarsa di coordinator.</a:t>
            </a:r>
            <a:br/>
            <a:r>
              <a:t>    // Node-B terpilih sebagai leader baru.</a:t>
            </a:r>
            <a:br/>
            <a:r>
              <a:t>    return n.sharedStorage.Save(val) // Menimpa data Node-B!</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Pendekatan naif mengasumsikan pengecekan status boolean lokal `if n.state == StateLeader` cukup menjamin mutual exclusion. Asumsi ini salah fatal dalam sistem asinkron karena adanya time-of-check to time-of-use (TOCTOU) gap. Tepat setelah pengecekan lokal berhasil, runtime thread dapat diinterupsi oleh GC pause atau penjadwalan OS selama ratusan milidetik. Saat thread kembali aktif, status kepemimpinan telah berpindah ke node lain, namun instruksi tulis tetap dikirim ke storage. Tanpa validasi di lapisan penyimpanan, write usang akan menimpa data terkini.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Local validation suffers from TOCTOU gaps; true mutual exclusion must be verified by the shared target.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labs/30-leader-election/research/03-mechanisms-and-leases.md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Mental Model: Otoritas Temporal vs Validasi Monotonik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Lease mengatur durasi giliran kerja, fencing token menegakkan urutan generations di storage.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Lease struct {</a:t>
            </a:r>
            <a:br/>
            <a:r>
              <a:t>    Key          string</a:t>
            </a:r>
            <a:br/>
            <a:r>
              <a:t>    HolderID     string</a:t>
            </a:r>
            <a:br/>
            <a:r>
              <a:t>    FencingToken int64         // revision monotonik naik</a:t>
            </a:r>
            <a:br/>
            <a:r>
              <a:t>    ExpiresAt    time.Time</a:t>
            </a:r>
            <a:br/>
            <a:r>
              <a:t>    TTL          time.Duration</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Mental model arsitektur ini memisahkan dua konsep: hak memimpin sementara (lease) dan hak menulis permanen (fencing token). Lease coordinator mengelola kepemimpinan dengan TTL berbatas waktu, menerbitkan nomor tiket revisi yang strictly monotonically increasing setiap kali pemimpin baru dilantik. Penyimpanan bersama tidak lagi mempercayai identitas klien secara buta, melainkan bertindak sebagai gerbang independen yang hanya menerima mutasi jika tiket yang dibawa strictly lebih besar dari tiket terakhir yang tercatat.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Leases decide who should try to write; fencing tokens decide whose write is allowed to persist.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internal/coordinator/coordinator.go:15-28 • internal/storage/storage.go:14-25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Alur Koordinasi &amp; Penolakan Mutasi Basi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Pipeline端到端: Campaign → Lease Grant → Normal Write → Pause/Failover → Stale Write Rejection.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SEKUENSI PIPELINE DISTRIBUSI</a:t>
            </a:r>
          </a:p>
          <a:p>
            <a:pPr>
              <a:spcAft>
                <a:spcPts val="400"/>
              </a:spcAft>
              <a:defRPr sz="1200">
                <a:solidFill>
                  <a:srgbClr val="0B1B2D"/>
                </a:solidFill>
              </a:defRPr>
            </a:pPr>
            <a:r>
              <a:t>1. Node-A.Acquire() → Coordinator terbitkan Lease(Holder=A, Token=1, TTL=200ms)</a:t>
            </a:r>
          </a:p>
          <a:p>
            <a:pPr>
              <a:spcAft>
                <a:spcPts val="400"/>
              </a:spcAft>
              <a:defRPr sz="1200">
                <a:solidFill>
                  <a:srgbClr val="0B1B2D"/>
                </a:solidFill>
              </a:defRPr>
            </a:pPr>
            <a:r>
              <a:t>2. Node-A.PerformFencedWrite(val) → Storage terima: incoming 1 &gt; lastSeen 0 → lastSeen=1</a:t>
            </a:r>
          </a:p>
          <a:p>
            <a:pPr>
              <a:spcAft>
                <a:spcPts val="400"/>
              </a:spcAft>
              <a:defRPr sz="1200">
                <a:solidFill>
                  <a:srgbClr val="0B1B2D"/>
                </a:solidFill>
              </a:defRPr>
            </a:pPr>
            <a:r>
              <a:t>• 3. Node-A mengalami Simulasi Pause 350ms (eksekusi berhenti, heartbeat terhenti)</a:t>
            </a:r>
          </a:p>
          <a:p>
            <a:pPr>
              <a:spcAft>
                <a:spcPts val="400"/>
              </a:spcAft>
              <a:defRPr sz="1200">
                <a:solidFill>
                  <a:srgbClr val="0B1B2D"/>
                </a:solidFill>
              </a:defRPr>
            </a:pPr>
            <a:r>
              <a:t>4. Waktu berjalan melewati 200ms → Lease Node-A kedaluwarsa di Coordinator</a:t>
            </a:r>
          </a:p>
          <a:p>
            <a:pPr>
              <a:spcAft>
                <a:spcPts val="400"/>
              </a:spcAft>
              <a:defRPr sz="1200">
                <a:solidFill>
                  <a:srgbClr val="0B1B2D"/>
                </a:solidFill>
              </a:defRPr>
            </a:pPr>
            <a:r>
              <a:t>5. Node-B.Acquire() → Coordinator terbitkan Lease(Holder=B, Token=2, TTL=200ms)</a:t>
            </a:r>
          </a:p>
          <a:p>
            <a:pPr>
              <a:spcAft>
                <a:spcPts val="400"/>
              </a:spcAft>
              <a:defRPr sz="1200">
                <a:solidFill>
                  <a:srgbClr val="0B1B2D"/>
                </a:solidFill>
              </a:defRPr>
            </a:pPr>
            <a:r>
              <a:t>6. Node-B.PerformFencedWrite(val) → Storage terima: incoming 2 &gt; lastSeen 1 → lastSeen=2</a:t>
            </a:r>
          </a:p>
          <a:p>
            <a:pPr>
              <a:spcAft>
                <a:spcPts val="400"/>
              </a:spcAft>
              <a:defRPr sz="1200">
                <a:solidFill>
                  <a:srgbClr val="0B1B2D"/>
                </a:solidFill>
              </a:defRPr>
            </a:pPr>
            <a:r>
              <a:t>7. Node-A bangun dari pause → Mencoba Write dengan Token=1 usang</a:t>
            </a:r>
          </a:p>
          <a:p>
            <a:pPr>
              <a:spcAft>
                <a:spcPts val="400"/>
              </a:spcAft>
              <a:defRPr sz="1200">
                <a:solidFill>
                  <a:srgbClr val="0B1B2D"/>
                </a:solidFill>
              </a:defRPr>
            </a:pPr>
            <a:r>
              <a:t>8. Storage Gatekeeper menolak: token 1 &lt;= lastSeen 2 → ErrStaleFencingToken!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Pipeline koordinasi menunjukkan bagaimana kegagalan temporal ditangani secara deterministik. Tahap 1 hingga 2 memperlihatkan alur kerja normal di mana Node-A memenangkan election dan menulis sukses dengan token generasi 1. Pada tahap 3 hingga 5, Node-A mengalami pause melebihi batas TTL, memungkinkan coordinator melantik Node-B dengan token generasi 2 yang berhasil menulis ke storage. Saat Node-A tersadar di tahap 7 dan mencoba menulis dengan token 1, storage mengeksekusi fencing check dan menolak mutasi tersebut secara mutlak.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Coordinators manage failover transitions; storage gatekeepers enforce immutable monotonic ordering.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cmd/demo/main.go:15-77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Implementasi Gerbang Fencing di Shared Storage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Pemeriksaan atomik token &lt;= lastSeenToken di bawah perlindungan mutex pada storage.go.</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*FencedStorage) Write(author string, token int64, value string) error {</a:t>
            </a:r>
            <a:br/>
            <a:r>
              <a:t>    s.mu.Lock()</a:t>
            </a:r>
            <a:br/>
            <a:r>
              <a:t>    defer s.mu.Unlock()</a:t>
            </a:r>
            <a:br/>
            <a:br/>
            <a:r>
              <a:t>    if token &lt;= s.lastSeenToken {</a:t>
            </a:r>
            <a:br/>
            <a:r>
              <a:t>        return fmt.Errorf("%w: token %d &lt;= last seen %d (author: %s)",</a:t>
            </a:r>
            <a:br/>
            <a:r>
              <a:t>            ErrStaleFencingToken, token, s.lastSeenToken, author)</a:t>
            </a:r>
            <a:br/>
            <a:r>
              <a:t>    }</a:t>
            </a:r>
            <a:br/>
            <a:r>
              <a:t>    s.lastSeenToken = token</a:t>
            </a:r>
            <a:br/>
            <a:r>
              <a:t>    s.records = append(s.records, Record{FencingToken: token, Author: author, Value: value, Timestamp: time.Now()})</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Potongan kode ini merupakan inti pertahanan terhadap split-brain di seluruh arsitektur sistem. Method Write pada struct FencedStorage mengunci mutex untuk menjamin operasi check-and-set berlangsung secara linier dan atomik. Aturan validasi mengevaluasi apakah token yang disertakan bernilai lebih kecil atau sama dengan lastSeenToken. Jika ya, storage langsung menolak operasi dengan mengembalikan ErrStaleFencingToken. Hanya token yang strictly lebih besar yang diizinkan memperbarui lastSeenToken dan mencatat data mutasi.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Strict inequality incoming &gt; lastSeenToken turns disordered distributed writes into a monotonic stream.</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internal/storage/storage.go:33-49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Failure Path: Penolakan Stale Write Pascajeda GC</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Log terminal membuktikan Node-A ditolak setelah Node-B mengambil alih kepemimpinan.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TERMINAL FAILURE LOG</a:t>
            </a:r>
          </a:p>
          <a:p>
            <a:pPr>
              <a:spcAft>
                <a:spcPts val="400"/>
              </a:spcAft>
              <a:defRPr sz="1200">
                <a:solidFill>
                  <a:srgbClr val="0B1B2D"/>
                </a:solidFill>
              </a:defRPr>
            </a:pPr>
            <a:r>
              <a:t>• [4] Simulating Stop-the-World GC Pause / Network Partition on Node-A (350ms &gt; TTL 200ms)...</a:t>
            </a:r>
          </a:p>
          <a:p>
            <a:pPr>
              <a:spcAft>
                <a:spcPts val="400"/>
              </a:spcAft>
              <a:defRPr sz="1200">
                <a:solidFill>
                  <a:srgbClr val="0B1B2D"/>
                </a:solidFill>
              </a:defRPr>
            </a:pPr>
            <a:r>
              <a:t>• [5] Status after TTL expiration: Node-A=LEADER, Node-B=LEADER</a:t>
            </a:r>
          </a:p>
          <a:p>
            <a:pPr>
              <a:spcAft>
                <a:spcPts val="400"/>
              </a:spcAft>
              <a:defRPr sz="1200">
                <a:solidFill>
                  <a:srgbClr val="0B1B2D"/>
                </a:solidFill>
              </a:defRPr>
            </a:pPr>
            <a:r>
              <a:t>• [6] New Leader promoted: Node-B (Fencing Token: 2)</a:t>
            </a:r>
          </a:p>
          <a:p>
            <a:pPr>
              <a:spcAft>
                <a:spcPts val="400"/>
              </a:spcAft>
              <a:defRPr sz="1200">
                <a:solidFill>
                  <a:srgbClr val="0B1B2D"/>
                </a:solidFill>
              </a:defRPr>
            </a:pPr>
            <a:r>
              <a:t>• [7] New Leader Node-B performing fenced write...</a:t>
            </a:r>
          </a:p>
          <a:p>
            <a:pPr>
              <a:spcAft>
                <a:spcPts val="400"/>
              </a:spcAft>
              <a:defRPr sz="1200">
                <a:solidFill>
                  <a:srgbClr val="0B1B2D"/>
                </a:solidFill>
              </a:defRPr>
            </a:pPr>
            <a:r>
              <a:t>• Write SUCCESS by Node-B (Token 2)</a:t>
            </a:r>
          </a:p>
          <a:p>
            <a:pPr>
              <a:spcAft>
                <a:spcPts val="400"/>
              </a:spcAft>
              <a:defRPr sz="1200">
                <a:solidFill>
                  <a:srgbClr val="0B1B2D"/>
                </a:solidFill>
              </a:defRPr>
            </a:pPr>
            <a:r>
              <a:t>• [8] Old Leader Node-A wakes up from GC pause (still holding stale token 1)...</a:t>
            </a:r>
          </a:p>
          <a:p>
            <a:pPr>
              <a:spcAft>
                <a:spcPts val="400"/>
              </a:spcAft>
              <a:defRPr sz="1200">
                <a:solidFill>
                  <a:srgbClr val="0B1B2D"/>
                </a:solidFill>
              </a:defRPr>
            </a:pPr>
            <a:r>
              <a:t>• [9] Old Leader Node-A attempts write to shared storage using stale token 1...</a:t>
            </a:r>
          </a:p>
          <a:p>
            <a:pPr>
              <a:spcAft>
                <a:spcPts val="400"/>
              </a:spcAft>
              <a:defRPr sz="1200">
                <a:solidFill>
                  <a:srgbClr val="0B1B2D"/>
                </a:solidFill>
              </a:defRPr>
            </a:pPr>
            <a:r>
              <a:t>• Write REJECTED by FencedStorage: stale fencing token: rejected to prevent split-brain write: token 1 &lt;= last seen 2 (author: Node-A)</a:t>
            </a:r>
          </a:p>
          <a:p>
            <a:pPr>
              <a:defRPr sz="1200" b="1">
                <a:solidFill>
                  <a:srgbClr val="087F76"/>
                </a:solidFill>
              </a:defRPr>
            </a:pPr>
            <a:r>
              <a:t>ANALISIS KEGAGALAN</a:t>
            </a:r>
          </a:p>
          <a:p>
            <a:pPr>
              <a:spcAft>
                <a:spcPts val="400"/>
              </a:spcAft>
              <a:defRPr sz="1200">
                <a:solidFill>
                  <a:srgbClr val="0B1B2D"/>
                </a:solidFill>
              </a:defRPr>
            </a:pPr>
            <a:r>
              <a:t>• Pada baris [5], terjadi transient dual-leader: Node-A dan Node-B sama-sama berstatus LEADER.</a:t>
            </a:r>
          </a:p>
          <a:p>
            <a:pPr>
              <a:spcAft>
                <a:spcPts val="400"/>
              </a:spcAft>
              <a:defRPr sz="1200">
                <a:solidFill>
                  <a:srgbClr val="0B1B2D"/>
                </a:solidFill>
              </a:defRPr>
            </a:pPr>
            <a:r>
              <a:t>• Meskipun Node-A merasa sah, storage berhasil mendeteksi anomali generasi (token 1 &lt;= 2).</a:t>
            </a:r>
          </a:p>
          <a:p>
            <a:pPr>
              <a:spcAft>
                <a:spcPts val="400"/>
              </a:spcAft>
              <a:defRPr sz="1200">
                <a:solidFill>
                  <a:srgbClr val="0B1B2D"/>
                </a:solidFill>
              </a:defRPr>
            </a:pPr>
            <a:r>
              <a:t>• Shared storage history tetap bersih: hanya mencatat record dari generasi kepemimpinan yang valid.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Failure path konkret ini diambil langsung dari hasil eksekusi program demo lab. Pada langkah 4 hingga 5, Node-A dipause selama 350 milidetik, melampaui batas TTL 200 milidetik sehingga lease kedaluwarsa. Menariknya, sistem sempat berada pada kondisi transient dual-leader di mana kedua node menganggap dirinya sebagai LEADER aktif. Namun, saat Node-A terbangun dan mencoba menulis dengan token 1, lapisan penyimpanan menolak operasi tersebut secara seketika karena token 1 lebih kecil dari token 2 milik Node-B.</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Transient dual-leader states are inevitable in asynchronous networks; fencing tokens make them safe.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cmd/demo/main.go:61-75 • engineering/03-execution-result.md:61-70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Mekanisme vs Gejala: Evaluasi Solusi Koordinasi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Mengapa solusi parsial tetap menyisakan celah korupsi data pada kegagalan terdistribusi.</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Pendekatan</a:t>
                      </a:r>
                    </a:p>
                  </a:txBody>
                  <a:tcPr>
                    <a:solidFill>
                      <a:srgbClr val="0B1B2D"/>
                    </a:solidFill>
                  </a:tcPr>
                </a:tc>
                <a:tc>
                  <a:txBody>
                    <a:bodyPr/>
                    <a:lstStyle/>
                    <a:p>
                      <a:pPr>
                        <a:defRPr b="1" sz="1100">
                          <a:solidFill>
                            <a:srgbClr val="FFFFFF"/>
                          </a:solidFill>
                        </a:defRPr>
                      </a:pPr>
                      <a:r>
                        <a:t>Mekanisme Koordinasi</a:t>
                      </a:r>
                    </a:p>
                  </a:txBody>
                  <a:tcPr>
                    <a:solidFill>
                      <a:srgbClr val="0B1B2D"/>
                    </a:solidFill>
                  </a:tcPr>
                </a:tc>
                <a:tc>
                  <a:txBody>
                    <a:bodyPr/>
                    <a:lstStyle/>
                    <a:p>
                      <a:pPr>
                        <a:defRPr b="1" sz="1100">
                          <a:solidFill>
                            <a:srgbClr val="FFFFFF"/>
                          </a:solidFill>
                        </a:defRPr>
                      </a:pPr>
                      <a:r>
                        <a:t>Gejala / Failure Mode</a:t>
                      </a:r>
                    </a:p>
                  </a:txBody>
                  <a:tcPr>
                    <a:solidFill>
                      <a:srgbClr val="0B1B2D"/>
                    </a:solidFill>
                  </a:tcPr>
                </a:tc>
                <a:tc>
                  <a:txBody>
                    <a:bodyPr/>
                    <a:lstStyle/>
                    <a:p>
                      <a:pPr>
                        <a:defRPr b="1" sz="1100">
                          <a:solidFill>
                            <a:srgbClr val="FFFFFF"/>
                          </a:solidFill>
                        </a:defRPr>
                      </a:pPr>
                      <a:r>
                        <a:t>Garansi Split-Brain</a:t>
                      </a:r>
                    </a:p>
                  </a:txBody>
                  <a:tcPr>
                    <a:solidFill>
                      <a:srgbClr val="0B1B2D"/>
                    </a:solidFill>
                  </a:tcPr>
                </a:tc>
              </a:tr>
              <a:tr h="457200">
                <a:tc>
                  <a:txBody>
                    <a:bodyPr/>
                    <a:lstStyle/>
                    <a:p>
                      <a:pPr>
                        <a:defRPr sz="1000">
                          <a:solidFill>
                            <a:srgbClr val="0B1B2D"/>
                          </a:solidFill>
                        </a:defRPr>
                      </a:pPr>
                      <a:r>
                        <a:t>Heartbeat Naif</a:t>
                      </a:r>
                    </a:p>
                  </a:txBody>
                  <a:tcPr>
                    <a:solidFill>
                      <a:srgbClr val="FFFFFF"/>
                    </a:solidFill>
                  </a:tcPr>
                </a:tc>
                <a:tc>
                  <a:txBody>
                    <a:bodyPr/>
                    <a:lstStyle/>
                    <a:p>
                      <a:pPr>
                        <a:defRPr sz="1000">
                          <a:solidFill>
                            <a:srgbClr val="0B1B2D"/>
                          </a:solidFill>
                        </a:defRPr>
                      </a:pPr>
                      <a:r>
                        <a:t>Ping status via interval</a:t>
                      </a:r>
                    </a:p>
                  </a:txBody>
                  <a:tcPr>
                    <a:solidFill>
                      <a:srgbClr val="FFFFFF"/>
                    </a:solidFill>
                  </a:tcPr>
                </a:tc>
                <a:tc>
                  <a:txBody>
                    <a:bodyPr/>
                    <a:lstStyle/>
                    <a:p>
                      <a:pPr>
                        <a:defRPr sz="1000">
                          <a:solidFill>
                            <a:srgbClr val="0B1B2D"/>
                          </a:solidFill>
                        </a:defRPr>
                      </a:pPr>
                      <a:r>
                        <a:t>Network partition memicu dual-leader</a:t>
                      </a:r>
                    </a:p>
                  </a:txBody>
                  <a:tcPr>
                    <a:solidFill>
                      <a:srgbClr val="FFFFFF"/>
                    </a:solidFill>
                  </a:tcPr>
                </a:tc>
                <a:tc>
                  <a:txBody>
                    <a:bodyPr/>
                    <a:lstStyle/>
                    <a:p>
                      <a:pPr>
                        <a:defRPr sz="1000">
                          <a:solidFill>
                            <a:srgbClr val="0B1B2D"/>
                          </a:solidFill>
                        </a:defRPr>
                      </a:pPr>
                      <a:r>
                        <a:t>Tidak Aman (korupsi data)</a:t>
                      </a:r>
                    </a:p>
                  </a:txBody>
                  <a:tcPr>
                    <a:solidFill>
                      <a:srgbClr val="FFFFFF"/>
                    </a:solidFill>
                  </a:tcPr>
                </a:tc>
              </a:tr>
              <a:tr h="457200">
                <a:tc>
                  <a:txBody>
                    <a:bodyPr/>
                    <a:lstStyle/>
                    <a:p>
                      <a:pPr>
                        <a:defRPr sz="1000">
                          <a:solidFill>
                            <a:srgbClr val="0B1B2D"/>
                          </a:solidFill>
                        </a:defRPr>
                      </a:pPr>
                      <a:r>
                        <a:t>Lease TTL Murni</a:t>
                      </a:r>
                    </a:p>
                  </a:txBody>
                  <a:tcPr>
                    <a:solidFill>
                      <a:srgbClr val="FFFFFF"/>
                    </a:solidFill>
                  </a:tcPr>
                </a:tc>
                <a:tc>
                  <a:txBody>
                    <a:bodyPr/>
                    <a:lstStyle/>
                    <a:p>
                      <a:pPr>
                        <a:defRPr sz="1000">
                          <a:solidFill>
                            <a:srgbClr val="0B1B2D"/>
                          </a:solidFill>
                        </a:defRPr>
                      </a:pPr>
                      <a:r>
                        <a:t>Kunci kedaluwarsa otomatis</a:t>
                      </a:r>
                    </a:p>
                  </a:txBody>
                  <a:tcPr>
                    <a:solidFill>
                      <a:srgbClr val="FFFFFF"/>
                    </a:solidFill>
                  </a:tcPr>
                </a:tc>
                <a:tc>
                  <a:txBody>
                    <a:bodyPr/>
                    <a:lstStyle/>
                    <a:p>
                      <a:pPr>
                        <a:defRPr sz="1000">
                          <a:solidFill>
                            <a:srgbClr val="0B1B2D"/>
                          </a:solidFill>
                        </a:defRPr>
                      </a:pPr>
                      <a:r>
                        <a:t>GC pause memicu stale write pasca-wake</a:t>
                      </a:r>
                    </a:p>
                  </a:txBody>
                  <a:tcPr>
                    <a:solidFill>
                      <a:srgbClr val="FFFFFF"/>
                    </a:solidFill>
                  </a:tcPr>
                </a:tc>
                <a:tc>
                  <a:txBody>
                    <a:bodyPr/>
                    <a:lstStyle/>
                    <a:p>
                      <a:pPr>
                        <a:defRPr sz="1000">
                          <a:solidFill>
                            <a:srgbClr val="0B1B2D"/>
                          </a:solidFill>
                        </a:defRPr>
                      </a:pPr>
                      <a:r>
                        <a:t>Tidak Aman (TOCTOU gap)</a:t>
                      </a:r>
                    </a:p>
                  </a:txBody>
                  <a:tcPr>
                    <a:solidFill>
                      <a:srgbClr val="FFFFFF"/>
                    </a:solidFill>
                  </a:tcPr>
                </a:tc>
              </a:tr>
              <a:tr h="457200">
                <a:tc>
                  <a:txBody>
                    <a:bodyPr/>
                    <a:lstStyle/>
                    <a:p>
                      <a:pPr>
                        <a:defRPr sz="1000">
                          <a:solidFill>
                            <a:srgbClr val="0B1B2D"/>
                          </a:solidFill>
                        </a:defRPr>
                      </a:pPr>
                      <a:r>
                        <a:t>Distributed Lock</a:t>
                      </a:r>
                    </a:p>
                  </a:txBody>
                  <a:tcPr>
                    <a:solidFill>
                      <a:srgbClr val="FFFFFF"/>
                    </a:solidFill>
                  </a:tcPr>
                </a:tc>
                <a:tc>
                  <a:txBody>
                    <a:bodyPr/>
                    <a:lstStyle/>
                    <a:p>
                      <a:pPr>
                        <a:defRPr sz="1000">
                          <a:solidFill>
                            <a:srgbClr val="0B1B2D"/>
                          </a:solidFill>
                        </a:defRPr>
                      </a:pPr>
                      <a:r>
                        <a:t>Mutex terpusat (Redis SETNX)</a:t>
                      </a:r>
                    </a:p>
                  </a:txBody>
                  <a:tcPr>
                    <a:solidFill>
                      <a:srgbClr val="FFFFFF"/>
                    </a:solidFill>
                  </a:tcPr>
                </a:tc>
                <a:tc>
                  <a:txBody>
                    <a:bodyPr/>
                    <a:lstStyle/>
                    <a:p>
                      <a:pPr>
                        <a:defRPr sz="1000">
                          <a:solidFill>
                            <a:srgbClr val="0B1B2D"/>
                          </a:solidFill>
                        </a:defRPr>
                      </a:pPr>
                      <a:r>
                        <a:t>Lock lepas sebelum job tuntas</a:t>
                      </a:r>
                    </a:p>
                  </a:txBody>
                  <a:tcPr>
                    <a:solidFill>
                      <a:srgbClr val="FFFFFF"/>
                    </a:solidFill>
                  </a:tcPr>
                </a:tc>
                <a:tc>
                  <a:txBody>
                    <a:bodyPr/>
                    <a:lstStyle/>
                    <a:p>
                      <a:pPr>
                        <a:defRPr sz="1000">
                          <a:solidFill>
                            <a:srgbClr val="0B1B2D"/>
                          </a:solidFill>
                        </a:defRPr>
                      </a:pPr>
                      <a:r>
                        <a:t>Sebagian (hanya efisiensi)</a:t>
                      </a:r>
                    </a:p>
                  </a:txBody>
                  <a:tcPr>
                    <a:solidFill>
                      <a:srgbClr val="FFFFFF"/>
                    </a:solidFill>
                  </a:tcPr>
                </a:tc>
              </a:tr>
              <a:tr h="457200">
                <a:tc>
                  <a:txBody>
                    <a:bodyPr/>
                    <a:lstStyle/>
                    <a:p>
                      <a:pPr>
                        <a:defRPr sz="1000">
                          <a:solidFill>
                            <a:srgbClr val="0B1B2D"/>
                          </a:solidFill>
                        </a:defRPr>
                      </a:pPr>
                      <a:r>
                        <a:t>Lease + Fencing</a:t>
                      </a:r>
                    </a:p>
                  </a:txBody>
                  <a:tcPr>
                    <a:solidFill>
                      <a:srgbClr val="FFFFFF"/>
                    </a:solidFill>
                  </a:tcPr>
                </a:tc>
                <a:tc>
                  <a:txBody>
                    <a:bodyPr/>
                    <a:lstStyle/>
                    <a:p>
                      <a:pPr>
                        <a:defRPr sz="1000">
                          <a:solidFill>
                            <a:srgbClr val="0B1B2D"/>
                          </a:solidFill>
                        </a:defRPr>
                      </a:pPr>
                      <a:r>
                        <a:t>Monotonic revision + check-and-set</a:t>
                      </a:r>
                    </a:p>
                  </a:txBody>
                  <a:tcPr>
                    <a:solidFill>
                      <a:srgbClr val="FFFFFF"/>
                    </a:solidFill>
                  </a:tcPr>
                </a:tc>
                <a:tc>
                  <a:txBody>
                    <a:bodyPr/>
                    <a:lstStyle/>
                    <a:p>
                      <a:pPr>
                        <a:defRPr sz="1000">
                          <a:solidFill>
                            <a:srgbClr val="0B1B2D"/>
                          </a:solidFill>
                        </a:defRPr>
                      </a:pPr>
                      <a:r>
                        <a:t>Stale write dihentikan di resource</a:t>
                      </a:r>
                    </a:p>
                  </a:txBody>
                  <a:tcPr>
                    <a:solidFill>
                      <a:srgbClr val="FFFFFF"/>
                    </a:solidFill>
                  </a:tcPr>
                </a:tc>
                <a:tc>
                  <a:txBody>
                    <a:bodyPr/>
                    <a:lstStyle/>
                    <a:p>
                      <a:pPr>
                        <a:defRPr sz="1000">
                          <a:solidFill>
                            <a:srgbClr val="0B1B2D"/>
                          </a:solidFill>
                        </a:defRPr>
                      </a:pPr>
                      <a:r>
                        <a:t>Aman Mutlak (linierizable)</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membandingkan empat pendekatan koordinasi terdistribusi dalam menghadapi kegagalan jaringan dan runtime pause. Heartbeat naif dan lease TTL murni gagal melindungi integritas data karena keduanya rentan terhadap jeda eksekusi dan kondisi split-brain. Penggunaan distributed lock tanpa token urutan hanya cocok untuk optimalisasi efisiensi seperti deduplikasi job. Hanya penggabungan antara lease berbatas waktu dengan fencing token monotonik yang memberikan garansi keamanan mutlak pada level resource.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Locks optimize efficiency; monotonic fencing tokens protect data correctness.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research/03-mechanisms-and-leases.md • research/05-system-comparison-and-best-practices.md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3 Keputusan Desain Kritis Leader Election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Urutan keputusan arsitektur untuk membangun koordinasi terdistribusi yang tangguh.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1. MONOTONIC CLOCK FOR LEASES</a:t>
            </a:r>
          </a:p>
          <a:p>
            <a:pPr>
              <a:spcAft>
                <a:spcPts val="400"/>
              </a:spcAft>
              <a:defRPr sz="1200">
                <a:solidFill>
                  <a:srgbClr val="0B1B2D"/>
                </a:solidFill>
              </a:defRPr>
            </a:pPr>
            <a:r>
              <a:t>• Wajib gunakan time.Now() (monotonic reading) untuk evaluasi TTL dan renewal.</a:t>
            </a:r>
          </a:p>
          <a:p>
            <a:pPr>
              <a:spcAft>
                <a:spcPts val="400"/>
              </a:spcAft>
              <a:defRPr sz="1200">
                <a:solidFill>
                  <a:srgbClr val="0B1B2D"/>
                </a:solidFill>
              </a:defRPr>
            </a:pPr>
            <a:r>
              <a:t>• Mencegah anomali perpindahan waktu akibat sinkronisasi NTP step clock drift.</a:t>
            </a:r>
          </a:p>
          <a:p>
            <a:pPr>
              <a:spcAft>
                <a:spcPts val="400"/>
              </a:spcAft>
              <a:defRPr sz="1200">
                <a:solidFill>
                  <a:srgbClr val="0B1B2D"/>
                </a:solidFill>
              </a:defRPr>
            </a:pPr>
            <a:r>
              <a:t>• Terapkan interval renewal jauh lebih cepat dari TTL (contoh: renewRate &lt;= TTL / 3).</a:t>
            </a:r>
          </a:p>
          <a:p>
            <a:pPr>
              <a:defRPr sz="1200" b="1">
                <a:solidFill>
                  <a:srgbClr val="087F76"/>
                </a:solidFill>
              </a:defRPr>
            </a:pPr>
            <a:r>
              <a:t>2. STRICT MONOTONIC REVISION</a:t>
            </a:r>
          </a:p>
          <a:p>
            <a:pPr>
              <a:spcAft>
                <a:spcPts val="400"/>
              </a:spcAft>
              <a:defRPr sz="1200">
                <a:solidFill>
                  <a:srgbClr val="0B1B2D"/>
                </a:solidFill>
              </a:defRPr>
            </a:pPr>
            <a:r>
              <a:t>• Coordinator wajib mengincrement counter revision secara atomik di setiap lease baru.</a:t>
            </a:r>
          </a:p>
          <a:p>
            <a:pPr>
              <a:spcAft>
                <a:spcPts val="400"/>
              </a:spcAft>
              <a:defRPr sz="1200">
                <a:solidFill>
                  <a:srgbClr val="0B1B2D"/>
                </a:solidFill>
              </a:defRPr>
            </a:pPr>
            <a:r>
              <a:t>• Hindari penggunaan UUID atau hash acak karena tidak memiliki relasi urutan (ordering).</a:t>
            </a:r>
          </a:p>
          <a:p>
            <a:pPr>
              <a:spcAft>
                <a:spcPts val="400"/>
              </a:spcAft>
              <a:defRPr sz="1200">
                <a:solidFill>
                  <a:srgbClr val="0B1B2D"/>
                </a:solidFill>
              </a:defRPr>
            </a:pPr>
            <a:r>
              <a:t>• Renewal pada holder yang sama mempertahankan nilai token yang sudah ada.</a:t>
            </a:r>
          </a:p>
          <a:p>
            <a:pPr>
              <a:defRPr sz="1200" b="1">
                <a:solidFill>
                  <a:srgbClr val="087F76"/>
                </a:solidFill>
              </a:defRPr>
            </a:pPr>
            <a:r>
              <a:t>3. ATOMIC CHECK-AND-SET GATE</a:t>
            </a:r>
          </a:p>
          <a:p>
            <a:pPr>
              <a:spcAft>
                <a:spcPts val="400"/>
              </a:spcAft>
              <a:defRPr sz="1200">
                <a:solidFill>
                  <a:srgbClr val="0B1B2D"/>
                </a:solidFill>
              </a:defRPr>
            </a:pPr>
            <a:r>
              <a:t>• Storage wajib menegakkan aturan incomingToken &gt; lastSeenToken di bawah mutex/CAS.</a:t>
            </a:r>
          </a:p>
          <a:p>
            <a:pPr>
              <a:spcAft>
                <a:spcPts val="400"/>
              </a:spcAft>
              <a:defRPr sz="1200">
                <a:solidFill>
                  <a:srgbClr val="0B1B2D"/>
                </a:solidFill>
              </a:defRPr>
            </a:pPr>
            <a:r>
              <a:t>• Tolak operasi dengan status kode kesalahan eksplisit (ErrStaleFencingToken).</a:t>
            </a:r>
          </a:p>
          <a:p>
            <a:pPr>
              <a:spcAft>
                <a:spcPts val="400"/>
              </a:spcAft>
              <a:defRPr sz="1200">
                <a:solidFill>
                  <a:srgbClr val="0B1B2D"/>
                </a:solidFill>
              </a:defRPr>
            </a:pPr>
            <a:r>
              <a:t>• Simpan histori watermark generasi tertinggi yang pernah berhasil diterima.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Implementasi koordinasi yang aman bergantung pada tiga keputusan desain fundamental. Pertama, perhitungan masa berlaku lease harus menggunakan monotonic clock untuk menghindari disrupsi penyesuaian jam sistem via NTP. Kedua, setiap pergantian kepemimpinan wajib menerbitkan revision token yang monotonik naik; UUID acak dilarang karena tidak memiliki relasi urutan kausal. Ketiga, gerbang validasi di lapisan penyimpanan bersama harus mengimplementasikan check-and-set atomik yang menolak token yang tidak lebih besar.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Monotonic clocks measure duration; monotonic counters establish immutable authority sequence.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Bukti Eksekusi: Siklus Lengkap Election &amp; Fencing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langsung dari go run ./cmd/demo memperlihatkan transisi kepemimpinan dan integritas storage.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DEMO EXECUTION TRACE</a:t>
            </a:r>
          </a:p>
          <a:p>
            <a:pPr>
              <a:spcAft>
                <a:spcPts val="400"/>
              </a:spcAft>
              <a:defRPr sz="1200">
                <a:solidFill>
                  <a:srgbClr val="0B1B2D"/>
                </a:solidFill>
              </a:defRPr>
            </a:pPr>
            <a:r>
              <a:t>• === Distributed Leader Election with Fencing Tokens Demo ===</a:t>
            </a:r>
          </a:p>
          <a:p>
            <a:pPr>
              <a:spcAft>
                <a:spcPts val="400"/>
              </a:spcAft>
              <a:defRPr sz="1200">
                <a:solidFill>
                  <a:srgbClr val="0B1B2D"/>
                </a:solidFill>
              </a:defRPr>
            </a:pPr>
            <a:r>
              <a:t>• [1] Starting Node-A and Node-B election campaigns...</a:t>
            </a:r>
          </a:p>
          <a:p>
            <a:pPr>
              <a:spcAft>
                <a:spcPts val="400"/>
              </a:spcAft>
              <a:defRPr sz="1200">
                <a:solidFill>
                  <a:srgbClr val="0B1B2D"/>
                </a:solidFill>
              </a:defRPr>
            </a:pPr>
            <a:r>
              <a:t>• Status: Node-A=LEADER, Node-B=FOLLOWER</a:t>
            </a:r>
          </a:p>
          <a:p>
            <a:pPr>
              <a:spcAft>
                <a:spcPts val="400"/>
              </a:spcAft>
              <a:defRPr sz="1200">
                <a:solidFill>
                  <a:srgbClr val="0B1B2D"/>
                </a:solidFill>
              </a:defRPr>
            </a:pPr>
            <a:r>
              <a:t>• [2] Leader elected: Node-A (Fencing Token: 1)</a:t>
            </a:r>
          </a:p>
          <a:p>
            <a:pPr>
              <a:spcAft>
                <a:spcPts val="400"/>
              </a:spcAft>
              <a:defRPr sz="1200">
                <a:solidFill>
                  <a:srgbClr val="0B1B2D"/>
                </a:solidFill>
              </a:defRPr>
            </a:pPr>
            <a:r>
              <a:t>• [3] Node-A performing legitimate fenced write... Write SUCCESS by Node-A (Token 1)</a:t>
            </a:r>
          </a:p>
          <a:p>
            <a:pPr>
              <a:spcAft>
                <a:spcPts val="400"/>
              </a:spcAft>
              <a:defRPr sz="1200">
                <a:solidFill>
                  <a:srgbClr val="0B1B2D"/>
                </a:solidFill>
              </a:defRPr>
            </a:pPr>
            <a:r>
              <a:t>• [4] Simulating Stop-the-World GC Pause / Network Partition on Node-A (350ms &gt; TTL 200ms)...</a:t>
            </a:r>
          </a:p>
          <a:p>
            <a:pPr>
              <a:spcAft>
                <a:spcPts val="400"/>
              </a:spcAft>
              <a:defRPr sz="1200">
                <a:solidFill>
                  <a:srgbClr val="0B1B2D"/>
                </a:solidFill>
              </a:defRPr>
            </a:pPr>
            <a:r>
              <a:t>• [5] Status after TTL expiration: Node-A=LEADER, Node-B=LEADER</a:t>
            </a:r>
          </a:p>
          <a:p>
            <a:pPr>
              <a:spcAft>
                <a:spcPts val="400"/>
              </a:spcAft>
              <a:defRPr sz="1200">
                <a:solidFill>
                  <a:srgbClr val="0B1B2D"/>
                </a:solidFill>
              </a:defRPr>
            </a:pPr>
            <a:r>
              <a:t>• [6] New Leader promoted: Node-B (Fencing Token: 2)</a:t>
            </a:r>
          </a:p>
          <a:p>
            <a:pPr>
              <a:spcAft>
                <a:spcPts val="400"/>
              </a:spcAft>
              <a:defRPr sz="1200">
                <a:solidFill>
                  <a:srgbClr val="0B1B2D"/>
                </a:solidFill>
              </a:defRPr>
            </a:pPr>
            <a:r>
              <a:t>• [7] New Leader Node-B performing fenced write... Write SUCCESS by Node-B (Token 2)</a:t>
            </a:r>
          </a:p>
          <a:p>
            <a:pPr>
              <a:spcAft>
                <a:spcPts val="400"/>
              </a:spcAft>
              <a:defRPr sz="1200">
                <a:solidFill>
                  <a:srgbClr val="0B1B2D"/>
                </a:solidFill>
              </a:defRPr>
            </a:pPr>
            <a:r>
              <a:t>• [8] Old Leader Node-A wakes up from GC pause (still holding stale token 1)...</a:t>
            </a:r>
          </a:p>
          <a:p>
            <a:pPr>
              <a:spcAft>
                <a:spcPts val="400"/>
              </a:spcAft>
              <a:defRPr sz="1200">
                <a:solidFill>
                  <a:srgbClr val="0B1B2D"/>
                </a:solidFill>
              </a:defRPr>
            </a:pPr>
            <a:r>
              <a:t>• [9] Old Leader Node-A attempts write to shared storage using stale token 1...</a:t>
            </a:r>
          </a:p>
          <a:p>
            <a:pPr>
              <a:spcAft>
                <a:spcPts val="400"/>
              </a:spcAft>
              <a:defRPr sz="1200">
                <a:solidFill>
                  <a:srgbClr val="0B1B2D"/>
                </a:solidFill>
              </a:defRPr>
            </a:pPr>
            <a:r>
              <a:t>• Write REJECTED by FencedStorage: stale fencing token: rejected to prevent split-brain write: token 1 &lt;= last seen 2 (author: Node-A)</a:t>
            </a:r>
          </a:p>
          <a:p>
            <a:pPr>
              <a:spcAft>
                <a:spcPts val="400"/>
              </a:spcAft>
              <a:defRPr sz="1200">
                <a:solidFill>
                  <a:srgbClr val="0B1B2D"/>
                </a:solidFill>
              </a:defRPr>
            </a:pPr>
            <a:r>
              <a:t>• Result: Split-brain prevented! Old leader's stale write was safely rejected.</a:t>
            </a:r>
          </a:p>
          <a:p>
            <a:pPr>
              <a:spcAft>
                <a:spcPts val="400"/>
              </a:spcAft>
              <a:defRPr sz="1200">
                <a:solidFill>
                  <a:srgbClr val="0B1B2D"/>
                </a:solidFill>
              </a:defRPr>
            </a:pPr>
            <a:r>
              <a:t>• [10] Shared Storage History:</a:t>
            </a:r>
          </a:p>
          <a:p>
            <a:pPr>
              <a:spcAft>
                <a:spcPts val="400"/>
              </a:spcAft>
              <a:defRPr sz="1200">
                <a:solidFill>
                  <a:srgbClr val="0B1B2D"/>
                </a:solidFill>
              </a:defRPr>
            </a:pPr>
            <a:r>
              <a:t>•   1. Token: 1 | Author: Node-A | Value: record-from-initial-leader</a:t>
            </a:r>
          </a:p>
          <a:p>
            <a:pPr>
              <a:spcAft>
                <a:spcPts val="400"/>
              </a:spcAft>
              <a:defRPr sz="1200">
                <a:solidFill>
                  <a:srgbClr val="0B1B2D"/>
                </a:solidFill>
              </a:defRPr>
            </a:pPr>
            <a:r>
              <a:t>•   2. Token: 2 | Author: Node-B | Value: record-from-failover-leader</a:t>
            </a:r>
          </a:p>
          <a:p>
            <a:pPr>
              <a:spcAft>
                <a:spcPts val="400"/>
              </a:spcAft>
              <a:defRPr sz="1200">
                <a:solidFill>
                  <a:srgbClr val="0B1B2D"/>
                </a:solidFill>
              </a:defRPr>
            </a:pPr>
            <a:r>
              <a:t>• === Demo completed successfully ===</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Output terminal ini membuktikan bahwa seluruh siklus kepemimpinan berjalan sesuai spesifikasi desain. Node-A pertama kali dilantik dengan Token 1 dan berhasil menulis record pertama. Saat Node-A dibekukan selama 350 milidetik, Node-B mengambil alih kepemimpinan dengan Token 2 dan menulis record kedua. Ketika Node-A terbangun dan berusaha menulis dengan Token 1, sistem menolak operasi tersebut secara eksplisit. Riwayat penyimpanan bersama membuktikan hanya ada dua entri sah dan tidak ada data yang tertimpa oleh mutasi usang.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Terminal logs provide indisputable evidence: stale writes fail loudly, preserving storage state.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cmd/demo/main.go:1-78 • engineering/03-execution-result.md:52-77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YANG TIDAK DIBUKTIKAN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Batasan ruang lingkup laboratorium yang wajib dipahami sebelum implementasi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YANG TIDAK DIBUKTIKAN</a:t>
            </a:r>
          </a:p>
          <a:p>
            <a:pPr>
              <a:spcAft>
                <a:spcPts val="400"/>
              </a:spcAft>
              <a:defRPr sz="1200">
                <a:solidFill>
                  <a:srgbClr val="0B1B2D"/>
                </a:solidFill>
              </a:defRPr>
            </a:pPr>
            <a:r>
              <a:t>• Coordinator bersifat single-node in-memory; tidak membuktikan konsensus multi-node Raft riil.</a:t>
            </a:r>
          </a:p>
          <a:p>
            <a:pPr>
              <a:spcAft>
                <a:spcPts val="400"/>
              </a:spcAft>
              <a:defRPr sz="1200">
                <a:solidFill>
                  <a:srgbClr val="0B1B2D"/>
                </a:solidFill>
              </a:defRPr>
            </a:pPr>
            <a:r>
              <a:t>• Tidak menguji fault injeksi disk fisik, network loss paket parsial, atau Byzantine failures.</a:t>
            </a:r>
          </a:p>
          <a:p>
            <a:pPr>
              <a:spcAft>
                <a:spcPts val="400"/>
              </a:spcAft>
              <a:defRPr sz="1200">
                <a:solidFill>
                  <a:srgbClr val="0B1B2D"/>
                </a:solidFill>
              </a:defRPr>
            </a:pPr>
            <a:r>
              <a:t>• Clock offset diuji melalui manipulasi software; tidak menguji hardware clock skew ekstrem.</a:t>
            </a:r>
          </a:p>
          <a:p>
            <a:pPr>
              <a:spcAft>
                <a:spcPts val="400"/>
              </a:spcAft>
              <a:defRPr sz="1200">
                <a:solidFill>
                  <a:srgbClr val="0B1B2D"/>
                </a:solidFill>
              </a:defRPr>
            </a:pPr>
            <a:r>
              <a:t>• Storage diimplementasikan via in-memory sync.RWMutex; bukan PostgreSQL CAS atau etcd revision check.</a:t>
            </a:r>
          </a:p>
          <a:p>
            <a:pPr>
              <a:spcAft>
                <a:spcPts val="400"/>
              </a:spcAft>
              <a:defRPr sz="1200">
                <a:solidFill>
                  <a:srgbClr val="0B1B2D"/>
                </a:solidFill>
              </a:defRPr>
            </a:pPr>
            <a:r>
              <a:t>• Nilai waktu (TTL 200ms, renew 50ms) bersifat ilustratif lab; bukan panduan tuning produksi.</a:t>
            </a:r>
          </a:p>
          <a:p>
            <a:pPr>
              <a:spcAft>
                <a:spcPts val="400"/>
              </a:spcAft>
              <a:defRPr sz="1200">
                <a:solidFill>
                  <a:srgbClr val="0B1B2D"/>
                </a:solidFill>
              </a:defRPr>
            </a:pPr>
            <a:r>
              <a:t>• Tidak mencakup mekanisme automated fencing token compaction atau database sequence recycling.</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Klaim teknis dalam laboratorium ini dibatasi oleh parameter lingkungan pengujian yang disederhanakan. Coordinator yang digunakan berjalan in-memory di dalam satu proses Go, bukan kluster terdistribusi multi-node berbasis konsensus Raft seperti etcd atau Paxos. Uji coba tidak mensimulasikan kegagalan jaringan fisik nyata seperti packet loss berkala, korupsi hardware disk, atau perilaku Byzantine. Nilai parameter waktu seperti TTL 200 milidetik hanya dirancang untuk kecepatan eksekusi demo dan tidak boleh langsung diaplikasikan ke lingkungan produksi tanpa benchmarking p99 latency.</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Acknowledge lab constraints to avoid confusing conceptual proofs with production-grade topology.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labs/30-leader-election/content/01-content-brief.md • engineering-audit/06-verdict.md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Trade-off Arsitektur: Fencing vs Kompleksitas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Menilai biaya operasional penambahan gerbang fencing dibandingkan manfaat konsistensi data.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MANFAAT &amp; KEUNGGULAN</a:t>
            </a:r>
          </a:p>
          <a:p>
            <a:pPr>
              <a:spcAft>
                <a:spcPts val="400"/>
              </a:spcAft>
              <a:defRPr sz="1200">
                <a:solidFill>
                  <a:srgbClr val="0B1B2D"/>
                </a:solidFill>
              </a:defRPr>
            </a:pPr>
            <a:r>
              <a:t>• Jaminan Konsistensi Mutlak: Menghilangkan risiko split-brain write pada shared storage.</a:t>
            </a:r>
          </a:p>
          <a:p>
            <a:pPr>
              <a:spcAft>
                <a:spcPts val="400"/>
              </a:spcAft>
              <a:defRPr sz="1200">
                <a:solidFill>
                  <a:srgbClr val="0B1B2D"/>
                </a:solidFill>
              </a:defRPr>
            </a:pPr>
            <a:r>
              <a:t>• Decoupled Failure Recovery: Node baru dapat langsung menulis tanpa menunggu node lama mengonfirmasi mati.</a:t>
            </a:r>
          </a:p>
          <a:p>
            <a:pPr>
              <a:spcAft>
                <a:spcPts val="400"/>
              </a:spcAft>
              <a:defRPr sz="1200">
                <a:solidFill>
                  <a:srgbClr val="0B1B2D"/>
                </a:solidFill>
              </a:defRPr>
            </a:pPr>
            <a:r>
              <a:t>• Auditability: Setiap record memiliki fencing token yang merefleksikan generasi pemimpin penulis.</a:t>
            </a:r>
          </a:p>
          <a:p>
            <a:pPr>
              <a:defRPr sz="1200" b="1">
                <a:solidFill>
                  <a:srgbClr val="087F76"/>
                </a:solidFill>
              </a:defRPr>
            </a:pPr>
            <a:r>
              <a:t>KONSEKUENSI &amp; BIAYA</a:t>
            </a:r>
          </a:p>
          <a:p>
            <a:pPr>
              <a:spcAft>
                <a:spcPts val="400"/>
              </a:spcAft>
              <a:defRPr sz="1200">
                <a:solidFill>
                  <a:srgbClr val="0B1B2D"/>
                </a:solidFill>
              </a:defRPr>
            </a:pPr>
            <a:r>
              <a:t>• Modifikasi Storage Layer: Resource bersama wajib mendukung skema token dan check-and-set.</a:t>
            </a:r>
          </a:p>
          <a:p>
            <a:pPr>
              <a:spcAft>
                <a:spcPts val="400"/>
              </a:spcAft>
              <a:defRPr sz="1200">
                <a:solidFill>
                  <a:srgbClr val="0B1B2D"/>
                </a:solidFill>
              </a:defRPr>
            </a:pPr>
            <a:r>
              <a:t>• Failover Latency: Masa transisi pemimpin baru terikat pada durasi TTL lease yang dipilih.</a:t>
            </a:r>
          </a:p>
          <a:p>
            <a:pPr>
              <a:spcAft>
                <a:spcPts val="400"/>
              </a:spcAft>
              <a:defRPr sz="1200">
                <a:solidFill>
                  <a:srgbClr val="0B1B2D"/>
                </a:solidFill>
              </a:defRPr>
            </a:pPr>
            <a:r>
              <a:t>• Client Error Handling: Aplikasi klien wajib memiliki alur penanganan saat write ditolak ErrStaleFencingToken.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Penerapan fencing tokens menuntut kompromi arsitektural antara keamanan data dan kompleksitas sistem. Keunggulan utamanya adalah eliminasi total terhadap korupsi data akibat split-brain serta kemampuan failover tanpa perlu menunggu konfirmasi kematian node lama. Namun, biaya penerapannya tidak kecil: lapisan penyimpanan harus dimodifikasi agar mampu mengevaluasi token, waktu failover dibatasi oleh durasi TTL lease, dan klien aplikasi harus memiliki logika fallback ketika transaksi ditolak akibat token kedaluwarsa.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Safety requires storage collaboration; you trade write simplicity for bulletproof consistency.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Validasi Konkurensi: 5 Node Berlomba Rebut Lease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TestConcurrentElectionRace membuktikan linearitas coordinator: tepat 1 leader terpilih.</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TestConcurrentElectionRace(t *testing.T) {</a:t>
            </a:r>
            <a:br/>
            <a:r>
              <a:t>    coord := coordinator.New()</a:t>
            </a:r>
            <a:br/>
            <a:r>
              <a:t>    store := storage.New()</a:t>
            </a:r>
            <a:br/>
            <a:r>
              <a:t>    nodes := make([]*candidate.Node, 5)</a:t>
            </a:r>
            <a:br/>
            <a:r>
              <a:t>    for i := 0; i &lt; 5; i++ {</a:t>
            </a:r>
            <a:br/>
            <a:r>
              <a:t>        nodes[i] = candidate.NewNode(string(rune('A'+i)), "leader-lock", 100*time.Millisecond, 20*time.Millisecond, coord, store)</a:t>
            </a:r>
            <a:br/>
            <a:r>
              <a:t>        nodes[i].Start(ctx)</a:t>
            </a:r>
            <a:br/>
            <a:r>
              <a:t>    }</a:t>
            </a:r>
            <a:br/>
            <a:r>
              <a:t>    time.Sleep(100 * time.Millisecond)</a:t>
            </a:r>
            <a:br/>
            <a:r>
              <a:t>    // Assert: leaderCount == 1 di antara 5 node yang berlomba</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Uji konkurensi membuktikan ketahanan implementasi saat lima node kandidat mencoba mengakuisisi lease secara simultan. Coordinator memanfaatkan sync.Mutex internal untuk memastikan setiap pengecekan dan penetapan lease berjalan secara linearizable. Dalam pengujian TestConcurrentElectionRace, setelah 100 milidetik kompetisi intensif, tepat satu node berhasil dipromosikan menjadi LEADER sementara empat node lainnya tertahan sebagai FOLLOWER. Verifikasi dengan flag -race membuktikan tidak ada data race di seluruh memori proses.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Serialized coordinator primitives resolve concurrent contention into a single unambiguous leader.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tests/election_test.go:156-191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Before vs After: Evolusi Sistem Koordinasi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Transformasi dari koordinasi rapuh berbasis waktu lokal menuju arsitektur fenced mutlak.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BEFORE (LEASE TTL MURNI)</a:t>
            </a:r>
          </a:p>
          <a:p>
            <a:pPr>
              <a:spcAft>
                <a:spcPts val="400"/>
              </a:spcAft>
              <a:defRPr sz="1200">
                <a:solidFill>
                  <a:srgbClr val="0B1B2D"/>
                </a:solidFill>
              </a:defRPr>
            </a:pPr>
            <a:r>
              <a:t>• Koordinasi: Node mengandalkan local state check sebelum eksekusi.</a:t>
            </a:r>
          </a:p>
          <a:p>
            <a:pPr>
              <a:spcAft>
                <a:spcPts val="400"/>
              </a:spcAft>
              <a:defRPr sz="1200">
                <a:solidFill>
                  <a:srgbClr val="0B1B2D"/>
                </a:solidFill>
              </a:defRPr>
            </a:pPr>
            <a:r>
              <a:t>• Failure Mode: Stop-the-world pause memicu penulisan ganda pasca-wake.</a:t>
            </a:r>
          </a:p>
          <a:p>
            <a:pPr>
              <a:spcAft>
                <a:spcPts val="400"/>
              </a:spcAft>
              <a:defRPr sz="1200">
                <a:solidFill>
                  <a:srgbClr val="0B1B2D"/>
                </a:solidFill>
              </a:defRPr>
            </a:pPr>
            <a:r>
              <a:t>• Penyimpanan: Storage pasif menerima semua data tanpa validasi urutan.</a:t>
            </a:r>
          </a:p>
          <a:p>
            <a:pPr>
              <a:spcAft>
                <a:spcPts val="400"/>
              </a:spcAft>
              <a:defRPr sz="1200">
                <a:solidFill>
                  <a:srgbClr val="0B1B2D"/>
                </a:solidFill>
              </a:defRPr>
            </a:pPr>
            <a:r>
              <a:t>• Dampak: Korupsi data senyap dan state database tidak konsisten.</a:t>
            </a:r>
          </a:p>
          <a:p>
            <a:pPr>
              <a:defRPr sz="1200" b="1">
                <a:solidFill>
                  <a:srgbClr val="087F76"/>
                </a:solidFill>
              </a:defRPr>
            </a:pPr>
            <a:r>
              <a:t>AFTER (LEASE + FENCING TOKENS)</a:t>
            </a:r>
          </a:p>
          <a:p>
            <a:pPr>
              <a:spcAft>
                <a:spcPts val="400"/>
              </a:spcAft>
              <a:defRPr sz="1200">
                <a:solidFill>
                  <a:srgbClr val="0B1B2D"/>
                </a:solidFill>
              </a:defRPr>
            </a:pPr>
            <a:r>
              <a:t>• Koordinasi: Lease berbatas waktu dipadukan dengan revision counter monotonik.</a:t>
            </a:r>
          </a:p>
          <a:p>
            <a:pPr>
              <a:spcAft>
                <a:spcPts val="400"/>
              </a:spcAft>
              <a:defRPr sz="1200">
                <a:solidFill>
                  <a:srgbClr val="0B1B2D"/>
                </a:solidFill>
              </a:defRPr>
            </a:pPr>
            <a:r>
              <a:t>• Failure Mode: Leader lama terbangun, namun mutasinya otomatis ditolak.</a:t>
            </a:r>
          </a:p>
          <a:p>
            <a:pPr>
              <a:spcAft>
                <a:spcPts val="400"/>
              </a:spcAft>
              <a:defRPr sz="1200">
                <a:solidFill>
                  <a:srgbClr val="0B1B2D"/>
                </a:solidFill>
              </a:defRPr>
            </a:pPr>
            <a:r>
              <a:t>• Penyimpanan: Storage aktif memeriksa aturan incomingToken &gt; lastSeenToken.</a:t>
            </a:r>
          </a:p>
          <a:p>
            <a:pPr>
              <a:spcAft>
                <a:spcPts val="400"/>
              </a:spcAft>
              <a:defRPr sz="1200">
                <a:solidFill>
                  <a:srgbClr val="0B1B2D"/>
                </a:solidFill>
              </a:defRPr>
            </a:pPr>
            <a:r>
              <a:t>• Dampak: Integritas data terjamin 100% aman dari ancaman split-brain.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Perbandingan before-after ini menunjukkan pergeseran paradigma dalam menangani koordinasi terdistribusi. Sebelum menerapkan fencing tokens, sistem sangat rapuh terhadap jeda eksekusi karena penyimpanan mempercayai klaim kepemimpinan klien secara pasif. Akibatnya, jeda eksekusi leader lama dapat merusak data yang baru saja ditulis oleh leader pengganti. Setelah menerapkan arsitektur fencing, penyimpanan bersama bertindak sebagai filter aktif yang menjamin data tidak akan pernah tertimpa oleh mutasi yang berasal dari generasi kepemimpinan masa lalu.</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Before: passive storage vulnerable to split-brain. After: active fencing guarantees immutable epochs.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Test 1: Akuisisi, Renewal, dan Kedaluwarsa Lease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TestCoordinatorLeaseAcquisitionAndRenewal membuktikan siklus hidup lease di coordinator.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TestCoordinatorLeaseAcquisitionAndRenewal(t *testing.T) {</a:t>
            </a:r>
            <a:br/>
            <a:r>
              <a:t>    coord := coordinator.New()</a:t>
            </a:r>
            <a:br/>
            <a:r>
              <a:t>    ttl := 200 * time.Millisecond</a:t>
            </a:r>
            <a:br/>
            <a:r>
              <a:t>    lease1, err := coord.Acquire("leader-lock", "node-1", ttl)</a:t>
            </a:r>
            <a:br/>
            <a:r>
              <a:t>    // Assert: lease1.FencingToken == 1</a:t>
            </a:r>
            <a:br/>
            <a:r>
              <a:t>    _, err = coord.Acquire("leader-lock", "node-2", ttl)</a:t>
            </a:r>
            <a:br/>
            <a:r>
              <a:t>    // Assert: errors.Is(err, coordinator.ErrLeaseHeld)</a:t>
            </a:r>
            <a:br/>
            <a:r>
              <a:t>    time.Sleep(250 * time.Millisecond) // Lampaui TTL 200ms</a:t>
            </a:r>
            <a:br/>
            <a:r>
              <a:t>    lease2, err := coord.Acquire("leader-lock", "node-2", ttl)</a:t>
            </a:r>
            <a:br/>
            <a:r>
              <a:t>    // Assert: lease2.FencingToken == 2</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pertama membuktikan kebenaran siklus hidup lease pada modul coordinator. Node-1 berhasil memperoleh lease pertama dengan fencing token bernilai 1. Selama lease masih aktif, permintaan akuisisi dari Node-2 langsung ditolak dengan error ErrLeaseHeld. Operasi pembaruan berkala (Renew) terbukti memperpanjang masa berlaku lease tanpa menaikkan nilai token. Setelah dilakukan sleep selama 250 milidetik yang melampaui batas TTL 200 milidetik, lease kedaluwarsa secara otomatis dan Node-2 berhasil mengakuisisi lease dengan token 2.</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Lease renewal preserves the generation token; lease expiration monotonically advances it.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tests/election_test.go:14-56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Test 2: Storage Menolak Token Usang &amp; Duplikat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TestFencedStorageRejectsStaleTokens memverifikasi syarat strict inequality incoming &gt; lastSeen.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TestFencedStorageRejectsStaleTokens(t *testing.T) {</a:t>
            </a:r>
            <a:br/>
            <a:r>
              <a:t>    store := storage.New()</a:t>
            </a:r>
            <a:br/>
            <a:r>
              <a:t>    _ = store.Write("node-1", 10, "state-1") // Sukses: 10 &gt; 0</a:t>
            </a:r>
            <a:br/>
            <a:r>
              <a:t>    _ = store.Write("node-2", 11, "state-2") // Sukses: 11 &gt; 10</a:t>
            </a:r>
            <a:br/>
            <a:r>
              <a:t>    err1 := store.Write("node-1", 10, "stale-state")</a:t>
            </a:r>
            <a:br/>
            <a:r>
              <a:t>    // Assert: errors.Is(err1, storage.ErrStaleFencingToken)</a:t>
            </a:r>
            <a:br/>
            <a:r>
              <a:t>    err2 := store.Write("node-2", 11, "duplicate-token")</a:t>
            </a:r>
            <a:br/>
            <a:r>
              <a:t>    // Assert: errors.Is(err2, storage.ErrStaleFencingToken)</a:t>
            </a:r>
            <a:br/>
            <a:r>
              <a:t>    // Assert: len(store.History()) == 2 (mutasi ilegal tidak dicatat)</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kedua menguji ketatnya aturan validasi pada lapisan FencedStorage. Penyimpanan pertama kali menerima token 10, kemudian menerima token 11. Saat Node-1 mencoba menulis kembali dengan token 10, operasi ditolak karena 10 lebih kecil dari 11. Begitu pula saat Node-2 mencoba menulis ulang dengan token 11 yang identik, storage menolaknya karena aturan mensyaratkan token harus strictly lebih besar. Hasil pemeriksaan History() membuktikan riwayat penyimpanan hanya berisi tepat dua data yang sah dan menolak semua mutasi ilegal.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Strict inequality incomingToken &gt; lastSeenToken closes both stale replay and duplicate mutation vulnerabilities.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tests/election_test.go:58-85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Test 3: Failover Otomatis &amp; Pertahanan Split-Brain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TestLeaderElectionFailoverAndSplitBrainDefense membuktikan skenario GC pause end-to-end.</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1. Leader-1 terpilih dan menulis sukses dengan token1</a:t>
            </a:r>
            <a:br/>
            <a:r>
              <a:t>leader1.SimulatePause(250 * time.Millisecond) // Lebih lama dari TTL 150ms</a:t>
            </a:r>
            <a:br/>
            <a:r>
              <a:t>time.Sleep(200 * time.Millisecond)</a:t>
            </a:r>
            <a:br/>
            <a:r>
              <a:t>// 2. Leader-2 mengambil alih kepemimpinan dengan token2 &gt; token1</a:t>
            </a:r>
            <a:br/>
            <a:r>
              <a:t>err = leader2.PerformFencedWrite("leader-2-write") // SUKSES</a:t>
            </a:r>
            <a:br/>
            <a:r>
              <a:t>// 3. Leader-1 bangun dan mencoba menulis dengan token1 usang</a:t>
            </a:r>
            <a:br/>
            <a:r>
              <a:t>err = store.Write(leader1.ID(), token1, "stale-write-after-gc-pause")</a:t>
            </a:r>
            <a:br/>
            <a:r>
              <a:t>// Assert: errors.Is(err, storage.ErrStaleFencingToken)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Test ketiga mendemonstrasikan skenario inti split-brain yang dipecahkan oleh lab ini. Node leader pertama disimulasikan mengalami stop-the-world pause selama 250 milidetik, melampaui batas lease TTL 150 milidetik. Kandidat kedua mendeteksi kekosongan lease, mengambil alih kepemimpinan, dan sukses menulis dengan token 2. Ketika leader pertama bangun dan mencoba menulis ke storage menggunakan token 1 yang dipegangnya, operasi ditolak mentah-mentah dengan ErrStaleFencingToken. Tes ini mengonfirmasi pertahanan split-brain bekerja sempurna.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Simulated pause triggers clean failover; resumed stale leader is intercepted at storage boundary.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tests/election_test.go:87-154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Studi Kasus Industri: Mekanisme Fencing Nyata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sistem terdistribusi kelas dunia mengimplementasikan ordering tokens.</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SISTEM KOORDINASI MODERN</a:t>
            </a:r>
          </a:p>
          <a:p>
            <a:pPr>
              <a:spcAft>
                <a:spcPts val="400"/>
              </a:spcAft>
              <a:defRPr sz="1200">
                <a:solidFill>
                  <a:srgbClr val="0B1B2D"/>
                </a:solidFill>
              </a:defRPr>
            </a:pPr>
            <a:r>
              <a:t>• etcd v3: Menggunakan Lease TTL dipadukan dengan Revision Raft 64-bit sebagai fencing token bawaan.</a:t>
            </a:r>
          </a:p>
          <a:p>
            <a:pPr>
              <a:spcAft>
                <a:spcPts val="400"/>
              </a:spcAft>
              <a:defRPr sz="1200">
                <a:solidFill>
                  <a:srgbClr val="0B1B2D"/>
                </a:solidFill>
              </a:defRPr>
            </a:pPr>
            <a:r>
              <a:t>• Apache ZooKeeper: Menghasilkan Ephemeral Sequential Znodes; nomor urut zxid bertindak sebagai token.</a:t>
            </a:r>
          </a:p>
          <a:p>
            <a:pPr>
              <a:spcAft>
                <a:spcPts val="400"/>
              </a:spcAft>
              <a:defRPr sz="1200">
                <a:solidFill>
                  <a:srgbClr val="0B1B2D"/>
                </a:solidFill>
              </a:defRPr>
            </a:pPr>
            <a:r>
              <a:t>• Consul: Mengandalkan internal Raft sessions dengan Session TTL dan periodic health checks.</a:t>
            </a:r>
          </a:p>
          <a:p>
            <a:pPr>
              <a:defRPr sz="1200" b="1">
                <a:solidFill>
                  <a:srgbClr val="087F76"/>
                </a:solidFill>
              </a:defRPr>
            </a:pPr>
            <a:r>
              <a:t>DEBAT REDIS REDLOCK (KLEPPMANN VS ANTIREZ)</a:t>
            </a:r>
          </a:p>
          <a:p>
            <a:pPr>
              <a:spcAft>
                <a:spcPts val="400"/>
              </a:spcAft>
              <a:defRPr sz="1200">
                <a:solidFill>
                  <a:srgbClr val="0B1B2D"/>
                </a:solidFill>
              </a:defRPr>
            </a:pPr>
            <a:r>
              <a:t>• Martin Kleppmann (2016): Redlock tidak menghasilkan fencing token monotonik; rentan GC pause &amp; NTP jump.</a:t>
            </a:r>
          </a:p>
          <a:p>
            <a:pPr>
              <a:spcAft>
                <a:spcPts val="400"/>
              </a:spcAft>
              <a:defRPr sz="1200">
                <a:solidFill>
                  <a:srgbClr val="0B1B2D"/>
                </a:solidFill>
              </a:defRPr>
            </a:pPr>
            <a:r>
              <a:t>• Salvatore Sanfilippo (antirez): Redlock dirancang untuk timed lock praktis, bukan linearizable consensus.</a:t>
            </a:r>
          </a:p>
          <a:p>
            <a:pPr>
              <a:spcAft>
                <a:spcPts val="400"/>
              </a:spcAft>
              <a:defRPr sz="1200">
                <a:solidFill>
                  <a:srgbClr val="0B1B2D"/>
                </a:solidFill>
              </a:defRPr>
            </a:pPr>
            <a:r>
              <a:t>• Konsensus Industri: Jika resource tidak mendukung fencing check, Redlock tidak menjamin mutual exclusion mutlak.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Riset sistem terdistribusi menunjukkan kesepakatan luas tentang perlunya fencing tokens. etcd memanfaatkan nomor Raft Revision 64-bit yang selalu bertambah sebagai fencing token alami untuk setiap transaksi mutasi. Apache ZooKeeper menggunakan zxid dan urutan pembuatan ephemeral znode. Debat bersejarah antara Martin Kleppmann dan antirez mengenai algoritma Redis Redlock menegaskan prinsip utama: kunci terdistribusi tanpa fencing token monotonik hanya cukup untuk efisiensi sistem, bukan untuk keamanan data yang membutuhkan korektivitas mutlak.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Without monotonic fencing tokens at the storage boundary, distributed locks provide efficiency, not safety.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research/04-fencing-and-redlock.md • research/05-system-comparison-and-best-practices.md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Mengapa Lease Wajib Menggunakan Monotonic Clock?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Bahaya lompatan wall-clock akibat penyesuaian NTP terhadap perhitungan kedaluwarsa lease.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ANOMALI WALL-CLOCK (REAL-TIME)</a:t>
            </a:r>
          </a:p>
          <a:p>
            <a:pPr>
              <a:spcAft>
                <a:spcPts val="400"/>
              </a:spcAft>
              <a:defRPr sz="1200">
                <a:solidFill>
                  <a:srgbClr val="0B1B2D"/>
                </a:solidFill>
              </a:defRPr>
            </a:pPr>
            <a:r>
              <a:t>• Sinkronisasi waktu jaringan (NTP step) dapat memajukan atau memundurkan wall-clock sistem.</a:t>
            </a:r>
          </a:p>
          <a:p>
            <a:pPr>
              <a:spcAft>
                <a:spcPts val="400"/>
              </a:spcAft>
              <a:defRPr sz="1200">
                <a:solidFill>
                  <a:srgbClr val="0B1B2D"/>
                </a:solidFill>
              </a:defRPr>
            </a:pPr>
            <a:r>
              <a:t>• Jika jam melompat mundur: Lease dianggap aktif selamanya, mematikan kemampuan failover otomatis.</a:t>
            </a:r>
          </a:p>
          <a:p>
            <a:pPr>
              <a:spcAft>
                <a:spcPts val="400"/>
              </a:spcAft>
              <a:defRPr sz="1200">
                <a:solidFill>
                  <a:srgbClr val="0B1B2D"/>
                </a:solidFill>
              </a:defRPr>
            </a:pPr>
            <a:r>
              <a:t>• Jika jam melompat maju: Lease dianggap kedaluwarsa prematur saat leader masih sehat.</a:t>
            </a:r>
          </a:p>
          <a:p>
            <a:pPr>
              <a:defRPr sz="1200" b="1">
                <a:solidFill>
                  <a:srgbClr val="087F76"/>
                </a:solidFill>
              </a:defRPr>
            </a:pPr>
            <a:r>
              <a:t>GARANSI MONOTONIC CLOCK DI GO</a:t>
            </a:r>
          </a:p>
          <a:p>
            <a:pPr>
              <a:spcAft>
                <a:spcPts val="400"/>
              </a:spcAft>
              <a:defRPr sz="1200">
                <a:solidFill>
                  <a:srgbClr val="0B1B2D"/>
                </a:solidFill>
              </a:defRPr>
            </a:pPr>
            <a:r>
              <a:t>• time.Now() di Go membaca monotonic clock hardware secara otomatis untuk pengukuran durasi.</a:t>
            </a:r>
          </a:p>
          <a:p>
            <a:pPr>
              <a:spcAft>
                <a:spcPts val="400"/>
              </a:spcAft>
              <a:defRPr sz="1200">
                <a:solidFill>
                  <a:srgbClr val="0B1B2D"/>
                </a:solidFill>
              </a:defRPr>
            </a:pPr>
            <a:r>
              <a:t>• time.Since(start) dan now.Before(expiresAt) kebal terhadap manipulasi penyesuaian jam sistem.</a:t>
            </a:r>
          </a:p>
          <a:p>
            <a:pPr>
              <a:spcAft>
                <a:spcPts val="400"/>
              </a:spcAft>
              <a:defRPr sz="1200">
                <a:solidFill>
                  <a:srgbClr val="0B1B2D"/>
                </a:solidFill>
              </a:defRPr>
            </a:pPr>
            <a:r>
              <a:t>• Coordinator dan Candidate lab ini murni menggunakan durasi monotonik untuk semua logika TTL.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Penggunaan tipe jam yang tepat merupakan detail implementasi yang membedakan sistem amatir dari sistem kelas produksi. Wall-clock (jam dinding) dirancang untuk mencatat waktu kalender manusia dan dapat melompat mundur atau maju secara drastis saat terjadi penyesuaian NTP. Jika perhitungan lease bergantung pada wall-clock, lompatan waktu dapat memicu kegagalan fatal: failover palsu atau lease yang terkunci abadi. Go standard library mengatasi ini dengan menyematkan pembacaan monotonic hardware clock pada fungsi time.Now(), menjamin perhitungan durasi TTL selalu linier.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Wall-clocks tell human time and jump; monotonic clocks measure duration and never step backwards.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labs/30-leader-election/research/03-mechanisms-and-leases.md • internal/coordinator/coordinator.go:40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Implementasi Leader Election &amp; Fencing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9 poin verifikasi wajib sebelum menggelar sistem koordinasi ke lingkungan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CHECKLIST ARSITEKTUR KOORDINASI</a:t>
            </a:r>
          </a:p>
          <a:p>
            <a:pPr>
              <a:spcAft>
                <a:spcPts val="400"/>
              </a:spcAft>
              <a:defRPr sz="1200">
                <a:solidFill>
                  <a:srgbClr val="0B1B2D"/>
                </a:solidFill>
              </a:defRPr>
            </a:pPr>
            <a:r>
              <a:t>• [ ] Parameter TTL lease dikalibrasi berdasarkan observasi empiris p99 GC pause dan RTT jaringan.</a:t>
            </a:r>
          </a:p>
          <a:p>
            <a:pPr>
              <a:spcAft>
                <a:spcPts val="400"/>
              </a:spcAft>
              <a:defRPr sz="1200">
                <a:solidFill>
                  <a:srgbClr val="0B1B2D"/>
                </a:solidFill>
              </a:defRPr>
            </a:pPr>
            <a:r>
              <a:t>• [ ] Loop renewal diatur dengan frekuensi aman (renewRate &lt;= TTL / 3) dengan backoff terukur.</a:t>
            </a:r>
          </a:p>
          <a:p>
            <a:pPr>
              <a:spcAft>
                <a:spcPts val="400"/>
              </a:spcAft>
              <a:defRPr sz="1200">
                <a:solidFill>
                  <a:srgbClr val="0B1B2D"/>
                </a:solidFill>
              </a:defRPr>
            </a:pPr>
            <a:r>
              <a:t>• [ ] Semua perhitungan durasi lease dan renewal murni menggunakan monotonic clock.</a:t>
            </a:r>
          </a:p>
          <a:p>
            <a:pPr>
              <a:spcAft>
                <a:spcPts val="400"/>
              </a:spcAft>
              <a:defRPr sz="1200">
                <a:solidFill>
                  <a:srgbClr val="0B1B2D"/>
                </a:solidFill>
              </a:defRPr>
            </a:pPr>
            <a:r>
              <a:t>• [ ] Coordinator menghasilkan revision counter yang strictly monotonically increasing di setiap lease baru.</a:t>
            </a:r>
          </a:p>
          <a:p>
            <a:pPr>
              <a:spcAft>
                <a:spcPts val="400"/>
              </a:spcAft>
              <a:defRPr sz="1200">
                <a:solidFill>
                  <a:srgbClr val="0B1B2D"/>
                </a:solidFill>
              </a:defRPr>
            </a:pPr>
            <a:r>
              <a:t>• [ ] Pembaharuan lease (renew) oleh pemegang yang sama mempertahankan fencing token yang ada.</a:t>
            </a:r>
          </a:p>
          <a:p>
            <a:pPr>
              <a:spcAft>
                <a:spcPts val="400"/>
              </a:spcAft>
              <a:defRPr sz="1200">
                <a:solidFill>
                  <a:srgbClr val="0B1B2D"/>
                </a:solidFill>
              </a:defRPr>
            </a:pPr>
            <a:r>
              <a:t>• [ ] Shared resource (database/storage) mengimplementasikan check-and-set atomik (incoming &gt; lastSeen).</a:t>
            </a:r>
          </a:p>
          <a:p>
            <a:pPr>
              <a:spcAft>
                <a:spcPts val="400"/>
              </a:spcAft>
              <a:defRPr sz="1200">
                <a:solidFill>
                  <a:srgbClr val="0B1B2D"/>
                </a:solidFill>
              </a:defRPr>
            </a:pPr>
            <a:r>
              <a:t>• [ ] Permintaan tulis dengan token &lt;= lastSeenToken ditolak dengan error eksplisit yang dapat dipantau.</a:t>
            </a:r>
          </a:p>
          <a:p>
            <a:pPr>
              <a:spcAft>
                <a:spcPts val="400"/>
              </a:spcAft>
              <a:defRPr sz="1200">
                <a:solidFill>
                  <a:srgbClr val="0B1B2D"/>
                </a:solidFill>
              </a:defRPr>
            </a:pPr>
            <a:r>
              <a:t>• [ ] Metric alerting dipasang untuk mendeteksi lonjakan kejadian penolakan token basi (stale write spike).</a:t>
            </a:r>
          </a:p>
          <a:p>
            <a:pPr>
              <a:spcAft>
                <a:spcPts val="400"/>
              </a:spcAft>
              <a:defRPr sz="1200">
                <a:solidFill>
                  <a:srgbClr val="0B1B2D"/>
                </a:solidFill>
              </a:defRPr>
            </a:pPr>
            <a:r>
              <a:t>• [ ] Sistem aplikasi memahami batas antara timed lock untuk efisiensi vs linearizable fencing untuk keamanan.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Daftar periksa ini merangkum sembilan prinsip krusial yang wajib dipenuhi sebelum menerapkan sistem leader election di produksi. Penentuan batas waktu TTL dan laju renewal tidak boleh ditebak, melainkan harus diukur berdasarkan data empiris p99 latency jaringan dan durasi GC pause runtime. Coordinator wajib menyediakan nomor generasi monotonik, sementara shared storage wajib mengisolasi validasi token di balik operasi atomik. Setiap penolakan stale token harus dimonitor sebagai indikasi awal degradasi performa atau partisi jaringan.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Calibrate timeouts empirically, increment tokens monotonically, and enforce boundaries atomically.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labs/30-leader-election/content/02-master-draft.md:225-236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Kesalahan Desain yang Harus Dihindari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Kekeliruan arsitektur yang melumpuhkan jaminan keselamatan koordinasi terdistribusi.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ANTI-PATTERN UMUM</a:t>
            </a:r>
          </a:p>
          <a:p>
            <a:pPr>
              <a:spcAft>
                <a:spcPts val="400"/>
              </a:spcAft>
              <a:defRPr sz="1200">
                <a:solidFill>
                  <a:srgbClr val="0B1B2D"/>
                </a:solidFill>
              </a:defRPr>
            </a:pPr>
            <a:r>
              <a:t>• Fencing di Klien: Melakukan validasi token di memori klien sebelum memanggil storage (rentan TOCTOU).</a:t>
            </a:r>
          </a:p>
          <a:p>
            <a:pPr>
              <a:spcAft>
                <a:spcPts val="400"/>
              </a:spcAft>
              <a:defRPr sz="1200">
                <a:solidFill>
                  <a:srgbClr val="0B1B2D"/>
                </a:solidFill>
              </a:defRPr>
            </a:pPr>
            <a:r>
              <a:t>• Menerima Token Sama: Menggunakan syarat token &gt;= lastSeen membuka celah eksekusi mutasi ganda.</a:t>
            </a:r>
          </a:p>
          <a:p>
            <a:pPr>
              <a:spcAft>
                <a:spcPts val="400"/>
              </a:spcAft>
              <a:defRPr sz="1200">
                <a:solidFill>
                  <a:srgbClr val="0B1B2D"/>
                </a:solidFill>
              </a:defRPr>
            </a:pPr>
            <a:r>
              <a:t>• Token Non-Monotonik: Memakai UUID acak atau timestamp lokal yang tidak memiliki garansi urutan kausal.</a:t>
            </a:r>
          </a:p>
          <a:p>
            <a:pPr>
              <a:spcAft>
                <a:spcPts val="400"/>
              </a:spcAft>
              <a:defRPr sz="1200">
                <a:solidFill>
                  <a:srgbClr val="0B1B2D"/>
                </a:solidFill>
              </a:defRPr>
            </a:pPr>
            <a:r>
              <a:t>• Wall-Clock TTL: Menggunakan jam dinding sistem rentan manipulasi penyesuaian NTP clock skew.</a:t>
            </a:r>
          </a:p>
          <a:p>
            <a:pPr>
              <a:defRPr sz="1200" b="1">
                <a:solidFill>
                  <a:srgbClr val="087F76"/>
                </a:solidFill>
              </a:defRPr>
            </a:pPr>
            <a:r>
              <a:t>CARA REPRODUKSI GAGAL DI LAB</a:t>
            </a:r>
          </a:p>
          <a:p>
            <a:pPr>
              <a:spcAft>
                <a:spcPts val="400"/>
              </a:spcAft>
              <a:defRPr sz="1200">
                <a:solidFill>
                  <a:srgbClr val="0B1B2D"/>
                </a:solidFill>
              </a:defRPr>
            </a:pPr>
            <a:r>
              <a:t>• 1. Ubah internal/storage/storage.go baris 37 menjadi token &lt; s.lastSeenToken (izinkan token sama).</a:t>
            </a:r>
          </a:p>
          <a:p>
            <a:pPr>
              <a:spcAft>
                <a:spcPts val="400"/>
              </a:spcAft>
              <a:defRPr sz="1200">
                <a:solidFill>
                  <a:srgbClr val="0B1B2D"/>
                </a:solidFill>
              </a:defRPr>
            </a:pPr>
            <a:r>
              <a:t>• 2. Jalankan go test -v ./tests: TestFencedStorageRejectsStaleTokens langsung gagal pada duplicate check.</a:t>
            </a:r>
          </a:p>
          <a:p>
            <a:pPr>
              <a:spcAft>
                <a:spcPts val="400"/>
              </a:spcAft>
              <a:defRPr sz="1200">
                <a:solidFill>
                  <a:srgbClr val="0B1B2D"/>
                </a:solidFill>
              </a:defRPr>
            </a:pPr>
            <a:r>
              <a:t>• 3. Hapus validasi storage sama sekali: stale write dari Node-A akan menimpa histori sah milik Node-B!</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Mengabaikan prinsip dasar koordinasi dapat berakibat fatal bagi integritas data perusahaan. Anti-pattern yang paling sering dijumpai adalah memvalidasi status kepemimpinan di sisi klien aplikasi alih-alih di gerbang penyimpanan, membuka celah TOCTOU yang lebar. Mengizinkan token yang bernilai sama (menggunakan operator lebih besar atau sama dengan) juga merusak keunikan generasi pemimpin. Untuk membuktikannya di lab, kita cukup melonggarkan validasi di storage.go dan melihat unit test langsung mendeteksi pelanggaran keamanan.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Client-side checks are advisory; only server-side resource fencing guarantees mutual exclusion.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labs/30-leader-election/content/02-master-draft.md:206-213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Mandiri: Uji &amp; Jalankan Lab</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Reproduksi seluruh bukti teknis, benchmark race detector, dan demo interaktif di terminal Anda.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labs/30-leader-election</a:t>
            </a:r>
            <a:br/>
            <a:r>
              <a:t>go test -v ./...</a:t>
            </a:r>
            <a:br/>
            <a:r>
              <a:t>go test -race ./...</a:t>
            </a:r>
            <a:br/>
            <a:r>
              <a:t>go run ./cmd/demo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dirancang agar dapat diverifikasi secara mandiri dalam hitungan detik. Seluruh implementasi dibangun murni menggunakan standard library Go tanpa memerlukan server eksternal seperti Redis atau etcd. Perintah go test -v mengeksekusi empat pengujian komprehensif mulai dari siklus hidup lease hingga pertahanan split-brain. Perintah go test -race memvalidasi keamanan konkurensi di bawah beban goroutine intensif, dan go run demo menampilkan simulasi visual interaktif penolakan mutasi usang.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Zero-dependency standard library code enables instant, deterministic peer verification.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README.md:37-50 • engineering/03-execution-result.md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Arsitektur: Desain untuk Asinkronitas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Pelajaran abadi dalam merancang sistem terdistribusi yang tahan terhadap kegagalan parsial.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1. LEASE MEMBERIKAN EFISIENSI, BUKAN SAFETY</a:t>
            </a:r>
          </a:p>
          <a:p>
            <a:pPr>
              <a:spcAft>
                <a:spcPts val="400"/>
              </a:spcAft>
              <a:defRPr sz="1200">
                <a:solidFill>
                  <a:srgbClr val="0B1B2D"/>
                </a:solidFill>
              </a:defRPr>
            </a:pPr>
            <a:r>
              <a:t>• Lease berbatas waktu sangat baik untuk mencegah duplikasi pekerjaan komputasi.</a:t>
            </a:r>
          </a:p>
          <a:p>
            <a:pPr>
              <a:spcAft>
                <a:spcPts val="400"/>
              </a:spcAft>
              <a:defRPr sz="1200">
                <a:solidFill>
                  <a:srgbClr val="0B1B2D"/>
                </a:solidFill>
              </a:defRPr>
            </a:pPr>
            <a:r>
              <a:t>• Namun, lease tidak pernah cukup untuk menjamin integritas penulisan pada shared storage non-idempoten.</a:t>
            </a:r>
          </a:p>
          <a:p>
            <a:pPr>
              <a:defRPr sz="1200" b="1">
                <a:solidFill>
                  <a:srgbClr val="087F76"/>
                </a:solidFill>
              </a:defRPr>
            </a:pPr>
            <a:r>
              <a:t>2. RESOURCE ADALAH HAKIM TERTINGGI</a:t>
            </a:r>
          </a:p>
          <a:p>
            <a:pPr>
              <a:spcAft>
                <a:spcPts val="400"/>
              </a:spcAft>
              <a:defRPr sz="1200">
                <a:solidFill>
                  <a:srgbClr val="0B1B2D"/>
                </a:solidFill>
              </a:defRPr>
            </a:pPr>
            <a:r>
              <a:t>• Klien yang mengalami pause tidak pernah tahu bahwa dirinya sudah kedaluwarsa.</a:t>
            </a:r>
          </a:p>
          <a:p>
            <a:pPr>
              <a:spcAft>
                <a:spcPts val="400"/>
              </a:spcAft>
              <a:defRPr sz="1200">
                <a:solidFill>
                  <a:srgbClr val="0B1B2D"/>
                </a:solidFill>
              </a:defRPr>
            </a:pPr>
            <a:r>
              <a:t>• Hanya shared resource yang memiliki perspektif global untuk menolak instruksi usang melalui fencing.</a:t>
            </a:r>
          </a:p>
          <a:p>
            <a:pPr>
              <a:defRPr sz="1200" b="1">
                <a:solidFill>
                  <a:srgbClr val="087F76"/>
                </a:solidFill>
              </a:defRPr>
            </a:pPr>
            <a:r>
              <a:t>3. URUTAN GENERASI MENGALAHKAN ASUMSI WAKTU</a:t>
            </a:r>
          </a:p>
          <a:p>
            <a:pPr>
              <a:spcAft>
                <a:spcPts val="400"/>
              </a:spcAft>
              <a:defRPr sz="1200">
                <a:solidFill>
                  <a:srgbClr val="0B1B2D"/>
                </a:solidFill>
              </a:defRPr>
            </a:pPr>
            <a:r>
              <a:t>• Jangan pernah bergantung pada asumsi bahwa proses Anda akan selesai sebelum waktu T habis.</a:t>
            </a:r>
          </a:p>
          <a:p>
            <a:pPr>
              <a:spcAft>
                <a:spcPts val="400"/>
              </a:spcAft>
              <a:defRPr sz="1200">
                <a:solidFill>
                  <a:srgbClr val="0B1B2D"/>
                </a:solidFill>
              </a:defRPr>
            </a:pPr>
            <a:r>
              <a:t>• Gunakan nomor urut generasi (monotonic epoch) yang dapat divalidasi secara deterministik.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Tiga prinsip arsitektur ini berlaku universal di luar implementasi lab Go ini. Pertama, pahami bahwa lease berbasis waktu hanya memberikan timed mutual exclusion yang cocok untuk optimalisasi efisiensi, bukan keselamatan mutlak. Kedua, tempatkan gerbang keamanan di lapisan resource bersama karena proses klien yang membeku tidak memiliki kesadaran akan berlalunya waktu. Ketiga, gantikan asumsi waktu dengan urutan generasi eksplisit; nomor token yang monotonik naik memberikan jaminan kausalitas yang kebal terhadap jeda sistem terdistribusi.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Time is subjective in distributed systems; monotonic order at the resource is absolute truth.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labs/30-leader-election/content/05-key-takeaways.md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30</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Otoritas Terdistribusi Terjaga, Split-Brain Dicegah.</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Lease TTL grants temporal leadership; monotonic fencing tokens protect permanent storage.</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30 - Leader Election dengan Fencing Tokens</a:t>
            </a:r>
          </a:p>
          <a:p>
            <a:pPr>
              <a:defRPr sz="1200">
                <a:solidFill>
                  <a:srgbClr val="CBD5E1"/>
                </a:solidFill>
              </a:defRPr>
            </a:pPr>
            <a:r>
              <a:t>https://github.com/lukman-ss/software-engineering-lab/tree/main/labs/30-leader-election</a:t>
            </a:r>
          </a:p>
          <a:p>
            <a:br/>
            <a:pPr>
              <a:defRPr sz="1100" b="1">
                <a:solidFill>
                  <a:srgbClr val="20C997"/>
                </a:solidFill>
              </a:defRPr>
            </a:pPr>
            <a:r>
              <a:t>REPOSITORY</a:t>
            </a:r>
          </a:p>
          <a:p>
            <a:pPr>
              <a:defRPr sz="1100">
                <a:solidFill>
                  <a:srgbClr val="FFFFFF"/>
                </a:solidFill>
                <a:latin typeface="Courier New"/>
              </a:defRPr>
            </a:pPr>
            <a:r>
              <a:t>github.com/lukman-ss/software-engineering-lab/tree/main/labs/30-leader-election</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ba4b6216</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Leader Election dengan Fencing Tokens • Software Engineering Lab</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