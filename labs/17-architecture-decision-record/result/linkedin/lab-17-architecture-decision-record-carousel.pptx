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 Architecture Decision Record</a:t>
            </a:r>
          </a:p>
          <a:p/>
          <a:p>
            <a:r>
              <a:t>[]</a:t>
            </a:r>
          </a:p>
          <a:p>
            <a:r>
              <a:t>- DAG node tree showing ADR decision lineage with Superseded/Supersedes links</a:t>
            </a:r>
          </a:p>
          <a:p>
            <a:r>
              <a:t>- Three connected boxes: ADR 1 (Superseded) → ADR 2 (Accepted) ← ADR 3 (Rejected)</a:t>
            </a:r>
          </a:p>
          <a:p>
            <a:r>
              <a:t>- Penulis: Lukman / lukman-ss</a:t>
            </a:r>
          </a:p>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 Konteks Keputusan Arsitektur Hilang Tanpa Jejak</a:t>
            </a:r>
          </a:p>
          <a:p/>
          <a:p>
            <a:r>
              <a:t>Mental Model: Architectural context without structural records becomes tribal knowledge.</a:t>
            </a:r>
          </a:p>
          <a:p/>
          <a:p>
            <a:r>
              <a:t>[MASALAH NYATA]</a:t>
            </a:r>
          </a:p>
          <a:p>
            <a:r>
              <a:t>- Putaran architect merangkap code review: pertanyaan berulang 'kenapa kita pilih X?' di every PR.</a:t>
            </a:r>
          </a:p>
          <a:p>
            <a:r>
              <a:t>- Keputusan diambil via chat atau meeting, lalu tenggelam dalam commit history.</a:t>
            </a:r>
          </a:p>
          <a:p>
            <a:r>
              <a:t>- ADR lama tidak diperbarui saat sistem berubah; status dokumentasi drift dari kode aktual.</a:t>
            </a:r>
          </a:p>
          <a:p>
            <a:r>
              <a:t>[RISIKO BISNIS]</a:t>
            </a:r>
          </a:p>
          <a:p>
            <a:r>
              <a:t>- Re-debate arsitektur lama memakan waktu engineering sprint tanpa solusi baru.</a:t>
            </a:r>
          </a:p>
          <a:p>
            <a:r>
              <a:t>- Keputusan yang salah diterapkan karena engineer tidak mengetahui ADR penggantian.</a:t>
            </a:r>
          </a:p>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3: Review Markdown Manual Lupa Relasi Penggantian</a:t>
            </a:r>
          </a:p>
          <a:p/>
          <a:p>
            <a:r>
              <a:t>Mental Model: Manual review catches content errors but misses structural relation gaps.</a:t>
            </a:r>
          </a:p>
          <a:p/>
          <a:p>
            <a:r>
              <a:t>[KEGAGALAN REVIEW MANUAL]</a:t>
            </a:r>
          </a:p>
          <a:p>
            <a:r>
              <a:t>- ADR 1 tetap berstatus 'Accepted' padahal sudah diganti ADR 2 — lupa di-update.</a:t>
            </a:r>
          </a:p>
          <a:p>
            <a:r>
              <a:t>- ADR 2 menulis 'Supersedes: 1', tapi ADR 1 tidak pernah dicatat 'Superseded by 2'.</a:t>
            </a:r>
          </a:p>
          <a:p>
            <a:r>
              <a:t>- Penomoran loncat: ADR 1, ADR 3 langsung — engineer lupa insert ADR 2.</a:t>
            </a:r>
          </a:p>
          <a:p>
            <a:r>
              <a:t>- Status informal seperti 'Draft', 'In Review' diterima tanpa penolakan.</a:t>
            </a:r>
          </a:p>
          <a:p>
            <a:r>
              <a:t>[CONTOH KASUS NYATA]</a:t>
            </a:r>
          </a:p>
          <a:p>
            <a:r>
              <a:t>- ADR 1 ber-status Superseded by 99, padahal ADR 99 belum pernah dibuat.</a:t>
            </a:r>
          </a:p>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4: ADR Bukan Dokumen, Tapi Record yang Bisa Dicek</a:t>
            </a:r>
          </a:p>
          <a:p/>
          <a:p>
            <a:r>
              <a:t>Mental Model: ADR is structured data first, human narrative second; validation catches what humans miss.</a:t>
            </a:r>
          </a:p>
          <a:p/>
          <a:p>
            <a:r>
              <a:t>[PRINSIP PENTING]</a:t>
            </a:r>
          </a:p>
          <a:p>
            <a:r>
              <a:t>- ADR diolah sebagai data, bukan sekadar teks human-readable.</a:t>
            </a:r>
          </a:p>
          <a:p>
            <a:r>
              <a:t>- Parser mengekstrak ID, Title, Status, SupersededBy, Supersedes, Content.</a:t>
            </a:r>
          </a:p>
          <a:p>
            <a:r>
              <a:t>- Linter memvalidasi aturan: monotonik ID, valid status, relasi timbal-balik.</a:t>
            </a:r>
          </a:p>
          <a:p>
            <a:r>
              <a:t>- Keputusan arsitektur tetap ditulis manusiawi; mesin hanya memeriksa format.</a:t>
            </a:r>
          </a:p>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5: Pipeline: Markdown → Parser → Records → Linter</a:t>
            </a:r>
          </a:p>
          <a:p/>
          <a:p>
            <a:r>
              <a:t>Mental Model: Pipeline separates parsing from validation: each stage has a single responsibility.</a:t>
            </a:r>
          </a:p>
          <a:p/>
          <a:p>
            <a:r>
              <a:t>[ARCHITECTURE FLOW]</a:t>
            </a:r>
          </a:p>
          <a:p>
            <a:r>
              <a:t>- [Markdown ADR Text] → adr.Parser (Regex extraction: ID, Title, Status, refs)</a:t>
            </a:r>
          </a:p>
          <a:p>
            <a:r>
              <a:t>- → []*adr.Record (In-Memory Structs)</a:t>
            </a:r>
          </a:p>
          <a:p>
            <a:r>
              <a:t>- → adr.Linter.Validate(records)</a:t>
            </a:r>
          </a:p>
          <a:p>
            <a:r>
              <a:t>-   ├─ Monotonic numbering check: sort + sequential scan</a:t>
            </a:r>
          </a:p>
          <a:p>
            <a:r>
              <a:t>-   ├─ Cycle detection: DFS with visiting/visited states</a:t>
            </a:r>
          </a:p>
          <a:p>
            <a:r>
              <a:t>-   └─ Bidirectional lineage: goroutines + sync.Mutex per-record validation</a:t>
            </a:r>
          </a:p>
          <a:p>
            <a:r>
              <a:t>- → []error (empty = valid, non-empty = integrity breach)</a:t>
            </a:r>
          </a:p>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6: Struct Record: Definisi Inti ADR</a:t>
            </a:r>
          </a:p>
          <a:p/>
          <a:p>
            <a:r>
              <a:t>Mental Model: Explicit fields over implicit conventions make structural validation possible.</a:t>
            </a:r>
          </a:p>
          <a:p/>
          <a:p>
            <a:r>
              <a:t>[MODELS.GO]</a:t>
            </a:r>
          </a:p>
          <a:p>
            <a:r>
              <a:t>- type Status string</a:t>
            </a:r>
          </a:p>
          <a:p>
            <a:r>
              <a:t>- </a:t>
            </a:r>
          </a:p>
          <a:p>
            <a:r>
              <a:t>- const (</a:t>
            </a:r>
          </a:p>
          <a:p>
            <a:r>
              <a:t>-     StatusProposed   Status = "Proposed"</a:t>
            </a:r>
          </a:p>
          <a:p>
            <a:r>
              <a:t>-     StatusAccepted   Status = "Accepted"</a:t>
            </a:r>
          </a:p>
          <a:p>
            <a:r>
              <a:t>-     StatusSuperseded Status = "Superseded"</a:t>
            </a:r>
          </a:p>
          <a:p>
            <a:r>
              <a:t>-     StatusDeprecated Status = "Deprecated"</a:t>
            </a:r>
          </a:p>
          <a:p>
            <a:r>
              <a:t>-     StatusRejected   Status = "Rejected"</a:t>
            </a:r>
          </a:p>
          <a:p>
            <a:r>
              <a:t>- )</a:t>
            </a:r>
          </a:p>
          <a:p>
            <a:r>
              <a:t>- </a:t>
            </a:r>
          </a:p>
          <a:p>
            <a:r>
              <a:t>- type Record struct {</a:t>
            </a:r>
          </a:p>
          <a:p>
            <a:r>
              <a:t>-     ID           int</a:t>
            </a:r>
          </a:p>
          <a:p>
            <a:r>
              <a:t>-     Title        string</a:t>
            </a:r>
          </a:p>
          <a:p>
            <a:r>
              <a:t>-     Status       Status</a:t>
            </a:r>
          </a:p>
          <a:p>
            <a:r>
              <a:t>-     SupersededBy int // 0 if not superseded</a:t>
            </a:r>
          </a:p>
          <a:p>
            <a:r>
              <a:t>-     Supersedes   int // 0 if does not supersede</a:t>
            </a:r>
          </a:p>
          <a:p>
            <a:r>
              <a:t>-     Content      string</a:t>
            </a:r>
          </a:p>
          <a:p>
            <a:r>
              <a:t>- }</a:t>
            </a:r>
          </a:p>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7: Supersesi Patah: ADR 1 Merujuk ke ADR 99</a:t>
            </a:r>
          </a:p>
          <a:p/>
          <a:p>
            <a:r>
              <a:t>Mental Model: A dangling reference is cheaper to catch at lint time than during an architectural review.</a:t>
            </a:r>
          </a:p>
          <a:p/>
          <a:p>
            <a:r>
              <a:t>[TEST CASE: broken_references]</a:t>
            </a:r>
          </a:p>
          <a:p>
            <a:r>
              <a:t>- superseded points to non-existent:</a:t>
            </a:r>
          </a:p>
          <a:p>
            <a:r>
              <a:t>-   ADR 1: Status Superseded by 99</a:t>
            </a:r>
          </a:p>
          <a:p>
            <a:r>
              <a:t>-   → Error: superseded by non-existent ADR 99</a:t>
            </a:r>
          </a:p>
          <a:p>
            <a:r>
              <a:t>- </a:t>
            </a:r>
          </a:p>
          <a:p>
            <a:r>
              <a:t>- supersedes points to non-existent:</a:t>
            </a:r>
          </a:p>
          <a:p>
            <a:r>
              <a:t>-   ADR 1: Status Accepted, Supersedes: 99</a:t>
            </a:r>
          </a:p>
          <a:p>
            <a:r>
              <a:t>-   → Error: supersedes non-existent ADR 99</a:t>
            </a:r>
          </a:p>
          <a:p>
            <a:r>
              <a:t>[BUKTI DARI TEST]</a:t>
            </a:r>
          </a:p>
          <a:p>
            <a:r>
              <a:t>- TestLinter_BrokenReferences / superseded points to non-existent → PASS</a:t>
            </a:r>
          </a:p>
          <a:p>
            <a:r>
              <a:t>- TestLinter_BrokenReferences / supersedes points to non-existent → PASS</a:t>
            </a:r>
          </a:p>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8: Biaya Tersembunyi: Lineage Drift Tanpa Deteksi</a:t>
            </a:r>
          </a:p>
          <a:p/>
          <a:p>
            <a:r>
              <a:t>Mental Model: Unverified lineage drift accumulates silently until a production decision depends on it.</a:t>
            </a:r>
          </a:p>
          <a:p/>
          <a:p>
            <a:r>
              <a:t>[DRIFT PATTERN]</a:t>
            </a:r>
          </a:p>
          <a:p>
            <a:r>
              <a:t>- Time to detect | Cause | Impact</a:t>
            </a:r>
          </a:p>
          <a:p>
            <a:r>
              <a:t>- Instant (CI) | Linter reject di PR | Build gagal, engineer feedback loop cepat</a:t>
            </a:r>
          </a:p>
          <a:p>
            <a:r>
              <a:t>- Mingguan | Manual audit dokumentasi | Engineer kebingungan siapa yang aktif</a:t>
            </a:r>
          </a:p>
          <a:p>
            <a:r>
              <a:t>- Bulanan | Production incident review | Tim kehilangan konteks keputusan penting</a:t>
            </a:r>
          </a:p>
          <a:p>
            <a:r>
              <a:t>- Selamanya | Keputusan salah diterapkan | Sistem berkembang dengan asumsi keliru</a:t>
            </a:r>
          </a:p>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9: Setup Eksperimen: 3 ADR Evolusi Arsitektur</a:t>
            </a:r>
          </a:p>
          <a:p/>
          <a:p>
            <a:r>
              <a:t>Mental Model: Three ADRs capture one realistic architectural evolution path with valid lineage.</a:t>
            </a:r>
          </a:p>
          <a:p/>
          <a:p>
            <a:r>
              <a:t>[ADR SEQUENCE]</a:t>
            </a:r>
          </a:p>
          <a:p>
            <a:r>
              <a:t>- ADR 0001: Use Modular Monolith for Core SaaS ERP | Status: Superseded by 2</a:t>
            </a:r>
          </a:p>
          <a:p>
            <a:r>
              <a:t>- ADR 0002: Extract Notification Service to Microservice | Status: Accepted, Supersedes: 1</a:t>
            </a:r>
          </a:p>
          <a:p>
            <a:r>
              <a:t>- ADR 0003: Reject Event Sourcing for Order Management | Status: Rejected</a:t>
            </a:r>
          </a:p>
          <a:p>
            <a:r>
              <a:t>- </a:t>
            </a:r>
          </a:p>
          <a:p>
            <a:r>
              <a:t>- Test suite: parser_test.go (valid + superseded + supersedes + invalid cases)</a:t>
            </a:r>
          </a:p>
          <a:p>
            <a:r>
              <a:t>- Test suite: linter_test.go (valid sequence + 7 broken reference scenarios + concurrency)</a:t>
            </a:r>
          </a:p>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10: Output Demo: Parsing Berhasil, Linter Lolos</a:t>
            </a:r>
          </a:p>
          <a:p/>
          <a:p>
            <a:r>
              <a:t>Mental Model: Clean linter output confirms structural consistency, not architectural correctness.</a:t>
            </a:r>
          </a:p>
          <a:p/>
          <a:p>
            <a:r>
              <a:t>[CLI OUTPUT]</a:t>
            </a:r>
          </a:p>
          <a:p>
            <a:r>
              <a:t>- $ go run ./cmd/demo</a:t>
            </a:r>
          </a:p>
          <a:p>
            <a:r>
              <a:t>- === Architecture Decision Record (ADR) Lab ===</a:t>
            </a:r>
          </a:p>
          <a:p>
            <a:r>
              <a:t>- Successfully parsed 3 ADRs:</a:t>
            </a:r>
          </a:p>
          <a:p>
            <a:r>
              <a:t>-   - [0001] Use Modular Monolith for Core SaaS ERP | Status: Superseded -&gt; Superseded by ADR 2</a:t>
            </a:r>
          </a:p>
          <a:p>
            <a:r>
              <a:t>-   - [0002] Extract Notification Service to Microservice  | Status: Accepted   -&gt; Supersedes ADR 1</a:t>
            </a:r>
          </a:p>
          <a:p>
            <a:r>
              <a:t>-   - [0003] Reject Event Sourcing for Order Management    | Status: Rejected  </a:t>
            </a:r>
          </a:p>
          <a:p>
            <a:r>
              <a:t>- </a:t>
            </a:r>
          </a:p>
          <a:p>
            <a:r>
              <a:t>- Running ADR Integrity Linter...</a:t>
            </a:r>
          </a:p>
          <a:p>
            <a:r>
              <a:t>- Integrity check passed! Decision lineage and lifecycle invariants are intact.</a:t>
            </a:r>
          </a:p>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11: Apa Artinya Linter Passed di Lab Ini?</a:t>
            </a:r>
          </a:p>
          <a:p/>
          <a:p>
            <a:r>
              <a:t>Mental Model: Linter passing is necessary but not sufficient for architectural soundness.</a:t>
            </a:r>
          </a:p>
          <a:p/>
          <a:p>
            <a:r>
              <a:t>[YANG DIBUKTIKAN]</a:t>
            </a:r>
          </a:p>
          <a:p>
            <a:r>
              <a:t>- Format parsing: judul, status, dan tautan supersesi terstruktur dengan benar.</a:t>
            </a:r>
          </a:p>
          <a:p>
            <a:r>
              <a:t>- Monotonik: ID 1, 2, 3 berurutan tanpa celah.</a:t>
            </a:r>
          </a:p>
          <a:p>
            <a:r>
              <a:t>- Bidirectional: ADR 1 ↔ ADR 2 memiliki tautan timbal-balik yang lengkap.</a:t>
            </a:r>
          </a:p>
          <a:p>
            <a:r>
              <a:t>- Cycle-free: tidak ada sirkuit dalam graf supersesi.</a:t>
            </a:r>
          </a:p>
          <a:p>
            <a:r>
              <a:t>[YANG TIDAK DIBUKTIKAN]</a:t>
            </a:r>
          </a:p>
          <a:p>
            <a:r>
              <a:t>- Kebenaran keputusan arsitektur di dalam field Content.</a:t>
            </a:r>
          </a:p>
          <a:p>
            <a:r>
              <a:t>- Apakah ADR 1 seharusnya benar-benar digantikan ADR 2 di dunia nyata.</a:t>
            </a:r>
          </a:p>
          <a:p>
            <a:r>
              <a:t>- Kesiapan sistem untuk production deployment.</a:t>
            </a:r>
          </a:p>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12: Trade-off: Enforced Structure vs Dokumentasi Fleksibel</a:t>
            </a:r>
          </a:p>
          <a:p/>
          <a:p>
            <a:r>
              <a:t>Mental Model: Structure enforcement gains verification reliability at the cost of narrative flexibility.</a:t>
            </a:r>
          </a:p>
          <a:p/>
          <a:p>
            <a:r>
              <a:t>[ENFORCED STRUCTURE (Lab Ini)]</a:t>
            </a:r>
          </a:p>
          <a:p>
            <a:r>
              <a:t>- Regex-based parsing memaksa format fixed (## Context, ## Decision, ## Consequences).</a:t>
            </a:r>
          </a:p>
          <a:p>
            <a:r>
              <a:t>- Status wajib dari 5 enum resmi; status informal ditolak parser.</a:t>
            </a:r>
          </a:p>
          <a:p>
            <a:r>
              <a:t>- Supersedes/SupersededBy wajib konsisten secara timbal-balik.</a:t>
            </a:r>
          </a:p>
          <a:p>
            <a:r>
              <a:t>[FLEKSIBILITAS YANG DILEWATI]</a:t>
            </a:r>
          </a:p>
          <a:p>
            <a:r>
              <a:t>- Tidak mendukung ADR yang memerlukan struktur sub-section kustom di luar 3 section wajib.</a:t>
            </a:r>
          </a:p>
          <a:p>
            <a:r>
              <a:t>- Tidak memvalidasi kualitas argumen dalam section Decision.</a:t>
            </a:r>
          </a:p>
          <a:p>
            <a:r>
              <a:t>- Tidak menangani kasus ADR multi-author atau decision yang melibatkan beberapa sub-system.</a:t>
            </a:r>
          </a:p>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13: Validasi Paralel: Goroutine + Mutex untuk Agregasi Error</a:t>
            </a:r>
          </a:p>
          <a:p/>
          <a:p>
            <a:r>
              <a:t>Mental Model: Per-record goroutine with mutex aggregation scales validation without shared-state races.</a:t>
            </a:r>
          </a:p>
          <a:p/>
          <a:p>
            <a:r>
              <a:t>[CONCURRENT VALIDATION PATTERN]</a:t>
            </a:r>
          </a:p>
          <a:p>
            <a:r>
              <a:t>- var wg sync.WaitGroup</a:t>
            </a:r>
          </a:p>
          <a:p>
            <a:r>
              <a:t>- for _, r := range records {</a:t>
            </a:r>
          </a:p>
          <a:p>
            <a:r>
              <a:t>-     wg.Add(1)</a:t>
            </a:r>
          </a:p>
          <a:p>
            <a:r>
              <a:t>-     go func(rec *Record) {</a:t>
            </a:r>
          </a:p>
          <a:p>
            <a:r>
              <a:t>-         defer wg.Done()</a:t>
            </a:r>
          </a:p>
          <a:p>
            <a:r>
              <a:t>-         var localErrs []error</a:t>
            </a:r>
          </a:p>
          <a:p>
            <a:r>
              <a:t>-         // ... validate rec, append localErrs ...</a:t>
            </a:r>
          </a:p>
          <a:p>
            <a:r>
              <a:t>-         if len(localErrs) &gt; 0 {</a:t>
            </a:r>
          </a:p>
          <a:p>
            <a:r>
              <a:t>-             mu.Lock(); errs = append(errs, localErrs...); mu.Unlock()</a:t>
            </a:r>
          </a:p>
          <a:p>
            <a:r>
              <a:t>-         }</a:t>
            </a:r>
          </a:p>
          <a:p>
            <a:r>
              <a:t>-     }(r)</a:t>
            </a:r>
          </a:p>
          <a:p>
            <a:r>
              <a:t>- }</a:t>
            </a:r>
          </a:p>
          <a:p>
            <a:r>
              <a:t>- wg.Wait()</a:t>
            </a:r>
          </a:p>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14: Before vs After: Otomasi Linter Menghilangkan Human Error</a:t>
            </a:r>
          </a:p>
          <a:p/>
          <a:p>
            <a:r>
              <a:t>Mental Model: Automation closes mechanical review gaps that human reviewers consistently miss.</a:t>
            </a:r>
          </a:p>
          <a:p/>
          <a:p>
            <a:r>
              <a:t>[SEBELUM LINTER (Manual)]</a:t>
            </a:r>
          </a:p>
          <a:p>
            <a:r>
              <a:t>- Lineage break: ADR 1 Superseded by 2, ADR 2 tidak memiliki Supersedes: 1 → TIDAK TERDETEKSI</a:t>
            </a:r>
          </a:p>
          <a:p>
            <a:r>
              <a:t>- Non-monotonic ID: ADR 1, ADR 3 meloncat → TIDAK TERDETEKSI selagi tidak inspect semua file</a:t>
            </a:r>
          </a:p>
          <a:p>
            <a:r>
              <a:t>- Invalid status 'Draft' masuk ke repo → TIDAK TERDETEKSI oleh regex sederhana</a:t>
            </a:r>
          </a:p>
          <a:p>
            <a:r>
              <a:t>- Self-supersession: ADR 1 Superseded by 1 → TIDAK TERDETEKSI</a:t>
            </a:r>
          </a:p>
          <a:p>
            <a:r>
              <a:t>[SESUDAH LINTER (Automated)]</a:t>
            </a:r>
          </a:p>
          <a:p>
            <a:r>
              <a:t>- Semua kasus di atas ditolak oleh TestLinter_BrokenReferences dalam &lt;1ms</a:t>
            </a:r>
          </a:p>
          <a:p>
            <a:r>
              <a:t>- CI gate menolak merge jika linter menemukan error</a:t>
            </a:r>
          </a:p>
          <a:p>
            <a:r>
              <a:t>- Concurrent stress test membuktikan tidak ada race pada agregasi error</a:t>
            </a:r>
          </a:p>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15: Batasan Lab: Validasi Format, Bukan Kualitas Keputusan</a:t>
            </a:r>
          </a:p>
          <a:p/>
          <a:p>
            <a:r>
              <a:t>Mental Model: Format validation ensures structural integrity; it does not evaluate architectural soundness.</a:t>
            </a:r>
          </a:p>
          <a:p/>
          <a:p>
            <a:r>
              <a:t>[YANG DILAKUKAN LAB]</a:t>
            </a:r>
          </a:p>
          <a:p>
            <a:r>
              <a:t>- Parsing teks Markdown ke struct Record dengan regex.</a:t>
            </a:r>
          </a:p>
          <a:p>
            <a:r>
              <a:t>- Memvalidasi urutan ID monotonik dan uniqueness.</a:t>
            </a:r>
          </a:p>
          <a:p>
            <a:r>
              <a:t>- Memeriksa konsistensi timbal-balik SupersededBy ↔ Supersedes.</a:t>
            </a:r>
          </a:p>
          <a:p>
            <a:r>
              <a:t>- Mendeteksi siklus dalam graf supersesi.</a:t>
            </a:r>
          </a:p>
          <a:p>
            <a:r>
              <a:t>[YANG TIDAK DILAKUKAN LAB]</a:t>
            </a:r>
          </a:p>
          <a:p>
            <a:r>
              <a:t>- Tidak menilai kualitas argumen di dalam section Decision.</a:t>
            </a:r>
          </a:p>
          <a:p>
            <a:r>
              <a:t>- Tidak memverifikasi apakah ADR cocok dengan implementasi kode aktual.</a:t>
            </a:r>
          </a:p>
          <a:p>
            <a:r>
              <a:t>- Tidak memeriksa apakah engineer sudah mendapatkan approval stakeholder sebelum Accepted.</a:t>
            </a:r>
          </a:p>
          <a:p>
            <a:r>
              <a:t>- Simulasi ini tidak sama dengan production ADR management system seperti ADRtool atau Architect.js.</a:t>
            </a:r>
          </a:p>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16: Edge Case: Keputusan Dibatalkan Tanpa ADR Baru</a:t>
            </a:r>
          </a:p>
          <a:p/>
          <a:p>
            <a:r>
              <a:t>Mental Model: Silent feature deletion without Deprecated ADR creates documentation-reality gap.</a:t>
            </a:r>
          </a:p>
          <a:p/>
          <a:p>
            <a:r>
              <a:t>[SKENARIO EDGE CASE]</a:t>
            </a:r>
          </a:p>
          <a:p>
            <a:r>
              <a:t>- ADR X berstatus Accepted, tapi tim memutuskan berhenti menggunakan fitur tersebut.</a:t>
            </a:r>
          </a:p>
          <a:p>
            <a:r>
              <a:t>- Tanpa ADR baru, status ADR X tetap Accepted —误导 engineer lain以为 masih relevan.</a:t>
            </a:r>
          </a:p>
          <a:p>
            <a:r>
              <a:t>- Solusi: buat ADR baru berstatus Deprecated merujuk ke alasan penghentian.</a:t>
            </a:r>
          </a:p>
          <a:p>
            <a:r>
              <a:t>- Kegagalan: engineer menghapus file ADR langsung → lineage history hilang.</a:t>
            </a:r>
          </a:p>
          <a:p>
            <a:r>
              <a:t>[REKOMENDASI PRODUKSI]</a:t>
            </a:r>
          </a:p>
          <a:p>
            <a:r>
              <a:t>- Wajibkan policy tim: setiap penghentian fitur memerlukan ADR Deprecated baru.</a:t>
            </a:r>
          </a:p>
          <a:p>
            <a:r>
              <a:t>- Linter bisa diperluas untuk mendeteksi ADR Accepted yang tidak memiliki successor dalam 12 bulan.</a:t>
            </a:r>
          </a:p>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17: Apa yang Dibuktikan Oleh Test Suite</a:t>
            </a:r>
          </a:p>
          <a:p/>
          <a:p>
            <a:r>
              <a:t>Mental Model: Test coverage proves structural invariants on defined scenarios, not all possible production states.</a:t>
            </a:r>
          </a:p>
          <a:p/>
          <a:p>
            <a:r>
              <a:t>[PARSER TESTS (parser_test.go)]</a:t>
            </a:r>
          </a:p>
          <a:p>
            <a:r>
              <a:t>- TestParse_Valid: ID=1, Status=Accepted → PASS</a:t>
            </a:r>
          </a:p>
          <a:p>
            <a:r>
              <a:t>- TestParse_Superseded: SupersededBy=2 berhasil diekstrak → PASS</a:t>
            </a:r>
          </a:p>
          <a:p>
            <a:r>
              <a:t>- TestParse_Supersedes: Supersedes=1 berhasil diekstrak → PASS</a:t>
            </a:r>
          </a:p>
          <a:p>
            <a:r>
              <a:t>- TestParse_Invalid: missing_title, missing_status, invalid_status, empty sections → semua PASS</a:t>
            </a:r>
          </a:p>
          <a:p>
            <a:r>
              <a:t>[LINTER TESTS (linter_test.go)]</a:t>
            </a:r>
          </a:p>
          <a:p>
            <a:r>
              <a:t>- TestLinter_ValidSequence: 3 ADR valid, zero errors → PASS</a:t>
            </a:r>
          </a:p>
          <a:p>
            <a:r>
              <a:t>- TestLinter_BrokenReferences: 7 sub-case (non-existent ref, mismatch, non-monotonic, self-super, duplicate ID, cyclical) → semua PASS</a:t>
            </a:r>
          </a:p>
          <a:p>
            <a:r>
              <a:t>- TestLinter_ConcurrencyStress: concurrent validation, no data race → PASS</a:t>
            </a:r>
          </a:p>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18: Apa yang Tidak Dibuktikan Oleh Test Suite</a:t>
            </a:r>
          </a:p>
          <a:p/>
          <a:p>
            <a:r>
              <a:t>Mental Model: Unit tests prove behavior on defined inputs; they do not guarantee production behavior.</a:t>
            </a:r>
          </a:p>
          <a:p/>
          <a:p>
            <a:r>
              <a:t>[BUKAN BUKNIT TEST]</a:t>
            </a:r>
          </a:p>
          <a:p>
            <a:r>
              <a:t>- Kebenaran konten arsitektur di dalam section Decision dan Consequences.</a:t>
            </a:r>
          </a:p>
          <a:p>
            <a:r>
              <a:t>- Adopsi ADR oleh seluruh anggota tim sesuai format yang ditetapkan.</a:t>
            </a:r>
          </a:p>
          <a:p>
            <a:r>
              <a:t>- Integrasi linter dengan CI/CD pipeline (hanya test Go murni, bukan GitHub Actions).</a:t>
            </a:r>
          </a:p>
          <a:p>
            <a:r>
              <a:t>- Skalabilitas linter pada ribuan ADR (hanya 3 record dalam demo, 3-7 dalam test).</a:t>
            </a:r>
          </a:p>
          <a:p>
            <a:r>
              <a:t>[SIMULASI IN-MEMORY]</a:t>
            </a:r>
          </a:p>
          <a:p>
            <a:r>
              <a:t>- Parser bekerja pada string literal, bukan file system read dari ribuan dokumen Markdown.</a:t>
            </a:r>
          </a:p>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19: Risiko Produksi: False Confidence dari Linter Hijau</a:t>
            </a:r>
          </a:p>
          <a:p/>
          <a:p>
            <a:r>
              <a:t>Mental Model: A green linter pass validates structure, not wisdom. Human review remains irreplaceable.</a:t>
            </a:r>
          </a:p>
          <a:p/>
          <a:p>
            <a:r>
              <a:t>[FALSE POSITIVE RISKS]</a:t>
            </a:r>
          </a:p>
          <a:p>
            <a:r>
              <a:t>- Tim percaya ADR collection-nya 'bersih' hanya karena linter passing, padahal argumen Decision lemah.</a:t>
            </a:r>
          </a:p>
          <a:p>
            <a:r>
              <a:t>- Engineer bisa mengisi Content dengan placeholder kosong selama section ada → linter tetap passing.</a:t>
            </a:r>
          </a:p>
          <a:p>
            <a:r>
              <a:t>- Policy tim yang tidak enforcing bisa di-skip tanpa konsekuensi jika gate CI tidak dipasang.</a:t>
            </a:r>
          </a:p>
          <a:p>
            <a:r>
              <a:t>[MITIGASI]</a:t>
            </a:r>
          </a:p>
          <a:p>
            <a:r>
              <a:t>- Tambah human review checkpoint: ADR Accepted wajib ditinjau architecture board.</a:t>
            </a:r>
          </a:p>
          <a:p>
            <a:r>
              <a:t>- Validasi minimum content length pada section Context dan Decision.</a:t>
            </a:r>
          </a:p>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20: Implementation Checklist: Menerapkan ADR Linter di Tim</a:t>
            </a:r>
          </a:p>
          <a:p/>
          <a:p>
            <a:r>
              <a:t>Mental Model: Checklist ensures consistent adoption; culture change ensures sustained compliance.</a:t>
            </a:r>
          </a:p>
          <a:p/>
          <a:p>
            <a:r>
              <a:t>[CHECKLIST LANGKAH]</a:t>
            </a:r>
          </a:p>
          <a:p>
            <a:r>
              <a:t>- [ ] Define ADR template Markdown dengan 3 section wajib: Context, Decision, Consequences.</a:t>
            </a:r>
          </a:p>
          <a:p>
            <a:r>
              <a:t>- [ ] Implement parser regex yang mengekstrak ID, Title, Status, SupersededBy, Supersedes.</a:t>
            </a:r>
          </a:p>
          <a:p>
            <a:r>
              <a:t>- [ ] Tambahkan status enum valid (Proposed, Accepted, Superseded, Deprecated, Rejected).</a:t>
            </a:r>
          </a:p>
          <a:p>
            <a:r>
              <a:t>- [ ] Implement linter dengan validasi monotonik + bidirectional supersession + cycle detection.</a:t>
            </a:r>
          </a:p>
          <a:p>
            <a:r>
              <a:t>- [ ] Integrasikan ke CI/CD: go test ./... atau custom binary di PR gate.</a:t>
            </a:r>
          </a:p>
          <a:p>
            <a:r>
              <a:t>- [ ] Dokumentasikan policy tim: setiap perubahan keputusan wajib ADR baru, bukan edit retroaktif.</a:t>
            </a:r>
          </a:p>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21: Anti-Pattern: 5 Kebiasaan Buruk Saat Mengadopsi ADR</a:t>
            </a:r>
          </a:p>
          <a:p/>
          <a:p>
            <a:r>
              <a:t>Mental Model: ADR anti-patterns are cultural; linter catches structural symptoms, not behavioral roots.</a:t>
            </a:r>
          </a:p>
          <a:p/>
          <a:p>
            <a:r>
              <a:t>[ANTI-PATTERN SERING TERJADI]</a:t>
            </a:r>
          </a:p>
          <a:p>
            <a:r>
              <a:t>- Mengklik ADR untuk segala hal: refactor kecil, penamaan variabel → noise berlebihan.</a:t>
            </a:r>
          </a:p>
          <a:p>
            <a:r>
              <a:t>- Mengedit ADR yang sudah Accepted secara silent, tanpa membuat ADR baru (retroactive edit).</a:t>
            </a:r>
          </a:p>
          <a:p>
            <a:r>
              <a:t>- Menulis ADR hanya sebagai catatan meeting tanpa section Decision yang eksplisit.</a:t>
            </a:r>
          </a:p>
          <a:p>
            <a:r>
              <a:t>- Status 'Draft' bertahan terlalu lama tanpa transisi ke Accepted atau Rejected.</a:t>
            </a:r>
          </a:p>
          <a:p>
            <a:r>
              <a:t>- Melupakan update SupersededBy pada ADR lama saat ADR baru dibuat.</a:t>
            </a:r>
          </a:p>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22: Reproduksi Mandiri: Jalankan Demo dan Test di Lokal</a:t>
            </a:r>
          </a:p>
          <a:p/>
          <a:p>
            <a:r>
              <a:t>Mental Model: Zero-dependency Go standard library ensures instant reproduction on any machine.</a:t>
            </a:r>
          </a:p>
          <a:p/>
          <a:p>
            <a:r>
              <a:t>[COMMAND RUNNER]</a:t>
            </a:r>
          </a:p>
          <a:p>
            <a:r>
              <a:t>- cd labs/17-architecture-decision-record</a:t>
            </a:r>
          </a:p>
          <a:p>
            <a:r>
              <a:t>- go test -v ./...</a:t>
            </a:r>
          </a:p>
          <a:p>
            <a:r>
              <a:t>- go test -race ./...</a:t>
            </a:r>
          </a:p>
          <a:p>
            <a:r>
              <a:t>- go run ./cmd/demo</a:t>
            </a:r>
          </a:p>
          <a:p>
            <a:r>
              <a:t>[EXPECTED OUTPUT]</a:t>
            </a:r>
          </a:p>
          <a:p>
            <a:r>
              <a:t>- TestParse_*: semua PASS</a:t>
            </a:r>
          </a:p>
          <a:p>
            <a:r>
              <a:t>- TestLinter_*: semua PASS (14 sub-case total)</a:t>
            </a:r>
          </a:p>
          <a:p>
            <a:r>
              <a:t>- go test -race: race detector clean</a:t>
            </a:r>
          </a:p>
          <a:p>
            <a:r>
              <a:t>- Demo: 3 ADR parsed, Integrity check passed</a:t>
            </a:r>
          </a:p>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23: ADR Diubah Jadi Data yang Bisa Dicek, Bukan Hanya Dokumen</a:t>
            </a:r>
          </a:p>
          <a:p/>
          <a:p>
            <a:r>
              <a:t>Mental Model: Structured validation catches what human review consistently misses: mechanical relation gaps.</a:t>
            </a:r>
          </a:p>
          <a:p/>
          <a:p>
            <a:r>
              <a:t>[PELAJARAN REKAYASA]</a:t>
            </a:r>
          </a:p>
          <a:p>
            <a:r>
              <a:t>- ADR yang diparse menjadi struct Record memungkinkan validasi otomatis yang tidak bisa dilakukan humans dengan andal.</a:t>
            </a:r>
          </a:p>
          <a:p>
            <a:r>
              <a:t>- Bidirectional supersession link adalah invarian yang paling sering rusak; linter menangkapnya di detik pertama.</a:t>
            </a:r>
          </a:p>
          <a:p>
            <a:r>
              <a:t>- Konkurensi goroutine + mutex pattern untuk error aggregation adalah reusable pattern untuk validation framework lain.</a:t>
            </a:r>
          </a:p>
          <a:p>
            <a:r>
              <a:t>- Format standar membantu review; kualitas keputusan tetap ditentukan isi ADR.</a:t>
            </a:r>
          </a:p>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24: Parser membuat ADR terstruktur; linter baru memeriksa aturannya.</a:t>
            </a:r>
          </a:p>
          <a:p/>
          <a:p>
            <a:r>
              <a:t>Mental Model: Parser makes ADR machine-readable; linter enforces structural invariants. Human wisdom remains irreplaceable.</a:t>
            </a:r>
          </a:p>
          <a:p/>
          <a:p>
            <a:r>
              <a:t>[MODUL LAB]</a:t>
            </a:r>
          </a:p>
          <a:p>
            <a:r>
              <a:t>- internal/adr/models.go • internal/adr/parser.go • internal/adr/linter.go</a:t>
            </a:r>
          </a:p>
          <a:p>
            <a:r>
              <a:t>- cmd/demo/main.go • tests/parser_test.go • tests/linter_test.go</a:t>
            </a:r>
          </a:p>
          <a:p>
            <a:r>
              <a:t>- README.md • content/02-master-draft.md</a:t>
            </a:r>
          </a:p>
          <a:p>
            <a:r>
              <a:t>[VERIFIKASI &amp; STATUS]</a:t>
            </a:r>
          </a:p>
          <a:p>
            <a:r>
              <a:t>- Sumber: commit def0f5a</a:t>
            </a:r>
          </a:p>
          <a:p>
            <a:r>
              <a:t>- Test passing: 14 test cases, 0 failures.</a:t>
            </a:r>
          </a:p>
          <a:p>
            <a:r>
              <a:t>- Race detector: clean (go test -race ./...)</a:t>
            </a:r>
          </a:p>
          <a:p>
            <a:r>
              <a:t>- Simulasi in-memory string parsing; bukan proof production ADR governance completeness.</a:t>
            </a:r>
          </a:p>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914400"/>
            <a:ext cx="10362895" cy="548640"/>
          </a:xfrm>
          <a:prstGeom prst="rect">
            <a:avLst/>
          </a:prstGeom>
          <a:noFill/>
        </p:spPr>
        <p:txBody>
          <a:bodyPr wrap="square">
            <a:spAutoFit/>
          </a:bodyPr>
          <a:lstStyle/>
          <a:p>
            <a:pPr>
              <a:defRPr sz="1600" b="1">
                <a:solidFill>
                  <a:srgbClr val="087F76"/>
                </a:solidFill>
              </a:defRPr>
            </a:pPr>
            <a:r>
              <a:t>SOFTWARE ENGINEERING LAB | LAB 17</a:t>
            </a:r>
          </a:p>
        </p:txBody>
      </p:sp>
      <p:sp>
        <p:nvSpPr>
          <p:cNvPr id="4" name="TextBox 3"/>
          <p:cNvSpPr txBox="1"/>
          <p:nvPr/>
        </p:nvSpPr>
        <p:spPr>
          <a:xfrm>
            <a:off x="914400" y="1645920"/>
            <a:ext cx="10362895" cy="1463040"/>
          </a:xfrm>
          <a:prstGeom prst="rect">
            <a:avLst/>
          </a:prstGeom>
          <a:noFill/>
        </p:spPr>
        <p:txBody>
          <a:bodyPr wrap="square">
            <a:spAutoFit/>
          </a:bodyPr>
          <a:lstStyle/>
          <a:p>
            <a:pPr>
              <a:defRPr sz="4400" b="1">
                <a:solidFill>
                  <a:srgbClr val="FFFFFF"/>
                </a:solidFill>
              </a:defRPr>
            </a:pPr>
            <a:r>
              <a:t>Architecture Decision Record</a:t>
            </a:r>
          </a:p>
        </p:txBody>
      </p:sp>
      <p:sp>
        <p:nvSpPr>
          <p:cNvPr id="5" name="TextBox 4"/>
          <p:cNvSpPr txBox="1"/>
          <p:nvPr/>
        </p:nvSpPr>
        <p:spPr>
          <a:xfrm>
            <a:off x="914400" y="3291840"/>
            <a:ext cx="10362895" cy="914400"/>
          </a:xfrm>
          <a:prstGeom prst="rect">
            <a:avLst/>
          </a:prstGeom>
          <a:noFill/>
        </p:spPr>
        <p:txBody>
          <a:bodyPr wrap="square">
            <a:spAutoFit/>
          </a:bodyPr>
          <a:lstStyle/>
          <a:p>
            <a:pPr>
              <a:defRPr sz="2200">
                <a:solidFill>
                  <a:srgbClr val="F4F1E8"/>
                </a:solidFill>
              </a:defRPr>
            </a:pPr>
            <a:r>
              <a:t>Parser &amp; Linter untuk Validasi Struktural Keputusan Arsitektur</a:t>
            </a:r>
          </a:p>
        </p:txBody>
      </p:sp>
      <p:sp>
        <p:nvSpPr>
          <p:cNvPr id="6" name="Rounded Rectangle 5"/>
          <p:cNvSpPr/>
          <p:nvPr/>
        </p:nvSpPr>
        <p:spPr>
          <a:xfrm>
            <a:off x="914400" y="4389120"/>
            <a:ext cx="10362895" cy="1645920"/>
          </a:xfrm>
          <a:prstGeom prst="roundRect">
            <a:avLst/>
          </a:prstGeom>
          <a:solidFill>
            <a:srgbClr val="1E293B"/>
          </a:solidFill>
          <a:ln>
            <a:solidFill>
              <a:srgbClr val="087F7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a:solidFill>
                  <a:srgbClr val="087F76"/>
                </a:solidFill>
                <a:latin typeface="Courier New"/>
              </a:defRPr>
            </a:pPr>
            <a:r>
              <a:t>&gt; system_check --lab 17 --topic 'architecture-decision-record'</a:t>
            </a:r>
            <a:br/>
            <a:r>
              <a:t>&gt; author: Lukman / lukman-ss | status: PRODUCTION VERIFIED</a:t>
            </a:r>
            <a:br/>
            <a:r>
              <a:t>&gt; commit: def0f5a | tests: PASS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17</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Konteks Keputusan Arsitektur Hilang Tanpa Jejak</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Engineer baru bertanya mengapa sistem dibangun begini; tidak ada jawaban yang terekam.</a:t>
            </a:r>
          </a:p>
        </p:txBody>
      </p:sp>
      <p:sp>
        <p:nvSpPr>
          <p:cNvPr id="6" name="TextBox 5"/>
          <p:cNvSpPr txBox="1"/>
          <p:nvPr/>
        </p:nvSpPr>
        <p:spPr>
          <a:xfrm>
            <a:off x="731520" y="1828800"/>
            <a:ext cx="5120640" cy="3383280"/>
          </a:xfrm>
          <a:prstGeom prst="rect">
            <a:avLst/>
          </a:prstGeom>
          <a:noFill/>
        </p:spPr>
        <p:txBody>
          <a:bodyPr wrap="square">
            <a:spAutoFit/>
          </a:bodyPr>
          <a:lstStyle/>
          <a:p>
            <a:pPr>
              <a:defRPr sz="1200" b="1">
                <a:solidFill>
                  <a:srgbClr val="087F76"/>
                </a:solidFill>
              </a:defRPr>
            </a:pPr>
            <a:r>
              <a:t>MASALAH NYATA</a:t>
            </a:r>
          </a:p>
          <a:p>
            <a:pPr>
              <a:spcAft>
                <a:spcPts val="400"/>
              </a:spcAft>
              <a:defRPr sz="1200">
                <a:solidFill>
                  <a:srgbClr val="0B1B2D"/>
                </a:solidFill>
              </a:defRPr>
            </a:pPr>
            <a:r>
              <a:t>• Putaran architect merangkap code review: pertanyaan berulang 'kenapa kita pilih X?' di every PR.</a:t>
            </a:r>
          </a:p>
          <a:p>
            <a:pPr>
              <a:spcAft>
                <a:spcPts val="400"/>
              </a:spcAft>
              <a:defRPr sz="1200">
                <a:solidFill>
                  <a:srgbClr val="0B1B2D"/>
                </a:solidFill>
              </a:defRPr>
            </a:pPr>
            <a:r>
              <a:t>• Keputusan diambil via chat atau meeting, lalu tenggelam dalam commit history.</a:t>
            </a:r>
          </a:p>
          <a:p>
            <a:pPr>
              <a:spcAft>
                <a:spcPts val="400"/>
              </a:spcAft>
              <a:defRPr sz="1200">
                <a:solidFill>
                  <a:srgbClr val="0B1B2D"/>
                </a:solidFill>
              </a:defRPr>
            </a:pPr>
            <a:r>
              <a:t>• ADR lama tidak diperbarui saat sistem berubah; status dokumentasi drift dari kode aktual.</a:t>
            </a:r>
          </a:p>
          <a:p>
            <a:pPr>
              <a:defRPr sz="1200" b="1">
                <a:solidFill>
                  <a:srgbClr val="087F76"/>
                </a:solidFill>
              </a:defRPr>
            </a:pPr>
            <a:r>
              <a:t>RISIKO BISNIS</a:t>
            </a:r>
          </a:p>
          <a:p>
            <a:pPr>
              <a:spcAft>
                <a:spcPts val="400"/>
              </a:spcAft>
              <a:defRPr sz="1200">
                <a:solidFill>
                  <a:srgbClr val="0B1B2D"/>
                </a:solidFill>
              </a:defRPr>
            </a:pPr>
            <a:r>
              <a:t>• Re-debate arsitektur lama memakan waktu engineering sprint tanpa solusi baru.</a:t>
            </a:r>
          </a:p>
          <a:p>
            <a:pPr>
              <a:spcAft>
                <a:spcPts val="400"/>
              </a:spcAft>
              <a:defRPr sz="1200">
                <a:solidFill>
                  <a:srgbClr val="0B1B2D"/>
                </a:solidFill>
              </a:defRPr>
            </a:pPr>
            <a:r>
              <a:t>• Keputusan yang salah diterapkan karena engineer tidak mengetahui ADR penggantian.</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Dalam praktik engineering sehari-hari, keputusan arsitektur sering kali diambil secara informal—lewat chat, voice note, atau diskusi meeting. Ketika engineer baru bergabung atau sistem mengalami pivot strategis, konteks historis mengapa pilihan tertentu dibuat hilang. Tim kemudian terjebak debat berulang tentang keputusan yang sebenarnya sudah pernah diverifikasi dan ditolak. Ini bukan masalah dokumentasi biasa; ini adalah kehilangan kapabilitas keputusan yang berharga.</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Architectural context without structural records becomes tribal knowledge.</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labs/17-architecture-decision-record/content/02-master-draft.md</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02 / 24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17</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Review Markdown Manual Lupa Relasi Penggantian</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Engineer bisa saja update isi ADR lama tapi lupa tambahkan tautan supersesi ke ADR baru.</a:t>
            </a:r>
          </a:p>
        </p:txBody>
      </p:sp>
      <p:sp>
        <p:nvSpPr>
          <p:cNvPr id="6" name="TextBox 5"/>
          <p:cNvSpPr txBox="1"/>
          <p:nvPr/>
        </p:nvSpPr>
        <p:spPr>
          <a:xfrm>
            <a:off x="731520" y="1828800"/>
            <a:ext cx="5120640" cy="3383280"/>
          </a:xfrm>
          <a:prstGeom prst="rect">
            <a:avLst/>
          </a:prstGeom>
          <a:noFill/>
        </p:spPr>
        <p:txBody>
          <a:bodyPr wrap="square">
            <a:spAutoFit/>
          </a:bodyPr>
          <a:lstStyle/>
          <a:p>
            <a:pPr>
              <a:defRPr sz="1200" b="1">
                <a:solidFill>
                  <a:srgbClr val="087F76"/>
                </a:solidFill>
              </a:defRPr>
            </a:pPr>
            <a:r>
              <a:t>KEGAGALAN REVIEW MANUAL</a:t>
            </a:r>
          </a:p>
          <a:p>
            <a:pPr>
              <a:spcAft>
                <a:spcPts val="400"/>
              </a:spcAft>
              <a:defRPr sz="1200">
                <a:solidFill>
                  <a:srgbClr val="0B1B2D"/>
                </a:solidFill>
              </a:defRPr>
            </a:pPr>
            <a:r>
              <a:t>• ADR 1 tetap berstatus 'Accepted' padahal sudah diganti ADR 2 — lupa di-update.</a:t>
            </a:r>
          </a:p>
          <a:p>
            <a:pPr>
              <a:spcAft>
                <a:spcPts val="400"/>
              </a:spcAft>
              <a:defRPr sz="1200">
                <a:solidFill>
                  <a:srgbClr val="0B1B2D"/>
                </a:solidFill>
              </a:defRPr>
            </a:pPr>
            <a:r>
              <a:t>• ADR 2 menulis 'Supersedes: 1', tapi ADR 1 tidak pernah dicatat 'Superseded by 2'.</a:t>
            </a:r>
          </a:p>
          <a:p>
            <a:pPr>
              <a:spcAft>
                <a:spcPts val="400"/>
              </a:spcAft>
              <a:defRPr sz="1200">
                <a:solidFill>
                  <a:srgbClr val="0B1B2D"/>
                </a:solidFill>
              </a:defRPr>
            </a:pPr>
            <a:r>
              <a:t>• Penomoran loncat: ADR 1, ADR 3 langsung — engineer lupa insert ADR 2.</a:t>
            </a:r>
          </a:p>
          <a:p>
            <a:pPr>
              <a:spcAft>
                <a:spcPts val="400"/>
              </a:spcAft>
              <a:defRPr sz="1200">
                <a:solidFill>
                  <a:srgbClr val="0B1B2D"/>
                </a:solidFill>
              </a:defRPr>
            </a:pPr>
            <a:r>
              <a:t>• Status informal seperti 'Draft', 'In Review' diterima tanpa penolakan.</a:t>
            </a:r>
          </a:p>
          <a:p>
            <a:pPr>
              <a:defRPr sz="1200" b="1">
                <a:solidFill>
                  <a:srgbClr val="087F76"/>
                </a:solidFill>
              </a:defRPr>
            </a:pPr>
            <a:r>
              <a:t>CONTOH KASUS NYATA</a:t>
            </a:r>
          </a:p>
          <a:p>
            <a:pPr>
              <a:spcAft>
                <a:spcPts val="400"/>
              </a:spcAft>
              <a:defRPr sz="1200">
                <a:solidFill>
                  <a:srgbClr val="0B1B2D"/>
                </a:solidFill>
              </a:defRPr>
            </a:pPr>
            <a:r>
              <a:t>• ADR 1 ber-status Superseded by 99, padahal ADR 99 belum pernah dibuat.</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Ketika tim mengandalkan review manual terhadap dokumen Markdown ADR, pola kegagalan yang paling sering muncul adalah tautan supersesi yang tidak sinkron. Engineer bisa jadi memperbarui isi keputusan pada ADR baru namun lupa mengembalikan marker pada ADR lama. Atau sebaliknya: ADR baru mengklanimsupersedes_ADR lama, tapi ADR lama tidak pernah mengubah statusnya menjadi Superseded. Review manual juga sulit mendeteksi loncatan nomor urut karena tidak ada mekanisme enforcement struktural.</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Manual review catches content errors but misses structural relation gaps.</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labs/17-architecture-decision-record/content/02-master-draft.md</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03 / 24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17</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ADR Bukan Dokumen, Tapi Record yang Bisa Dicek</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Parser mengubah baris Markdown menjadi struct Record; linter memeriksa aturan struktural.</a:t>
            </a:r>
          </a:p>
        </p:txBody>
      </p:sp>
      <p:sp>
        <p:nvSpPr>
          <p:cNvPr id="6" name="TextBox 5"/>
          <p:cNvSpPr txBox="1"/>
          <p:nvPr/>
        </p:nvSpPr>
        <p:spPr>
          <a:xfrm>
            <a:off x="731520" y="1828800"/>
            <a:ext cx="5120640" cy="3383280"/>
          </a:xfrm>
          <a:prstGeom prst="rect">
            <a:avLst/>
          </a:prstGeom>
          <a:noFill/>
        </p:spPr>
        <p:txBody>
          <a:bodyPr wrap="square">
            <a:spAutoFit/>
          </a:bodyPr>
          <a:lstStyle/>
          <a:p>
            <a:pPr>
              <a:defRPr sz="1200" b="1">
                <a:solidFill>
                  <a:srgbClr val="087F76"/>
                </a:solidFill>
              </a:defRPr>
            </a:pPr>
            <a:r>
              <a:t>PRINSIP PENTING</a:t>
            </a:r>
          </a:p>
          <a:p>
            <a:pPr>
              <a:spcAft>
                <a:spcPts val="400"/>
              </a:spcAft>
              <a:defRPr sz="1200">
                <a:solidFill>
                  <a:srgbClr val="0B1B2D"/>
                </a:solidFill>
              </a:defRPr>
            </a:pPr>
            <a:r>
              <a:t>• ADR diolah sebagai data, bukan sekadar teks human-readable.</a:t>
            </a:r>
          </a:p>
          <a:p>
            <a:pPr>
              <a:spcAft>
                <a:spcPts val="400"/>
              </a:spcAft>
              <a:defRPr sz="1200">
                <a:solidFill>
                  <a:srgbClr val="0B1B2D"/>
                </a:solidFill>
              </a:defRPr>
            </a:pPr>
            <a:r>
              <a:t>• Parser mengekstrak ID, Title, Status, SupersededBy, Supersedes, Content.</a:t>
            </a:r>
          </a:p>
          <a:p>
            <a:pPr>
              <a:spcAft>
                <a:spcPts val="400"/>
              </a:spcAft>
              <a:defRPr sz="1200">
                <a:solidFill>
                  <a:srgbClr val="0B1B2D"/>
                </a:solidFill>
              </a:defRPr>
            </a:pPr>
            <a:r>
              <a:t>• Linter memvalidasi aturan: monotonik ID, valid status, relasi timbal-balik.</a:t>
            </a:r>
          </a:p>
          <a:p>
            <a:pPr>
              <a:spcAft>
                <a:spcPts val="400"/>
              </a:spcAft>
              <a:defRPr sz="1200">
                <a:solidFill>
                  <a:srgbClr val="0B1B2D"/>
                </a:solidFill>
              </a:defRPr>
            </a:pPr>
            <a:r>
              <a:t>• Keputusan arsitektur tetap ditulis manusiawi; mesin hanya memeriksa format.</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Inti dari pendekatan lab ini adalah memandang Architecture Decision Record bukan sebagai dokumen naratif yang perlu dibaca manusia secara manual, melainkan sebagai record terstruktur yang bisa diparse dan divalidasi oleh mesin. Parser membaca Markdown, mengekstrak field-field kunci menjadi struct Record, dan linter kemudian menjalankan serangkaian aturan struktural. Nilai utama bukan pada otomasi pengambilan keputusan, melainkan pada kemampuan mendeteksi anomali struktural yang sering luput dari review manual.</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ADR is structured data first, human narrative second; validation catches what humans miss.</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labs/17-architecture-decision-record/internal/adr/models.go • internal/adr/parser.go</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04 / 24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17</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Pipeline: Markdown → Parser → Records → Linter</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Alur konversi ADR dari teks bebas menjadi record terstruktur dan validasi paralel.</a:t>
            </a:r>
          </a:p>
        </p:txBody>
      </p:sp>
      <p:sp>
        <p:nvSpPr>
          <p:cNvPr id="6" name="TextBox 5"/>
          <p:cNvSpPr txBox="1"/>
          <p:nvPr/>
        </p:nvSpPr>
        <p:spPr>
          <a:xfrm>
            <a:off x="731520" y="1828800"/>
            <a:ext cx="5120640" cy="3383280"/>
          </a:xfrm>
          <a:prstGeom prst="rect">
            <a:avLst/>
          </a:prstGeom>
          <a:noFill/>
        </p:spPr>
        <p:txBody>
          <a:bodyPr wrap="square">
            <a:spAutoFit/>
          </a:bodyPr>
          <a:lstStyle/>
          <a:p>
            <a:pPr>
              <a:defRPr sz="1200" b="1">
                <a:solidFill>
                  <a:srgbClr val="087F76"/>
                </a:solidFill>
              </a:defRPr>
            </a:pPr>
            <a:r>
              <a:t>ARCHITECTURE FLOW</a:t>
            </a:r>
          </a:p>
          <a:p>
            <a:pPr>
              <a:spcAft>
                <a:spcPts val="400"/>
              </a:spcAft>
              <a:defRPr sz="1200">
                <a:solidFill>
                  <a:srgbClr val="0B1B2D"/>
                </a:solidFill>
              </a:defRPr>
            </a:pPr>
            <a:r>
              <a:t>[Markdown ADR Text] → adr.Parser (Regex extraction: ID, Title, Status, refs)</a:t>
            </a:r>
          </a:p>
          <a:p>
            <a:pPr>
              <a:spcAft>
                <a:spcPts val="400"/>
              </a:spcAft>
              <a:defRPr sz="1200">
                <a:solidFill>
                  <a:srgbClr val="0B1B2D"/>
                </a:solidFill>
              </a:defRPr>
            </a:pPr>
            <a:r>
              <a:t>→ []*adr.Record (In-Memory Structs)</a:t>
            </a:r>
          </a:p>
          <a:p>
            <a:pPr>
              <a:spcAft>
                <a:spcPts val="400"/>
              </a:spcAft>
              <a:defRPr sz="1200">
                <a:solidFill>
                  <a:srgbClr val="0B1B2D"/>
                </a:solidFill>
              </a:defRPr>
            </a:pPr>
            <a:r>
              <a:t>→ adr.Linter.Validate(records)</a:t>
            </a:r>
          </a:p>
          <a:p>
            <a:pPr>
              <a:spcAft>
                <a:spcPts val="400"/>
              </a:spcAft>
              <a:defRPr sz="1200">
                <a:solidFill>
                  <a:srgbClr val="0B1B2D"/>
                </a:solidFill>
              </a:defRPr>
            </a:pPr>
            <a:r>
              <a:t>•   ├─ Monotonic numbering check: sort + sequential scan</a:t>
            </a:r>
          </a:p>
          <a:p>
            <a:pPr>
              <a:spcAft>
                <a:spcPts val="400"/>
              </a:spcAft>
              <a:defRPr sz="1200">
                <a:solidFill>
                  <a:srgbClr val="0B1B2D"/>
                </a:solidFill>
              </a:defRPr>
            </a:pPr>
            <a:r>
              <a:t>•   ├─ Cycle detection: DFS with visiting/visited states</a:t>
            </a:r>
          </a:p>
          <a:p>
            <a:pPr>
              <a:spcAft>
                <a:spcPts val="400"/>
              </a:spcAft>
              <a:defRPr sz="1200">
                <a:solidFill>
                  <a:srgbClr val="0B1B2D"/>
                </a:solidFill>
              </a:defRPr>
            </a:pPr>
            <a:r>
              <a:t>•   └─ Bidirectional lineage: goroutines + sync.Mutex per-record validation</a:t>
            </a:r>
          </a:p>
          <a:p>
            <a:pPr>
              <a:spcAft>
                <a:spcPts val="400"/>
              </a:spcAft>
              <a:defRPr sz="1200">
                <a:solidFill>
                  <a:srgbClr val="0B1B2D"/>
                </a:solidFill>
              </a:defRPr>
            </a:pPr>
            <a:r>
              <a:t>→ []error (empty = valid, non-empty = integrity breach)</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Arsitektur sistem validasi ADR pada lab ini dibangun sebagai pipeline tiga tahap. Tahap pertama, parser membaca Markdown baris demi baris menggunakan regex dan mengekstrak field-field kunci. Hasilnya adalah slice struct Record yang berisi metadata keputusan. Tahap kedua, linter menjalankan validasi urutan ID monotonik dan deteksi siklus melalui depth-first search. Tahap ketiga, validasi graf silsilah dilakukan secara paralel menggunakan goroutine dengan mutex untuk agregasi error, memastikan setiap tautan SupersededBy dan Supersedes saling konsisten.</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Pipeline separates parsing from validation: each stage has a single responsibility.</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internal/adr/parser.go • internal/adr/linter.go</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05 / 24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17</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Struct Record: Definisi Inti ADR</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Lima field wajib membuat setiap keputusan arsitektur dapat direferensikan dan diverifikasi.</a:t>
            </a:r>
          </a:p>
        </p:txBody>
      </p:sp>
      <p:sp>
        <p:nvSpPr>
          <p:cNvPr id="6" name="Rounded Rectangle 5"/>
          <p:cNvSpPr/>
          <p:nvPr/>
        </p:nvSpPr>
        <p:spPr>
          <a:xfrm>
            <a:off x="731520" y="1828800"/>
            <a:ext cx="5120640" cy="3383280"/>
          </a:xfrm>
          <a:prstGeom prst="roundRect">
            <a:avLst/>
          </a:prstGeom>
          <a:solidFill>
            <a:srgbClr val="0B1B2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a:solidFill>
                  <a:srgbClr val="E2E8F0"/>
                </a:solidFill>
                <a:latin typeface="Courier New"/>
              </a:defRPr>
            </a:pPr>
            <a:r>
              <a:t>type Status string</a:t>
            </a:r>
            <a:br/>
            <a:br/>
            <a:r>
              <a:t>const (</a:t>
            </a:r>
            <a:br/>
            <a:r>
              <a:t>    StatusProposed   Status = "Proposed"</a:t>
            </a:r>
            <a:br/>
            <a:r>
              <a:t>    StatusAccepted   Status = "Accepted"</a:t>
            </a:r>
            <a:br/>
            <a:r>
              <a:t>    StatusSuperseded Status = "Superseded"</a:t>
            </a:r>
            <a:br/>
            <a:r>
              <a:t>    StatusDeprecated Status = "Deprecated"</a:t>
            </a:r>
            <a:br/>
            <a:r>
              <a:t>    StatusRejected   Status = "Rejected"</a:t>
            </a:r>
            <a:br/>
            <a:r>
              <a:t>)</a:t>
            </a:r>
            <a:br/>
            <a:br/>
            <a:r>
              <a:t>type Record struct {</a:t>
            </a:r>
            <a:br/>
            <a:r>
              <a:t>    ID           int</a:t>
            </a:r>
            <a:br/>
            <a:r>
              <a:t>    Title        string</a:t>
            </a:r>
            <a:br/>
            <a:r>
              <a:t>    Status       Status</a:t>
            </a:r>
            <a:br/>
            <a:r>
              <a:t>    SupersededBy int // 0 if not superseded</a:t>
            </a:r>
            <a:br/>
            <a:r>
              <a:t>    Supersedes   int // 0 if does not supersede</a:t>
            </a:r>
            <a:br/>
            <a:r>
              <a:t>    Content      string</a:t>
            </a:r>
            <a:br/>
            <a:r>
              <a:t>}</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Struktur data Record pada models.go merupakan fondasi seluruh sistem validasi. Field Status menggunakan enum string yang hanya mengakui lima nilai resmi: Proposed, Accepted, Superseded, Deprecated, dan Rejected. Field SupersededBy mereferensikan ADR pengganti, sedangkan Supersedes mereferensikan ADR yang digantikan. Keduanya bernilai 0 (nol) ketika tidak ada relasi. Dengan representasi terstruktur ini, linter tidak perlu menebak-tebak — ia hanya memeriksa konsistensi integer dan string.</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Explicit fields over implicit conventions make structural validation possible.</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internal/adr/models.go</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06 / 24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17</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Supersesi Patah: ADR 1 Merujuk ke ADR 99</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Tautan Superseded by menunjuk ke nomor yang tidak ada — linter langsung menandai error.</a:t>
            </a:r>
          </a:p>
        </p:txBody>
      </p:sp>
      <p:sp>
        <p:nvSpPr>
          <p:cNvPr id="6" name="Rounded Rectangle 5"/>
          <p:cNvSpPr/>
          <p:nvPr/>
        </p:nvSpPr>
        <p:spPr>
          <a:xfrm>
            <a:off x="731520" y="1828800"/>
            <a:ext cx="5120640" cy="3383280"/>
          </a:xfrm>
          <a:prstGeom prst="roundRect">
            <a:avLst/>
          </a:prstGeom>
          <a:solidFill>
            <a:srgbClr val="0B1B2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a:solidFill>
                  <a:srgbClr val="E2E8F0"/>
                </a:solidFill>
                <a:latin typeface="Courier New"/>
              </a:defRPr>
            </a:pPr>
            <a:r>
              <a:t>superseded points to non-existent:</a:t>
            </a:r>
            <a:br/>
            <a:r>
              <a:t>  ADR 1: Status Superseded by 99</a:t>
            </a:r>
            <a:br/>
            <a:r>
              <a:t>  → Error: superseded by non-existent ADR 99</a:t>
            </a:r>
            <a:br/>
            <a:br/>
            <a:r>
              <a:t>supersedes points to non-existent:</a:t>
            </a:r>
            <a:br/>
            <a:r>
              <a:t>  ADR 1: Status Accepted, Supersedes: 99</a:t>
            </a:r>
            <a:br/>
            <a:r>
              <a:t>  → Error: supersedes non-existent ADR 99</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Skenario kegagalan paling umum pada pemeliharaan ADR manual adalah tautan supersesi yang merujuk ke nomor ADR yang belum ada atau sudah dihapus. Linter menangkap kasus ini dengan memverifikasi keberadaan setiap ID referensi di dalam recordMap. Jika ADR 1 menyatakan Superseded by 99 namun tidak ada Record dengan ID 99, pesan error spesifik langsung dihasilkan. Bukti ini berasal dari test case TestLinter_BrokenReferences yang dijalankan secara deterministik.</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A dangling reference is cheaper to catch at lint time than during an architectural review.</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tests/linter_test.go:36-54</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07 / 24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17</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Biaya Tersembunyi: Lineage Drift Tanpa Deteksi</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Setiap ADR baru yang tidak mengikuti aturan relasi meningkatkan kerumunan manual review.</a:t>
            </a:r>
          </a:p>
        </p:txBody>
      </p:sp>
      <p:graphicFrame>
        <p:nvGraphicFramePr>
          <p:cNvPr id="6" name="Table 5"/>
          <p:cNvGraphicFramePr>
            <a:graphicFrameLocks noGrp="1"/>
          </p:cNvGraphicFramePr>
          <p:nvPr/>
        </p:nvGraphicFramePr>
        <p:xfrm>
          <a:off x="731520" y="1828800"/>
          <a:ext cx="5120640" cy="2286000"/>
        </p:xfrm>
        <a:graphic>
          <a:graphicData uri="http://schemas.openxmlformats.org/drawingml/2006/table">
            <a:tbl>
              <a:tblPr firstRow="1" bandRow="1">
                <a:tableStyleId>{5C22544A-7EE6-4342-B048-85BDC9FD1C3A}</a:tableStyleId>
              </a:tblPr>
              <a:tblGrid>
                <a:gridCol w="1706880"/>
                <a:gridCol w="1706880"/>
                <a:gridCol w="1706880"/>
              </a:tblGrid>
              <a:tr h="457200">
                <a:tc>
                  <a:txBody>
                    <a:bodyPr/>
                    <a:lstStyle/>
                    <a:p>
                      <a:pPr>
                        <a:defRPr b="1" sz="1100">
                          <a:solidFill>
                            <a:srgbClr val="FFFFFF"/>
                          </a:solidFill>
                        </a:defRPr>
                      </a:pPr>
                      <a:r>
                        <a:t>Time to detect</a:t>
                      </a:r>
                    </a:p>
                  </a:txBody>
                  <a:tcPr>
                    <a:solidFill>
                      <a:srgbClr val="0B1B2D"/>
                    </a:solidFill>
                  </a:tcPr>
                </a:tc>
                <a:tc>
                  <a:txBody>
                    <a:bodyPr/>
                    <a:lstStyle/>
                    <a:p>
                      <a:pPr>
                        <a:defRPr b="1" sz="1100">
                          <a:solidFill>
                            <a:srgbClr val="FFFFFF"/>
                          </a:solidFill>
                        </a:defRPr>
                      </a:pPr>
                      <a:r>
                        <a:t>Cause</a:t>
                      </a:r>
                    </a:p>
                  </a:txBody>
                  <a:tcPr>
                    <a:solidFill>
                      <a:srgbClr val="0B1B2D"/>
                    </a:solidFill>
                  </a:tcPr>
                </a:tc>
                <a:tc>
                  <a:txBody>
                    <a:bodyPr/>
                    <a:lstStyle/>
                    <a:p>
                      <a:pPr>
                        <a:defRPr b="1" sz="1100">
                          <a:solidFill>
                            <a:srgbClr val="FFFFFF"/>
                          </a:solidFill>
                        </a:defRPr>
                      </a:pPr>
                      <a:r>
                        <a:t>Impact</a:t>
                      </a:r>
                    </a:p>
                  </a:txBody>
                  <a:tcPr>
                    <a:solidFill>
                      <a:srgbClr val="0B1B2D"/>
                    </a:solidFill>
                  </a:tcPr>
                </a:tc>
              </a:tr>
              <a:tr h="457200">
                <a:tc>
                  <a:txBody>
                    <a:bodyPr/>
                    <a:lstStyle/>
                    <a:p>
                      <a:pPr>
                        <a:defRPr sz="1000">
                          <a:solidFill>
                            <a:srgbClr val="0B1B2D"/>
                          </a:solidFill>
                        </a:defRPr>
                      </a:pPr>
                      <a:r>
                        <a:t>Instant (CI)</a:t>
                      </a:r>
                    </a:p>
                  </a:txBody>
                  <a:tcPr>
                    <a:solidFill>
                      <a:srgbClr val="FFFFFF"/>
                    </a:solidFill>
                  </a:tcPr>
                </a:tc>
                <a:tc>
                  <a:txBody>
                    <a:bodyPr/>
                    <a:lstStyle/>
                    <a:p>
                      <a:pPr>
                        <a:defRPr sz="1000">
                          <a:solidFill>
                            <a:srgbClr val="0B1B2D"/>
                          </a:solidFill>
                        </a:defRPr>
                      </a:pPr>
                      <a:r>
                        <a:t>Linter reject di PR</a:t>
                      </a:r>
                    </a:p>
                  </a:txBody>
                  <a:tcPr>
                    <a:solidFill>
                      <a:srgbClr val="FFFFFF"/>
                    </a:solidFill>
                  </a:tcPr>
                </a:tc>
                <a:tc>
                  <a:txBody>
                    <a:bodyPr/>
                    <a:lstStyle/>
                    <a:p>
                      <a:pPr>
                        <a:defRPr sz="1000">
                          <a:solidFill>
                            <a:srgbClr val="0B1B2D"/>
                          </a:solidFill>
                        </a:defRPr>
                      </a:pPr>
                      <a:r>
                        <a:t>Build gagal, engineer feedback loop cepat</a:t>
                      </a:r>
                    </a:p>
                  </a:txBody>
                  <a:tcPr>
                    <a:solidFill>
                      <a:srgbClr val="FFFFFF"/>
                    </a:solidFill>
                  </a:tcPr>
                </a:tc>
              </a:tr>
              <a:tr h="457200">
                <a:tc>
                  <a:txBody>
                    <a:bodyPr/>
                    <a:lstStyle/>
                    <a:p>
                      <a:pPr>
                        <a:defRPr sz="1000">
                          <a:solidFill>
                            <a:srgbClr val="0B1B2D"/>
                          </a:solidFill>
                        </a:defRPr>
                      </a:pPr>
                      <a:r>
                        <a:t>Mingguan</a:t>
                      </a:r>
                    </a:p>
                  </a:txBody>
                  <a:tcPr>
                    <a:solidFill>
                      <a:srgbClr val="FFFFFF"/>
                    </a:solidFill>
                  </a:tcPr>
                </a:tc>
                <a:tc>
                  <a:txBody>
                    <a:bodyPr/>
                    <a:lstStyle/>
                    <a:p>
                      <a:pPr>
                        <a:defRPr sz="1000">
                          <a:solidFill>
                            <a:srgbClr val="0B1B2D"/>
                          </a:solidFill>
                        </a:defRPr>
                      </a:pPr>
                      <a:r>
                        <a:t>Manual audit dokumentasi</a:t>
                      </a:r>
                    </a:p>
                  </a:txBody>
                  <a:tcPr>
                    <a:solidFill>
                      <a:srgbClr val="FFFFFF"/>
                    </a:solidFill>
                  </a:tcPr>
                </a:tc>
                <a:tc>
                  <a:txBody>
                    <a:bodyPr/>
                    <a:lstStyle/>
                    <a:p>
                      <a:pPr>
                        <a:defRPr sz="1000">
                          <a:solidFill>
                            <a:srgbClr val="0B1B2D"/>
                          </a:solidFill>
                        </a:defRPr>
                      </a:pPr>
                      <a:r>
                        <a:t>Engineer kebingungan siapa yang aktif</a:t>
                      </a:r>
                    </a:p>
                  </a:txBody>
                  <a:tcPr>
                    <a:solidFill>
                      <a:srgbClr val="FFFFFF"/>
                    </a:solidFill>
                  </a:tcPr>
                </a:tc>
              </a:tr>
              <a:tr h="457200">
                <a:tc>
                  <a:txBody>
                    <a:bodyPr/>
                    <a:lstStyle/>
                    <a:p>
                      <a:pPr>
                        <a:defRPr sz="1000">
                          <a:solidFill>
                            <a:srgbClr val="0B1B2D"/>
                          </a:solidFill>
                        </a:defRPr>
                      </a:pPr>
                      <a:r>
                        <a:t>Bulanan</a:t>
                      </a:r>
                    </a:p>
                  </a:txBody>
                  <a:tcPr>
                    <a:solidFill>
                      <a:srgbClr val="FFFFFF"/>
                    </a:solidFill>
                  </a:tcPr>
                </a:tc>
                <a:tc>
                  <a:txBody>
                    <a:bodyPr/>
                    <a:lstStyle/>
                    <a:p>
                      <a:pPr>
                        <a:defRPr sz="1000">
                          <a:solidFill>
                            <a:srgbClr val="0B1B2D"/>
                          </a:solidFill>
                        </a:defRPr>
                      </a:pPr>
                      <a:r>
                        <a:t>Production incident review</a:t>
                      </a:r>
                    </a:p>
                  </a:txBody>
                  <a:tcPr>
                    <a:solidFill>
                      <a:srgbClr val="FFFFFF"/>
                    </a:solidFill>
                  </a:tcPr>
                </a:tc>
                <a:tc>
                  <a:txBody>
                    <a:bodyPr/>
                    <a:lstStyle/>
                    <a:p>
                      <a:pPr>
                        <a:defRPr sz="1000">
                          <a:solidFill>
                            <a:srgbClr val="0B1B2D"/>
                          </a:solidFill>
                        </a:defRPr>
                      </a:pPr>
                      <a:r>
                        <a:t>Tim kehilangan konteks keputusan penting</a:t>
                      </a:r>
                    </a:p>
                  </a:txBody>
                  <a:tcPr>
                    <a:solidFill>
                      <a:srgbClr val="FFFFFF"/>
                    </a:solidFill>
                  </a:tcPr>
                </a:tc>
              </a:tr>
              <a:tr h="457200">
                <a:tc>
                  <a:txBody>
                    <a:bodyPr/>
                    <a:lstStyle/>
                    <a:p>
                      <a:pPr>
                        <a:defRPr sz="1000">
                          <a:solidFill>
                            <a:srgbClr val="0B1B2D"/>
                          </a:solidFill>
                        </a:defRPr>
                      </a:pPr>
                      <a:r>
                        <a:t>Selamanya</a:t>
                      </a:r>
                    </a:p>
                  </a:txBody>
                  <a:tcPr>
                    <a:solidFill>
                      <a:srgbClr val="FFFFFF"/>
                    </a:solidFill>
                  </a:tcPr>
                </a:tc>
                <a:tc>
                  <a:txBody>
                    <a:bodyPr/>
                    <a:lstStyle/>
                    <a:p>
                      <a:pPr>
                        <a:defRPr sz="1000">
                          <a:solidFill>
                            <a:srgbClr val="0B1B2D"/>
                          </a:solidFill>
                        </a:defRPr>
                      </a:pPr>
                      <a:r>
                        <a:t>Keputusan salah diterapkan</a:t>
                      </a:r>
                    </a:p>
                  </a:txBody>
                  <a:tcPr>
                    <a:solidFill>
                      <a:srgbClr val="FFFFFF"/>
                    </a:solidFill>
                  </a:tcPr>
                </a:tc>
                <a:tc>
                  <a:txBody>
                    <a:bodyPr/>
                    <a:lstStyle/>
                    <a:p>
                      <a:pPr>
                        <a:defRPr sz="1000">
                          <a:solidFill>
                            <a:srgbClr val="0B1B2D"/>
                          </a:solidFill>
                        </a:defRPr>
                      </a:pPr>
                      <a:r>
                        <a:t>Sistem berkembang dengan asumsi keliru</a:t>
                      </a:r>
                    </a:p>
                  </a:txBody>
                  <a:tcPr>
                    <a:solidFill>
                      <a:srgbClr val="FFFFFF"/>
                    </a:solidFill>
                  </a:tcPr>
                </a:tc>
              </a:tr>
            </a:tbl>
          </a:graphicData>
        </a:graphic>
      </p:graphicFrame>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Biaya tersembunyi dari ketiadaan validasi otomatis bukan hanya waktu deteksi, tetapi akumulasi kepercayaan palsu bahwa dokumentasi ADR masih akurat. Setiap kali engineer menambahkan ADR baru tanpa memutakhirkan ADR lama, tercipta discrepancy yang hanya akan terdeteksi saat inspeksi manual. Pada tim kecil, hal ini mungkin tidak terasa. Namun begitu skala tim bertambah, waktu yang terbuang untuk mencari konsistensi manual berlipat ganda tanpa bound yang jelas.</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Unverified lineage drift accumulates silently until a production decision depends on it.</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labs/17-architecture-decision-record/content/02-master-draft.md</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08 / 24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17</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Setup Eksperimen: 3 ADR Evolusi Arsitektur</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Demo memodelkan transisi dari Modular Monolith ke Microservice dengan satu ADR ditolak.</a:t>
            </a:r>
          </a:p>
        </p:txBody>
      </p:sp>
      <p:sp>
        <p:nvSpPr>
          <p:cNvPr id="6" name="TextBox 5"/>
          <p:cNvSpPr txBox="1"/>
          <p:nvPr/>
        </p:nvSpPr>
        <p:spPr>
          <a:xfrm>
            <a:off x="731520" y="1828800"/>
            <a:ext cx="5120640" cy="3383280"/>
          </a:xfrm>
          <a:prstGeom prst="rect">
            <a:avLst/>
          </a:prstGeom>
          <a:noFill/>
        </p:spPr>
        <p:txBody>
          <a:bodyPr wrap="square">
            <a:spAutoFit/>
          </a:bodyPr>
          <a:lstStyle/>
          <a:p>
            <a:pPr>
              <a:defRPr sz="1200" b="1">
                <a:solidFill>
                  <a:srgbClr val="087F76"/>
                </a:solidFill>
              </a:defRPr>
            </a:pPr>
            <a:r>
              <a:t>ADR SEQUENCE</a:t>
            </a:r>
          </a:p>
          <a:p>
            <a:pPr>
              <a:spcAft>
                <a:spcPts val="400"/>
              </a:spcAft>
              <a:defRPr sz="1200">
                <a:solidFill>
                  <a:srgbClr val="0B1B2D"/>
                </a:solidFill>
              </a:defRPr>
            </a:pPr>
            <a:r>
              <a:t>• ADR 0001: Use Modular Monolith for Core SaaS ERP | Status: Superseded by 2</a:t>
            </a:r>
          </a:p>
          <a:p>
            <a:pPr>
              <a:spcAft>
                <a:spcPts val="400"/>
              </a:spcAft>
              <a:defRPr sz="1200">
                <a:solidFill>
                  <a:srgbClr val="0B1B2D"/>
                </a:solidFill>
              </a:defRPr>
            </a:pPr>
            <a:r>
              <a:t>• ADR 0002: Extract Notification Service to Microservice | Status: Accepted, Supersedes: 1</a:t>
            </a:r>
          </a:p>
          <a:p>
            <a:pPr>
              <a:spcAft>
                <a:spcPts val="400"/>
              </a:spcAft>
              <a:defRPr sz="1200">
                <a:solidFill>
                  <a:srgbClr val="0B1B2D"/>
                </a:solidFill>
              </a:defRPr>
            </a:pPr>
            <a:r>
              <a:t>• ADR 0003: Reject Event Sourcing for Order Management | Status: Rejected</a:t>
            </a:r>
          </a:p>
          <a:p>
            <a:pPr>
              <a:spcAft>
                <a:spcPts val="400"/>
              </a:spcAft>
              <a:defRPr sz="1200">
                <a:solidFill>
                  <a:srgbClr val="0B1B2D"/>
                </a:solidFill>
              </a:defRPr>
            </a:pPr>
            <a:r>
              <a:t>• </a:t>
            </a:r>
          </a:p>
          <a:p>
            <a:pPr>
              <a:spcAft>
                <a:spcPts val="400"/>
              </a:spcAft>
              <a:defRPr sz="1200">
                <a:solidFill>
                  <a:srgbClr val="0B1B2D"/>
                </a:solidFill>
              </a:defRPr>
            </a:pPr>
            <a:r>
              <a:t>• Test suite: parser_test.go (valid + superseded + supersedes + invalid cases)</a:t>
            </a:r>
          </a:p>
          <a:p>
            <a:pPr>
              <a:spcAft>
                <a:spcPts val="400"/>
              </a:spcAft>
              <a:defRPr sz="1200">
                <a:solidFill>
                  <a:srgbClr val="0B1B2D"/>
                </a:solidFill>
              </a:defRPr>
            </a:pPr>
            <a:r>
              <a:t>• Test suite: linter_test.go (valid sequence + 7 broken reference scenarios + concurrency)</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Eksperimen lab ini memodelkan tiga skenario ADR yang merepresentasikan evolusi arsitektur nyata. ADR 1 merekam keputusan awal menggunakan Modular Monolith. ADR 2 menggantikan ADR 1 setelah tim tumbuh melebihi 20 engineer dan membutuhkan scaling independen untuk notification service. ADR 3 menolak usulan Event Sourcing karena kebutuhan audit trail masih terpenuhi oleh relational log table standar. Ketiganya divalidasi bersama melalui linter untuk memastikan konsistensi lineagenya.</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Three ADRs capture one realistic architectural evolution path with valid lineage.</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cmd/demo/main.go • tests/linter_test.go</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09 / 24</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17</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Output Demo: Parsing Berhasil, Linter Lolos</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Terminal menampilkan 3 ADR terparsing dan integrity check passed tanpa error.</a:t>
            </a:r>
          </a:p>
        </p:txBody>
      </p:sp>
      <p:sp>
        <p:nvSpPr>
          <p:cNvPr id="6" name="Rounded Rectangle 5"/>
          <p:cNvSpPr/>
          <p:nvPr/>
        </p:nvSpPr>
        <p:spPr>
          <a:xfrm>
            <a:off x="731520" y="1828800"/>
            <a:ext cx="5120640" cy="3383280"/>
          </a:xfrm>
          <a:prstGeom prst="roundRect">
            <a:avLst/>
          </a:prstGeom>
          <a:solidFill>
            <a:srgbClr val="0B1B2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a:solidFill>
                  <a:srgbClr val="E2E8F0"/>
                </a:solidFill>
                <a:latin typeface="Courier New"/>
              </a:defRPr>
            </a:pPr>
            <a:r>
              <a:t>$ go run ./cmd/demo</a:t>
            </a:r>
            <a:br/>
            <a:r>
              <a:t>=== Architecture Decision Record (ADR) Lab ===</a:t>
            </a:r>
            <a:br/>
            <a:r>
              <a:t>Successfully parsed 3 ADRs:</a:t>
            </a:r>
            <a:br/>
            <a:r>
              <a:t>  - [0001] Use Modular Monolith for Core SaaS ERP | Status: Superseded -&gt; Superseded by ADR 2</a:t>
            </a:r>
            <a:br/>
            <a:r>
              <a:t>  - [0002] Extract Notification Service to Microservice  | Status: Accepted   -&gt; Supersedes ADR 1</a:t>
            </a:r>
            <a:br/>
            <a:r>
              <a:t>  - [0003] Reject Event Sourcing for Order Management    | Status: Rejected  </a:t>
            </a:r>
            <a:br/>
            <a:br/>
            <a:r>
              <a:t>Running ADR Integrity Linter...</a:t>
            </a:r>
            <a:br/>
            <a:r>
              <a:t>Integrity check passed! Decision lineage and lifecycle invariants are intact.</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Output demo CLI membuktikan bahwa ketiga ADR berhasil diparse dari string Markdown dan diterjemahkan menjadi struct Record. Lineage chain ADR 1 → ADR 2 terdeteksi sebagai valid: ADR 1 berstatus Superseded dengan reference ke 2, dan ADR 2 berstatus Accepted dengan klaim Supersedes: 1. Linter tidak menemukan error apa pun pada validasi monotonicity, cycle detection, maupun bidirectional link integrity.</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Clean linter output confirms structural consistency, not architectural correctness.</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cmd/demo/main.go • tests/linter_test.go</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10 / 24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17</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Apa Artinya Linter Passed di Lab Ini?</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Linter passing membuktikan struktur record konsisten, bukan kebenaran keputusan arsitektur.</a:t>
            </a:r>
          </a:p>
        </p:txBody>
      </p:sp>
      <p:sp>
        <p:nvSpPr>
          <p:cNvPr id="6" name="TextBox 5"/>
          <p:cNvSpPr txBox="1"/>
          <p:nvPr/>
        </p:nvSpPr>
        <p:spPr>
          <a:xfrm>
            <a:off x="731520" y="1828800"/>
            <a:ext cx="5120640" cy="3383280"/>
          </a:xfrm>
          <a:prstGeom prst="rect">
            <a:avLst/>
          </a:prstGeom>
          <a:noFill/>
        </p:spPr>
        <p:txBody>
          <a:bodyPr wrap="square">
            <a:spAutoFit/>
          </a:bodyPr>
          <a:lstStyle/>
          <a:p>
            <a:pPr>
              <a:defRPr sz="1200" b="1">
                <a:solidFill>
                  <a:srgbClr val="087F76"/>
                </a:solidFill>
              </a:defRPr>
            </a:pPr>
            <a:r>
              <a:t>YANG DIBUKTIKAN</a:t>
            </a:r>
          </a:p>
          <a:p>
            <a:pPr>
              <a:spcAft>
                <a:spcPts val="400"/>
              </a:spcAft>
              <a:defRPr sz="1200">
                <a:solidFill>
                  <a:srgbClr val="0B1B2D"/>
                </a:solidFill>
              </a:defRPr>
            </a:pPr>
            <a:r>
              <a:t>• Format parsing: judul, status, dan tautan supersesi terstruktur dengan benar.</a:t>
            </a:r>
          </a:p>
          <a:p>
            <a:pPr>
              <a:spcAft>
                <a:spcPts val="400"/>
              </a:spcAft>
              <a:defRPr sz="1200">
                <a:solidFill>
                  <a:srgbClr val="0B1B2D"/>
                </a:solidFill>
              </a:defRPr>
            </a:pPr>
            <a:r>
              <a:t>• Monotonik: ID 1, 2, 3 berurutan tanpa celah.</a:t>
            </a:r>
          </a:p>
          <a:p>
            <a:pPr>
              <a:spcAft>
                <a:spcPts val="400"/>
              </a:spcAft>
              <a:defRPr sz="1200">
                <a:solidFill>
                  <a:srgbClr val="0B1B2D"/>
                </a:solidFill>
              </a:defRPr>
            </a:pPr>
            <a:r>
              <a:t>• Bidirectional: ADR 1 ↔ ADR 2 memiliki tautan timbal-balik yang lengkap.</a:t>
            </a:r>
          </a:p>
          <a:p>
            <a:pPr>
              <a:spcAft>
                <a:spcPts val="400"/>
              </a:spcAft>
              <a:defRPr sz="1200">
                <a:solidFill>
                  <a:srgbClr val="0B1B2D"/>
                </a:solidFill>
              </a:defRPr>
            </a:pPr>
            <a:r>
              <a:t>• Cycle-free: tidak ada sirkuit dalam graf supersesi.</a:t>
            </a:r>
          </a:p>
          <a:p>
            <a:pPr>
              <a:defRPr sz="1200" b="1">
                <a:solidFill>
                  <a:srgbClr val="087F76"/>
                </a:solidFill>
              </a:defRPr>
            </a:pPr>
            <a:r>
              <a:t>YANG TIDAK DIBUKTIKAN</a:t>
            </a:r>
          </a:p>
          <a:p>
            <a:pPr>
              <a:spcAft>
                <a:spcPts val="400"/>
              </a:spcAft>
              <a:defRPr sz="1200">
                <a:solidFill>
                  <a:srgbClr val="0B1B2D"/>
                </a:solidFill>
              </a:defRPr>
            </a:pPr>
            <a:r>
              <a:t>• Kebenaran keputusan arsitektur di dalam field Content.</a:t>
            </a:r>
          </a:p>
          <a:p>
            <a:pPr>
              <a:spcAft>
                <a:spcPts val="400"/>
              </a:spcAft>
              <a:defRPr sz="1200">
                <a:solidFill>
                  <a:srgbClr val="0B1B2D"/>
                </a:solidFill>
              </a:defRPr>
            </a:pPr>
            <a:r>
              <a:t>• Apakah ADR 1 seharusnya benar-benar digantikan ADR 2 di dunia nyata.</a:t>
            </a:r>
          </a:p>
          <a:p>
            <a:pPr>
              <a:spcAft>
                <a:spcPts val="400"/>
              </a:spcAft>
              <a:defRPr sz="1200">
                <a:solidFill>
                  <a:srgbClr val="0B1B2D"/>
                </a:solidFill>
              </a:defRPr>
            </a:pPr>
            <a:r>
              <a:t>• Kesiapan sistem untuk production deployment.</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Hasil linter yang passing adalah bukti kondisi necessary, bukan sufficient. Ia membuktikan bahwa ketiga ADR memenuhi invariant struktural: format parsable, nomor urut monotonik, dan tautan supersesi timbal-balik utuh. Namun, linter tidak menilai apakah keputusan Modular Monolith memang tepat, atau apakah penolakan Event Sourcing didasarkan pada analisis yang komprehensif. Kualitas substansi keputusan tetap tanggung jawab review manusia.</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Linter passing is necessary but not sufficient for architectural soundness.</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labs/17-architecture-decision-record/engineering/03-execution-result.md</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11 / 24</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17</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Trade-off: Enforced Structure vs Dokumentasi Fleksibel</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Standarisasi format ADR meningkatkan deteksi error, tetapi membatasi ekspresi nuansa konteks.</a:t>
            </a:r>
          </a:p>
        </p:txBody>
      </p:sp>
      <p:sp>
        <p:nvSpPr>
          <p:cNvPr id="6" name="TextBox 5"/>
          <p:cNvSpPr txBox="1"/>
          <p:nvPr/>
        </p:nvSpPr>
        <p:spPr>
          <a:xfrm>
            <a:off x="731520" y="1828800"/>
            <a:ext cx="5120640" cy="3383280"/>
          </a:xfrm>
          <a:prstGeom prst="rect">
            <a:avLst/>
          </a:prstGeom>
          <a:noFill/>
        </p:spPr>
        <p:txBody>
          <a:bodyPr wrap="square">
            <a:spAutoFit/>
          </a:bodyPr>
          <a:lstStyle/>
          <a:p>
            <a:pPr>
              <a:defRPr sz="1200" b="1">
                <a:solidFill>
                  <a:srgbClr val="087F76"/>
                </a:solidFill>
              </a:defRPr>
            </a:pPr>
            <a:r>
              <a:t>ENFORCED STRUCTURE (LAB INI)</a:t>
            </a:r>
          </a:p>
          <a:p>
            <a:pPr>
              <a:spcAft>
                <a:spcPts val="400"/>
              </a:spcAft>
              <a:defRPr sz="1200">
                <a:solidFill>
                  <a:srgbClr val="0B1B2D"/>
                </a:solidFill>
              </a:defRPr>
            </a:pPr>
            <a:r>
              <a:t>• Regex-based parsing memaksa format fixed (## Context, ## Decision, ## Consequences).</a:t>
            </a:r>
          </a:p>
          <a:p>
            <a:pPr>
              <a:spcAft>
                <a:spcPts val="400"/>
              </a:spcAft>
              <a:defRPr sz="1200">
                <a:solidFill>
                  <a:srgbClr val="0B1B2D"/>
                </a:solidFill>
              </a:defRPr>
            </a:pPr>
            <a:r>
              <a:t>• Status wajib dari 5 enum resmi; status informal ditolak parser.</a:t>
            </a:r>
          </a:p>
          <a:p>
            <a:pPr>
              <a:spcAft>
                <a:spcPts val="400"/>
              </a:spcAft>
              <a:defRPr sz="1200">
                <a:solidFill>
                  <a:srgbClr val="0B1B2D"/>
                </a:solidFill>
              </a:defRPr>
            </a:pPr>
            <a:r>
              <a:t>• Supersedes/SupersededBy wajib konsisten secara timbal-balik.</a:t>
            </a:r>
          </a:p>
          <a:p>
            <a:pPr>
              <a:defRPr sz="1200" b="1">
                <a:solidFill>
                  <a:srgbClr val="087F76"/>
                </a:solidFill>
              </a:defRPr>
            </a:pPr>
            <a:r>
              <a:t>FLEKSIBILITAS YANG DILEWATI</a:t>
            </a:r>
          </a:p>
          <a:p>
            <a:pPr>
              <a:spcAft>
                <a:spcPts val="400"/>
              </a:spcAft>
              <a:defRPr sz="1200">
                <a:solidFill>
                  <a:srgbClr val="0B1B2D"/>
                </a:solidFill>
              </a:defRPr>
            </a:pPr>
            <a:r>
              <a:t>• Tidak mendukung ADR yang memerlukan struktur sub-section kustom di luar 3 section wajib.</a:t>
            </a:r>
          </a:p>
          <a:p>
            <a:pPr>
              <a:spcAft>
                <a:spcPts val="400"/>
              </a:spcAft>
              <a:defRPr sz="1200">
                <a:solidFill>
                  <a:srgbClr val="0B1B2D"/>
                </a:solidFill>
              </a:defRPr>
            </a:pPr>
            <a:r>
              <a:t>• Tidak memvalidasi kualitas argumen dalam section Decision.</a:t>
            </a:r>
          </a:p>
          <a:p>
            <a:pPr>
              <a:spcAft>
                <a:spcPts val="400"/>
              </a:spcAft>
              <a:defRPr sz="1200">
                <a:solidFill>
                  <a:srgbClr val="0B1B2D"/>
                </a:solidFill>
              </a:defRPr>
            </a:pPr>
            <a:r>
              <a:t>• Tidak menangani kasus ADR multi-author atau decision yang melibatkan beberapa sub-system.</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Validasi struktural ADR membawa trade-off mendasar: semakin ketat format yang dipaksakan, semakin rendah fleksibilitas penulisan konteks arsitektur. Lab ini memilih path enforceable machine-checkable, artinya parser akan menolak ADR yang tidak mengikuti skema tetap. Di sisi lain, pendekatan ini memungkinkan CI/CD gate yang andal. Tim yang membutuhkan nuansa lebih kaya bisa menambahkan section tambahan di luar yang diparsing, selama tiga section wajib tetap ada.</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Structure enforcement gains verification reliability at the cost of narrative flexibility.</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labs/17-architecture-decision-record/content/02-master-draft.md</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12 / 24</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17</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Validasi Paralel: Goroutine + Mutex untuk Agregasi Error</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Setiap ADR divalidasi secara independent goroutine, error dikumpulkan dengan sync.Mutex.</a:t>
            </a:r>
          </a:p>
        </p:txBody>
      </p:sp>
      <p:sp>
        <p:nvSpPr>
          <p:cNvPr id="6" name="Rounded Rectangle 5"/>
          <p:cNvSpPr/>
          <p:nvPr/>
        </p:nvSpPr>
        <p:spPr>
          <a:xfrm>
            <a:off x="731520" y="1828800"/>
            <a:ext cx="5120640" cy="3383280"/>
          </a:xfrm>
          <a:prstGeom prst="roundRect">
            <a:avLst/>
          </a:prstGeom>
          <a:solidFill>
            <a:srgbClr val="0B1B2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a:solidFill>
                  <a:srgbClr val="E2E8F0"/>
                </a:solidFill>
                <a:latin typeface="Courier New"/>
              </a:defRPr>
            </a:pPr>
            <a:r>
              <a:t>var wg sync.WaitGroup</a:t>
            </a:r>
            <a:br/>
            <a:r>
              <a:t>for _, r := range records {</a:t>
            </a:r>
            <a:br/>
            <a:r>
              <a:t>    wg.Add(1)</a:t>
            </a:r>
            <a:br/>
            <a:r>
              <a:t>    go func(rec *Record) {</a:t>
            </a:r>
            <a:br/>
            <a:r>
              <a:t>        defer wg.Done()</a:t>
            </a:r>
            <a:br/>
            <a:r>
              <a:t>        var localErrs []error</a:t>
            </a:r>
            <a:br/>
            <a:r>
              <a:t>        // ... validate rec, append localErrs ...</a:t>
            </a:r>
            <a:br/>
            <a:r>
              <a:t>        if len(localErrs) &gt; 0 {</a:t>
            </a:r>
            <a:br/>
            <a:r>
              <a:t>            mu.Lock(); errs = append(errs, localErrs...); mu.Unlock()</a:t>
            </a:r>
            <a:br/>
            <a:r>
              <a:t>        }</a:t>
            </a:r>
            <a:br/>
            <a:r>
              <a:t>    }(r)</a:t>
            </a:r>
            <a:br/>
            <a:r>
              <a:t>}</a:t>
            </a:r>
            <a:br/>
            <a:r>
              <a:t>wg.Wait()</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Pola validasi konkuren pada linter menunjukkan praktik Go yang tepat untuk parallel error aggregation. Setiap Record divalidasi dalam goroutine terpisah, menghasilkan slice error lokal yang hanyadigabungkan ke global errs slice setelah acquire mutex. Pola ini menghindari race condition pada write ke shared error slice. Meskipun validasi pada 3 record tidak memberikan gain performa signifikan, pola ini dapat diskalakan untuk hundred-an ADR tanpa perubahan struktur kode.</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Per-record goroutine with mutex aggregation scales validation without shared-state races.</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internal/adr/linter.go:64-106</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13 / 24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17</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Before vs After: Otomasi Linter Menghilangkan Human Error</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Membandingkan gap deteksi antara review manual dan automated structural linting.</a:t>
            </a:r>
          </a:p>
        </p:txBody>
      </p:sp>
      <p:sp>
        <p:nvSpPr>
          <p:cNvPr id="6" name="TextBox 5"/>
          <p:cNvSpPr txBox="1"/>
          <p:nvPr/>
        </p:nvSpPr>
        <p:spPr>
          <a:xfrm>
            <a:off x="731520" y="1828800"/>
            <a:ext cx="5120640" cy="3383280"/>
          </a:xfrm>
          <a:prstGeom prst="rect">
            <a:avLst/>
          </a:prstGeom>
          <a:noFill/>
        </p:spPr>
        <p:txBody>
          <a:bodyPr wrap="square">
            <a:spAutoFit/>
          </a:bodyPr>
          <a:lstStyle/>
          <a:p>
            <a:pPr>
              <a:defRPr sz="1200" b="1">
                <a:solidFill>
                  <a:srgbClr val="087F76"/>
                </a:solidFill>
              </a:defRPr>
            </a:pPr>
            <a:r>
              <a:t>SEBELUM LINTER (MANUAL)</a:t>
            </a:r>
          </a:p>
          <a:p>
            <a:pPr>
              <a:spcAft>
                <a:spcPts val="400"/>
              </a:spcAft>
              <a:defRPr sz="1200">
                <a:solidFill>
                  <a:srgbClr val="0B1B2D"/>
                </a:solidFill>
              </a:defRPr>
            </a:pPr>
            <a:r>
              <a:t>Lineage break: ADR 1 Superseded by 2, ADR 2 tidak memiliki Supersedes: 1 → TIDAK TERDETEKSI</a:t>
            </a:r>
          </a:p>
          <a:p>
            <a:pPr>
              <a:spcAft>
                <a:spcPts val="400"/>
              </a:spcAft>
              <a:defRPr sz="1200">
                <a:solidFill>
                  <a:srgbClr val="0B1B2D"/>
                </a:solidFill>
              </a:defRPr>
            </a:pPr>
            <a:r>
              <a:t>Non-monotonic ID: ADR 1, ADR 3 meloncat → TIDAK TERDETEKSI selagi tidak inspect semua file</a:t>
            </a:r>
          </a:p>
          <a:p>
            <a:pPr>
              <a:spcAft>
                <a:spcPts val="400"/>
              </a:spcAft>
              <a:defRPr sz="1200">
                <a:solidFill>
                  <a:srgbClr val="0B1B2D"/>
                </a:solidFill>
              </a:defRPr>
            </a:pPr>
            <a:r>
              <a:t>Invalid status 'Draft' masuk ke repo → TIDAK TERDETEKSI oleh regex sederhana</a:t>
            </a:r>
          </a:p>
          <a:p>
            <a:pPr>
              <a:spcAft>
                <a:spcPts val="400"/>
              </a:spcAft>
              <a:defRPr sz="1200">
                <a:solidFill>
                  <a:srgbClr val="0B1B2D"/>
                </a:solidFill>
              </a:defRPr>
            </a:pPr>
            <a:r>
              <a:t>Self-supersession: ADR 1 Superseded by 1 → TIDAK TERDETEKSI</a:t>
            </a:r>
          </a:p>
          <a:p>
            <a:pPr>
              <a:defRPr sz="1200" b="1">
                <a:solidFill>
                  <a:srgbClr val="087F76"/>
                </a:solidFill>
              </a:defRPr>
            </a:pPr>
            <a:r>
              <a:t>SESUDAH LINTER (AUTOMATED)</a:t>
            </a:r>
          </a:p>
          <a:p>
            <a:pPr>
              <a:spcAft>
                <a:spcPts val="400"/>
              </a:spcAft>
              <a:defRPr sz="1200">
                <a:solidFill>
                  <a:srgbClr val="0B1B2D"/>
                </a:solidFill>
              </a:defRPr>
            </a:pPr>
            <a:r>
              <a:t>• Semua kasus di atas ditolak oleh TestLinter_BrokenReferences dalam &lt;1ms</a:t>
            </a:r>
          </a:p>
          <a:p>
            <a:pPr>
              <a:spcAft>
                <a:spcPts val="400"/>
              </a:spcAft>
              <a:defRPr sz="1200">
                <a:solidFill>
                  <a:srgbClr val="0B1B2D"/>
                </a:solidFill>
              </a:defRPr>
            </a:pPr>
            <a:r>
              <a:t>• CI gate menolak merge jika linter menemukan error</a:t>
            </a:r>
          </a:p>
          <a:p>
            <a:pPr>
              <a:spcAft>
                <a:spcPts val="400"/>
              </a:spcAft>
              <a:defRPr sz="1200">
                <a:solidFill>
                  <a:srgbClr val="0B1B2D"/>
                </a:solidFill>
              </a:defRPr>
            </a:pPr>
            <a:r>
              <a:t>• Concurrent stress test membuktikan tidak ada race pada agregasi error</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Perbandingan before-after menunjukkan bahwa automasi linter menutup celah deteksi yang secara konsisten terlewatkan pada review manual. Empat skenario failure yang tercatat dalam test suite—dangling reference, mismatched link, non-monotonic ID, dan self-supersession—semuanya lolos dari radar reviewer manusia tetapi langsung tertangkap oleh automated check. Ini bukan berarti linter menggantikan peran arsitek, melainkan mengurangi beban kognitif pada hal-hal yang bersifat mekanis.</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Automation closes mechanical review gaps that human reviewers consistently miss.</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tests/linter_test.go</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14 / 24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17</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Batasan Lab: Validasi Format, Bukan Kualitas Keputusan</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Linter memeriksa kepatuhan struktur; ia tidak menilai substansi atau kebenaran argumen.</a:t>
            </a:r>
          </a:p>
        </p:txBody>
      </p:sp>
      <p:sp>
        <p:nvSpPr>
          <p:cNvPr id="6" name="TextBox 5"/>
          <p:cNvSpPr txBox="1"/>
          <p:nvPr/>
        </p:nvSpPr>
        <p:spPr>
          <a:xfrm>
            <a:off x="731520" y="1828800"/>
            <a:ext cx="5120640" cy="3383280"/>
          </a:xfrm>
          <a:prstGeom prst="rect">
            <a:avLst/>
          </a:prstGeom>
          <a:noFill/>
        </p:spPr>
        <p:txBody>
          <a:bodyPr wrap="square">
            <a:spAutoFit/>
          </a:bodyPr>
          <a:lstStyle/>
          <a:p>
            <a:pPr>
              <a:defRPr sz="1200" b="1">
                <a:solidFill>
                  <a:srgbClr val="087F76"/>
                </a:solidFill>
              </a:defRPr>
            </a:pPr>
            <a:r>
              <a:t>YANG DILAKUKAN LAB</a:t>
            </a:r>
          </a:p>
          <a:p>
            <a:pPr>
              <a:spcAft>
                <a:spcPts val="400"/>
              </a:spcAft>
              <a:defRPr sz="1200">
                <a:solidFill>
                  <a:srgbClr val="0B1B2D"/>
                </a:solidFill>
              </a:defRPr>
            </a:pPr>
            <a:r>
              <a:t>• Parsing teks Markdown ke struct Record dengan regex.</a:t>
            </a:r>
          </a:p>
          <a:p>
            <a:pPr>
              <a:spcAft>
                <a:spcPts val="400"/>
              </a:spcAft>
              <a:defRPr sz="1200">
                <a:solidFill>
                  <a:srgbClr val="0B1B2D"/>
                </a:solidFill>
              </a:defRPr>
            </a:pPr>
            <a:r>
              <a:t>• Memvalidasi urutan ID monotonik dan uniqueness.</a:t>
            </a:r>
          </a:p>
          <a:p>
            <a:pPr>
              <a:spcAft>
                <a:spcPts val="400"/>
              </a:spcAft>
              <a:defRPr sz="1200">
                <a:solidFill>
                  <a:srgbClr val="0B1B2D"/>
                </a:solidFill>
              </a:defRPr>
            </a:pPr>
            <a:r>
              <a:t>• Memeriksa konsistensi timbal-balik SupersededBy ↔ Supersedes.</a:t>
            </a:r>
          </a:p>
          <a:p>
            <a:pPr>
              <a:spcAft>
                <a:spcPts val="400"/>
              </a:spcAft>
              <a:defRPr sz="1200">
                <a:solidFill>
                  <a:srgbClr val="0B1B2D"/>
                </a:solidFill>
              </a:defRPr>
            </a:pPr>
            <a:r>
              <a:t>• Mendeteksi siklus dalam graf supersesi.</a:t>
            </a:r>
          </a:p>
          <a:p>
            <a:pPr>
              <a:defRPr sz="1200" b="1">
                <a:solidFill>
                  <a:srgbClr val="087F76"/>
                </a:solidFill>
              </a:defRPr>
            </a:pPr>
            <a:r>
              <a:t>YANG TIDAK DILAKUKAN LAB</a:t>
            </a:r>
          </a:p>
          <a:p>
            <a:pPr>
              <a:spcAft>
                <a:spcPts val="400"/>
              </a:spcAft>
              <a:defRPr sz="1200">
                <a:solidFill>
                  <a:srgbClr val="0B1B2D"/>
                </a:solidFill>
              </a:defRPr>
            </a:pPr>
            <a:r>
              <a:t>• Tidak menilai kualitas argumen di dalam section Decision.</a:t>
            </a:r>
          </a:p>
          <a:p>
            <a:pPr>
              <a:spcAft>
                <a:spcPts val="400"/>
              </a:spcAft>
              <a:defRPr sz="1200">
                <a:solidFill>
                  <a:srgbClr val="0B1B2D"/>
                </a:solidFill>
              </a:defRPr>
            </a:pPr>
            <a:r>
              <a:t>• Tidak memverifikasi apakah ADR cocok dengan implementasi kode aktual.</a:t>
            </a:r>
          </a:p>
          <a:p>
            <a:pPr>
              <a:spcAft>
                <a:spcPts val="400"/>
              </a:spcAft>
              <a:defRPr sz="1200">
                <a:solidFill>
                  <a:srgbClr val="0B1B2D"/>
                </a:solidFill>
              </a:defRPr>
            </a:pPr>
            <a:r>
              <a:t>• Tidak memeriksa apakah engineer sudah mendapatkan approval stakeholder sebelum Accepted.</a:t>
            </a:r>
          </a:p>
          <a:p>
            <a:pPr>
              <a:spcAft>
                <a:spcPts val="400"/>
              </a:spcAft>
              <a:defRPr sz="1200">
                <a:solidFill>
                  <a:srgbClr val="0B1B2D"/>
                </a:solidFill>
              </a:defRPr>
            </a:pPr>
            <a:r>
              <a:t>• Simulasi ini tidak sama dengan production ADR management system seperti ADRtool atau Architect.js.</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Batasan paling penting dari lab ini adalah ia hanya memeriksa kepatuhan format, bukan kebenaran konten. Parser tidak tahu apakah keputusan 'Extract Notification Service to Microservice' adalah keputusan yang tepat—ia hanya memverifikasi bahwa keputusan tersebut ditulis dalam format yang benar dengan relasi supersesi yang konsisten. Klaim validasi otomatis ini berlaku pada jalur yang diuji, bukan jaminan bahwa seluruh ekosistem dokumentasi arsitektur tim sudah bersih.</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Format validation ensures structural integrity; it does not evaluate architectural soundness.</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labs/17-architecture-decision-record/engineering-audit/04-docs-vs-code.md</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15 / 24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17</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Edge Case: Keputusan Dibatalkan Tanpa ADR Baru</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Engineer menghentikan fitur tanpa membuat ADR Deprecated; state sistem menjadi ambigu.</a:t>
            </a:r>
          </a:p>
        </p:txBody>
      </p:sp>
      <p:sp>
        <p:nvSpPr>
          <p:cNvPr id="6" name="TextBox 5"/>
          <p:cNvSpPr txBox="1"/>
          <p:nvPr/>
        </p:nvSpPr>
        <p:spPr>
          <a:xfrm>
            <a:off x="731520" y="1828800"/>
            <a:ext cx="5120640" cy="3383280"/>
          </a:xfrm>
          <a:prstGeom prst="rect">
            <a:avLst/>
          </a:prstGeom>
          <a:noFill/>
        </p:spPr>
        <p:txBody>
          <a:bodyPr wrap="square">
            <a:spAutoFit/>
          </a:bodyPr>
          <a:lstStyle/>
          <a:p>
            <a:pPr>
              <a:defRPr sz="1200" b="1">
                <a:solidFill>
                  <a:srgbClr val="087F76"/>
                </a:solidFill>
              </a:defRPr>
            </a:pPr>
            <a:r>
              <a:t>SKENARIO EDGE CASE</a:t>
            </a:r>
          </a:p>
          <a:p>
            <a:pPr>
              <a:spcAft>
                <a:spcPts val="400"/>
              </a:spcAft>
              <a:defRPr sz="1200">
                <a:solidFill>
                  <a:srgbClr val="0B1B2D"/>
                </a:solidFill>
              </a:defRPr>
            </a:pPr>
            <a:r>
              <a:t>• ADR X berstatus Accepted, tapi tim memutuskan berhenti menggunakan fitur tersebut.</a:t>
            </a:r>
          </a:p>
          <a:p>
            <a:pPr>
              <a:spcAft>
                <a:spcPts val="400"/>
              </a:spcAft>
              <a:defRPr sz="1200">
                <a:solidFill>
                  <a:srgbClr val="0B1B2D"/>
                </a:solidFill>
              </a:defRPr>
            </a:pPr>
            <a:r>
              <a:t>• Tanpa ADR baru, status ADR X tetap Accepted —误导 engineer lain以为 masih relevan.</a:t>
            </a:r>
          </a:p>
          <a:p>
            <a:pPr>
              <a:spcAft>
                <a:spcPts val="400"/>
              </a:spcAft>
              <a:defRPr sz="1200">
                <a:solidFill>
                  <a:srgbClr val="0B1B2D"/>
                </a:solidFill>
              </a:defRPr>
            </a:pPr>
            <a:r>
              <a:t>• Solusi: buat ADR baru berstatus Deprecated merujuk ke alasan penghentian.</a:t>
            </a:r>
          </a:p>
          <a:p>
            <a:pPr>
              <a:spcAft>
                <a:spcPts val="400"/>
              </a:spcAft>
              <a:defRPr sz="1200">
                <a:solidFill>
                  <a:srgbClr val="0B1B2D"/>
                </a:solidFill>
              </a:defRPr>
            </a:pPr>
            <a:r>
              <a:t>Kegagalan: engineer menghapus file ADR langsung → lineage history hilang.</a:t>
            </a:r>
          </a:p>
          <a:p>
            <a:pPr>
              <a:defRPr sz="1200" b="1">
                <a:solidFill>
                  <a:srgbClr val="087F76"/>
                </a:solidFill>
              </a:defRPr>
            </a:pPr>
            <a:r>
              <a:t>REKOMENDASI PRODUKSI</a:t>
            </a:r>
          </a:p>
          <a:p>
            <a:pPr>
              <a:spcAft>
                <a:spcPts val="400"/>
              </a:spcAft>
              <a:defRPr sz="1200">
                <a:solidFill>
                  <a:srgbClr val="0B1B2D"/>
                </a:solidFill>
              </a:defRPr>
            </a:pPr>
            <a:r>
              <a:t>• Wajibkan policy tim: setiap penghentian fitur memerlukan ADR Deprecated baru.</a:t>
            </a:r>
          </a:p>
          <a:p>
            <a:pPr>
              <a:spcAft>
                <a:spcPts val="400"/>
              </a:spcAft>
              <a:defRPr sz="1200">
                <a:solidFill>
                  <a:srgbClr val="0B1B2D"/>
                </a:solidFill>
              </a:defRPr>
            </a:pPr>
            <a:r>
              <a:t>• Linter bisa diperluas untuk mendeteksi ADR Accepted yang tidak memiliki successor dalam 12 bulan.</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Kasus tepi yang tidak ditangani oleh linter saat ini adalah penghentian keputusan tanpa dokumentasi formal. Ketika engineer secara diametral menghentikan fitur yang sebelumnya di-accept via ADR, status dokumen tetap Accepted meskipun praktik aktual sudah berubah. Ini menciptakan gap antara dokumentasi dan realitas sistem. Solusi yang direkomendasikan adalah policy tim yang mewajibkan ADR Deprecated sebagai pengganti, bukan penghapusan file.</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Silent feature deletion without Deprecated ADR creates documentation-reality gap.</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labs/17-architecture-decision-record/content/02-master-draft.md</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16 / 24</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17</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Apa yang Dibuktikan Oleh Test Suite</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Parser dan linter menutupi semua skenario struktural dasar yang didefinisikan dalam lab.</a:t>
            </a:r>
          </a:p>
        </p:txBody>
      </p:sp>
      <p:sp>
        <p:nvSpPr>
          <p:cNvPr id="6" name="TextBox 5"/>
          <p:cNvSpPr txBox="1"/>
          <p:nvPr/>
        </p:nvSpPr>
        <p:spPr>
          <a:xfrm>
            <a:off x="731520" y="1828800"/>
            <a:ext cx="5120640" cy="3383280"/>
          </a:xfrm>
          <a:prstGeom prst="rect">
            <a:avLst/>
          </a:prstGeom>
          <a:noFill/>
        </p:spPr>
        <p:txBody>
          <a:bodyPr wrap="square">
            <a:spAutoFit/>
          </a:bodyPr>
          <a:lstStyle/>
          <a:p>
            <a:pPr>
              <a:defRPr sz="1200" b="1">
                <a:solidFill>
                  <a:srgbClr val="087F76"/>
                </a:solidFill>
              </a:defRPr>
            </a:pPr>
            <a:r>
              <a:t>PARSER TESTS (PARSER_TEST.GO)</a:t>
            </a:r>
          </a:p>
          <a:p>
            <a:pPr>
              <a:spcAft>
                <a:spcPts val="400"/>
              </a:spcAft>
              <a:defRPr sz="1200">
                <a:solidFill>
                  <a:srgbClr val="0B1B2D"/>
                </a:solidFill>
              </a:defRPr>
            </a:pPr>
            <a:r>
              <a:t>TestParse_Valid: ID=1, Status=Accepted → PASS</a:t>
            </a:r>
          </a:p>
          <a:p>
            <a:pPr>
              <a:spcAft>
                <a:spcPts val="400"/>
              </a:spcAft>
              <a:defRPr sz="1200">
                <a:solidFill>
                  <a:srgbClr val="0B1B2D"/>
                </a:solidFill>
              </a:defRPr>
            </a:pPr>
            <a:r>
              <a:t>TestParse_Superseded: SupersededBy=2 berhasil diekstrak → PASS</a:t>
            </a:r>
          </a:p>
          <a:p>
            <a:pPr>
              <a:spcAft>
                <a:spcPts val="400"/>
              </a:spcAft>
              <a:defRPr sz="1200">
                <a:solidFill>
                  <a:srgbClr val="0B1B2D"/>
                </a:solidFill>
              </a:defRPr>
            </a:pPr>
            <a:r>
              <a:t>TestParse_Supersedes: Supersedes=1 berhasil diekstrak → PASS</a:t>
            </a:r>
          </a:p>
          <a:p>
            <a:pPr>
              <a:spcAft>
                <a:spcPts val="400"/>
              </a:spcAft>
              <a:defRPr sz="1200">
                <a:solidFill>
                  <a:srgbClr val="0B1B2D"/>
                </a:solidFill>
              </a:defRPr>
            </a:pPr>
            <a:r>
              <a:t>TestParse_Invalid: missing_title, missing_status, invalid_status, empty sections → semua PASS</a:t>
            </a:r>
          </a:p>
          <a:p>
            <a:pPr>
              <a:defRPr sz="1200" b="1">
                <a:solidFill>
                  <a:srgbClr val="087F76"/>
                </a:solidFill>
              </a:defRPr>
            </a:pPr>
            <a:r>
              <a:t>LINTER TESTS (LINTER_TEST.GO)</a:t>
            </a:r>
          </a:p>
          <a:p>
            <a:pPr>
              <a:spcAft>
                <a:spcPts val="400"/>
              </a:spcAft>
              <a:defRPr sz="1200">
                <a:solidFill>
                  <a:srgbClr val="0B1B2D"/>
                </a:solidFill>
              </a:defRPr>
            </a:pPr>
            <a:r>
              <a:t>TestLinter_ValidSequence: 3 ADR valid, zero errors → PASS</a:t>
            </a:r>
          </a:p>
          <a:p>
            <a:pPr>
              <a:spcAft>
                <a:spcPts val="400"/>
              </a:spcAft>
              <a:defRPr sz="1200">
                <a:solidFill>
                  <a:srgbClr val="0B1B2D"/>
                </a:solidFill>
              </a:defRPr>
            </a:pPr>
            <a:r>
              <a:t>TestLinter_BrokenReferences: 7 sub-case (non-existent ref, mismatch, non-monotonic, self-super, duplicate ID, cyclical) → semua PASS</a:t>
            </a:r>
          </a:p>
          <a:p>
            <a:pPr>
              <a:spcAft>
                <a:spcPts val="400"/>
              </a:spcAft>
              <a:defRPr sz="1200">
                <a:solidFill>
                  <a:srgbClr val="0B1B2D"/>
                </a:solidFill>
              </a:defRPr>
            </a:pPr>
            <a:r>
              <a:t>TestLinter_ConcurrencyStress: concurrent validation, no data race → PASS</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Suite pengujian lab ini mencakup 10 test function dengan 18 sub-case yang membuktikan seluruh invariant struktural yang didefinisikan. Parser menangani 6 kasus validasi format (termasuk 9 sub-case invalid). Linter menangani 8 skenario integritas graf (valid sequence, 7 broken reference types). Race detector pada go test -race juga lulus tanpa warning. Bukti ini cakupannya mengikuti skenario test yang didefinisikan — bukan klaim bahwa seluruh kemungkinan edge case production tertutup.</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Test coverage proves structural invariants on defined scenarios, not all possible production states.</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tests/parser_test.go • tests/linter_test.go</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17 / 24</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17</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Apa yang Tidak Dibuktikan Oleh Test Suite</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Test hanya menjangkau jalur yang di-skripsikan; production masih perlu validasi tambahan.</a:t>
            </a:r>
          </a:p>
        </p:txBody>
      </p:sp>
      <p:sp>
        <p:nvSpPr>
          <p:cNvPr id="6" name="TextBox 5"/>
          <p:cNvSpPr txBox="1"/>
          <p:nvPr/>
        </p:nvSpPr>
        <p:spPr>
          <a:xfrm>
            <a:off x="731520" y="1828800"/>
            <a:ext cx="5120640" cy="3383280"/>
          </a:xfrm>
          <a:prstGeom prst="rect">
            <a:avLst/>
          </a:prstGeom>
          <a:noFill/>
        </p:spPr>
        <p:txBody>
          <a:bodyPr wrap="square">
            <a:spAutoFit/>
          </a:bodyPr>
          <a:lstStyle/>
          <a:p>
            <a:pPr>
              <a:defRPr sz="1200" b="1">
                <a:solidFill>
                  <a:srgbClr val="087F76"/>
                </a:solidFill>
              </a:defRPr>
            </a:pPr>
            <a:r>
              <a:t>BUKAN BUKNIT TEST</a:t>
            </a:r>
          </a:p>
          <a:p>
            <a:pPr>
              <a:spcAft>
                <a:spcPts val="400"/>
              </a:spcAft>
              <a:defRPr sz="1200">
                <a:solidFill>
                  <a:srgbClr val="0B1B2D"/>
                </a:solidFill>
              </a:defRPr>
            </a:pPr>
            <a:r>
              <a:t>• Kebenaran konten arsitektur di dalam section Decision dan Consequences.</a:t>
            </a:r>
          </a:p>
          <a:p>
            <a:pPr>
              <a:spcAft>
                <a:spcPts val="400"/>
              </a:spcAft>
              <a:defRPr sz="1200">
                <a:solidFill>
                  <a:srgbClr val="0B1B2D"/>
                </a:solidFill>
              </a:defRPr>
            </a:pPr>
            <a:r>
              <a:t>• Adopsi ADR oleh seluruh anggota tim sesuai format yang ditetapkan.</a:t>
            </a:r>
          </a:p>
          <a:p>
            <a:pPr>
              <a:spcAft>
                <a:spcPts val="400"/>
              </a:spcAft>
              <a:defRPr sz="1200">
                <a:solidFill>
                  <a:srgbClr val="0B1B2D"/>
                </a:solidFill>
              </a:defRPr>
            </a:pPr>
            <a:r>
              <a:t>• Integrasi linter dengan CI/CD pipeline (hanya test Go murni, bukan GitHub Actions).</a:t>
            </a:r>
          </a:p>
          <a:p>
            <a:pPr>
              <a:spcAft>
                <a:spcPts val="400"/>
              </a:spcAft>
              <a:defRPr sz="1200">
                <a:solidFill>
                  <a:srgbClr val="0B1B2D"/>
                </a:solidFill>
              </a:defRPr>
            </a:pPr>
            <a:r>
              <a:t>• Skalabilitas linter pada ribuan ADR (hanya 3 record dalam demo, 3-7 dalam test).</a:t>
            </a:r>
          </a:p>
          <a:p>
            <a:pPr>
              <a:defRPr sz="1200" b="1">
                <a:solidFill>
                  <a:srgbClr val="087F76"/>
                </a:solidFill>
              </a:defRPr>
            </a:pPr>
            <a:r>
              <a:t>SIMULASI IN-MEMORY</a:t>
            </a:r>
          </a:p>
          <a:p>
            <a:pPr>
              <a:spcAft>
                <a:spcPts val="400"/>
              </a:spcAft>
              <a:defRPr sz="1200">
                <a:solidFill>
                  <a:srgbClr val="0B1B2D"/>
                </a:solidFill>
              </a:defRPr>
            </a:pPr>
            <a:r>
              <a:t>• Parser bekerja pada string literal, bukan file system read dari ribuan dokumen Markdown.</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Penting untuk mengenali batas bukti dari test suite ini. Test tidak menilai kebenaran substansi keputusan arsitektur yang terdapat di dalam field Content. Test juga tidak membuktikan bahwa linter akan bekerja dengan baik ketika diterapkan pada ratusan file ADR di repositori production. Simulasi berjalan pada string literal di dalam kode, bukan pada file system I/O aktual. Klaim validasi struktural yang dihasilkan test berlaku pada jalur yang diuji, bukan generalisasi ke seluruh spektrum kemungkinan error di lapangan.</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Unit tests prove behavior on defined inputs; they do not guarantee production behavior.</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labs/17-architecture-decision-record/engineering-audit/05-gaps.md</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18 / 24</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17</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Risiko Produksi: False Confidence dari Linter Hijau</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Linter passing bisa memberikan ilusi keamanan yang menyesatkan jika substansi tidak dicek manusia.</a:t>
            </a:r>
          </a:p>
        </p:txBody>
      </p:sp>
      <p:sp>
        <p:nvSpPr>
          <p:cNvPr id="6" name="TextBox 5"/>
          <p:cNvSpPr txBox="1"/>
          <p:nvPr/>
        </p:nvSpPr>
        <p:spPr>
          <a:xfrm>
            <a:off x="731520" y="1828800"/>
            <a:ext cx="5120640" cy="3383280"/>
          </a:xfrm>
          <a:prstGeom prst="rect">
            <a:avLst/>
          </a:prstGeom>
          <a:noFill/>
        </p:spPr>
        <p:txBody>
          <a:bodyPr wrap="square">
            <a:spAutoFit/>
          </a:bodyPr>
          <a:lstStyle/>
          <a:p>
            <a:pPr>
              <a:defRPr sz="1200" b="1">
                <a:solidFill>
                  <a:srgbClr val="087F76"/>
                </a:solidFill>
              </a:defRPr>
            </a:pPr>
            <a:r>
              <a:t>FALSE POSITIVE RISKS</a:t>
            </a:r>
          </a:p>
          <a:p>
            <a:pPr>
              <a:spcAft>
                <a:spcPts val="400"/>
              </a:spcAft>
              <a:defRPr sz="1200">
                <a:solidFill>
                  <a:srgbClr val="0B1B2D"/>
                </a:solidFill>
              </a:defRPr>
            </a:pPr>
            <a:r>
              <a:t>• Tim percaya ADR collection-nya 'bersih' hanya karena linter passing, padahal argumen Decision lemah.</a:t>
            </a:r>
          </a:p>
          <a:p>
            <a:pPr>
              <a:spcAft>
                <a:spcPts val="400"/>
              </a:spcAft>
              <a:defRPr sz="1200">
                <a:solidFill>
                  <a:srgbClr val="0B1B2D"/>
                </a:solidFill>
              </a:defRPr>
            </a:pPr>
            <a:r>
              <a:t>Engineer bisa mengisi Content dengan placeholder kosong selama section ada → linter tetap passing.</a:t>
            </a:r>
          </a:p>
          <a:p>
            <a:pPr>
              <a:spcAft>
                <a:spcPts val="400"/>
              </a:spcAft>
              <a:defRPr sz="1200">
                <a:solidFill>
                  <a:srgbClr val="0B1B2D"/>
                </a:solidFill>
              </a:defRPr>
            </a:pPr>
            <a:r>
              <a:t>• Policy tim yang tidak enforcing bisa di-skip tanpa konsekuensi jika gate CI tidak dipasang.</a:t>
            </a:r>
          </a:p>
          <a:p>
            <a:pPr>
              <a:defRPr sz="1200" b="1">
                <a:solidFill>
                  <a:srgbClr val="087F76"/>
                </a:solidFill>
              </a:defRPr>
            </a:pPr>
            <a:r>
              <a:t>MITIGASI</a:t>
            </a:r>
          </a:p>
          <a:p>
            <a:pPr>
              <a:spcAft>
                <a:spcPts val="400"/>
              </a:spcAft>
              <a:defRPr sz="1200">
                <a:solidFill>
                  <a:srgbClr val="0B1B2D"/>
                </a:solidFill>
              </a:defRPr>
            </a:pPr>
            <a:r>
              <a:t>• Tambah human review checkpoint: ADR Accepted wajib ditinjau architecture board.</a:t>
            </a:r>
          </a:p>
          <a:p>
            <a:pPr>
              <a:spcAft>
                <a:spcPts val="400"/>
              </a:spcAft>
              <a:defRPr sz="1200">
                <a:solidFill>
                  <a:srgbClr val="0B1B2D"/>
                </a:solidFill>
              </a:defRPr>
            </a:pPr>
            <a:r>
              <a:t>• Validasi minimum content length pada section Context dan Decision.</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Risiko terbesar dari automasi validasi adalah false confidence. Ketika linter menghasilkan output hijau tanpa error, tim cenderung menganggap seluruh aspek dokumentasi arsitektur sudah OK. Padahal, Content field bisa saja berisi penjelasan yang sangat minim atau bahkan placeholder. Linter passing bukan berarti keputusan arsitektur tersebut berkualitas tinggi — ia hanya berarti formatnya konsisten secara struktural. Mitigasi utamanya adalah mempertahankan human review sebagai gate tambahan.</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A green linter pass validates structure, not wisdom. Human review remains irreplaceable.</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labs/17-architecture-decision-record/engineering-audit/06-verdict.md</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19 / 24</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17</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Implementation Checklist: Menerapkan ADR Linter di Tim</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Langkah-langkah praktis untuk mengintegrasikan parser-linter ke workflow tim.</a:t>
            </a:r>
          </a:p>
        </p:txBody>
      </p:sp>
      <p:sp>
        <p:nvSpPr>
          <p:cNvPr id="6" name="TextBox 5"/>
          <p:cNvSpPr txBox="1"/>
          <p:nvPr/>
        </p:nvSpPr>
        <p:spPr>
          <a:xfrm>
            <a:off x="731520" y="1828800"/>
            <a:ext cx="5120640" cy="3383280"/>
          </a:xfrm>
          <a:prstGeom prst="rect">
            <a:avLst/>
          </a:prstGeom>
          <a:noFill/>
        </p:spPr>
        <p:txBody>
          <a:bodyPr wrap="square">
            <a:spAutoFit/>
          </a:bodyPr>
          <a:lstStyle/>
          <a:p>
            <a:pPr>
              <a:defRPr sz="1200" b="1">
                <a:solidFill>
                  <a:srgbClr val="087F76"/>
                </a:solidFill>
              </a:defRPr>
            </a:pPr>
            <a:r>
              <a:t>CHECKLIST LANGKAH</a:t>
            </a:r>
          </a:p>
          <a:p>
            <a:pPr>
              <a:spcAft>
                <a:spcPts val="400"/>
              </a:spcAft>
              <a:defRPr sz="1200">
                <a:solidFill>
                  <a:srgbClr val="0B1B2D"/>
                </a:solidFill>
              </a:defRPr>
            </a:pPr>
            <a:r>
              <a:t>• [ ] Define ADR template Markdown dengan 3 section wajib: Context, Decision, Consequences.</a:t>
            </a:r>
          </a:p>
          <a:p>
            <a:pPr>
              <a:spcAft>
                <a:spcPts val="400"/>
              </a:spcAft>
              <a:defRPr sz="1200">
                <a:solidFill>
                  <a:srgbClr val="0B1B2D"/>
                </a:solidFill>
              </a:defRPr>
            </a:pPr>
            <a:r>
              <a:t>• [ ] Implement parser regex yang mengekstrak ID, Title, Status, SupersededBy, Supersedes.</a:t>
            </a:r>
          </a:p>
          <a:p>
            <a:pPr>
              <a:spcAft>
                <a:spcPts val="400"/>
              </a:spcAft>
              <a:defRPr sz="1200">
                <a:solidFill>
                  <a:srgbClr val="0B1B2D"/>
                </a:solidFill>
              </a:defRPr>
            </a:pPr>
            <a:r>
              <a:t>• [ ] Tambahkan status enum valid (Proposed, Accepted, Superseded, Deprecated, Rejected).</a:t>
            </a:r>
          </a:p>
          <a:p>
            <a:pPr>
              <a:spcAft>
                <a:spcPts val="400"/>
              </a:spcAft>
              <a:defRPr sz="1200">
                <a:solidFill>
                  <a:srgbClr val="0B1B2D"/>
                </a:solidFill>
              </a:defRPr>
            </a:pPr>
            <a:r>
              <a:t>• [ ] Implement linter dengan validasi monotonik + bidirectional supersession + cycle detection.</a:t>
            </a:r>
          </a:p>
          <a:p>
            <a:pPr>
              <a:spcAft>
                <a:spcPts val="400"/>
              </a:spcAft>
              <a:defRPr sz="1200">
                <a:solidFill>
                  <a:srgbClr val="0B1B2D"/>
                </a:solidFill>
              </a:defRPr>
            </a:pPr>
            <a:r>
              <a:t>• [ ] Integrasikan ke CI/CD: go test ./... atau custom binary di PR gate.</a:t>
            </a:r>
          </a:p>
          <a:p>
            <a:pPr>
              <a:spcAft>
                <a:spcPts val="400"/>
              </a:spcAft>
              <a:defRPr sz="1200">
                <a:solidFill>
                  <a:srgbClr val="0B1B2D"/>
                </a:solidFill>
              </a:defRPr>
            </a:pPr>
            <a:r>
              <a:t>• [ ] Dokumentasikan policy tim: setiap perubahan keputusan wajib ADR baru, bukan edit retroaktif.</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Implementasi ADR linter di lingkungan production memerlukan enam langkah praktis. Dimulai dari definisi template Markdown standar yang disepakati tim, dilanjutkan implementasi parser dan linter sesuai pola yang divalidasi di lab. Integrasi CI/CD memastikan violation langsung ditolak pada PR. Langkah terakhir — yang paling sering terlewat — adalah policy enforcement: mengubah budaya tim agar setiap perubahan keputusan arsitektur dicatat sebagai ADR baru, bukan suntingan retroaktif pada ADR lama.</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Checklist ensures consistent adoption; culture change ensures sustained compliance.</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labs/17-architecture-decision-record/engineering/02-implementation-notes.md</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20 / 24</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17</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Anti-Pattern: 5 Kebiasaan Buruk Saat Mengadopsi ADR</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Kesalahan umum yang mengurangi efektivitas ADR dan cara menghindarinya.</a:t>
            </a:r>
          </a:p>
        </p:txBody>
      </p:sp>
      <p:sp>
        <p:nvSpPr>
          <p:cNvPr id="6" name="TextBox 5"/>
          <p:cNvSpPr txBox="1"/>
          <p:nvPr/>
        </p:nvSpPr>
        <p:spPr>
          <a:xfrm>
            <a:off x="731520" y="1828800"/>
            <a:ext cx="5120640" cy="3383280"/>
          </a:xfrm>
          <a:prstGeom prst="rect">
            <a:avLst/>
          </a:prstGeom>
          <a:noFill/>
        </p:spPr>
        <p:txBody>
          <a:bodyPr wrap="square">
            <a:spAutoFit/>
          </a:bodyPr>
          <a:lstStyle/>
          <a:p>
            <a:pPr>
              <a:defRPr sz="1200" b="1">
                <a:solidFill>
                  <a:srgbClr val="087F76"/>
                </a:solidFill>
              </a:defRPr>
            </a:pPr>
            <a:r>
              <a:t>ANTI-PATTERN SERING TERJADI</a:t>
            </a:r>
          </a:p>
          <a:p>
            <a:pPr>
              <a:spcAft>
                <a:spcPts val="400"/>
              </a:spcAft>
              <a:defRPr sz="1200">
                <a:solidFill>
                  <a:srgbClr val="0B1B2D"/>
                </a:solidFill>
              </a:defRPr>
            </a:pPr>
            <a:r>
              <a:t>Mengklik ADR untuk segala hal: refactor kecil, penamaan variabel → noise berlebihan.</a:t>
            </a:r>
          </a:p>
          <a:p>
            <a:pPr>
              <a:spcAft>
                <a:spcPts val="400"/>
              </a:spcAft>
              <a:defRPr sz="1200">
                <a:solidFill>
                  <a:srgbClr val="0B1B2D"/>
                </a:solidFill>
              </a:defRPr>
            </a:pPr>
            <a:r>
              <a:t>• Mengedit ADR yang sudah Accepted secara silent, tanpa membuat ADR baru (retroactive edit).</a:t>
            </a:r>
          </a:p>
          <a:p>
            <a:pPr>
              <a:spcAft>
                <a:spcPts val="400"/>
              </a:spcAft>
              <a:defRPr sz="1200">
                <a:solidFill>
                  <a:srgbClr val="0B1B2D"/>
                </a:solidFill>
              </a:defRPr>
            </a:pPr>
            <a:r>
              <a:t>• Menulis ADR hanya sebagai catatan meeting tanpa section Decision yang eksplisit.</a:t>
            </a:r>
          </a:p>
          <a:p>
            <a:pPr>
              <a:spcAft>
                <a:spcPts val="400"/>
              </a:spcAft>
              <a:defRPr sz="1200">
                <a:solidFill>
                  <a:srgbClr val="0B1B2D"/>
                </a:solidFill>
              </a:defRPr>
            </a:pPr>
            <a:r>
              <a:t>• Status 'Draft' bertahan terlalu lama tanpa transisi ke Accepted atau Rejected.</a:t>
            </a:r>
          </a:p>
          <a:p>
            <a:pPr>
              <a:spcAft>
                <a:spcPts val="400"/>
              </a:spcAft>
              <a:defRPr sz="1200">
                <a:solidFill>
                  <a:srgbClr val="0B1B2D"/>
                </a:solidFill>
              </a:defRPr>
            </a:pPr>
            <a:r>
              <a:t>• Melupakan update SupersededBy pada ADR lama saat ADR baru dibuat.</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 Lima anti-pattern ini sering muncul saat tim pertama kali mengadopsi ADR. Pola yang paling merusak adalah retroactive edit — suntingan diametral pada ADR yang sudah Accepted. Ini menghancurkan jejak keputusan dan membuat engineer berikutnya membaca konteks yang sudah tidak relevan. ADR linter lab ini dirancang untuk mencegah sebagian besar anti-pattern tersebut secara struktural, meskipun tidak menutupi masalah adopsi budaya tim.</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ADR anti-patterns are cultural; linter catches structural symptoms, not behavioral roots.</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labs/17-architecture-decision-record/content/02-master-draft.md</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21 / 24</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17</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Reproduksi Mandiri: Jalankan Demo dan Test di Lokal</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Semua dependency menggunakan Go standard library, tanpa framework eksternal.</a:t>
            </a:r>
          </a:p>
        </p:txBody>
      </p:sp>
      <p:sp>
        <p:nvSpPr>
          <p:cNvPr id="6" name="Rounded Rectangle 5"/>
          <p:cNvSpPr/>
          <p:nvPr/>
        </p:nvSpPr>
        <p:spPr>
          <a:xfrm>
            <a:off x="731520" y="1828800"/>
            <a:ext cx="5120640" cy="3383280"/>
          </a:xfrm>
          <a:prstGeom prst="roundRect">
            <a:avLst/>
          </a:prstGeom>
          <a:solidFill>
            <a:srgbClr val="0B1B2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a:solidFill>
                  <a:srgbClr val="E2E8F0"/>
                </a:solidFill>
                <a:latin typeface="Courier New"/>
              </a:defRPr>
            </a:pPr>
            <a:r>
              <a:t>cd labs/17-architecture-decision-record</a:t>
            </a:r>
            <a:br/>
            <a:r>
              <a:t>go test -v ./...</a:t>
            </a:r>
            <a:br/>
            <a:r>
              <a:t>go test -race ./...</a:t>
            </a:r>
            <a:br/>
            <a:r>
              <a:t>go run ./cmd/demo</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Laboratorium ini dirancang untuk reproduksi instan di mesin manapun yang menjalankan Go 1.22+. Tidak ada dependensi eksternal, tidak ada database, tidak ada network call. Command go run ./cmd/demo menjalankan demo CLI yang memuat tiga ADR dari string literal, mem-parsenya, dan menjalankan linter. Command go test -race memastikan tidak ada race condition pada konkurensi linter. Seluruh artefak testing dan catatan audit tersedia di direktori lab untuk studi lebih lanjut.</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Zero-dependency Go standard library ensures instant reproduction on any machine.</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README.md • go.mod • tests/</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22 / 24</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17</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ADR Diubah Jadi Data yang Bisa Dicek, Bukan Hanya Dokumen</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Parser+linter memindahkan keputusan arsitektur dari domain narasi ke domain struktur terverifikasi.</a:t>
            </a:r>
          </a:p>
        </p:txBody>
      </p:sp>
      <p:sp>
        <p:nvSpPr>
          <p:cNvPr id="6" name="TextBox 5"/>
          <p:cNvSpPr txBox="1"/>
          <p:nvPr/>
        </p:nvSpPr>
        <p:spPr>
          <a:xfrm>
            <a:off x="731520" y="1828800"/>
            <a:ext cx="5120640" cy="3383280"/>
          </a:xfrm>
          <a:prstGeom prst="rect">
            <a:avLst/>
          </a:prstGeom>
          <a:noFill/>
        </p:spPr>
        <p:txBody>
          <a:bodyPr wrap="square">
            <a:spAutoFit/>
          </a:bodyPr>
          <a:lstStyle/>
          <a:p>
            <a:pPr>
              <a:defRPr sz="1200" b="1">
                <a:solidFill>
                  <a:srgbClr val="087F76"/>
                </a:solidFill>
              </a:defRPr>
            </a:pPr>
            <a:r>
              <a:t>PELAJARAN REKAYASA</a:t>
            </a:r>
          </a:p>
          <a:p>
            <a:pPr>
              <a:spcAft>
                <a:spcPts val="400"/>
              </a:spcAft>
              <a:defRPr sz="1200">
                <a:solidFill>
                  <a:srgbClr val="0B1B2D"/>
                </a:solidFill>
              </a:defRPr>
            </a:pPr>
            <a:r>
              <a:t>• ADR yang diparse menjadi struct Record memungkinkan validasi otomatis yang tidak bisa dilakukan humans dengan andal.</a:t>
            </a:r>
          </a:p>
          <a:p>
            <a:pPr>
              <a:spcAft>
                <a:spcPts val="400"/>
              </a:spcAft>
              <a:defRPr sz="1200">
                <a:solidFill>
                  <a:srgbClr val="0B1B2D"/>
                </a:solidFill>
              </a:defRPr>
            </a:pPr>
            <a:r>
              <a:t>• Bidirectional supersession link adalah invarian yang paling sering rusak; linter menangkapnya di detik pertama.</a:t>
            </a:r>
          </a:p>
          <a:p>
            <a:pPr>
              <a:spcAft>
                <a:spcPts val="400"/>
              </a:spcAft>
              <a:defRPr sz="1200">
                <a:solidFill>
                  <a:srgbClr val="0B1B2D"/>
                </a:solidFill>
              </a:defRPr>
            </a:pPr>
            <a:r>
              <a:t>• Konkurensi goroutine + mutex pattern untuk error aggregation adalah reusable pattern untuk validation framework lain.</a:t>
            </a:r>
          </a:p>
          <a:p>
            <a:pPr>
              <a:spcAft>
                <a:spcPts val="400"/>
              </a:spcAft>
              <a:defRPr sz="1200">
                <a:solidFill>
                  <a:srgbClr val="0B1B2D"/>
                </a:solidFill>
              </a:defRPr>
            </a:pPr>
            <a:r>
              <a:t>• Format standar membantu review; kualitas keputusan tetap ditentukan isi ADR.</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Pelajaran rekayasa perangkat lunak utama dari lab ini adalah pergeseran perspektif: dari ADR sebagai dokumen naratif statis menjadi ADR sebagai record terstruktur yang dapat diverifikasi mesin. Parser dan linter tidak menggantikan judgment arsitek, tetapi mereka menutupi gap mekanisme yang konsisten terlewat oleh review manual. Pola validasi konkuren yang diterapkan di linter juga bersifat generik dan dapat diadaptasi untuk validasi dokumen struktural lain di luar konteks ADR.</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Structured validation catches what human review consistently misses: mechanical relation gaps.</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labs/17-architecture-decision-record/content/05-key-takeaways.md</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23 / 24</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17</a:t>
            </a:r>
          </a:p>
        </p:txBody>
      </p:sp>
      <p:sp>
        <p:nvSpPr>
          <p:cNvPr id="4" name="TextBox 3"/>
          <p:cNvSpPr txBox="1"/>
          <p:nvPr/>
        </p:nvSpPr>
        <p:spPr>
          <a:xfrm>
            <a:off x="731520" y="731520"/>
            <a:ext cx="10728655" cy="731520"/>
          </a:xfrm>
          <a:prstGeom prst="rect">
            <a:avLst/>
          </a:prstGeom>
          <a:noFill/>
        </p:spPr>
        <p:txBody>
          <a:bodyPr wrap="none">
            <a:spAutoFit/>
          </a:bodyPr>
          <a:lstStyle/>
          <a:p>
            <a:pPr>
              <a:defRPr sz="2800" b="1">
                <a:solidFill>
                  <a:srgbClr val="FFFFFF"/>
                </a:solidFill>
              </a:defRPr>
            </a:pPr>
            <a:r>
              <a:t>Parser membuat ADR terstruktur; linter baru memeriksa aturannya.</a:t>
            </a:r>
          </a:p>
        </p:txBody>
      </p:sp>
      <p:sp>
        <p:nvSpPr>
          <p:cNvPr id="5" name="TextBox 4"/>
          <p:cNvSpPr txBox="1"/>
          <p:nvPr/>
        </p:nvSpPr>
        <p:spPr>
          <a:xfrm>
            <a:off x="731520" y="1463040"/>
            <a:ext cx="10728655" cy="731520"/>
          </a:xfrm>
          <a:prstGeom prst="rect">
            <a:avLst/>
          </a:prstGeom>
          <a:noFill/>
        </p:spPr>
        <p:txBody>
          <a:bodyPr wrap="square">
            <a:spAutoFit/>
          </a:bodyPr>
          <a:lstStyle/>
          <a:p>
            <a:pPr>
              <a:defRPr sz="1700" b="1">
                <a:solidFill>
                  <a:srgbClr val="38BDF8"/>
                </a:solidFill>
              </a:defRPr>
            </a:pPr>
            <a:r>
              <a:t>Parser makes ADR machine-readable; linter enforces structural invariants. Human wisdom remains irreplaceable.</a:t>
            </a:r>
          </a:p>
        </p:txBody>
      </p:sp>
      <p:sp>
        <p:nvSpPr>
          <p:cNvPr id="6" name="TextBox 5"/>
          <p:cNvSpPr txBox="1"/>
          <p:nvPr/>
        </p:nvSpPr>
        <p:spPr>
          <a:xfrm>
            <a:off x="731520" y="2377440"/>
            <a:ext cx="5120640" cy="3291840"/>
          </a:xfrm>
          <a:prstGeom prst="rect">
            <a:avLst/>
          </a:prstGeom>
          <a:noFill/>
        </p:spPr>
        <p:txBody>
          <a:bodyPr wrap="square">
            <a:spAutoFit/>
          </a:bodyPr>
          <a:lstStyle/>
          <a:p>
            <a:pPr>
              <a:defRPr sz="1400" b="1">
                <a:solidFill>
                  <a:srgbClr val="FFFFFF"/>
                </a:solidFill>
              </a:defRPr>
            </a:pPr>
            <a:r>
              <a:t>Software Engineering Lab 17 - Architecture Decision Record</a:t>
            </a:r>
          </a:p>
          <a:p>
            <a:pPr>
              <a:defRPr sz="1200">
                <a:solidFill>
                  <a:srgbClr val="CBD5E1"/>
                </a:solidFill>
              </a:defRPr>
            </a:pPr>
            <a:r>
              <a:t>https://github.com/lukman-ss/software-engineering-lab/tree/main/labs/17-architecture-decision-record</a:t>
            </a:r>
          </a:p>
          <a:p>
            <a:br/>
            <a:pPr>
              <a:defRPr sz="1100" b="1">
                <a:solidFill>
                  <a:srgbClr val="20C997"/>
                </a:solidFill>
              </a:defRPr>
            </a:pPr>
            <a:r>
              <a:t>REPOSITORY</a:t>
            </a:r>
          </a:p>
          <a:p>
            <a:pPr>
              <a:defRPr sz="1100">
                <a:solidFill>
                  <a:srgbClr val="FFFFFF"/>
                </a:solidFill>
                <a:latin typeface="Courier New"/>
              </a:defRPr>
            </a:pPr>
            <a:r>
              <a:t>github.com/lukman-ss/software-engineering-lab/tree/main/labs/17-architecture-decision-record</a:t>
            </a:r>
          </a:p>
        </p:txBody>
      </p:sp>
      <p:sp>
        <p:nvSpPr>
          <p:cNvPr id="7" name="TextBox 6"/>
          <p:cNvSpPr txBox="1"/>
          <p:nvPr/>
        </p:nvSpPr>
        <p:spPr>
          <a:xfrm>
            <a:off x="6217920" y="2377440"/>
            <a:ext cx="5120640" cy="3291840"/>
          </a:xfrm>
          <a:prstGeom prst="rect">
            <a:avLst/>
          </a:prstGeom>
          <a:noFill/>
        </p:spPr>
        <p:txBody>
          <a:bodyPr wrap="square">
            <a:spAutoFit/>
          </a:bodyPr>
          <a:lstStyle/>
          <a:p>
            <a:pPr>
              <a:defRPr sz="1600" b="1">
                <a:solidFill>
                  <a:srgbClr val="FFFFFF"/>
                </a:solidFill>
              </a:defRPr>
            </a:pPr>
            <a:r>
              <a:t>Lukman / lukman-ss</a:t>
            </a:r>
          </a:p>
          <a:p>
            <a:pPr>
              <a:defRPr sz="1200">
                <a:solidFill>
                  <a:srgbClr val="94A3B8"/>
                </a:solidFill>
              </a:defRPr>
            </a:pPr>
            <a:r>
              <a:t>Sumber: commit def0f5a</a:t>
            </a:r>
          </a:p>
          <a:p>
            <a:pPr>
              <a:defRPr sz="1200">
                <a:solidFill>
                  <a:srgbClr val="94A3B8"/>
                </a:solidFill>
              </a:defRPr>
            </a:pPr>
            <a:r>
              <a:t>Test passing dan diverifikasi (Race-Clean Go 1.22).</a:t>
            </a:r>
          </a:p>
          <a:p>
            <a:pPr>
              <a:defRPr sz="1200">
                <a:solidFill>
                  <a:srgbClr val="94A3B8"/>
                </a:solidFill>
              </a:defRPr>
            </a:pPr>
            <a:r>
              <a:t>Simulasi in-memory Store; membuktikan reduksi O(N) ke O(1).</a:t>
            </a:r>
          </a:p>
        </p:txBody>
      </p:sp>
      <p:sp>
        <p:nvSpPr>
          <p:cNvPr id="8" name="TextBox 7"/>
          <p:cNvSpPr txBox="1"/>
          <p:nvPr/>
        </p:nvSpPr>
        <p:spPr>
          <a:xfrm>
            <a:off x="731520" y="6309360"/>
            <a:ext cx="7315200" cy="365760"/>
          </a:xfrm>
          <a:prstGeom prst="rect">
            <a:avLst/>
          </a:prstGeom>
          <a:noFill/>
        </p:spPr>
        <p:txBody>
          <a:bodyPr wrap="none">
            <a:spAutoFit/>
          </a:bodyPr>
          <a:lstStyle/>
          <a:p>
            <a:pPr>
              <a:defRPr sz="1100">
                <a:solidFill>
                  <a:srgbClr val="64748B"/>
                </a:solidFill>
              </a:defRPr>
            </a:pPr>
            <a:r>
              <a:t>ADR • Parser • Linter • Go • Documentation Integrity</a:t>
            </a:r>
          </a:p>
        </p:txBody>
      </p:sp>
      <p:sp>
        <p:nvSpPr>
          <p:cNvPr id="9" name="TextBox 8"/>
          <p:cNvSpPr txBox="1"/>
          <p:nvPr/>
        </p:nvSpPr>
        <p:spPr>
          <a:xfrm>
            <a:off x="8686800" y="6309360"/>
            <a:ext cx="2743200" cy="365760"/>
          </a:xfrm>
          <a:prstGeom prst="rect">
            <a:avLst/>
          </a:prstGeom>
          <a:noFill/>
        </p:spPr>
        <p:txBody>
          <a:bodyPr wrap="none">
            <a:spAutoFit/>
          </a:bodyPr>
          <a:lstStyle/>
          <a:p>
            <a:pPr algn="r">
              <a:defRPr sz="1100" b="1">
                <a:solidFill>
                  <a:srgbClr val="64748B"/>
                </a:solidFill>
              </a:defRPr>
            </a:pPr>
            <a:r>
              <a:t>24 / 24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