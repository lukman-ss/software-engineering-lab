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Architecture Decision Record &amp; Validasi Struktural</a:t>
            </a:r>
          </a:p>
          <a:p/>
          <a:p>
            <a:r>
              <a:t>Mental Model: Architecture Decision Records capture context, consequences, and immutable lifecycle progression within version control.</a:t>
            </a:r>
          </a:p>
          <a:p/>
          <a:p>
            <a:r>
              <a:t>[]</a:t>
            </a:r>
          </a:p>
          <a:p>
            <a:r>
              <a:t>- Retro Terminal Displaying ADR Parser, Monotonic Checks &amp; Bidirectional Graph</a:t>
            </a:r>
          </a:p>
          <a:p>
            <a:r>
              <a:t>- Monolith to Microservice Evolution with Concurrency-Safe Linter in Go</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Konteks Keputusan Hilang Memicu Debat Teknis Berulang</a:t>
            </a:r>
          </a:p>
          <a:p/>
          <a:p>
            <a:r>
              <a:t>Mental Model: Undocumented decisions trigger cyclical technical debates and blind reversal of proven architectural trade-offs.</a:t>
            </a:r>
          </a:p>
          <a:p/>
          <a:p>
            <a:r>
              <a:t>[DAMPAK HILANGNYA REKAMAN ARSITEKTUR]</a:t>
            </a:r>
          </a:p>
          <a:p>
            <a:r>
              <a:t>- Pembalikan Buta: Keputusan masa lalu dibalik tanpa mengerti batasan awal yang memicunya saat peluncuran.</a:t>
            </a:r>
          </a:p>
          <a:p>
            <a:r>
              <a:t>- Dogma Usang: Pola lama dipertahankan secara buta meski beban traffic dan skala tim telah melompat 5x lipat.</a:t>
            </a:r>
          </a:p>
          <a:p>
            <a:r>
              <a:t>- Bukan Berarti Malas: Tim aktif berdiskusi teknis, tetapi bukan berarti produktif jika memperdebatkan opsi yang sama berulang kali.</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Wiki dan Markdown Manual Cepat Mengalami Drift</a:t>
            </a:r>
          </a:p>
          <a:p/>
          <a:p>
            <a:r>
              <a:t>Mental Model: Unverified markdown ADRs accumulate broken links, phantom replacements, and invalid states over time.</a:t>
            </a:r>
          </a:p>
          <a:p/>
          <a:p>
            <a:r>
              <a:t>[PENDEKATAN NAIF VS REALITA TEKNIS]</a:t>
            </a:r>
          </a:p>
          <a:p>
            <a:r>
              <a:t>- Wiki Eksternal Terisolasi: Confluence dan Google Docs terpisah dari Git commit; segera usang saat kode di-refactor.</a:t>
            </a:r>
          </a:p>
          <a:p>
            <a:r>
              <a:t>- Dangling References: ADR lama ditandai Superseded by 99, tetapi berkas 99 tidak pernah ditulis atau terhapus.</a:t>
            </a:r>
          </a:p>
          <a:p>
            <a:r>
              <a:t>- Tidak Otomatis Akurat: Menulis format markdown di repo tidak otomatis valid tanpa aturan linter CI yang memverifikasi integritas graf.</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Empat Pilar Siklus Hidup Architecture Decision Record</a:t>
            </a:r>
          </a:p>
          <a:p/>
          <a:p>
            <a:r>
              <a:t>Mental Model: Treat architectural decisions as immutable nodes in an append-only directed acyclic graph.</a:t>
            </a:r>
          </a:p>
          <a:p/>
          <a:p>
            <a:r>
              <a:t>[PILAR INTEGRITAS DOKUMENTASI ARSITEKTUR]</a:t>
            </a:r>
          </a:p>
          <a:p>
            <a:r>
              <a:t>- 1. Ko-lokasi Git (Version Controlled): ADR disimpan bersama kode; berevolusi melalui mekanisme Pull Request dan Code Review.</a:t>
            </a:r>
          </a:p>
          <a:p>
            <a:r>
              <a:t>- 2. Kekekalan Dokumen (Immutable History): ADR Accepted dilarang diedit retroaktif; arah baru wajib dicatat pada ADR baru.</a:t>
            </a:r>
          </a:p>
          <a:p>
            <a:r>
              <a:t>- 3. Silsilah Berarah (Directed Graph): Relasi timbal-balik: status Superseded by N wajib dibalas deklarasi Supersedes M.</a:t>
            </a:r>
          </a:p>
          <a:p>
            <a:r>
              <a:t>- 4. Validasi CI Otomatis (Linter Invariant): Hanya pada jalur ini validasi terotomatisasi mencegah nomor lompat dan siklus sirkular.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Pipeline Validasi: Dari Raw Markdown Menjadi Error List</a:t>
            </a:r>
          </a:p>
          <a:p/>
          <a:p>
            <a:r>
              <a:t>Mental Model: Sequential structural parsing followed by concurrent referential graph integrity verification.</a:t>
            </a:r>
          </a:p>
          <a:p/>
          <a:p>
            <a:r>
              <a:t>[TAHAPAN PEMERIKSAAN INTEGRITAS ADR]</a:t>
            </a:r>
          </a:p>
          <a:p>
            <a:r>
              <a:t>- 1. Text Ingestion (Reader): Membaca string berkas markdown ADR dari repositori atau buffer memori.</a:t>
            </a:r>
          </a:p>
          <a:p>
            <a:r>
              <a:t>- 2. Regex Parsing (adr.Parse): Mengekstrak ID, Title, Status, SupersededBy, Supersedes, dan seksi wajib.</a:t>
            </a:r>
          </a:p>
          <a:p>
            <a:r>
              <a:t>- 3. Monotonic Check (adr.Linter): Memastikan kumpulan ID terurut 1..N tanpa duplikasi ID dan tanpa nomor lompat.</a:t>
            </a:r>
          </a:p>
          <a:p>
            <a:r>
              <a:t>- 4. Graph &amp; Parallel (Goroutines): Verifikasi referensi timbal-balik; belum membuktikan integrasi git hook otomatis.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Ekstraksi Metadata dan Seksi Wajib Lewat Regex</a:t>
            </a:r>
          </a:p>
          <a:p/>
          <a:p>
            <a:r>
              <a:t>Mental Model: Strict regex validation enforces mandatory architectural sections before records enter the graph.</a:t>
            </a:r>
          </a:p>
          <a:p/>
          <a:p>
            <a:r>
              <a:t>[internal/adr/parser.go]</a:t>
            </a:r>
          </a:p>
          <a:p>
            <a:r>
              <a:t>- var (</a:t>
            </a:r>
          </a:p>
          <a:p>
            <a:r>
              <a:t>-     titleRegex  = regexp.MustCompile(`^#\s+(\d+)\.\s+(.+)$`)</a:t>
            </a:r>
          </a:p>
          <a:p>
            <a:r>
              <a:t>-     statusRegex = regexp.MustCompile(`(?i)^Status:\s*([A-Za-z]+)(?:\s+by\s+(\d+))?`)</a:t>
            </a:r>
          </a:p>
          <a:p>
            <a:r>
              <a:t>-     contextRegex = regexp.MustCompile(`(?i)^##\s+Context`)</a:t>
            </a:r>
          </a:p>
          <a:p>
            <a:r>
              <a:t>-     decisionRegex = regexp.MustCompile(`(?i)^##\s+Decision`)</a:t>
            </a:r>
          </a:p>
          <a:p>
            <a:r>
              <a:t>- )</a:t>
            </a:r>
          </a:p>
          <a:p>
            <a:r>
              <a:t>- // Parse memverifikasi isi seksi Context, Decision, Consequences</a:t>
            </a:r>
          </a:p>
          <a:p>
            <a:r>
              <a:t>- if !foundContext || !contextHasContent { return nil, errors.New("context empty")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Anatomi Kerusakan Graf: Tautan Sepihak &amp; Referensi Hantu</a:t>
            </a:r>
          </a:p>
          <a:p/>
          <a:p>
            <a:r>
              <a:t>Mental Model: Broken supersession links create split-brain architectural states where obsolete designs appear active.</a:t>
            </a:r>
          </a:p>
          <a:p/>
          <a:p>
            <a:r>
              <a:t>[SKENARIO KEGAGALAN STRUKTUR DOKUMENTASI]</a:t>
            </a:r>
          </a:p>
          <a:p>
            <a:r>
              <a:t>- Supersession Sepihak: ADR 2 mengklaim Supersedes: 1, tetapi ADR 1 masih berstatus Accepted tanpa tanda penggantian.</a:t>
            </a:r>
          </a:p>
          <a:p>
            <a:r>
              <a:t>- Referensi Hantu: ADR 1 berstatus Superseded by 99, padahal ADR 99 tidak pernah ada di dalam repositori.</a:t>
            </a:r>
          </a:p>
          <a:p>
            <a:r>
              <a:t>- Penomoran Bolong: ID melompat dari 1 langsung ke 3; menimbulkan keraguan apakah ada dokumen yang hilang.</a:t>
            </a:r>
          </a:p>
          <a:p>
            <a:r>
              <a:t>- Self-Supersession: ADR 1 menandai dirinya digantikan oleh ADR 1; hanya pada jalur ini siklus konyol dicegah linter.</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Matriks Komparasi: Gejala Anomali vs Pencegahan Mesin</a:t>
            </a:r>
          </a:p>
          <a:p/>
          <a:p>
            <a:r>
              <a:t>Mental Model: Map human documentation oversights to strict algorithmic invariants enforceable in compilation and CI.</a:t>
            </a:r>
          </a:p>
          <a:p/>
          <a:p>
            <a:r>
              <a:t>[GEJALA ANOMALI VS VALIDATOR LINTER]</a:t>
            </a:r>
          </a:p>
          <a:p>
            <a:r>
              <a:t>- Anomali Dokumentasi | Dampak di Tim Engineering | Aturan Verifikasi Linter</a:t>
            </a:r>
          </a:p>
          <a:p>
            <a:r>
              <a:t>- Tautan Sepihak | Status ganda: dua arsitektur bentrok | Reciprocal Check (rec.Supersedes == old.ID)</a:t>
            </a:r>
          </a:p>
          <a:p>
            <a:r>
              <a:t>- Dangling Pointer | Konteks pengganti hilang tanpa jejak | Exist Check (replacement, exists := recordMap[ID])</a:t>
            </a:r>
          </a:p>
          <a:p>
            <a:r>
              <a:t>- Siklus Sirkular | Loop penggantian tanpa ujung (1-&gt;2-&gt;1) | DFS Cycle Detection (3-state coloring)</a:t>
            </a:r>
          </a:p>
          <a:p>
            <a:r>
              <a:t>- Nomor Tidak Urut | Ambiguitas file hilang dalam Git history | Monotonic Numbering Check (ids[i] == i+1)</a:t>
            </a:r>
          </a:p>
          <a:p>
            <a:r>
              <a:t>- Format Informal | Status 'Draft' / seksi wajib hilang | Parser Guard (IsValid() &amp; Section Check)</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Evolusi Arsitektur SaaS ERP: Dari Monolith ke Service</a:t>
            </a:r>
          </a:p>
          <a:p/>
          <a:p>
            <a:r>
              <a:t>Mental Model: Record both accepted architectural migrations and rejected proposals to prevent unneeded complexity.</a:t>
            </a:r>
          </a:p>
          <a:p/>
          <a:p>
            <a:r>
              <a:t>[SEKUENS KEPUTUSAN ARSITEKTUR LAB]</a:t>
            </a:r>
          </a:p>
          <a:p>
            <a:r>
              <a:t>- ADR 0001: Modular Monolith: Dipilih saat tim 5 orang demi kecepatan iterasi dan integritas transaksi relasional.</a:t>
            </a:r>
          </a:p>
          <a:p>
            <a:r>
              <a:t>- ADR 0002: Extract Notification: Menggantikan ADR 1 saat tim 25 orang dan lonjakan burst traffic membebani core ERP.</a:t>
            </a:r>
          </a:p>
          <a:p>
            <a:r>
              <a:t>- ADR 0003: Reject Event Sourcing: Ditolak formal; bukan berarti anti Event Sourcing, melainkan tabel audit SQL sudah memadai.</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Eksekusi Test Suite dan Demo cmd/demo Lolos Bersih</a:t>
            </a:r>
          </a:p>
          <a:p/>
          <a:p>
            <a:r>
              <a:t>Mental Model: Executable verification provides undeniable proof of structural parsing and referential integrity.</a:t>
            </a:r>
          </a:p>
          <a:p/>
          <a:p>
            <a:r>
              <a:t>[TERMINAL OUTPUT: go test -v -race ./... &amp;&amp; go run ./cmd/demo]</a:t>
            </a:r>
          </a:p>
          <a:p>
            <a:r>
              <a:t>- === RUN   TestLinter_ValidSequence</a:t>
            </a:r>
          </a:p>
          <a:p>
            <a:r>
              <a:t>- --- PASS: TestLinter_ValidSequence (0.00s)</a:t>
            </a:r>
          </a:p>
          <a:p>
            <a:r>
              <a:t>- === RUN   TestLinter_BrokenReferences (7 sub-tests)</a:t>
            </a:r>
          </a:p>
          <a:p>
            <a:r>
              <a:t>- --- PASS: TestLinter_BrokenReferences (0.00s)</a:t>
            </a:r>
          </a:p>
          <a:p>
            <a:r>
              <a:t>- === RUN   TestLinter_ConcurrencyStress (100 records)</a:t>
            </a:r>
          </a:p>
          <a:p>
            <a:r>
              <a:t>- --- PASS: TestLinter_ConcurrencyStress (0.00s)</a:t>
            </a:r>
          </a:p>
          <a:p>
            <a:r>
              <a:t>- === RUN   TestParse_Valid &amp; TestParse_Invalid (9 sub-tests)</a:t>
            </a:r>
          </a:p>
          <a:p>
            <a:r>
              <a:t>- --- PASS: TestParse_Invalid (0.00s)</a:t>
            </a:r>
          </a:p>
          <a:p>
            <a:r>
              <a:t>- PASS: ok lab17/tests 1.469s (race detector: clean)</a:t>
            </a:r>
          </a:p>
          <a:p>
            <a:r>
              <a:t>- === Architecture Decision Record (ADR) Lab ===</a:t>
            </a:r>
          </a:p>
          <a:p>
            <a:r>
              <a:t>- Successfully parsed 3 ADRs | Linter: Integrity check passed!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Batasan Bukti Lab: Yang Dibuktikan vs Belum</a:t>
            </a:r>
          </a:p>
          <a:p/>
          <a:p>
            <a:r>
              <a:t>Mental Model: Strictly separate mathematically verified data structure invariants from unproven organizational claims.</a:t>
            </a:r>
          </a:p>
          <a:p/>
          <a:p>
            <a:r>
              <a:t>[BATAS PEMBUKTIAN SISTEM]</a:t>
            </a:r>
          </a:p>
          <a:p>
            <a:r>
              <a:t>- YANG DIBUKTIKAN: Parsing regex teks ADR, validasi nomor urut monotonik, dan deteksi siklus silsilah.</a:t>
            </a:r>
          </a:p>
          <a:p>
            <a:r>
              <a:t>- YANG TIDAK DIBUKTIKAN: Integrasi file system riil, git hook commit gating, dan pembuatan berkas CLI otomatis.</a:t>
            </a:r>
          </a:p>
          <a:p>
            <a:r>
              <a:t>- BATAS KLAIM EMPIRIS: Lab belum membuktikan klaim kuantitatif reduksi waktu onboarding pada tim 100+ engineer.</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Penerapan ADR dan Validasi Terotomasi</a:t>
            </a:r>
          </a:p>
          <a:p/>
          <a:p>
            <a:r>
              <a:t>Mental Model: ADRs trade short-term pull request authoring overhead for long-term clarity and preserved technical context.</a:t>
            </a:r>
          </a:p>
          <a:p/>
          <a:p>
            <a:r>
              <a:t>[KOMPROMI REKAYASA PENCATATAN ADR]</a:t>
            </a:r>
          </a:p>
          <a:p>
            <a:r>
              <a:t>- Overhead Pull Request: Setiap perubahan arsitektur mewajibkan berkas ADR baru dan update status dokumen lama.</a:t>
            </a:r>
          </a:p>
          <a:p>
            <a:r>
              <a:t>- Rigiditas Format Teks: Seksi Context, Decision, dan Consequences wajib diisi; menolak catatan singkat informal.</a:t>
            </a:r>
          </a:p>
          <a:p>
            <a:r>
              <a:t>- Tidak Otomatis Akurat: Linter hanya mengecek sintaks; tidak otomatis menjamin bahwa keputusan teknis yang diambil tepat.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Validasi Graf Konkuren Menggunakan Goroutines &amp; Mutex</a:t>
            </a:r>
          </a:p>
          <a:p/>
          <a:p>
            <a:r>
              <a:t>Mental Model: Validate independent graph vertices concurrently while protecting error collectors behind mutex locks.</a:t>
            </a:r>
          </a:p>
          <a:p/>
          <a:p>
            <a:r>
              <a:t>[internal/adr/linter.go]</a:t>
            </a:r>
          </a:p>
          <a:p>
            <a:r>
              <a:t>- var wg sync.WaitGroup</a:t>
            </a:r>
          </a:p>
          <a:p>
            <a:r>
              <a:t>- for _, r := range records {</a:t>
            </a:r>
          </a:p>
          <a:p>
            <a:r>
              <a:t>-     wg.Add(1)</a:t>
            </a:r>
          </a:p>
          <a:p>
            <a:r>
              <a:t>-     go func(rec *Record) {</a:t>
            </a:r>
          </a:p>
          <a:p>
            <a:r>
              <a:t>-         defer wg.Done()</a:t>
            </a:r>
          </a:p>
          <a:p>
            <a:r>
              <a:t>-         // Evaluasi referensi timbal balik rec.Supersedes &amp; SupersededBy</a:t>
            </a:r>
          </a:p>
          <a:p>
            <a:r>
              <a:t>-         if len(localErrs) &gt; 0 {</a:t>
            </a:r>
          </a:p>
          <a:p>
            <a:r>
              <a:t>-             mu.Lock()</a:t>
            </a:r>
          </a:p>
          <a:p>
            <a:r>
              <a:t>-             errs = append(errs, localErrs...)</a:t>
            </a:r>
          </a:p>
          <a:p>
            <a:r>
              <a:t>-             mu.Unlock()</a:t>
            </a:r>
          </a:p>
          <a:p>
            <a:r>
              <a:t>-         }</a:t>
            </a:r>
          </a:p>
          <a:p>
            <a:r>
              <a:t>-     }(r)</a:t>
            </a:r>
          </a:p>
          <a:p>
            <a:r>
              <a:t>- }</a:t>
            </a:r>
          </a:p>
          <a:p>
            <a:r>
              <a:t>- wg.Wait()</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Transformasi: Dari Catatan Liar ke Graf Tervalidasi</a:t>
            </a:r>
          </a:p>
          <a:p/>
          <a:p>
            <a:r>
              <a:t>Mental Model: Replace fragmented external documentation with version-controlled, lint-validated decision records.</a:t>
            </a:r>
          </a:p>
          <a:p/>
          <a:p>
            <a:r>
              <a:t>[SEBELUM (MANUAL WIKI) VS SESUDAH (AUTOMATED ADR)]</a:t>
            </a:r>
          </a:p>
          <a:p>
            <a:r>
              <a:t>- Sebelum: Wiki Liar: Keputusan tercecer di Slack atau Confluence; tautan rusak dan status usang tanpa peringatan.</a:t>
            </a:r>
          </a:p>
          <a:p>
            <a:r>
              <a:t>- Sesudah: Git ADR + Linter: ADR berdampingan dengan kode; CI memvalidasi keutuhan nomor dan tautan silsilah.</a:t>
            </a:r>
          </a:p>
          <a:p>
            <a:r>
              <a:t>- Bukan Berarti Kaku: Format terstruktur bukan berarti birokrasi berlebih; template minimal Nygard cukup 1 halaman.</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Enforcing State Machine Siklus Hidup ADR</a:t>
            </a:r>
          </a:p>
          <a:p/>
          <a:p>
            <a:r>
              <a:t>Mental Model: Constrain document lifecycle states to a closed enumerated set validated at parse time.</a:t>
            </a:r>
          </a:p>
          <a:p/>
          <a:p>
            <a:r>
              <a:t>[internal/adr/models.go]</a:t>
            </a:r>
          </a:p>
          <a:p>
            <a:r>
              <a:t>- type Status string</a:t>
            </a:r>
          </a:p>
          <a:p>
            <a:r>
              <a:t>- const (</a:t>
            </a:r>
          </a:p>
          <a:p>
            <a:r>
              <a:t>-     StatusProposed   Status = "Proposed"</a:t>
            </a:r>
          </a:p>
          <a:p>
            <a:r>
              <a:t>-     StatusAccepted   Status = "Accepted"</a:t>
            </a:r>
          </a:p>
          <a:p>
            <a:r>
              <a:t>-     StatusSuperseded Status = "Superseded"</a:t>
            </a:r>
          </a:p>
          <a:p>
            <a:r>
              <a:t>-     StatusDeprecated Status = "Deprecated"</a:t>
            </a:r>
          </a:p>
          <a:p>
            <a:r>
              <a:t>-     StatusRejected   Status = "Rejected"</a:t>
            </a:r>
          </a:p>
          <a:p>
            <a:r>
              <a:t>- )</a:t>
            </a:r>
          </a:p>
          <a:p>
            <a:r>
              <a:t>- func (s Status) IsValid() bool { /* switch validasi */ }</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Invarian Penomoran Monotonik Mencegah Berkas Hilang</a:t>
            </a:r>
          </a:p>
          <a:p/>
          <a:p>
            <a:r>
              <a:t>Mental Model: Sequential monotonic numbering verifies that no historical decision records were deleted or omitted.</a:t>
            </a:r>
          </a:p>
          <a:p/>
          <a:p>
            <a:r>
              <a:t>[internal/adr/linter.go]</a:t>
            </a:r>
          </a:p>
          <a:p>
            <a:r>
              <a:t>- ids := make([]int, 0, len(records))</a:t>
            </a:r>
          </a:p>
          <a:p>
            <a:r>
              <a:t>- for id := range recordMap { ids = append(ids, id) }</a:t>
            </a:r>
          </a:p>
          <a:p>
            <a:r>
              <a:t>- sort.Ints(ids)</a:t>
            </a:r>
          </a:p>
          <a:p>
            <a:r>
              <a:t>- for i := 0; i &lt; len(ids); i++ {</a:t>
            </a:r>
          </a:p>
          <a:p>
            <a:r>
              <a:t>-     if ids[i] != i+1 {</a:t>
            </a:r>
          </a:p>
          <a:p>
            <a:r>
              <a:t>-         errs = append(errs, fmt.Errorf("non-monotonic numbering"))</a:t>
            </a:r>
          </a:p>
          <a:p>
            <a:r>
              <a:t>-         break</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Deteksi Siklus Silsilah dengan Algoritma DFS 3-State</a:t>
            </a:r>
          </a:p>
          <a:p/>
          <a:p>
            <a:r>
              <a:t>Mental Model: Detect invalid directed cycles using depth-first graph coloring before supersession chains corrupt lineage.</a:t>
            </a:r>
          </a:p>
          <a:p/>
          <a:p>
            <a:r>
              <a:t>[internal/adr/linter.go]</a:t>
            </a:r>
          </a:p>
          <a:p>
            <a:r>
              <a:t>- state := make(map[int]int) // 0: unvisited, 1: visiting, 2: visited</a:t>
            </a:r>
          </a:p>
          <a:p>
            <a:r>
              <a:t>- detectCycle = func(id int) {</a:t>
            </a:r>
          </a:p>
          <a:p>
            <a:r>
              <a:t>-     state[id] = 1</a:t>
            </a:r>
          </a:p>
          <a:p>
            <a:r>
              <a:t>-     if rec, ok := recordMap[id]; ok &amp;&amp; rec.SupersededBy != 0 {</a:t>
            </a:r>
          </a:p>
          <a:p>
            <a:r>
              <a:t>-         nextID := rec.SupersededBy</a:t>
            </a:r>
          </a:p>
          <a:p>
            <a:r>
              <a:t>-         if state[nextID] == 1 {</a:t>
            </a:r>
          </a:p>
          <a:p>
            <a:r>
              <a:t>-             errs = append(errs, fmt.Errorf("cyclical supersession"))</a:t>
            </a:r>
          </a:p>
          <a:p>
            <a:r>
              <a:t>-         } else if state[nextID] == 0 { detectCycle(nextID) }</a:t>
            </a:r>
          </a:p>
          <a:p>
            <a:r>
              <a:t>-     }</a:t>
            </a:r>
          </a:p>
          <a:p>
            <a:r>
              <a:t>-     state[id] = 2</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Verifikasi Timbal-Balik: Konsistensi Hubungan Penggantian</a:t>
            </a:r>
          </a:p>
          <a:p/>
          <a:p>
            <a:r>
              <a:t>Mental Model: Reciprocal supersession verification guarantees that obsolete and current records remain mutually consistent.</a:t>
            </a:r>
          </a:p>
          <a:p/>
          <a:p>
            <a:r>
              <a:t>[internal/adr/linter.go]</a:t>
            </a:r>
          </a:p>
          <a:p>
            <a:r>
              <a:t>- if rec.Status == StatusSuperseded {</a:t>
            </a:r>
          </a:p>
          <a:p>
            <a:r>
              <a:t>-     replacement, exists := recordMap[rec.SupersededBy]</a:t>
            </a:r>
          </a:p>
          <a:p>
            <a:r>
              <a:t>-     if !exists { localErrs = append(localErrs, fmt.Errorf("non-existent")) }</a:t>
            </a:r>
          </a:p>
          <a:p>
            <a:r>
              <a:t>-     else if replacement.Supersedes != rec.ID {</a:t>
            </a:r>
          </a:p>
          <a:p>
            <a:r>
              <a:t>-         localErrs = append(localErrs, fmt.Errorf("mismatched supersession"))</a:t>
            </a:r>
          </a:p>
          <a:p>
            <a:r>
              <a:t>-     }</a:t>
            </a:r>
          </a:p>
          <a:p>
            <a:r>
              <a:t>- }</a:t>
            </a:r>
          </a:p>
          <a:p>
            <a:r>
              <a:t>- if rec.Supersedes != 0 &amp;&amp; (old.Status != StatusSuperseded || old.SupersededBy != rec.ID) {</a:t>
            </a:r>
          </a:p>
          <a:p>
            <a:r>
              <a:t>-     localErrs = append(localErrs, fmt.Errorf("not marked as superseded"))</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Penolakan Berkas Cacat: Parser Guard Seksi Wajib</a:t>
            </a:r>
          </a:p>
          <a:p/>
          <a:p>
            <a:r>
              <a:t>Mental Model: Guard against hollow architectural documentation by validating mandatory content within each section.</a:t>
            </a:r>
          </a:p>
          <a:p/>
          <a:p>
            <a:r>
              <a:t>[tests/parser_test.go]</a:t>
            </a:r>
          </a:p>
          <a:p>
            <a:r>
              <a:t>- func TestParse_Invalid(t *testing.T) {</a:t>
            </a:r>
          </a:p>
          <a:p>
            <a:r>
              <a:t>-     tests := []struct { name, content, wantErr string }{</a:t>
            </a:r>
          </a:p>
          <a:p>
            <a:r>
              <a:t>-         {"missing title", "Status: Accepted", "title not found"},</a:t>
            </a:r>
          </a:p>
          <a:p>
            <a:r>
              <a:t>-         {"invalid status", "# 1. T\nStatus: Draft", "invalid status: Draft"},</a:t>
            </a:r>
          </a:p>
          <a:p>
            <a:r>
              <a:t>-         {"empty context", "# 1. T\nStatus: Accepted\n## Context\n## Decision\nB...",</a:t>
            </a:r>
          </a:p>
          <a:p>
            <a:r>
              <a:t>-          "context section missing or empty"},</a:t>
            </a:r>
          </a:p>
          <a:p>
            <a:r>
              <a:t>-     }</a:t>
            </a:r>
          </a:p>
          <a:p>
            <a:r>
              <a:t>-     for _, tt := range tests { /* assert strings.Contains(err, wantErr) */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Tata Kelola Architecture Decision Record</a:t>
            </a:r>
          </a:p>
          <a:p/>
          <a:p>
            <a:r>
              <a:t>Mental Model: Enforce structured decision governance to maintain an immutable, verifiable audit trail of system design.</a:t>
            </a:r>
          </a:p>
          <a:p/>
          <a:p>
            <a:r>
              <a:t>[KRITERIA IMPLEMENTASI ADR TERSTRUKTUR]</a:t>
            </a:r>
          </a:p>
          <a:p>
            <a:r>
              <a:t>- ADR disimpan langsung di repositori Git dalam folder docs/adr/ berdampingan dengan kode.</a:t>
            </a:r>
          </a:p>
          <a:p>
            <a:r>
              <a:t>- Penomoran berkas menggunakan format monotonik 4 digit tanpa jeda (0001, 0002, ...).</a:t>
            </a:r>
          </a:p>
          <a:p>
            <a:r>
              <a:t>- Status keputusan strictly terbatas pada: Proposed, Accepted, Superseded, Deprecated, Rejected.</a:t>
            </a:r>
          </a:p>
          <a:p>
            <a:r>
              <a:t>- Dokumen yang telah Accepted bersifat immutable; pembaruan arah wajib membuat berkas ADR baru.</a:t>
            </a:r>
          </a:p>
          <a:p>
            <a:r>
              <a:t>- Penggantian keputusan mendeklarasikan tautan timbal-balik (Superseded by N dan Supersedes M).</a:t>
            </a:r>
          </a:p>
          <a:p>
            <a:r>
              <a:t>- Linter otomatis dijalankan pada pipeline CI untuk memvalidasi nomor, status, dan integritas graf.</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Umum dalam Dokumentasi Arsitektur</a:t>
            </a:r>
          </a:p>
          <a:p/>
          <a:p>
            <a:r>
              <a:t>Mental Model: Never edit historical decisions; append new records and update status links to reflect system evolution.</a:t>
            </a:r>
          </a:p>
          <a:p/>
          <a:p>
            <a:r>
              <a:t>[HINDARI KESALAHAN UMUM INI]</a:t>
            </a:r>
          </a:p>
          <a:p>
            <a:r>
              <a:t>- Penyuntingan Retroaktif: Mengubah isi ADR lama saat arah berubah; menghancurkan riwayat konteks historis arsitektur.</a:t>
            </a:r>
          </a:p>
          <a:p>
            <a:r>
              <a:t>- ADR untuk Hal Sepele: Mencatat refactor nama variabel atau library helper kecil; menciptakan kebisingan dokumen.</a:t>
            </a:r>
          </a:p>
          <a:p>
            <a:r>
              <a:t>- Bukan Berarti Bebas: Menolak ADR formal bukan berarti bebas bergerak; tim hanya menunda biaya debat di masa depan.</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Reproduksi Mandiri di Mesin Lokal Menggunakan Go</a:t>
            </a:r>
          </a:p>
          <a:p/>
          <a:p>
            <a:r>
              <a:t>Mental Model: Zero-dependency algorithmic verification guarantees fast, reliable validation in local and CI workflows.</a:t>
            </a:r>
          </a:p>
          <a:p/>
          <a:p>
            <a:r>
              <a:t>[COMMAND RUNNER (ZERO DEPENDENCIES)]</a:t>
            </a:r>
          </a:p>
          <a:p>
            <a:r>
              <a:t>- cd labs/17-architecture-decision-record</a:t>
            </a:r>
          </a:p>
          <a:p>
            <a:r>
              <a:t>- go test -v ./...    # validasi parser regex dan aturan linter struktural</a:t>
            </a:r>
          </a:p>
          <a:p>
            <a:r>
              <a:t>- go test -race ./... # verifikasi validasi graf konkuren bebas data race</a:t>
            </a:r>
          </a:p>
          <a:p>
            <a:r>
              <a:t>- go run ./cmd/demo   # eksekusi demo parsing 3 ADR evolusi SaaS ERP</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Inti: Keputusan Adalah Kode yang Harus Diuji</a:t>
            </a:r>
          </a:p>
          <a:p/>
          <a:p>
            <a:r>
              <a:t>Mental Model: Treat architectural records as an append-only, machine-verified ledger of technical compromises.</a:t>
            </a:r>
          </a:p>
          <a:p/>
          <a:p>
            <a:r>
              <a:t>[TIGA PILAR KELANGSUNGAN ARSITEKTUR]</a:t>
            </a:r>
          </a:p>
          <a:p>
            <a:r>
              <a:t>- Ko-lokasi dengan Kode: Simpan rekam jejak keputusan di cabang Git yang sama agar selalu berevolusi bersama fitur.</a:t>
            </a:r>
          </a:p>
          <a:p>
            <a:r>
              <a:t>- Kekekalan Silsilah: Perlakukan riwayat arsitektur sebagai append-only log; ubah arah hanya melalui dokumen pengganti.</a:t>
            </a:r>
          </a:p>
          <a:p>
            <a:r>
              <a:t>- Verifikasi Otomatis: Dokumentasi tanpa tes tidak otomatis dipercaya; uji keutuhan graf keputusan di pipeline CI.</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Dokumentasi arsitektur yang tidak diuji mesin adalah dokumen yang perlahan berubah menjadi kebohongan.</a:t>
            </a:r>
          </a:p>
          <a:p/>
          <a:p>
            <a:r>
              <a:t>Mental Model: Architectural documentation unverified by machines gradually drifts into fiction.</a:t>
            </a:r>
          </a:p>
          <a:p/>
          <a:p>
            <a:r>
              <a:t>[MODUL IMPLEMENTASI]</a:t>
            </a:r>
          </a:p>
          <a:p>
            <a:r>
              <a:t>- internal/adr/models.go • internal/adr/parser.go • internal/adr/linter.go</a:t>
            </a:r>
          </a:p>
          <a:p>
            <a:r>
              <a:t>- cmd/demo/main.go • tests/parser_test.go • tests/linter_test.go</a:t>
            </a:r>
          </a:p>
          <a:p>
            <a:r>
              <a:t>- engineering/01-design.md • content/02-master-draft.md</a:t>
            </a:r>
          </a:p>
          <a:p>
            <a:r>
              <a:t>[VERIFIKASI &amp; STATUS]</a:t>
            </a:r>
          </a:p>
          <a:p>
            <a:r>
              <a:t>- Commit: 36ff6c8 • Status: APPROVED</a:t>
            </a:r>
          </a:p>
          <a:p>
            <a:r>
              <a:t>- Test passing: 13 test scenarios (monotonic sequence, reciprocal links, DFS cycle detection)</a:t>
            </a:r>
          </a:p>
          <a:p>
            <a:r>
              <a:t>- Race detector: Clean (go test -race ./... PASS in 1.47s)</a:t>
            </a:r>
          </a:p>
          <a:p>
            <a:r>
              <a:t>- Zero external dependencies: 100% Go standard library.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17</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Architecture Decision Record &amp; Validasi Struktural</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Mencegah Perdebatan Berulang dan Kerusakan Silsilah Keputusan di Go</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Konteks Keputusan Hilang Memicu Debat Teknis Berulang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Ketika alasan pemilihan desain masa lalu lenyap, tim terjebak dalam siklus refactoring kontraproduktif.</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DAMPAK HILANGNYA REKAMAN ARSITEKTUR</a:t>
            </a:r>
          </a:p>
          <a:p>
            <a:pPr>
              <a:spcAft>
                <a:spcPts val="400"/>
              </a:spcAft>
              <a:defRPr sz="1200">
                <a:solidFill>
                  <a:srgbClr val="0B1B2D"/>
                </a:solidFill>
              </a:defRPr>
            </a:pPr>
            <a:r>
              <a:t>• Pembalikan Buta: Keputusan masa lalu dibalik tanpa mengerti batasan awal yang memicunya saat peluncuran.</a:t>
            </a:r>
          </a:p>
          <a:p>
            <a:pPr>
              <a:spcAft>
                <a:spcPts val="400"/>
              </a:spcAft>
              <a:defRPr sz="1200">
                <a:solidFill>
                  <a:srgbClr val="0B1B2D"/>
                </a:solidFill>
              </a:defRPr>
            </a:pPr>
            <a:r>
              <a:t>• Dogma Usang: Pola lama dipertahankan secara buta meski beban traffic dan skala tim telah melompat 5x lipat.</a:t>
            </a:r>
          </a:p>
          <a:p>
            <a:pPr>
              <a:spcAft>
                <a:spcPts val="400"/>
              </a:spcAft>
              <a:defRPr sz="1200">
                <a:solidFill>
                  <a:srgbClr val="0B1B2D"/>
                </a:solidFill>
              </a:defRPr>
            </a:pPr>
            <a:r>
              <a:t>• Bukan Berarti Malas: Tim aktif berdiskusi teknis, tetapi bukan berarti produktif jika memperdebatkan opsi yang sama berulang kali.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konteks historis arsitektur hilang, pengembang baru tidak mengetahui batasan teknis di balik pilihan desain awal. Diskusi intensif bukan berarti tim produktif jika mereka hanya mengulang perdebatan yang sama tanpa acuan rekam jejak formal.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Undocumented decisions trigger cyclical technical debates and blind reversal of proven architectural trade-offs.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content/02-master-draft.md:3-12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Wiki dan Markdown Manual Cepat Mengalami Drift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Mencatat keputusan di luar repositori atau tanpa linter struktural menciptakan dokumen fiktif.</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PENDEKATAN NAIF VS REALITA TEKNIS</a:t>
            </a:r>
          </a:p>
          <a:p>
            <a:pPr>
              <a:spcAft>
                <a:spcPts val="400"/>
              </a:spcAft>
              <a:defRPr sz="1200">
                <a:solidFill>
                  <a:srgbClr val="0B1B2D"/>
                </a:solidFill>
              </a:defRPr>
            </a:pPr>
            <a:r>
              <a:t>• Wiki Eksternal Terisolasi: Confluence dan Google Docs terpisah dari Git commit; segera usang saat kode di-refactor.</a:t>
            </a:r>
          </a:p>
          <a:p>
            <a:pPr>
              <a:spcAft>
                <a:spcPts val="400"/>
              </a:spcAft>
              <a:defRPr sz="1200">
                <a:solidFill>
                  <a:srgbClr val="0B1B2D"/>
                </a:solidFill>
              </a:defRPr>
            </a:pPr>
            <a:r>
              <a:t>• Dangling References: ADR lama ditandai Superseded by 99, tetapi berkas 99 tidak pernah ditulis atau terhapus.</a:t>
            </a:r>
          </a:p>
          <a:p>
            <a:pPr>
              <a:spcAft>
                <a:spcPts val="400"/>
              </a:spcAft>
              <a:defRPr sz="1200">
                <a:solidFill>
                  <a:srgbClr val="0B1B2D"/>
                </a:solidFill>
              </a:defRPr>
            </a:pPr>
            <a:r>
              <a:t>• Tidak Otomatis Akurat: Menulis format markdown di repo tidak otomatis valid tanpa aturan linter CI yang memverifikasi integritas graf.</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Penyimpanan keputusan di wiki eksternal menyebabkan keterpisahan parah antara implementasi kode dan dokumentasi. Menaruh file markdown di repositori tidak otomatis menjaga kebenaran data jika tautan nomor dan siklus hidupnya tidak diuji mesin.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Unverified markdown ADRs accumulate broken links, phantom replacements, and invalid states over time.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content/02-master-draft.md:13-22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Empat Pilar Siklus Hidup Architecture Decision Record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Keputusan berevolusi melalui penomoran monotonik dan riwayat penggantian timbal-balik.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PILAR INTEGRITAS DOKUMENTASI ARSITEKTUR</a:t>
            </a:r>
          </a:p>
          <a:p>
            <a:pPr>
              <a:spcAft>
                <a:spcPts val="400"/>
              </a:spcAft>
              <a:defRPr sz="1200">
                <a:solidFill>
                  <a:srgbClr val="0B1B2D"/>
                </a:solidFill>
              </a:defRPr>
            </a:pPr>
            <a:r>
              <a:t>• 1. Ko-lokasi Git (Version Controlled): ADR disimpan bersama kode; berevolusi melalui mekanisme Pull Request dan Code Review.</a:t>
            </a:r>
          </a:p>
          <a:p>
            <a:pPr>
              <a:spcAft>
                <a:spcPts val="400"/>
              </a:spcAft>
              <a:defRPr sz="1200">
                <a:solidFill>
                  <a:srgbClr val="0B1B2D"/>
                </a:solidFill>
              </a:defRPr>
            </a:pPr>
            <a:r>
              <a:t>• 2. Kekekalan Dokumen (Immutable History): ADR Accepted dilarang diedit retroaktif; arah baru wajib dicatat pada ADR baru.</a:t>
            </a:r>
          </a:p>
          <a:p>
            <a:pPr>
              <a:spcAft>
                <a:spcPts val="400"/>
              </a:spcAft>
              <a:defRPr sz="1200">
                <a:solidFill>
                  <a:srgbClr val="0B1B2D"/>
                </a:solidFill>
              </a:defRPr>
            </a:pPr>
            <a:r>
              <a:t>• 3. Silsilah Berarah (Directed Graph): Relasi timbal-balik: status Superseded by N wajib dibalas deklarasi Supersedes M.</a:t>
            </a:r>
          </a:p>
          <a:p>
            <a:pPr>
              <a:spcAft>
                <a:spcPts val="400"/>
              </a:spcAft>
              <a:defRPr sz="1200">
                <a:solidFill>
                  <a:srgbClr val="0B1B2D"/>
                </a:solidFill>
              </a:defRPr>
            </a:pPr>
            <a:r>
              <a:t>• 4. Validasi CI Otomatis (Linter Invariant): Hanya pada jalur ini validasi terotomatisasi mencegah nomor lompat dan siklus sirkular.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ADR mengabadikan keputusan penting ke dalam repositori dengan sifat kekal setelah disetujui. Hanya pada jalur ini, yakni lewat validasi pipeline otomatis, silsilah keputusan terhindar dari pembaruan sepihak dan inkonsistensi nomor.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Treat architectural decisions as immutable nodes in an append-only directed acyclic graph.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content/02-master-draft.md:23-32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Pipeline Validasi: Dari Raw Markdown Menjadi Error List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Alur pemrosesan linear dari pembacaan teks, pemindaian regex, hingga pengujian paralel.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TAHAPAN PEMERIKSAAN INTEGRITAS ADR</a:t>
            </a:r>
          </a:p>
          <a:p>
            <a:pPr>
              <a:spcAft>
                <a:spcPts val="400"/>
              </a:spcAft>
              <a:defRPr sz="1200">
                <a:solidFill>
                  <a:srgbClr val="0B1B2D"/>
                </a:solidFill>
              </a:defRPr>
            </a:pPr>
            <a:r>
              <a:t>• 1. Text Ingestion (Reader): Membaca string berkas markdown ADR dari repositori atau buffer memori.</a:t>
            </a:r>
          </a:p>
          <a:p>
            <a:pPr>
              <a:spcAft>
                <a:spcPts val="400"/>
              </a:spcAft>
              <a:defRPr sz="1200">
                <a:solidFill>
                  <a:srgbClr val="0B1B2D"/>
                </a:solidFill>
              </a:defRPr>
            </a:pPr>
            <a:r>
              <a:t>• 2. Regex Parsing (adr.Parse): Mengekstrak ID, Title, Status, SupersededBy, Supersedes, dan seksi wajib.</a:t>
            </a:r>
          </a:p>
          <a:p>
            <a:pPr>
              <a:spcAft>
                <a:spcPts val="400"/>
              </a:spcAft>
              <a:defRPr sz="1200">
                <a:solidFill>
                  <a:srgbClr val="0B1B2D"/>
                </a:solidFill>
              </a:defRPr>
            </a:pPr>
            <a:r>
              <a:t>• 3. Monotonic Check (adr.Linter): Memastikan kumpulan ID terurut 1..N tanpa duplikasi ID dan tanpa nomor lompat.</a:t>
            </a:r>
          </a:p>
          <a:p>
            <a:pPr>
              <a:spcAft>
                <a:spcPts val="400"/>
              </a:spcAft>
              <a:defRPr sz="1200">
                <a:solidFill>
                  <a:srgbClr val="0B1B2D"/>
                </a:solidFill>
              </a:defRPr>
            </a:pPr>
            <a:r>
              <a:t>• 4. Graph &amp; Parallel (Goroutines): Verifikasi referensi timbal-balik; belum membuktikan integrasi git hook otomatis.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Alur validasi memindai string dokumen, memverifikasi kelengkapan seksi teks, mengurutkan ID penomoran, lalu memverifikasi tautan graf. Pipeline ini membuktikan validasi in-memory, tetapi belum membuktikan integrasi langsung dengan git pre-commit hook.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Sequential structural parsing followed by concurrent referential graph integrity verification.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content/02-master-draft.md:60-74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Ekstraksi Metadata dan Seksi Wajib Lewat Regex</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Parser memastikan judul bernomor, status valid, dan tiga seksi wajib terisi.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var (</a:t>
            </a:r>
            <a:br/>
            <a:r>
              <a:t>    titleRegex  = regexp.MustCompile(`^#\s+(\d+)\.\s+(.+)$`)</a:t>
            </a:r>
            <a:br/>
            <a:r>
              <a:t>    statusRegex = regexp.MustCompile(`(?i)^Status:\s*([A-Za-z]+)(?:\s+by\s+(\d+))?`)</a:t>
            </a:r>
            <a:br/>
            <a:r>
              <a:t>    contextRegex = regexp.MustCompile(`(?i)^##\s+Context`)</a:t>
            </a:r>
            <a:br/>
            <a:r>
              <a:t>    decisionRegex = regexp.MustCompile(`(?i)^##\s+Decision`)</a:t>
            </a:r>
            <a:br/>
            <a:r>
              <a:t>)</a:t>
            </a:r>
            <a:br/>
            <a:r>
              <a:t>// Parse memverifikasi isi seksi Context, Decision, Consequences</a:t>
            </a:r>
            <a:br/>
            <a:r>
              <a:t>if !foundContext || !contextHasContent { return nil, errors.New("context empty") }</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Parser mengekstrak nomor ID dan memeriksa keberadaan konten pada seksi Context, Decision, dan Consequences. Menggunakan regex kaku bukan berarti parser fleksibel terhadap semua dialek Markdown; parser ini sengaja membatasi diri pada konvensi baku Nygard.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Strict regex validation enforces mandatory architectural sections before records enter the graph.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internal/adr/parser.go:11-36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Anatomi Kerusakan Graf: Tautan Sepihak &amp; Referensi Hantu</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Empat mode kegagalan silsilah keputusan yang langsung digagalkan oleh linter.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SKENARIO KEGAGALAN STRUKTUR DOKUMENTASI</a:t>
            </a:r>
          </a:p>
          <a:p>
            <a:pPr>
              <a:spcAft>
                <a:spcPts val="400"/>
              </a:spcAft>
              <a:defRPr sz="1200">
                <a:solidFill>
                  <a:srgbClr val="0B1B2D"/>
                </a:solidFill>
              </a:defRPr>
            </a:pPr>
            <a:r>
              <a:t>• Supersession Sepihak: ADR 2 mengklaim Supersedes: 1, tetapi ADR 1 masih berstatus Accepted tanpa tanda penggantian.</a:t>
            </a:r>
          </a:p>
          <a:p>
            <a:pPr>
              <a:spcAft>
                <a:spcPts val="400"/>
              </a:spcAft>
              <a:defRPr sz="1200">
                <a:solidFill>
                  <a:srgbClr val="0B1B2D"/>
                </a:solidFill>
              </a:defRPr>
            </a:pPr>
            <a:r>
              <a:t>• Referensi Hantu: ADR 1 berstatus Superseded by 99, padahal ADR 99 tidak pernah ada di dalam repositori.</a:t>
            </a:r>
          </a:p>
          <a:p>
            <a:pPr>
              <a:spcAft>
                <a:spcPts val="400"/>
              </a:spcAft>
              <a:defRPr sz="1200">
                <a:solidFill>
                  <a:srgbClr val="0B1B2D"/>
                </a:solidFill>
              </a:defRPr>
            </a:pPr>
            <a:r>
              <a:t>• Penomoran Bolong: ID melompat dari 1 langsung ke 3; menimbulkan keraguan apakah ada dokumen yang hilang.</a:t>
            </a:r>
          </a:p>
          <a:p>
            <a:pPr>
              <a:spcAft>
                <a:spcPts val="400"/>
              </a:spcAft>
              <a:defRPr sz="1200">
                <a:solidFill>
                  <a:srgbClr val="0B1B2D"/>
                </a:solidFill>
              </a:defRPr>
            </a:pPr>
            <a:r>
              <a:t>• Self-Supersession: ADR 1 menandai dirinya digantikan oleh ADR 1; hanya pada jalur ini siklus konyol dicegah linter.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Kerusakan dokumentasi paling berbahaya terjadi saat penggantian dilakukan sepihak atau menunjuk ke dokumen hantu. Hanya pada jalur ini linter mendeteksi ketidaksesuaian relasi dan menggagalkan merge sebelum informasi keliru menyebar ke tim.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Broken supersession links create split-brain architectural states where obsolete designs appear active.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tests/linter_test.go:36-114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Matriks Komparasi: Gejala Anomali vs Pencegahan Mesin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Membedah bagaimana aturan linter mengatasi kegagalan dokumentasi manual secara terstruktur.</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Anomali Dokumentasi</a:t>
                      </a:r>
                    </a:p>
                  </a:txBody>
                  <a:tcPr>
                    <a:solidFill>
                      <a:srgbClr val="0B1B2D"/>
                    </a:solidFill>
                  </a:tcPr>
                </a:tc>
                <a:tc>
                  <a:txBody>
                    <a:bodyPr/>
                    <a:lstStyle/>
                    <a:p>
                      <a:pPr>
                        <a:defRPr b="1" sz="1100">
                          <a:solidFill>
                            <a:srgbClr val="FFFFFF"/>
                          </a:solidFill>
                        </a:defRPr>
                      </a:pPr>
                      <a:r>
                        <a:t>Dampak di Tim Engineering</a:t>
                      </a:r>
                    </a:p>
                  </a:txBody>
                  <a:tcPr>
                    <a:solidFill>
                      <a:srgbClr val="0B1B2D"/>
                    </a:solidFill>
                  </a:tcPr>
                </a:tc>
                <a:tc>
                  <a:txBody>
                    <a:bodyPr/>
                    <a:lstStyle/>
                    <a:p>
                      <a:pPr>
                        <a:defRPr b="1" sz="1100">
                          <a:solidFill>
                            <a:srgbClr val="FFFFFF"/>
                          </a:solidFill>
                        </a:defRPr>
                      </a:pPr>
                      <a:r>
                        <a:t>Aturan Verifikasi Linter</a:t>
                      </a:r>
                    </a:p>
                  </a:txBody>
                  <a:tcPr>
                    <a:solidFill>
                      <a:srgbClr val="0B1B2D"/>
                    </a:solidFill>
                  </a:tcPr>
                </a:tc>
              </a:tr>
              <a:tr h="457200">
                <a:tc>
                  <a:txBody>
                    <a:bodyPr/>
                    <a:lstStyle/>
                    <a:p>
                      <a:pPr>
                        <a:defRPr sz="1000">
                          <a:solidFill>
                            <a:srgbClr val="0B1B2D"/>
                          </a:solidFill>
                        </a:defRPr>
                      </a:pPr>
                      <a:r>
                        <a:t>Tautan Sepihak</a:t>
                      </a:r>
                    </a:p>
                  </a:txBody>
                  <a:tcPr>
                    <a:solidFill>
                      <a:srgbClr val="FFFFFF"/>
                    </a:solidFill>
                  </a:tcPr>
                </a:tc>
                <a:tc>
                  <a:txBody>
                    <a:bodyPr/>
                    <a:lstStyle/>
                    <a:p>
                      <a:pPr>
                        <a:defRPr sz="1000">
                          <a:solidFill>
                            <a:srgbClr val="0B1B2D"/>
                          </a:solidFill>
                        </a:defRPr>
                      </a:pPr>
                      <a:r>
                        <a:t>Status ganda: dua arsitektur bentrok</a:t>
                      </a:r>
                    </a:p>
                  </a:txBody>
                  <a:tcPr>
                    <a:solidFill>
                      <a:srgbClr val="FFFFFF"/>
                    </a:solidFill>
                  </a:tcPr>
                </a:tc>
                <a:tc>
                  <a:txBody>
                    <a:bodyPr/>
                    <a:lstStyle/>
                    <a:p>
                      <a:pPr>
                        <a:defRPr sz="1000">
                          <a:solidFill>
                            <a:srgbClr val="0B1B2D"/>
                          </a:solidFill>
                        </a:defRPr>
                      </a:pPr>
                      <a:r>
                        <a:t>Reciprocal Check (rec.Supersedes == old.ID)</a:t>
                      </a:r>
                    </a:p>
                  </a:txBody>
                  <a:tcPr>
                    <a:solidFill>
                      <a:srgbClr val="FFFFFF"/>
                    </a:solidFill>
                  </a:tcPr>
                </a:tc>
              </a:tr>
              <a:tr h="457200">
                <a:tc>
                  <a:txBody>
                    <a:bodyPr/>
                    <a:lstStyle/>
                    <a:p>
                      <a:pPr>
                        <a:defRPr sz="1000">
                          <a:solidFill>
                            <a:srgbClr val="0B1B2D"/>
                          </a:solidFill>
                        </a:defRPr>
                      </a:pPr>
                      <a:r>
                        <a:t>Dangling Pointer</a:t>
                      </a:r>
                    </a:p>
                  </a:txBody>
                  <a:tcPr>
                    <a:solidFill>
                      <a:srgbClr val="FFFFFF"/>
                    </a:solidFill>
                  </a:tcPr>
                </a:tc>
                <a:tc>
                  <a:txBody>
                    <a:bodyPr/>
                    <a:lstStyle/>
                    <a:p>
                      <a:pPr>
                        <a:defRPr sz="1000">
                          <a:solidFill>
                            <a:srgbClr val="0B1B2D"/>
                          </a:solidFill>
                        </a:defRPr>
                      </a:pPr>
                      <a:r>
                        <a:t>Konteks pengganti hilang tanpa jejak</a:t>
                      </a:r>
                    </a:p>
                  </a:txBody>
                  <a:tcPr>
                    <a:solidFill>
                      <a:srgbClr val="FFFFFF"/>
                    </a:solidFill>
                  </a:tcPr>
                </a:tc>
                <a:tc>
                  <a:txBody>
                    <a:bodyPr/>
                    <a:lstStyle/>
                    <a:p>
                      <a:pPr>
                        <a:defRPr sz="1000">
                          <a:solidFill>
                            <a:srgbClr val="0B1B2D"/>
                          </a:solidFill>
                        </a:defRPr>
                      </a:pPr>
                      <a:r>
                        <a:t>Exist Check (replacement, exists := recordMap[ID])</a:t>
                      </a:r>
                    </a:p>
                  </a:txBody>
                  <a:tcPr>
                    <a:solidFill>
                      <a:srgbClr val="FFFFFF"/>
                    </a:solidFill>
                  </a:tcPr>
                </a:tc>
              </a:tr>
              <a:tr h="457200">
                <a:tc>
                  <a:txBody>
                    <a:bodyPr/>
                    <a:lstStyle/>
                    <a:p>
                      <a:pPr>
                        <a:defRPr sz="1000">
                          <a:solidFill>
                            <a:srgbClr val="0B1B2D"/>
                          </a:solidFill>
                        </a:defRPr>
                      </a:pPr>
                      <a:r>
                        <a:t>Siklus Sirkular</a:t>
                      </a:r>
                    </a:p>
                  </a:txBody>
                  <a:tcPr>
                    <a:solidFill>
                      <a:srgbClr val="FFFFFF"/>
                    </a:solidFill>
                  </a:tcPr>
                </a:tc>
                <a:tc>
                  <a:txBody>
                    <a:bodyPr/>
                    <a:lstStyle/>
                    <a:p>
                      <a:pPr>
                        <a:defRPr sz="1000">
                          <a:solidFill>
                            <a:srgbClr val="0B1B2D"/>
                          </a:solidFill>
                        </a:defRPr>
                      </a:pPr>
                      <a:r>
                        <a:t>Loop penggantian tanpa ujung (1-&gt;2-&gt;1)</a:t>
                      </a:r>
                    </a:p>
                  </a:txBody>
                  <a:tcPr>
                    <a:solidFill>
                      <a:srgbClr val="FFFFFF"/>
                    </a:solidFill>
                  </a:tcPr>
                </a:tc>
                <a:tc>
                  <a:txBody>
                    <a:bodyPr/>
                    <a:lstStyle/>
                    <a:p>
                      <a:pPr>
                        <a:defRPr sz="1000">
                          <a:solidFill>
                            <a:srgbClr val="0B1B2D"/>
                          </a:solidFill>
                        </a:defRPr>
                      </a:pPr>
                      <a:r>
                        <a:t>DFS Cycle Detection (3-state coloring)</a:t>
                      </a:r>
                    </a:p>
                  </a:txBody>
                  <a:tcPr>
                    <a:solidFill>
                      <a:srgbClr val="FFFFFF"/>
                    </a:solidFill>
                  </a:tcPr>
                </a:tc>
              </a:tr>
              <a:tr h="457200">
                <a:tc>
                  <a:txBody>
                    <a:bodyPr/>
                    <a:lstStyle/>
                    <a:p>
                      <a:pPr>
                        <a:defRPr sz="1000">
                          <a:solidFill>
                            <a:srgbClr val="0B1B2D"/>
                          </a:solidFill>
                        </a:defRPr>
                      </a:pPr>
                      <a:r>
                        <a:t>Nomor Tidak Urut</a:t>
                      </a:r>
                    </a:p>
                  </a:txBody>
                  <a:tcPr>
                    <a:solidFill>
                      <a:srgbClr val="FFFFFF"/>
                    </a:solidFill>
                  </a:tcPr>
                </a:tc>
                <a:tc>
                  <a:txBody>
                    <a:bodyPr/>
                    <a:lstStyle/>
                    <a:p>
                      <a:pPr>
                        <a:defRPr sz="1000">
                          <a:solidFill>
                            <a:srgbClr val="0B1B2D"/>
                          </a:solidFill>
                        </a:defRPr>
                      </a:pPr>
                      <a:r>
                        <a:t>Ambiguitas file hilang dalam Git history</a:t>
                      </a:r>
                    </a:p>
                  </a:txBody>
                  <a:tcPr>
                    <a:solidFill>
                      <a:srgbClr val="FFFFFF"/>
                    </a:solidFill>
                  </a:tcPr>
                </a:tc>
                <a:tc>
                  <a:txBody>
                    <a:bodyPr/>
                    <a:lstStyle/>
                    <a:p>
                      <a:pPr>
                        <a:defRPr sz="1000">
                          <a:solidFill>
                            <a:srgbClr val="0B1B2D"/>
                          </a:solidFill>
                        </a:defRPr>
                      </a:pPr>
                      <a:r>
                        <a:t>Monotonic Numbering Check (ids[i] == i+1)</a:t>
                      </a:r>
                    </a:p>
                  </a:txBody>
                  <a:tcPr>
                    <a:solidFill>
                      <a:srgbClr val="FFFFFF"/>
                    </a:solidFill>
                  </a:tcPr>
                </a:tc>
              </a:tr>
              <a:tr h="457200">
                <a:tc>
                  <a:txBody>
                    <a:bodyPr/>
                    <a:lstStyle/>
                    <a:p>
                      <a:pPr>
                        <a:defRPr sz="1000">
                          <a:solidFill>
                            <a:srgbClr val="0B1B2D"/>
                          </a:solidFill>
                        </a:defRPr>
                      </a:pPr>
                      <a:r>
                        <a:t>Format Informal</a:t>
                      </a:r>
                    </a:p>
                  </a:txBody>
                  <a:tcPr>
                    <a:solidFill>
                      <a:srgbClr val="FFFFFF"/>
                    </a:solidFill>
                  </a:tcPr>
                </a:tc>
                <a:tc>
                  <a:txBody>
                    <a:bodyPr/>
                    <a:lstStyle/>
                    <a:p>
                      <a:pPr>
                        <a:defRPr sz="1000">
                          <a:solidFill>
                            <a:srgbClr val="0B1B2D"/>
                          </a:solidFill>
                        </a:defRPr>
                      </a:pPr>
                      <a:r>
                        <a:t>Status 'Draft' / seksi wajib hilang</a:t>
                      </a:r>
                    </a:p>
                  </a:txBody>
                  <a:tcPr>
                    <a:solidFill>
                      <a:srgbClr val="FFFFFF"/>
                    </a:solidFill>
                  </a:tcPr>
                </a:tc>
                <a:tc>
                  <a:txBody>
                    <a:bodyPr/>
                    <a:lstStyle/>
                    <a:p>
                      <a:pPr>
                        <a:defRPr sz="1000">
                          <a:solidFill>
                            <a:srgbClr val="0B1B2D"/>
                          </a:solidFill>
                        </a:defRPr>
                      </a:pPr>
                      <a:r>
                        <a:t>Parser Guard (IsValid() &amp; Section Check)</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ini memetakan dampak buruk anomali dokumentasi terhadap tim dan mekanisme kode yang mengatasinya. Pemeriksaan timbal-balik dan pewarnaan graf 3 status memastikan tidak ada rantai keputusan yang mengalami benturan status atau siklus berputar.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Map human documentation oversights to strict algorithmic invariants enforceable in compilation and CI.</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internal/adr/linter.go:27-100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Evolusi Arsitektur SaaS ERP: Dari Monolith ke Service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Tiga keputusan arsitektural berurutan yang menggambarkan siklus hidup nyata sistem.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SEKUENS KEPUTUSAN ARSITEKTUR LAB</a:t>
            </a:r>
          </a:p>
          <a:p>
            <a:pPr>
              <a:spcAft>
                <a:spcPts val="400"/>
              </a:spcAft>
              <a:defRPr sz="1200">
                <a:solidFill>
                  <a:srgbClr val="0B1B2D"/>
                </a:solidFill>
              </a:defRPr>
            </a:pPr>
            <a:r>
              <a:t>• ADR 0001: Modular Monolith: Dipilih saat tim 5 orang demi kecepatan iterasi dan integritas transaksi relasional.</a:t>
            </a:r>
          </a:p>
          <a:p>
            <a:pPr>
              <a:spcAft>
                <a:spcPts val="400"/>
              </a:spcAft>
              <a:defRPr sz="1200">
                <a:solidFill>
                  <a:srgbClr val="0B1B2D"/>
                </a:solidFill>
              </a:defRPr>
            </a:pPr>
            <a:r>
              <a:t>• ADR 0002: Extract Notification: Menggantikan ADR 1 saat tim 25 orang dan lonjakan burst traffic membebani core ERP.</a:t>
            </a:r>
          </a:p>
          <a:p>
            <a:pPr>
              <a:spcAft>
                <a:spcPts val="400"/>
              </a:spcAft>
              <a:defRPr sz="1200">
                <a:solidFill>
                  <a:srgbClr val="0B1B2D"/>
                </a:solidFill>
              </a:defRPr>
            </a:pPr>
            <a:r>
              <a:t>• ADR 0003: Reject Event Sourcing: Ditolak formal; bukan berarti anti Event Sourcing, melainkan tabel audit SQL sudah memadai.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Rangkaian keputusan memperlihatkan transisi matang dari Modular Monolith menuju ekstraksi microservice ketika beban meningkat. Menolak Event Sourcing pada ADR 3 bukan berarti anti inovasi, melainkan keputusan sadar menghindari kompleksitas skema yang belum dibutuhkan.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Record both accepted architectural migrations and rejected proposals to prevent unneeded complexity.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cmd/demo/main.go:10-64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Eksekusi Test Suite dan Demo cmd/demo Lolos Bersih</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terminal membuktikan seluruh 13 sub-test dan eksekusi demo berjalan deterministik.</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TestLinter_ValidSequence</a:t>
            </a:r>
            <a:br/>
            <a:r>
              <a:t>--- PASS: TestLinter_ValidSequence (0.00s)</a:t>
            </a:r>
            <a:br/>
            <a:r>
              <a:t>=== RUN   TestLinter_BrokenReferences (7 sub-tests)</a:t>
            </a:r>
            <a:br/>
            <a:r>
              <a:t>--- PASS: TestLinter_BrokenReferences (0.00s)</a:t>
            </a:r>
            <a:br/>
            <a:r>
              <a:t>=== RUN   TestLinter_ConcurrencyStress (100 records)</a:t>
            </a:r>
            <a:br/>
            <a:r>
              <a:t>--- PASS: TestLinter_ConcurrencyStress (0.00s)</a:t>
            </a:r>
            <a:br/>
            <a:r>
              <a:t>=== RUN   TestParse_Valid &amp; TestParse_Invalid (9 sub-tests)</a:t>
            </a:r>
            <a:br/>
            <a:r>
              <a:t>--- PASS: TestParse_Invalid (0.00s)</a:t>
            </a:r>
            <a:br/>
            <a:r>
              <a:t>PASS: ok lab17/tests 1.469s (race detector: clean)</a:t>
            </a:r>
            <a:br/>
            <a:r>
              <a:t>=== Architecture Decision Record (ADR) Lab ===</a:t>
            </a:r>
            <a:br/>
            <a:r>
              <a:t>Successfully parsed 3 ADRs | Linter: Integrity check passed!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Verifikasi terminal membuktikan seluruh unit test parser dan linter lolos tanpa kebocoran data race pada stress test 100 record. Demo cmd/demo berhasil memvalidasi silsilah evolusi SaaS ERP dari Monolith ke Microservice.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Executable verification provides undeniable proof of structural parsing and referential integrity.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cmd/demo/main.go:66-103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Bukti Lab: Yang Dibuktikan vs Belum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Menegaskan batasan verifikasi in-memory terhadap skenario skala enterprise.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 PEMBUKTIAN SISTEM</a:t>
            </a:r>
          </a:p>
          <a:p>
            <a:pPr>
              <a:spcAft>
                <a:spcPts val="400"/>
              </a:spcAft>
              <a:defRPr sz="1200">
                <a:solidFill>
                  <a:srgbClr val="0B1B2D"/>
                </a:solidFill>
              </a:defRPr>
            </a:pPr>
            <a:r>
              <a:t>• YANG DIBUKTIKAN: Parsing regex teks ADR, validasi nomor urut monotonik, dan deteksi siklus silsilah.</a:t>
            </a:r>
          </a:p>
          <a:p>
            <a:pPr>
              <a:spcAft>
                <a:spcPts val="400"/>
              </a:spcAft>
              <a:defRPr sz="1200">
                <a:solidFill>
                  <a:srgbClr val="0B1B2D"/>
                </a:solidFill>
              </a:defRPr>
            </a:pPr>
            <a:r>
              <a:t>• YANG TIDAK DIBUKTIKAN: Integrasi file system riil, git hook commit gating, dan pembuatan berkas CLI otomatis.</a:t>
            </a:r>
          </a:p>
          <a:p>
            <a:pPr>
              <a:spcAft>
                <a:spcPts val="400"/>
              </a:spcAft>
              <a:defRPr sz="1200">
                <a:solidFill>
                  <a:srgbClr val="0B1B2D"/>
                </a:solidFill>
              </a:defRPr>
            </a:pPr>
            <a:r>
              <a:t>• BATAS KLAIM EMPIRIS: Lab belum membuktikan klaim kuantitatif reduksi waktu onboarding pada tim 100+ engineer.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memverifikasi kebenaran parsing in-memory dan integritas graf timbal-balik secara matematis. Pengujian ini belum membuktikan integrasi git hook otomatis maupun dampak kuantitatif terhadap kecepatan onboarding tim berskala ratusan engineer.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Strictly separate mathematically verified data structure invariants from unproven organizational claims.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content/01-content-brief.md:33-41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Penerapan ADR dan Validasi Terotomasi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Disiplin pencatatan menambah overhead di PR demi kejelasan jangka panjang.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KOMPROMI REKAYASA PENCATATAN ADR</a:t>
            </a:r>
          </a:p>
          <a:p>
            <a:pPr>
              <a:spcAft>
                <a:spcPts val="400"/>
              </a:spcAft>
              <a:defRPr sz="1200">
                <a:solidFill>
                  <a:srgbClr val="0B1B2D"/>
                </a:solidFill>
              </a:defRPr>
            </a:pPr>
            <a:r>
              <a:t>• Overhead Pull Request: Setiap perubahan arsitektur mewajibkan berkas ADR baru dan update status dokumen lama.</a:t>
            </a:r>
          </a:p>
          <a:p>
            <a:pPr>
              <a:spcAft>
                <a:spcPts val="400"/>
              </a:spcAft>
              <a:defRPr sz="1200">
                <a:solidFill>
                  <a:srgbClr val="0B1B2D"/>
                </a:solidFill>
              </a:defRPr>
            </a:pPr>
            <a:r>
              <a:t>• Rigiditas Format Teks: Seksi Context, Decision, dan Consequences wajib diisi; menolak catatan singkat informal.</a:t>
            </a:r>
          </a:p>
          <a:p>
            <a:pPr>
              <a:spcAft>
                <a:spcPts val="400"/>
              </a:spcAft>
              <a:defRPr sz="1200">
                <a:solidFill>
                  <a:srgbClr val="0B1B2D"/>
                </a:solidFill>
              </a:defRPr>
            </a:pPr>
            <a:r>
              <a:t>• Tidak Otomatis Akurat: Linter hanya mengecek sintaks; tidak otomatis menjamin bahwa keputusan teknis yang diambil tepat.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Penerapan ADR menambah beban penyusunan PR karena tim harus menyepakati kata-kata keputusan dan konsekuensi. Memiliki linter tidak otomatis menjamin keputusan arsitektur benar; linter hanya menjaga integritas struktural teks, bukan kualitas logika bisnis.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ADRs trade short-term pull request authoring overhead for long-term clarity and preserved technical context.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content/02-master-draft.md:120-135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Graf Konkuren Menggunakan Goroutines &amp; Mutex</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Pemeriksaan referensi dieksekusi paralel dengan agregasi galat terlindungi thread-safe.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var wg sync.WaitGroup</a:t>
            </a:r>
            <a:br/>
            <a:r>
              <a:t>for _, r := range records {</a:t>
            </a:r>
            <a:br/>
            <a:r>
              <a:t>    wg.Add(1)</a:t>
            </a:r>
            <a:br/>
            <a:r>
              <a:t>    go func(rec *Record) {</a:t>
            </a:r>
            <a:br/>
            <a:r>
              <a:t>        defer wg.Done()</a:t>
            </a:r>
            <a:br/>
            <a:r>
              <a:t>        // Evaluasi referensi timbal balik rec.Supersedes &amp; SupersededBy</a:t>
            </a:r>
            <a:br/>
            <a:r>
              <a:t>        if len(localErrs) &gt; 0 {</a:t>
            </a:r>
            <a:br/>
            <a:r>
              <a:t>            mu.Lock()</a:t>
            </a:r>
            <a:br/>
            <a:r>
              <a:t>            errs = append(errs, localErrs...)</a:t>
            </a:r>
            <a:br/>
            <a:r>
              <a:t>            mu.Unlock()</a:t>
            </a:r>
            <a:br/>
            <a:r>
              <a:t>        }</a:t>
            </a:r>
            <a:br/>
            <a:r>
              <a:t>    }(r)</a:t>
            </a:r>
            <a:br/>
            <a:r>
              <a:t>}</a:t>
            </a:r>
            <a:br/>
            <a:r>
              <a:t>wg.Wait()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Validasi simpul graf dieksekusi secara konkuren menggunakan goroutine per record dan agregasi mutex. Simulasi ini tidak sama dengan operasi disk I/O riil pada ribuan berkas, namun membuktikan kebersihan dari race condition di memori.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Validate independent graph vertices concurrently while protecting error collectors behind mutex locks.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internal/adr/linter.go:64-106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Transformasi: Dari Catatan Liar ke Graf Tervalidasi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Pergeseran dari dokumentasi pasif yang cepat usang menuju rekaman aktif di CI.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SEBELUM (MANUAL WIKI) VS SESUDAH (AUTOMATED ADR)</a:t>
            </a:r>
          </a:p>
          <a:p>
            <a:pPr>
              <a:spcAft>
                <a:spcPts val="400"/>
              </a:spcAft>
              <a:defRPr sz="1200">
                <a:solidFill>
                  <a:srgbClr val="0B1B2D"/>
                </a:solidFill>
              </a:defRPr>
            </a:pPr>
            <a:r>
              <a:t>• Sebelum: Wiki Liar: Keputusan tercecer di Slack atau Confluence; tautan rusak dan status usang tanpa peringatan.</a:t>
            </a:r>
          </a:p>
          <a:p>
            <a:pPr>
              <a:spcAft>
                <a:spcPts val="400"/>
              </a:spcAft>
              <a:defRPr sz="1200">
                <a:solidFill>
                  <a:srgbClr val="0B1B2D"/>
                </a:solidFill>
              </a:defRPr>
            </a:pPr>
            <a:r>
              <a:t>• Sesudah: Git ADR + Linter: ADR berdampingan dengan kode; CI memvalidasi keutuhan nomor dan tautan silsilah.</a:t>
            </a:r>
          </a:p>
          <a:p>
            <a:pPr>
              <a:spcAft>
                <a:spcPts val="400"/>
              </a:spcAft>
              <a:defRPr sz="1200">
                <a:solidFill>
                  <a:srgbClr val="0B1B2D"/>
                </a:solidFill>
              </a:defRPr>
            </a:pPr>
            <a:r>
              <a:t>• Bukan Berarti Kaku: Format terstruktur bukan berarti birokrasi berlebih; template minimal Nygard cukup 1 halaman.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Sebelum ada ADR, alasan pemilihan teknologi tercecer di arsip chat dan dokumen wiki yang tidak terawat. Menerapkan ADR dan linter bukan berarti menciptakan birokrasi kaku, melainkan mengunci kejelasan keputusan penting dengan usaha minimal.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Replace fragmented external documentation with version-controlled, lint-validated decision records.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content/02-master-draft.md:13-32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Enforcing State Machine Siklus Hidup ADR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Mendefinisikan status resmi: Proposed, Accepted, Superseded, Deprecated, Rejected.</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Status string</a:t>
            </a:r>
            <a:br/>
            <a:r>
              <a:t>const (</a:t>
            </a:r>
            <a:br/>
            <a:r>
              <a:t>    StatusProposed   Status = "Proposed"</a:t>
            </a:r>
            <a:br/>
            <a:r>
              <a:t>    StatusAccepted   Status = "Accepted"</a:t>
            </a:r>
            <a:br/>
            <a:r>
              <a:t>    StatusSuperseded Status = "Superseded"</a:t>
            </a:r>
            <a:br/>
            <a:r>
              <a:t>    StatusDeprecated Status = "Deprecated"</a:t>
            </a:r>
            <a:br/>
            <a:r>
              <a:t>    StatusRejected   Status = "Rejected"</a:t>
            </a:r>
            <a:br/>
            <a:r>
              <a:t>)</a:t>
            </a:r>
            <a:br/>
            <a:r>
              <a:t>func (s Status) IsValid() bool { /* switch validasi */ }</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Tipe data Status mengikat status ADR hanya pada lima kondisi siklus hidup formal. Keputusan membatasi status ini cakupannya mengikuti test spesifik lab, mencegah masuknya istilah rancu seperti In-Review atau Draft ke cabang utama.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Constrain document lifecycle states to a closed enumerated set validated at parse time.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internal/adr/models.go:3-20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Invarian Penomoran Monotonik Mencegah Berkas Hilang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Memastikan rangkaian ID terurut sempurna dari 1 sampai N tanpa jeda nomor.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ids := make([]int, 0, len(records))</a:t>
            </a:r>
            <a:br/>
            <a:r>
              <a:t>for id := range recordMap { ids = append(ids, id) }</a:t>
            </a:r>
            <a:br/>
            <a:r>
              <a:t>sort.Ints(ids)</a:t>
            </a:r>
            <a:br/>
            <a:r>
              <a:t>for i := 0; i &lt; len(ids); i++ {</a:t>
            </a:r>
            <a:br/>
            <a:r>
              <a:t>    if ids[i] != i+1 {</a:t>
            </a:r>
            <a:br/>
            <a:r>
              <a:t>        errs = append(errs, fmt.Errorf("non-monotonic numbering"))</a:t>
            </a:r>
            <a:br/>
            <a:r>
              <a:t>        break</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Linter mengumpulkan seluruh ID dan mencocokkan nilainya tepat dengan indeks i+1 setelah diurutkan. Urutan penomoran yang rapi tidak otomatis menjamin tidak ada commit yang salah rebase, tetapi mencegah celah nomor yang membingungkan auditor.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Sequential monotonic numbering verifies that no historical decision records were deleted or omitted.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internal/adr/linter.go:27-39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Deteksi Siklus Silsilah dengan Algoritma DFS 3-State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Mencegah loop penggantian melingkar yang merusak validitas historis arsitektur.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state := make(map[int]int) // 0: unvisited, 1: visiting, 2: visited</a:t>
            </a:r>
            <a:br/>
            <a:r>
              <a:t>detectCycle = func(id int) {</a:t>
            </a:r>
            <a:br/>
            <a:r>
              <a:t>    state[id] = 1</a:t>
            </a:r>
            <a:br/>
            <a:r>
              <a:t>    if rec, ok := recordMap[id]; ok &amp;&amp; rec.SupersededBy != 0 {</a:t>
            </a:r>
            <a:br/>
            <a:r>
              <a:t>        nextID := rec.SupersededBy</a:t>
            </a:r>
            <a:br/>
            <a:r>
              <a:t>        if state[nextID] == 1 {</a:t>
            </a:r>
            <a:br/>
            <a:r>
              <a:t>            errs = append(errs, fmt.Errorf("cyclical supersession"))</a:t>
            </a:r>
            <a:br/>
            <a:r>
              <a:t>        } else if state[nextID] == 0 { detectCycle(nextID) }</a:t>
            </a:r>
            <a:br/>
            <a:r>
              <a:t>    }</a:t>
            </a:r>
            <a:br/>
            <a:r>
              <a:t>    state[id] = 2</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Deteksi siklus memanfaatkan algoritma pewarnaan simpul DFS tiga status: unvisited, visiting, dan visited. Hanya pada jalur ini deteksi rekursif mampu menangkap skenario loop kompleks di mana ADR 1 digantikan 2, 2 digantikan 3, dan 3 kembali menunjuk 1.</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Detect invalid directed cycles using depth-first graph coloring before supersession chains corrupt lineage.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internal/adr/linter.go:41-62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Verifikasi Timbal-Balik: Konsistensi Hubungan Penggantian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Memastikan ADR lama dan ADR baru saling mengakui hubungan silsilah penggantian.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if rec.Status == StatusSuperseded {</a:t>
            </a:r>
            <a:br/>
            <a:r>
              <a:t>    replacement, exists := recordMap[rec.SupersededBy]</a:t>
            </a:r>
            <a:br/>
            <a:r>
              <a:t>    if !exists { localErrs = append(localErrs, fmt.Errorf("non-existent")) }</a:t>
            </a:r>
            <a:br/>
            <a:r>
              <a:t>    else if replacement.Supersedes != rec.ID {</a:t>
            </a:r>
            <a:br/>
            <a:r>
              <a:t>        localErrs = append(localErrs, fmt.Errorf("mismatched supersession"))</a:t>
            </a:r>
            <a:br/>
            <a:r>
              <a:t>    }</a:t>
            </a:r>
            <a:br/>
            <a:r>
              <a:t>}</a:t>
            </a:r>
            <a:br/>
            <a:r>
              <a:t>if rec.Supersedes != 0 &amp;&amp; (old.Status != StatusSuperseded || old.SupersededBy != rec.ID) {</a:t>
            </a:r>
            <a:br/>
            <a:r>
              <a:t>    localErrs = append(localErrs, fmt.Errorf("not marked as superseded"))</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Linter memeriksa keselarasan dua arah antara SupersededBy dan Supersedes. Menjaga kedua deklarasi tetap sinkron bukan berarti menambah redudansi sia-sia, melainkan memastikan pembaca dokumen lama maupun baru mendapatkan visibilitas status yang utuh.</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Reciprocal supersession verification guarantees that obsolete and current records remain mutually consistent.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internal/adr/linter.go:72-98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Penolakan Berkas Cacat: Parser Guard Seksi Wajib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Memvalidasi bahwa seksi Context, Decision, dan Consequences bukan hanya header kosong.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TestParse_Invalid(t *testing.T) {</a:t>
            </a:r>
            <a:br/>
            <a:r>
              <a:t>    tests := []struct { name, content, wantErr string }{</a:t>
            </a:r>
            <a:br/>
            <a:r>
              <a:t>        {"missing title", "Status: Accepted", "title not found"},</a:t>
            </a:r>
            <a:br/>
            <a:r>
              <a:t>        {"invalid status", "# 1. T\nStatus: Draft", "invalid status: Draft"},</a:t>
            </a:r>
            <a:br/>
            <a:r>
              <a:t>        {"empty context", "# 1. T\nStatus: Accepted\n## Context\n## Decision\nB...",</a:t>
            </a:r>
            <a:br/>
            <a:r>
              <a:t>         "context section missing or empty"},</a:t>
            </a:r>
            <a:br/>
            <a:r>
              <a:t>    }</a:t>
            </a:r>
            <a:br/>
            <a:r>
              <a:t>    for _, tt := range tests { /* assert strings.Contains(err, wantErr) */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Pengujian unit memverifikasi bahwa parser menolak dokumen dengan judul cacat, status informal, atau seksi wajib tanpa konten. Aturan validasi ketat ini cakupannya mengikuti test suite yang menjamin setiap ADR memiliki bobot substansi arsitektur nyata.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Guard against hollow architectural documentation by validating mandatory content within each section.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tests/parser_test.go:104-219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Tata Kelola Architecture Decision Record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Standar wajib sebelum menggabungkan keputusan arsitektur baru ke repositori.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KRITERIA IMPLEMENTASI ADR TERSTRUKTUR</a:t>
            </a:r>
          </a:p>
          <a:p>
            <a:pPr>
              <a:spcAft>
                <a:spcPts val="400"/>
              </a:spcAft>
              <a:defRPr sz="1200">
                <a:solidFill>
                  <a:srgbClr val="0B1B2D"/>
                </a:solidFill>
              </a:defRPr>
            </a:pPr>
            <a:r>
              <a:t>• ADR disimpan langsung di repositori Git dalam folder docs/adr/ berdampingan dengan kode.</a:t>
            </a:r>
          </a:p>
          <a:p>
            <a:pPr>
              <a:spcAft>
                <a:spcPts val="400"/>
              </a:spcAft>
              <a:defRPr sz="1200">
                <a:solidFill>
                  <a:srgbClr val="0B1B2D"/>
                </a:solidFill>
              </a:defRPr>
            </a:pPr>
            <a:r>
              <a:t>• Penomoran berkas menggunakan format monotonik 4 digit tanpa jeda (0001, 0002, ...).</a:t>
            </a:r>
          </a:p>
          <a:p>
            <a:pPr>
              <a:spcAft>
                <a:spcPts val="400"/>
              </a:spcAft>
              <a:defRPr sz="1200">
                <a:solidFill>
                  <a:srgbClr val="0B1B2D"/>
                </a:solidFill>
              </a:defRPr>
            </a:pPr>
            <a:r>
              <a:t>• Status keputusan strictly terbatas pada: Proposed, Accepted, Superseded, Deprecated, Rejected.</a:t>
            </a:r>
          </a:p>
          <a:p>
            <a:pPr>
              <a:spcAft>
                <a:spcPts val="400"/>
              </a:spcAft>
              <a:defRPr sz="1200">
                <a:solidFill>
                  <a:srgbClr val="0B1B2D"/>
                </a:solidFill>
              </a:defRPr>
            </a:pPr>
            <a:r>
              <a:t>• Dokumen yang telah Accepted bersifat immutable; pembaruan arah wajib membuat berkas ADR baru.</a:t>
            </a:r>
          </a:p>
          <a:p>
            <a:pPr>
              <a:spcAft>
                <a:spcPts val="400"/>
              </a:spcAft>
              <a:defRPr sz="1200">
                <a:solidFill>
                  <a:srgbClr val="0B1B2D"/>
                </a:solidFill>
              </a:defRPr>
            </a:pPr>
            <a:r>
              <a:t>• Penggantian keputusan mendeklarasikan tautan timbal-balik (Superseded by N dan Supersedes M).</a:t>
            </a:r>
          </a:p>
          <a:p>
            <a:pPr>
              <a:spcAft>
                <a:spcPts val="400"/>
              </a:spcAft>
              <a:defRPr sz="1200">
                <a:solidFill>
                  <a:srgbClr val="0B1B2D"/>
                </a:solidFill>
              </a:defRPr>
            </a:pPr>
            <a:r>
              <a:t>• Linter otomatis dijalankan pada pipeline CI untuk memvalidasi nomor, status, dan integritas graf.</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Checklist ini merangkum disiplin perancangan ADR: penyimpanan bersama kode, penomoran urut tanpa bolong, status formal terikat, sifat kekal tanpa revisi diam-diam, tautan timbal-balik, serta validasi otomatis pada continuous integration.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Enforce structured decision governance to maintain an immutable, verifiable audit trail of system design.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content/02-master-draft.md:148-160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Umum dalam Dokumentasi Arsitektur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Kekeliruan perancangan yang sering merusak reliabilitas rekaman keputusan tim.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HINDARI KESALAHAN UMUM INI</a:t>
            </a:r>
          </a:p>
          <a:p>
            <a:pPr>
              <a:spcAft>
                <a:spcPts val="400"/>
              </a:spcAft>
              <a:defRPr sz="1200">
                <a:solidFill>
                  <a:srgbClr val="0B1B2D"/>
                </a:solidFill>
              </a:defRPr>
            </a:pPr>
            <a:r>
              <a:t>• Penyuntingan Retroaktif: Mengubah isi ADR lama saat arah berubah; menghancurkan riwayat konteks historis arsitektur.</a:t>
            </a:r>
          </a:p>
          <a:p>
            <a:pPr>
              <a:spcAft>
                <a:spcPts val="400"/>
              </a:spcAft>
              <a:defRPr sz="1200">
                <a:solidFill>
                  <a:srgbClr val="0B1B2D"/>
                </a:solidFill>
              </a:defRPr>
            </a:pPr>
            <a:r>
              <a:t>• ADR untuk Hal Sepele: Mencatat refactor nama variabel atau library helper kecil; menciptakan kebisingan dokumen.</a:t>
            </a:r>
          </a:p>
          <a:p>
            <a:pPr>
              <a:spcAft>
                <a:spcPts val="400"/>
              </a:spcAft>
              <a:defRPr sz="1200">
                <a:solidFill>
                  <a:srgbClr val="0B1B2D"/>
                </a:solidFill>
              </a:defRPr>
            </a:pPr>
            <a:r>
              <a:t>• Bukan Berarti Bebas: Menolak ADR formal bukan berarti bebas bergerak; tim hanya menunda biaya debat di masa depan.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Mengedit ADR lama yang sudah disetujui menghapus jejak sejarah dan memicu kebingungan mengapa keputusan itu dibuat awalnya. Menolak menulis ADR bukan berarti tim lebih gesit; hal itu hanya menunda biaya debat berkepanjangan ketika arsitek berganti.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Never edit historical decisions; append new records and update status links to reflect system evolution.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content/02-master-draft.md:136-147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Reproduksi Mandiri di Mesin Lokal Menggunakan Go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Verifikasi mandiri parser dan linter ADR tanpa ketergantungan library eksternal.</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labs/17-architecture-decision-record</a:t>
            </a:r>
            <a:br/>
            <a:r>
              <a:t>go test -v ./...    # validasi parser regex dan aturan linter struktural</a:t>
            </a:r>
            <a:br/>
            <a:r>
              <a:t>go test -race ./... # verifikasi validasi graf konkuren bebas data race</a:t>
            </a:r>
            <a:br/>
            <a:r>
              <a:t>go run ./cmd/demo   # eksekusi demo parsing 3 ADR evolusi SaaS ERP</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Seluruh mekanisme validasi ditulis menggunakan Go standard library tanpa modul eksternal. Eksperimen lokal ini memvalidasi integritas data di memori, namun production masih perlu menambahkan skrip CLI berkas dan integrasi hook commit.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algorithmic verification guarantees fast, reliable validation in local and CI workflows.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README.md:14-34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Inti: Keputusan Adalah Kode yang Harus Diuji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Arsitektur bertahan lama ketika konteks, batasan, dan konsekuensi dirawat layaknya software.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TIGA PILAR KELANGSUNGAN ARSITEKTUR</a:t>
            </a:r>
          </a:p>
          <a:p>
            <a:pPr>
              <a:spcAft>
                <a:spcPts val="400"/>
              </a:spcAft>
              <a:defRPr sz="1200">
                <a:solidFill>
                  <a:srgbClr val="0B1B2D"/>
                </a:solidFill>
              </a:defRPr>
            </a:pPr>
            <a:r>
              <a:t>• Ko-lokasi dengan Kode: Simpan rekam jejak keputusan di cabang Git yang sama agar selalu berevolusi bersama fitur.</a:t>
            </a:r>
          </a:p>
          <a:p>
            <a:pPr>
              <a:spcAft>
                <a:spcPts val="400"/>
              </a:spcAft>
              <a:defRPr sz="1200">
                <a:solidFill>
                  <a:srgbClr val="0B1B2D"/>
                </a:solidFill>
              </a:defRPr>
            </a:pPr>
            <a:r>
              <a:t>• Kekekalan Silsilah: Perlakukan riwayat arsitektur sebagai append-only log; ubah arah hanya melalui dokumen pengganti.</a:t>
            </a:r>
          </a:p>
          <a:p>
            <a:pPr>
              <a:spcAft>
                <a:spcPts val="400"/>
              </a:spcAft>
              <a:defRPr sz="1200">
                <a:solidFill>
                  <a:srgbClr val="0B1B2D"/>
                </a:solidFill>
              </a:defRPr>
            </a:pPr>
            <a:r>
              <a:t>• Verifikasi Otomatis: Dokumentasi tanpa tes tidak otomatis dipercaya; uji keutuhan graf keputusan di pipeline CI.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Dokumentasi keputusan arsitektur harus diperlakukan sama dengan kode sumber aplikasi. Menyimpan dokumen tanpa mekanisme pengujian otomatis tidak otomatis membuatnya berguna; keandalan dokumentasi hadir ketika strukturnya divalidasi oleh compiler dan CI.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Treat architectural records as an append-only, machine-verified ledger of technical compromises.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17</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Dokumentasi arsitektur yang tidak diuji mesin adalah dokumen yang perlahan berubah menjadi kebohongan.</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Architectural documentation unverified by machines gradually drifts into fiction.</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17 - Architecture Decision Record &amp; Validasi Struktural</a:t>
            </a:r>
          </a:p>
          <a:p>
            <a:pPr>
              <a:defRPr sz="1200">
                <a:solidFill>
                  <a:srgbClr val="CBD5E1"/>
                </a:solidFill>
              </a:defRPr>
            </a:pPr>
            <a:r>
              <a:t>https://github.com/lukman-ss/software-engineering-lab/tree/main/labs/17-architecture-decision-record</a:t>
            </a:r>
          </a:p>
          <a:p>
            <a:br/>
            <a:pPr>
              <a:defRPr sz="1100" b="1">
                <a:solidFill>
                  <a:srgbClr val="20C997"/>
                </a:solidFill>
              </a:defRPr>
            </a:pPr>
            <a:r>
              <a:t>REPOSITORY</a:t>
            </a:r>
          </a:p>
          <a:p>
            <a:pPr>
              <a:defRPr sz="1100">
                <a:solidFill>
                  <a:srgbClr val="FFFFFF"/>
                </a:solidFill>
                <a:latin typeface="Courier New"/>
              </a:defRPr>
            </a:pPr>
            <a:r>
              <a:t>github.com/lukman-ss/software-engineering-lab/tree/main/labs/17-architecture-decision-record</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36ff6c8</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Architecture Decision Record • ADR • Software Architecture • Go • Linting • Immutability</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