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Dependency Injection di Go</a:t>
            </a:r>
          </a:p>
          <a:p/>
          <a:p>
            <a:r>
              <a:t>[]</a:t>
            </a:r>
          </a:p>
          <a:p>
            <a:r>
              <a:t>- Three module cards labeled 'Gateway', 'Payment', 'Notification' plugged into a central socket shape</a:t>
            </a:r>
          </a:p>
          <a:p>
            <a:r>
              <a:t>- Asymmetric connection lines from modules into the socket, implying injection</a:t>
            </a:r>
          </a:p>
          <a:p>
            <a:r>
              <a:t>- Penulis: Lukman / lukman-ss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Coupling Mengunci Gateway di Domain</a:t>
            </a:r>
          </a:p>
          <a:p/>
          <a:p>
            <a:r>
              <a:t>Mental Model: When a component builds its own dependencies, replacing them requires editing the component itself.</a:t>
            </a:r>
          </a:p>
          <a:p/>
          <a:p>
            <a:r>
              <a:t>[MASALAH STRUKTURAL]</a:t>
            </a:r>
          </a:p>
          <a:p>
            <a:r>
              <a:t>- Processor meng-instantiate &amp;RealGateway{} secara internal.</a:t>
            </a:r>
          </a:p>
          <a:p>
            <a:r>
              <a:t>- Swap provider gateway memaksa edit domain code.</a:t>
            </a:r>
          </a:p>
          <a:p>
            <a:r>
              <a:t>- Test menjadi integration test lambat dan flaky.</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Konstruktor Tanpa Interface Menyulitkan Swap</a:t>
            </a:r>
          </a:p>
          <a:p/>
          <a:p>
            <a:r>
              <a:t>Mental Model: Injecting an interface moves the selection point from domain to the composition root.</a:t>
            </a:r>
          </a:p>
          <a:p/>
          <a:p>
            <a:r>
              <a:t>[BEFORE (Tight Coupling)]</a:t>
            </a:r>
          </a:p>
          <a:p>
            <a:r>
              <a:t>- NewProcessor() — tidak ada parameter dependency.</a:t>
            </a:r>
          </a:p>
          <a:p>
            <a:r>
              <a:t>- Setiap test harus menggunakan RealGateway asli.</a:t>
            </a:r>
          </a:p>
          <a:p>
            <a:r>
              <a:t>- Ganti provider = ubah seluruh call site.</a:t>
            </a:r>
          </a:p>
          <a:p>
            <a:r>
              <a:t>[AFTER (Constructor Injection)]</a:t>
            </a:r>
          </a:p>
          <a:p>
            <a:r>
              <a:t>- NewProcessor(g PaymentGateway) — menerima interface.</a:t>
            </a:r>
          </a:p>
          <a:p>
            <a:r>
              <a:t>- Test cukup berikan MockGateway.</a:t>
            </a:r>
          </a:p>
          <a:p>
            <a:r>
              <a:t>- Ganti provider = ubah satu baris di composition root.</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IoC Bukan Fitur, Tapi Arah Kendali</a:t>
            </a:r>
          </a:p>
          <a:p/>
          <a:p>
            <a:r>
              <a:t>Mental Model: IoC is a principle of control direction; DI is one specific mechanism to realize it for dependencies.</a:t>
            </a:r>
          </a:p>
          <a:p/>
          <a:p>
            <a:r>
              <a:t>[PRINSIP INTI]</a:t>
            </a:r>
          </a:p>
          <a:p>
            <a:r>
              <a:t>- Constructor injection memindahkan instantiation ke caller.</a:t>
            </a:r>
          </a:p>
          <a:p>
            <a:r>
              <a:t>- Processor bergantung pada PaymentGateway interface, bukan implementasi.</a:t>
            </a:r>
          </a:p>
          <a:p>
            <a:r>
              <a:t>- Komposisi terjadi sekali di composition root (main.go).</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Alur Request dari Composition Root ke Gateway</a:t>
            </a:r>
          </a:p>
          <a:p/>
          <a:p>
            <a:r>
              <a:t>Mental Model: A clean request flow separates configuration, validation, and external call concerns.</a:t>
            </a:r>
          </a:p>
          <a:p/>
          <a:p>
            <a:r>
              <a:t>[REQUEST FLOW]</a:t>
            </a:r>
          </a:p>
          <a:p>
            <a:r>
              <a:t>- main.go membuat RealGateway &amp; menyuntikkannya ke NewProcessor.</a:t>
            </a:r>
          </a:p>
          <a:p>
            <a:r>
              <a:t>- Call site memanggil ProcessPayment(100).</a:t>
            </a:r>
          </a:p>
          <a:p>
            <a:r>
              <a:t>- Processor validasi amount &gt; 0, lalu buat Money{100, USD}.</a:t>
            </a:r>
          </a:p>
          <a:p>
            <a:r>
              <a:t>- Gateway.Charge(m) dipanggil; error dikembalikan ke caller.</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Constructor Membuat Dependency Terlihat</a:t>
            </a:r>
          </a:p>
          <a:p/>
          <a:p>
            <a:r>
              <a:t>Mental Model: Constructor parameters are the public contract for dependencies; missing nil guard means runtime risk remains.</a:t>
            </a:r>
          </a:p>
          <a:p/>
          <a:p>
            <a:r>
              <a:t>[KODE KRITIS]</a:t>
            </a:r>
          </a:p>
          <a:p>
            <a:r>
              <a:t>- func NewProcessor(g PaymentGateway) *Processor {</a:t>
            </a:r>
          </a:p>
          <a:p>
            <a:r>
              <a:t>-     return &amp;Processor{gateway: g}</a:t>
            </a:r>
          </a:p>
          <a:p>
            <a:r>
              <a:t>- }</a:t>
            </a:r>
          </a:p>
          <a:p>
            <a:r>
              <a:t>- </a:t>
            </a:r>
          </a:p>
          <a:p>
            <a:r>
              <a:t>- func (p *Processor) ProcessPayment(amount int) error {</a:t>
            </a:r>
          </a:p>
          <a:p>
            <a:r>
              <a:t>-     if amount &lt;= 0 { return errors.New("invalid amount") }</a:t>
            </a:r>
          </a:p>
          <a:p>
            <a:r>
              <a:t>-     m := Money{Amount: amount, Currency: "USD"}</a:t>
            </a:r>
          </a:p>
          <a:p>
            <a:r>
              <a:t>-     return p.gateway.Charge(m)</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Service Locator Menyembunyikan Dependency</a:t>
            </a:r>
          </a:p>
          <a:p/>
          <a:p>
            <a:r>
              <a:t>Mental Model: Hiding dependencies behind a locator increases cognitive load and makes mocking harder.</a:t>
            </a:r>
          </a:p>
          <a:p/>
          <a:p>
            <a:r>
              <a:t>[ANTI-PATTERN]</a:t>
            </a:r>
          </a:p>
          <a:p>
            <a:r>
              <a:t>- NewBadProcessor(c Container) menerima abstraksi yang lebih tinggi.</a:t>
            </a:r>
          </a:p>
          <a:p>
            <a:r>
              <a:t>- ProcessPayment memanggil container.GetPaymentGateway() secara internal.</a:t>
            </a:r>
          </a:p>
          <a:p>
            <a:r>
              <a:t>- Dependensi nyata PaymentGateway tersembunyi dari signature constructor.</a:t>
            </a:r>
          </a:p>
          <a:p>
            <a:r>
              <a:t>- Test harus mock Container, bukan gateway — tambahan indirection.</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Biaya Tersembunyi: Indirection vs Eksplisitas</a:t>
            </a:r>
          </a:p>
          <a:p/>
          <a:p>
            <a:r>
              <a:t>Mental Model: The hidden cost of a pattern is often measured in maintenance time, not execution time.</a:t>
            </a:r>
          </a:p>
          <a:p/>
          <a:p>
            <a:r>
              <a:t>[PERBANDINGAN BIAYA]</a:t>
            </a:r>
          </a:p>
          <a:p>
            <a:r>
              <a:t>- Aspek | Constructor | Service Locator</a:t>
            </a:r>
          </a:p>
          <a:p>
            <a:r>
              <a:t>- Testability | Mock langsung | Mock container + gateway</a:t>
            </a:r>
          </a:p>
          <a:p>
            <a:r>
              <a:t>- Readability | Signature jelas | Butuh telusuri container</a:t>
            </a:r>
          </a:p>
          <a:p>
            <a:r>
              <a:t>- Swap provider | Satu baris di root | Satu baris di root</a:t>
            </a:r>
          </a:p>
          <a:p>
            <a:r>
              <a:t>- Risk nil | Panic jika tanpa guard | Panic jika Get returns nil</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Setup Pengujian: Mock Isolasi Gateway</a:t>
            </a:r>
          </a:p>
          <a:p/>
          <a:p>
            <a:r>
              <a:t>Mental Model: A focused test harness isolates one behavior at a time; it proves the path, not the whole system.</a:t>
            </a:r>
          </a:p>
          <a:p/>
          <a:p>
            <a:r>
              <a:t>[TEST HARNESS]</a:t>
            </a:r>
          </a:p>
          <a:p>
            <a:r>
              <a:t>- MockGateway menyimpan ChargedMoney dan toggle ShouldFail.</a:t>
            </a:r>
          </a:p>
          <a:p>
            <a:r>
              <a:t>- 6 test cases: 3 untuk Processor (success, error, invalid), 3 untuk BadProcessor.</a:t>
            </a:r>
          </a:p>
          <a:p>
            <a:r>
              <a:t>- go test -race ./... dijalankan pada semua test sequential.</a:t>
            </a:r>
          </a:p>
          <a:p>
            <a:r>
              <a:t>- Tidak ada test concurrent atau benchmark throughput.</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Semua 6 Test Pass, Race Detector Clean</a:t>
            </a:r>
          </a:p>
          <a:p/>
          <a:p>
            <a:r>
              <a:t>Mental Model: Zero race warnings on a small sequential suite prove the tested paths; they do not prove the whole runtime safe.</a:t>
            </a:r>
          </a:p>
          <a:p/>
          <a:p>
            <a:r>
              <a:t>[TERMINAL OUTPUT]</a:t>
            </a:r>
          </a:p>
          <a:p>
            <a:r>
              <a:t>- $ go test -race -v ./tests/</a:t>
            </a:r>
          </a:p>
          <a:p>
            <a:r>
              <a:t>- === RUN   TestProcessor_Success</a:t>
            </a:r>
          </a:p>
          <a:p>
            <a:r>
              <a:t>- --- PASS: TestProcessor_Success (0.00s)</a:t>
            </a:r>
          </a:p>
          <a:p>
            <a:r>
              <a:t>- === RUN   TestProcessor_GatewayError</a:t>
            </a:r>
          </a:p>
          <a:p>
            <a:r>
              <a:t>- --- PASS: TestProcessor_GatewayError (0.00s)</a:t>
            </a:r>
          </a:p>
          <a:p>
            <a:r>
              <a:t>- === RUN   TestProcessor_InvalidAmount</a:t>
            </a:r>
          </a:p>
          <a:p>
            <a:r>
              <a:t>- --- PASS: TestProcessor_InvalidAmount (0.00s)</a:t>
            </a:r>
          </a:p>
          <a:p>
            <a:r>
              <a:t>- === RUN   TestBadProcessor_Success</a:t>
            </a:r>
          </a:p>
          <a:p>
            <a:r>
              <a:t>- --- PASS: TestBadProcessor_Success (0.00s)</a:t>
            </a:r>
          </a:p>
          <a:p>
            <a:r>
              <a:t>- === RUN   TestBadProcessor_GatewayError</a:t>
            </a:r>
          </a:p>
          <a:p>
            <a:r>
              <a:t>- --- PASS: TestBadProcessor_GatewayError (0.00s)</a:t>
            </a:r>
          </a:p>
          <a:p>
            <a:r>
              <a:t>- === RUN   TestBadProcessor_InvalidAmount</a:t>
            </a:r>
          </a:p>
          <a:p>
            <a:r>
              <a:t>- --- PASS: TestBadProcessor_InvalidAmount (0.00s)</a:t>
            </a:r>
          </a:p>
          <a:p>
            <a:r>
              <a:t>- PASS: ok lab16/tests (cached)</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Angka 0.00s Tidak Otomatis Jadi SLO Production</a:t>
            </a:r>
          </a:p>
          <a:p/>
          <a:p>
            <a:r>
              <a:t>Mental Model: Benchmark numbers are context-bound; they measure what the harness measures, nothing more.</a:t>
            </a:r>
          </a:p>
          <a:p/>
          <a:p>
            <a:r>
              <a:t>[METRIK HASIL]</a:t>
            </a:r>
          </a:p>
          <a:p>
            <a:r>
              <a:t>- Metric | Nilai | Makna | Batas</a:t>
            </a:r>
          </a:p>
          <a:p>
            <a:r>
              <a:t>- Test duration | 0.00s/case | Unit test in-memory | Bukan network latency</a:t>
            </a:r>
          </a:p>
          <a:p>
            <a:r>
              <a:t>- Race warnings | 0 | Sequential test clean | Belum concurrent test</a:t>
            </a:r>
          </a:p>
          <a:p>
            <a:r>
              <a:t>- Mock coverage | Charge captured | Path: valid+error+invalid | Belum edge: timeout</a:t>
            </a:r>
          </a:p>
          <a:p>
            <a:r>
              <a:t>- Demo output | RealGateway charging | Integration manual verified | Bukan automated claim</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Trade-off: Boilerplate Konstruksi vs Kemampuan Uji</a:t>
            </a:r>
          </a:p>
          <a:p/>
          <a:p>
            <a:r>
              <a:t>Mental Model: DI trades a small construction cost for isolation gains; it does not buy production safety.</a:t>
            </a:r>
          </a:p>
          <a:p/>
          <a:p>
            <a:r>
              <a:t>[BIAYA &amp; MANFAAT]</a:t>
            </a:r>
          </a:p>
          <a:p>
            <a:r>
              <a:t>- Biaya: Tambah 1 parameter di constructor</a:t>
            </a:r>
          </a:p>
          <a:p>
            <a:r>
              <a:t>- Manfaat: Mocking tanpa network call di unit test</a:t>
            </a:r>
          </a:p>
          <a:p>
            <a:r>
              <a:t>- Biaya: Composition root perlu tahu concrete type</a:t>
            </a:r>
          </a:p>
          <a:p>
            <a:r>
              <a:t>- Manfaat: Error propagation tetap terverifikasi rapi</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Nil Guard Menutupi Runtime Risk</a:t>
            </a:r>
          </a:p>
          <a:p/>
          <a:p>
            <a:r>
              <a:t>Mental Model: Explicit nil checks convert runtime surprises into compile-time or call-site failures.</a:t>
            </a:r>
          </a:p>
          <a:p/>
          <a:p>
            <a:r>
              <a:t>[IMPROVED CODE]</a:t>
            </a:r>
          </a:p>
          <a:p>
            <a:r>
              <a:t>- func NewProcessor(g PaymentGateway) *Processor {</a:t>
            </a:r>
          </a:p>
          <a:p>
            <a:r>
              <a:t>-     if g == nil {</a:t>
            </a:r>
          </a:p>
          <a:p>
            <a:r>
              <a:t>-         return nil // atau panic, tergantung kebijakan tim</a:t>
            </a:r>
          </a:p>
          <a:p>
            <a:r>
              <a:t>-     }</a:t>
            </a:r>
          </a:p>
          <a:p>
            <a:r>
              <a:t>-     return &amp;Processor{gateway: g}</a:t>
            </a:r>
          </a:p>
          <a:p>
            <a:r>
              <a:t>- }</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Sebelum vs Sesudah: Konstruktor Injection</a:t>
            </a:r>
          </a:p>
          <a:p/>
          <a:p>
            <a:r>
              <a:t>Mental Model: The biggest change is at the composition boundary, not inside the domain logic.</a:t>
            </a:r>
          </a:p>
          <a:p/>
          <a:p>
            <a:r>
              <a:t>[BEFORE (Tight Coupling)]</a:t>
            </a:r>
          </a:p>
          <a:p>
            <a:r>
              <a:t>- Processor { gateway RealGateway }</a:t>
            </a:r>
          </a:p>
          <a:p>
            <a:r>
              <a:t>- NewProcessor() → &amp;Processor{gateway: &amp;RealGateway{}}</a:t>
            </a:r>
          </a:p>
          <a:p>
            <a:r>
              <a:t>- Test: harus pakai RealGateway atau setup mocking kompleks</a:t>
            </a:r>
          </a:p>
          <a:p>
            <a:r>
              <a:t>- Swap: edit seluruh call site</a:t>
            </a:r>
          </a:p>
          <a:p>
            <a:r>
              <a:t>[AFTER (Constructor Injection)]</a:t>
            </a:r>
          </a:p>
          <a:p>
            <a:r>
              <a:t>- Processor { gateway PaymentGateway }</a:t>
            </a:r>
          </a:p>
          <a:p>
            <a:r>
              <a:t>- NewProcessor(g PaymentGateway) → &amp;Processor{gateway: g}</a:t>
            </a:r>
          </a:p>
          <a:p>
            <a:r>
              <a:t>- Test: cukup passed MockGateway{}</a:t>
            </a:r>
          </a:p>
          <a:p>
            <a:r>
              <a:t>- Swap: satu baris di main.go</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Apa yang Tidak Dicakup oleh Lab Ini</a:t>
            </a:r>
          </a:p>
          <a:p/>
          <a:p>
            <a:r>
              <a:t>Mental Model: A lab proves what it designs to prove; it does not absolve you from production considerations.</a:t>
            </a:r>
          </a:p>
          <a:p/>
          <a:p>
            <a:r>
              <a:t>[YANG DILAB]</a:t>
            </a:r>
          </a:p>
          <a:p>
            <a:r>
              <a:t>- Kontras struktural antara Constructor Injection dan Service Locator.</a:t>
            </a:r>
          </a:p>
          <a:p>
            <a:r>
              <a:t>- Verifikasi mock substitution bekerja pada test sequential.</a:t>
            </a:r>
          </a:p>
          <a:p>
            <a:r>
              <a:t>- Race detector bersih pada test suite saat ini.</a:t>
            </a:r>
          </a:p>
          <a:p>
            <a:r>
              <a:t>[YANG TIDAK DILAB]</a:t>
            </a:r>
          </a:p>
          <a:p>
            <a:r>
              <a:t>- Lifecycle management (singleton, scoped, transient).</a:t>
            </a:r>
          </a:p>
          <a:p>
            <a:r>
              <a:t>- Performance overhead reflection-based DI frameworks.</a:t>
            </a:r>
          </a:p>
          <a:p>
            <a:r>
              <a:t>- Concurrent access patterns pada shared dependencies.</a:t>
            </a:r>
          </a:p>
          <a:p>
            <a:r>
              <a:t>- Production defect rate reduction claim.</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Edge Case: Nil Dependency Menghasilkan Panic</a:t>
            </a:r>
          </a:p>
          <a:p/>
          <a:p>
            <a:r>
              <a:t>Mental Model: Absence of a guard is not a DI flaw; it is a defensive programming gap that any pattern must address.</a:t>
            </a:r>
          </a:p>
          <a:p/>
          <a:p>
            <a:r>
              <a:t>[Skenario Edge]</a:t>
            </a:r>
          </a:p>
          <a:p>
            <a:r>
              <a:t>- Caller mengoper nil sebagai PaymentGateway.</a:t>
            </a:r>
          </a:p>
          <a:p>
            <a:r>
              <a:t>- Constructor tidak menolak; Processor tetap terbuat.</a:t>
            </a:r>
          </a:p>
          <a:p>
            <a:r>
              <a:t>- ProcessPayment(100) → gateway.Charge(m) → nil pointer panic.</a:t>
            </a:r>
          </a:p>
          <a:p>
            <a:r>
              <a:t>- Error tidak ter-catch; crash terjadi di runtime.</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Test Suite Membuktikan Tiga Jalur Saja</a:t>
            </a:r>
          </a:p>
          <a:p/>
          <a:p>
            <a:r>
              <a:t>Mental Model: Tests prove the paths they cover; they do not prove the paths they do not traverse.</a:t>
            </a:r>
          </a:p>
          <a:p/>
          <a:p>
            <a:r>
              <a:t>[YANG DIBUKTIKAN]</a:t>
            </a:r>
          </a:p>
          <a:p>
            <a:r>
              <a:t>- MockGateway berhasil menangkap panggilan Charge dengan amount dan currency benar.</a:t>
            </a:r>
          </a:p>
          <a:p>
            <a:r>
              <a:t>- Error dari gateway dipropagasikan ke caller tanpa di-suppress.</a:t>
            </a:r>
          </a:p>
          <a:p>
            <a:r>
              <a:t>- Pre-check amount &lt;= 0 mencegah panggilan gateway (ChargedMoney tetap 0).</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Yang Belum Dibuktikan oleh Test Suite</a:t>
            </a:r>
          </a:p>
          <a:p/>
          <a:p>
            <a:r>
              <a:t>Mental Model: The absence of evidence is not evidence of absence; it is a scope declaration.</a:t>
            </a:r>
          </a:p>
          <a:p/>
          <a:p>
            <a:r>
              <a:t>[YANG TIDAK DIBUKTIKAN]</a:t>
            </a:r>
          </a:p>
          <a:p>
            <a:r>
              <a:t>- Concurrency safety: tidak ada concurrent test yang memicu race condition.</a:t>
            </a:r>
          </a:p>
          <a:p>
            <a:r>
              <a:t>- Lifecycle management: tidak adauji singleton vs transient vs scoped.</a:t>
            </a:r>
          </a:p>
          <a:p>
            <a:r>
              <a:t>- Framework DI overhead: tidak diukur latency injection vs manual new.</a:t>
            </a:r>
          </a:p>
          <a:p>
            <a:r>
              <a:t>- Production defect reduction: tidak ada studi empiris dalam lab ini.</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Risiko Menerapkan Pola Tanpa Pertimbangan Lifecycle</a:t>
            </a:r>
          </a:p>
          <a:p/>
          <a:p>
            <a:r>
              <a:t>Mental Model: Pattern application without lifecycle awareness turns a testing benefit into an operational risk.</a:t>
            </a:r>
          </a:p>
          <a:p/>
          <a:p>
            <a:r>
              <a:t>[RISIKO POTENSIAL]</a:t>
            </a:r>
          </a:p>
          <a:p>
            <a:r>
              <a:t>- Setiap call site membuat Processor baru → object graph tumbuh tanpa batas.</a:t>
            </a:r>
          </a:p>
          <a:p>
            <a:r>
              <a:t>- Shared state di dalam PaymentGateway (misal token cache) perlu sinkronisasi.</a:t>
            </a:r>
          </a:p>
          <a:p>
            <a:r>
              <a:t>- Nil guard tidak ada → caller error menghasilkan panic di runtime.</a:t>
            </a:r>
          </a:p>
          <a:p>
            <a:r>
              <a:t>- Komposisi root tunggal (`main.go`) bisa menjadi bottleneck pada sistem besar.</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Checklist Implementasi Dependency Injection yang Aman</a:t>
            </a:r>
          </a:p>
          <a:p/>
          <a:p>
            <a:r>
              <a:t>Mental Model: Checklists guide practice; they do not replace architectural judgment or runtime verification.</a:t>
            </a:r>
          </a:p>
          <a:p/>
          <a:p>
            <a:r>
              <a:t>[LANGKAH KERJA]</a:t>
            </a:r>
          </a:p>
          <a:p>
            <a:r>
              <a:t>- [ ] Dependeansi dideklarasikan sebagai interface, bukan concrete type.</a:t>
            </a:r>
          </a:p>
          <a:p>
            <a:r>
              <a:t>- [ ] Constructor injection digunakan; semua dependency eksplisit di signature.</a:t>
            </a:r>
          </a:p>
          <a:p>
            <a:r>
              <a:t>- [ ] Composition root (`main.go`) adalah satu-satunya tempat konstruksi concrete.</a:t>
            </a:r>
          </a:p>
          <a:p>
            <a:r>
              <a:t>- [ ] Value objects (seperti `Money`) diinstansiasi langsung, bukan melalui DI.</a:t>
            </a:r>
          </a:p>
          <a:p>
            <a:r>
              <a:t>- [ ] Validasi input dilakukan sebelum delegasi ke dependency eksternal.</a:t>
            </a:r>
          </a:p>
          <a:p>
            <a:r>
              <a:t>- [ ] `go test -race ./...` dijalankan dan PASS sebelum merge.</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Anti-Pattern: Service Locator di Domain Logic</a:t>
            </a:r>
          </a:p>
          <a:p/>
          <a:p>
            <a:r>
              <a:t>Mental Model: Service Locator is a tool, not a sin; misuse depends on where and why it is applied.</a:t>
            </a:r>
          </a:p>
          <a:p/>
          <a:p>
            <a:r>
              <a:t>[HINDARI POLA INI]</a:t>
            </a:r>
          </a:p>
          <a:p>
            <a:r>
              <a:t>- NewBadProcessor(c Container) — signature menyembunyikan PaymentGateway.</a:t>
            </a:r>
          </a:p>
          <a:p>
            <a:r>
              <a:t>- container.GetPaymentGateway() dipanggil di dalam method domain.</a:t>
            </a:r>
          </a:p>
          <a:p>
            <a:r>
              <a:t>- Test harus mock Container alih-alih gateway — tambahan kompleksitas.</a:t>
            </a:r>
          </a:p>
          <a:p>
            <a:r>
              <a:t>- Swap provider tetap satu baris, tetapi readability dan traceability menurun.</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Reproduksi Mandiri di Mesin Lokal</a:t>
            </a:r>
          </a:p>
          <a:p/>
          <a:p>
            <a:r>
              <a:t>Mental Model: Reproducibility on a local machine is necessary but not sufficient for production confidence.</a:t>
            </a:r>
          </a:p>
          <a:p/>
          <a:p>
            <a:r>
              <a:t>[COMMAND RUNNER]</a:t>
            </a:r>
          </a:p>
          <a:p>
            <a:r>
              <a:t>- cd labs/16-dependency-injection</a:t>
            </a:r>
          </a:p>
          <a:p>
            <a:r>
              <a:t>- go test -race -v ./tests/     # validasi 6 test cases</a:t>
            </a:r>
          </a:p>
          <a:p>
            <a:r>
              <a:t>- go run ./cmd/demo            # jalankan demo kedua pola</a:t>
            </a:r>
          </a:p>
          <a:p>
            <a:r>
              <a:t>- go vet ./...                 # statik analisis tambahan</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Constructor Membuat Dependency Terlihat</a:t>
            </a:r>
          </a:p>
          <a:p/>
          <a:p>
            <a:r>
              <a:t>Mental Model: DI shifts ownership from the component to its assembler; visibility improves testability.</a:t>
            </a:r>
          </a:p>
          <a:p/>
          <a:p>
            <a:r>
              <a:t>[PRINSIP REKAYASA]</a:t>
            </a:r>
          </a:p>
          <a:p>
            <a:r>
              <a:t>- DI bukan fitur framework — ia arah kendali atas instantiation.</a:t>
            </a:r>
          </a:p>
          <a:p>
            <a:r>
              <a:t>- Constructor injection memindahkan keputusan ke composition root.</a:t>
            </a:r>
          </a:p>
          <a:p>
            <a:r>
              <a:t>- Service Locator mengurangi boilerplate parameter, tetapi menambah indirection.</a:t>
            </a:r>
          </a:p>
          <a:p>
            <a:r>
              <a:t>- Nil guard dan lifecycle management adalah tanggung jawab implementasi, bukan pola.</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Constructor memperlihatkan dependency wajib; validasi nil tetap tanggung jawab constructor.</a:t>
            </a:r>
          </a:p>
          <a:p/>
          <a:p>
            <a:r>
              <a:t>Mental Model: Constructor injection makes dependencies explicit; it does not replace lifecycle management or nil safety.</a:t>
            </a:r>
          </a:p>
          <a:p/>
          <a:p>
            <a:r>
              <a:t>[MODUL LAB]</a:t>
            </a:r>
          </a:p>
          <a:p>
            <a:r>
              <a:t>- internal/di/processor.go • internal/di/locator.go • internal/di/gateway.go</a:t>
            </a:r>
          </a:p>
          <a:p>
            <a:r>
              <a:t>- cmd/demo/main.go • tests/processor_test.go</a:t>
            </a:r>
          </a:p>
          <a:p>
            <a:r>
              <a:t>- README.md • content/02-master-draft.md</a:t>
            </a:r>
          </a:p>
          <a:p>
            <a:r>
              <a:t>[VERIFIKASI &amp; STATUS]</a:t>
            </a:r>
          </a:p>
          <a:p>
            <a:r>
              <a:t>- Sumber: commit d7fb619</a:t>
            </a:r>
          </a:p>
          <a:p>
            <a:r>
              <a:t>- Test passing: 6 test cases, 0 failures.</a:t>
            </a:r>
          </a:p>
          <a:p>
            <a:r>
              <a:t>- Race detector: clean (go test -race ./...)</a:t>
            </a:r>
          </a:p>
          <a:p>
            <a:r>
              <a:t>- Simulasi in-memory mock; bukan proof production DI governance completeness.</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62895" cy="548640"/>
          </a:xfrm>
          <a:prstGeom prst="rect">
            <a:avLst/>
          </a:prstGeom>
          <a:noFill/>
        </p:spPr>
        <p:txBody>
          <a:bodyPr wrap="square">
            <a:spAutoFit/>
          </a:bodyPr>
          <a:lstStyle/>
          <a:p>
            <a:pPr>
              <a:defRPr sz="1600" b="1">
                <a:solidFill>
                  <a:srgbClr val="087F76"/>
                </a:solidFill>
              </a:defRPr>
            </a:pPr>
            <a:r>
              <a:t>SOFTWARE ENGINEERING LAB | LAB 16</a:t>
            </a:r>
          </a:p>
        </p:txBody>
      </p:sp>
      <p:sp>
        <p:nvSpPr>
          <p:cNvPr id="4" name="TextBox 3"/>
          <p:cNvSpPr txBox="1"/>
          <p:nvPr/>
        </p:nvSpPr>
        <p:spPr>
          <a:xfrm>
            <a:off x="914400" y="1645920"/>
            <a:ext cx="10362895" cy="1463040"/>
          </a:xfrm>
          <a:prstGeom prst="rect">
            <a:avLst/>
          </a:prstGeom>
          <a:noFill/>
        </p:spPr>
        <p:txBody>
          <a:bodyPr wrap="square">
            <a:spAutoFit/>
          </a:bodyPr>
          <a:lstStyle/>
          <a:p>
            <a:pPr>
              <a:defRPr sz="4400" b="1">
                <a:solidFill>
                  <a:srgbClr val="FFFFFF"/>
                </a:solidFill>
              </a:defRPr>
            </a:pPr>
            <a:r>
              <a:t>Dependency Injection di Go</a:t>
            </a:r>
          </a:p>
        </p:txBody>
      </p:sp>
      <p:sp>
        <p:nvSpPr>
          <p:cNvPr id="5" name="TextBox 4"/>
          <p:cNvSpPr txBox="1"/>
          <p:nvPr/>
        </p:nvSpPr>
        <p:spPr>
          <a:xfrm>
            <a:off x="914400" y="3291840"/>
            <a:ext cx="10362895" cy="914400"/>
          </a:xfrm>
          <a:prstGeom prst="rect">
            <a:avLst/>
          </a:prstGeom>
          <a:noFill/>
        </p:spPr>
        <p:txBody>
          <a:bodyPr wrap="square">
            <a:spAutoFit/>
          </a:bodyPr>
          <a:lstStyle/>
          <a:p>
            <a:pPr>
              <a:defRPr sz="2200">
                <a:solidFill>
                  <a:srgbClr val="F4F1E8"/>
                </a:solidFill>
              </a:defRPr>
            </a:pPr>
            <a:r>
              <a:t>Constructor Injection vs Service Locator: Trade-off Konkret untuk Testability</a:t>
            </a:r>
          </a:p>
        </p:txBody>
      </p:sp>
      <p:sp>
        <p:nvSpPr>
          <p:cNvPr id="6" name="TextBox 5"/>
          <p:cNvSpPr txBox="1"/>
          <p:nvPr/>
        </p:nvSpPr>
        <p:spPr>
          <a:xfrm>
            <a:off x="914400" y="5303520"/>
            <a:ext cx="5486400" cy="548640"/>
          </a:xfrm>
          <a:prstGeom prst="rect">
            <a:avLst/>
          </a:prstGeom>
          <a:noFill/>
        </p:spPr>
        <p:txBody>
          <a:bodyPr wrap="none">
            <a:spAutoFit/>
          </a:bodyPr>
          <a:lstStyle/>
          <a:p>
            <a:pPr>
              <a:defRPr sz="1800" b="1">
                <a:solidFill>
                  <a:srgbClr val="D97706"/>
                </a:solidFill>
              </a:defRPr>
            </a:pPr>
            <a:r>
              <a:t>Lukman / lukman-ss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Coupling Mengunci Gateway di Domain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Processor yang membuat RealGateway sendiri tidak bisa diuji tanpa jaringan.</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MASALAH STRUKTURAL</a:t>
            </a:r>
          </a:p>
          <a:p>
            <a:pPr>
              <a:spcAft>
                <a:spcPts val="400"/>
              </a:spcAft>
              <a:defRPr sz="1200">
                <a:solidFill>
                  <a:srgbClr val="0B1B2D"/>
                </a:solidFill>
              </a:defRPr>
            </a:pPr>
            <a:r>
              <a:t>• Processor meng-instantiate &amp;RealGateway{} secara internal.</a:t>
            </a:r>
          </a:p>
          <a:p>
            <a:pPr>
              <a:spcAft>
                <a:spcPts val="400"/>
              </a:spcAft>
              <a:defRPr sz="1200">
                <a:solidFill>
                  <a:srgbClr val="0B1B2D"/>
                </a:solidFill>
              </a:defRPr>
            </a:pPr>
            <a:r>
              <a:t>• Swap provider gateway memaksa edit domain code.</a:t>
            </a:r>
          </a:p>
          <a:p>
            <a:pPr>
              <a:spcAft>
                <a:spcPts val="400"/>
              </a:spcAft>
              <a:defRPr sz="1200">
                <a:solidFill>
                  <a:srgbClr val="0B1B2D"/>
                </a:solidFill>
              </a:defRPr>
            </a:pPr>
            <a:r>
              <a:t>• Test menjadi integration test lambat dan flaky.</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Dalam kode tradisional, domain langsung membangun dependensi konkret. Lab ini menunjukkan bahwa pola tersebut mengunci pengujian pada infrastruktur nyata — bukan berarti setiap sistem tanpa DI gagal production, melainkan trade-off antara kemudahan写 dan kemampuan uji.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When a component builds its own dependencies, replacing them requires editing the component itself.</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internal/di/processor.go • README.md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02 /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Konstruktor Tanpa Interface Menyulitkan Swap</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Menambahkan parameter interface hanya mengubah signature, bukan domain logic.</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BEFORE (TIGHT COUPLING)</a:t>
            </a:r>
          </a:p>
          <a:p>
            <a:pPr>
              <a:spcAft>
                <a:spcPts val="400"/>
              </a:spcAft>
              <a:defRPr sz="1200">
                <a:solidFill>
                  <a:srgbClr val="0B1B2D"/>
                </a:solidFill>
              </a:defRPr>
            </a:pPr>
            <a:r>
              <a:t>• NewProcessor() — tidak ada parameter dependency.</a:t>
            </a:r>
          </a:p>
          <a:p>
            <a:pPr>
              <a:spcAft>
                <a:spcPts val="400"/>
              </a:spcAft>
              <a:defRPr sz="1200">
                <a:solidFill>
                  <a:srgbClr val="0B1B2D"/>
                </a:solidFill>
              </a:defRPr>
            </a:pPr>
            <a:r>
              <a:t>• Setiap test harus menggunakan RealGateway asli.</a:t>
            </a:r>
          </a:p>
          <a:p>
            <a:pPr>
              <a:spcAft>
                <a:spcPts val="400"/>
              </a:spcAft>
              <a:defRPr sz="1200">
                <a:solidFill>
                  <a:srgbClr val="0B1B2D"/>
                </a:solidFill>
              </a:defRPr>
            </a:pPr>
            <a:r>
              <a:t>• Ganti provider = ubah seluruh call site.</a:t>
            </a:r>
          </a:p>
          <a:p>
            <a:pPr>
              <a:defRPr sz="1200" b="1">
                <a:solidFill>
                  <a:srgbClr val="087F76"/>
                </a:solidFill>
              </a:defRPr>
            </a:pPr>
            <a:r>
              <a:t>AFTER (CONSTRUCTOR INJECTION)</a:t>
            </a:r>
          </a:p>
          <a:p>
            <a:pPr>
              <a:spcAft>
                <a:spcPts val="400"/>
              </a:spcAft>
              <a:defRPr sz="1200">
                <a:solidFill>
                  <a:srgbClr val="0B1B2D"/>
                </a:solidFill>
              </a:defRPr>
            </a:pPr>
            <a:r>
              <a:t>• NewProcessor(g PaymentGateway) — menerima interface.</a:t>
            </a:r>
          </a:p>
          <a:p>
            <a:pPr>
              <a:spcAft>
                <a:spcPts val="400"/>
              </a:spcAft>
              <a:defRPr sz="1200">
                <a:solidFill>
                  <a:srgbClr val="0B1B2D"/>
                </a:solidFill>
              </a:defRPr>
            </a:pPr>
            <a:r>
              <a:t>• Test cukup berikan MockGateway.</a:t>
            </a:r>
          </a:p>
          <a:p>
            <a:pPr>
              <a:spcAft>
                <a:spcPts val="400"/>
              </a:spcAft>
              <a:defRPr sz="1200">
                <a:solidFill>
                  <a:srgbClr val="0B1B2D"/>
                </a:solidFill>
              </a:defRPr>
            </a:pPr>
            <a:r>
              <a:t>• Ganti provider = ubah satu baris di composition root.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Perubahan dari konstruktor tanpa parameter ke konstruktor dengan interface PaymentGateway tidak mengubah satu baris pun logika bisnis di dalam ProcessPayment. Ia hanya memindahkan titik pemilihan implementasi dari dalam domain ke composition root. Ini bukan jaminan test lebih cepat, tetapi ia membuat mock substitution mungkin tanpa refaktor lebih jauh.</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Injecting an interface moves the selection point from domain to the composition root.</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internal/di/processor.go • tests/processor_test.go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03 /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IoC Bukan Fitur, Tapi Arah Kendali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Domain menerima dependensi, bukan memilih atau membuatnya sendiri.</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PRINSIP INTI</a:t>
            </a:r>
          </a:p>
          <a:p>
            <a:pPr>
              <a:spcAft>
                <a:spcPts val="400"/>
              </a:spcAft>
              <a:defRPr sz="1200">
                <a:solidFill>
                  <a:srgbClr val="0B1B2D"/>
                </a:solidFill>
              </a:defRPr>
            </a:pPr>
            <a:r>
              <a:t>• Constructor injection memindahkan instantiation ke caller.</a:t>
            </a:r>
          </a:p>
          <a:p>
            <a:pPr>
              <a:spcAft>
                <a:spcPts val="400"/>
              </a:spcAft>
              <a:defRPr sz="1200">
                <a:solidFill>
                  <a:srgbClr val="0B1B2D"/>
                </a:solidFill>
              </a:defRPr>
            </a:pPr>
            <a:r>
              <a:t>• Processor bergantung pada PaymentGateway interface, bukan implementasi.</a:t>
            </a:r>
          </a:p>
          <a:p>
            <a:pPr>
              <a:spcAft>
                <a:spcPts val="400"/>
              </a:spcAft>
              <a:defRPr sz="1200">
                <a:solidFill>
                  <a:srgbClr val="0B1B2D"/>
                </a:solidFill>
              </a:defRPr>
            </a:pPr>
            <a:r>
              <a:t>• Komposisi terjadi sekali di composition root (main.go).</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Inversion of Control adalah prinsip umum; DI adalah bentuk spesifiknya untuk dependensi. Dalam lab ini, arahnya sederhana: main.go memegang kendali atas concrete type, Processor hanya menerima interface yang sudah jadi. Domain validation dan gateway error tetap berjalan di processor, tetapi pemilihan gateway bukan urusan domain lagi.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IoC is a principle of control direction; DI is one specific mechanism to realize it for dependencies.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 • cmd/demo/main.go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04 /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Alur Request dari Composition Root ke Gateway</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Empat langkah: konfigurasi → injeksi → validasi → charge.</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REQUEST FLOW</a:t>
            </a:r>
          </a:p>
          <a:p>
            <a:pPr>
              <a:spcAft>
                <a:spcPts val="400"/>
              </a:spcAft>
              <a:defRPr sz="1200">
                <a:solidFill>
                  <a:srgbClr val="0B1B2D"/>
                </a:solidFill>
              </a:defRPr>
            </a:pPr>
            <a:r>
              <a:t>• main.go membuat RealGateway &amp; menyuntikkannya ke NewProcessor.</a:t>
            </a:r>
          </a:p>
          <a:p>
            <a:pPr>
              <a:spcAft>
                <a:spcPts val="400"/>
              </a:spcAft>
              <a:defRPr sz="1200">
                <a:solidFill>
                  <a:srgbClr val="0B1B2D"/>
                </a:solidFill>
              </a:defRPr>
            </a:pPr>
            <a:r>
              <a:t>• Call site memanggil ProcessPayment(100).</a:t>
            </a:r>
          </a:p>
          <a:p>
            <a:pPr>
              <a:spcAft>
                <a:spcPts val="400"/>
              </a:spcAft>
              <a:defRPr sz="1200">
                <a:solidFill>
                  <a:srgbClr val="0B1B2D"/>
                </a:solidFill>
              </a:defRPr>
            </a:pPr>
            <a:r>
              <a:t>• Processor validasi amount &gt; 0, lalu buat Money{100, USD}.</a:t>
            </a:r>
          </a:p>
          <a:p>
            <a:pPr>
              <a:spcAft>
                <a:spcPts val="400"/>
              </a:spcAft>
              <a:defRPr sz="1200">
                <a:solidFill>
                  <a:srgbClr val="0B1B2D"/>
                </a:solidFill>
              </a:defRPr>
            </a:pPr>
            <a:r>
              <a:t>• Gateway.Charge(m) dipanggil; error dikembalikan ke caller.</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Flow ini menggambarkan eksekusi konkrit dari composition root hingga gateway dipanggil. Validasi invalid amount terjadi sebelum gateway terlibat, sehingga MockGateway.ChargedMoney tetap 0 — terbukti oleh TestProcessor_InvalidAmount. Simulasi ini tidak sama dengan flow production yang memiliki retry, timeout, dan circuit breaker.</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 clean request flow separates configuration, validation, and external call concerns.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internal/di/processor.go • cmd/demo/main.go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05 /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Constructor Membuat Dependency Terlihat</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Signature NewProcessor(g PaymentGateway) memindahkan keputusan ke caller.</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NewProcessor(g PaymentGateway) *Processor {</a:t>
            </a:r>
            <a:br/>
            <a:r>
              <a:t>    return &amp;Processor{gateway: g}</a:t>
            </a:r>
            <a:br/>
            <a:r>
              <a:t>}</a:t>
            </a:r>
            <a:br/>
            <a:br/>
            <a:r>
              <a:t>func (p *Processor) ProcessPayment(amount int) error {</a:t>
            </a:r>
            <a:br/>
            <a:r>
              <a:t>    if amount &lt;= 0 { return errors.New("invalid amount") }</a:t>
            </a:r>
            <a:br/>
            <a:r>
              <a:t>    m := Money{Amount: amount, Currency: "USD"}</a:t>
            </a:r>
            <a:br/>
            <a:r>
              <a:t>    return p.gateway.Charge(m)</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Parameter constructor g PaymentGateway membuat dependency terlihat di signature publik. Domain tidak lagi perlu import RealGateway. Ini membuat test bisa memberi mock, tetapi constructor masih perlu guard jika nil dependency ingin ditolak eksplisit — saat ini tidak ada nil check.</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Constructor parameters are the public contract for dependencies; missing nil guard means runtime risk remains.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internal/di/processor.go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06 /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Service Locator Menyembunyikan Dependency</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BadProcessor menerima Container, bukan PaymentGateway langsung.</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ANTI-PATTERN</a:t>
            </a:r>
          </a:p>
          <a:p>
            <a:pPr>
              <a:spcAft>
                <a:spcPts val="400"/>
              </a:spcAft>
              <a:defRPr sz="1200">
                <a:solidFill>
                  <a:srgbClr val="0B1B2D"/>
                </a:solidFill>
              </a:defRPr>
            </a:pPr>
            <a:r>
              <a:t>• NewBadProcessor(c Container) menerima abstraksi yang lebih tinggi.</a:t>
            </a:r>
          </a:p>
          <a:p>
            <a:pPr>
              <a:spcAft>
                <a:spcPts val="400"/>
              </a:spcAft>
              <a:defRPr sz="1200">
                <a:solidFill>
                  <a:srgbClr val="0B1B2D"/>
                </a:solidFill>
              </a:defRPr>
            </a:pPr>
            <a:r>
              <a:t>• ProcessPayment memanggil container.GetPaymentGateway() secara internal.</a:t>
            </a:r>
          </a:p>
          <a:p>
            <a:pPr>
              <a:spcAft>
                <a:spcPts val="400"/>
              </a:spcAft>
              <a:defRPr sz="1200">
                <a:solidFill>
                  <a:srgbClr val="0B1B2D"/>
                </a:solidFill>
              </a:defRPr>
            </a:pPr>
            <a:r>
              <a:t>• Dependensi nyata PaymentGateway tersembunyi dari signature constructor.</a:t>
            </a:r>
          </a:p>
          <a:p>
            <a:pPr>
              <a:spcAft>
                <a:spcPts val="400"/>
              </a:spcAft>
              <a:defRPr sz="1200">
                <a:solidFill>
                  <a:srgbClr val="0B1B2D"/>
                </a:solidFill>
              </a:defRPr>
            </a:pPr>
            <a:r>
              <a:t>• Test harus mock Container, bukan gateway — tambahan indirection.</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BadProcessor tidak salah secara fungsional: ia tetap memanggil Charge dan menghasilkan output yang sama. Masalahnya terletak pada keterbacaan dan testability — setiap developer baru harus menelusuri container untuk memahami dependensi sebenarnya. Ini bukan berarti pattern ini selalu rusak di semua konteks, tetapi ia menambah biaya kognitif yang tidak perlu.</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Hiding dependencies behind a locator increases cognitive load and makes mocking harder.</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internal/di/locator.go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07 /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Biaya Tersembunyi: Indirection vs Eksplisitas</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Konstruktor injection menambah boilerplate kecil; Service Locator menambah ketidakjelasan.</a:t>
            </a:r>
          </a:p>
        </p:txBody>
      </p:sp>
      <p:graphicFrame>
        <p:nvGraphicFramePr>
          <p:cNvPr id="6" name="Table 5"/>
          <p:cNvGraphicFramePr>
            <a:graphicFrameLocks noGrp="1"/>
          </p:cNvGraphicFramePr>
          <p:nvPr/>
        </p:nvGraphicFramePr>
        <p:xfrm>
          <a:off x="731520" y="1828800"/>
          <a:ext cx="5120640" cy="2286000"/>
        </p:xfrm>
        <a:graphic>
          <a:graphicData uri="http://schemas.openxmlformats.org/drawingml/2006/table">
            <a:tbl>
              <a:tblPr firstRow="1" bandRow="1">
                <a:tableStyleId>{5C22544A-7EE6-4342-B048-85BDC9FD1C3A}</a:tableStyleId>
              </a:tblPr>
              <a:tblGrid>
                <a:gridCol w="1706880"/>
                <a:gridCol w="1706880"/>
                <a:gridCol w="1706880"/>
              </a:tblGrid>
              <a:tr h="457200">
                <a:tc>
                  <a:txBody>
                    <a:bodyPr/>
                    <a:lstStyle/>
                    <a:p>
                      <a:pPr>
                        <a:defRPr b="1" sz="1100">
                          <a:solidFill>
                            <a:srgbClr val="FFFFFF"/>
                          </a:solidFill>
                        </a:defRPr>
                      </a:pPr>
                      <a:r>
                        <a:t>Aspek</a:t>
                      </a:r>
                    </a:p>
                  </a:txBody>
                  <a:tcPr>
                    <a:solidFill>
                      <a:srgbClr val="0B1B2D"/>
                    </a:solidFill>
                  </a:tcPr>
                </a:tc>
                <a:tc>
                  <a:txBody>
                    <a:bodyPr/>
                    <a:lstStyle/>
                    <a:p>
                      <a:pPr>
                        <a:defRPr b="1" sz="1100">
                          <a:solidFill>
                            <a:srgbClr val="FFFFFF"/>
                          </a:solidFill>
                        </a:defRPr>
                      </a:pPr>
                      <a:r>
                        <a:t>Constructor</a:t>
                      </a:r>
                    </a:p>
                  </a:txBody>
                  <a:tcPr>
                    <a:solidFill>
                      <a:srgbClr val="0B1B2D"/>
                    </a:solidFill>
                  </a:tcPr>
                </a:tc>
                <a:tc>
                  <a:txBody>
                    <a:bodyPr/>
                    <a:lstStyle/>
                    <a:p>
                      <a:pPr>
                        <a:defRPr b="1" sz="1100">
                          <a:solidFill>
                            <a:srgbClr val="FFFFFF"/>
                          </a:solidFill>
                        </a:defRPr>
                      </a:pPr>
                      <a:r>
                        <a:t>Service Locator</a:t>
                      </a:r>
                    </a:p>
                  </a:txBody>
                  <a:tcPr>
                    <a:solidFill>
                      <a:srgbClr val="0B1B2D"/>
                    </a:solidFill>
                  </a:tcPr>
                </a:tc>
              </a:tr>
              <a:tr h="457200">
                <a:tc>
                  <a:txBody>
                    <a:bodyPr/>
                    <a:lstStyle/>
                    <a:p>
                      <a:pPr>
                        <a:defRPr sz="1000">
                          <a:solidFill>
                            <a:srgbClr val="0B1B2D"/>
                          </a:solidFill>
                        </a:defRPr>
                      </a:pPr>
                      <a:r>
                        <a:t>Testability</a:t>
                      </a:r>
                    </a:p>
                  </a:txBody>
                  <a:tcPr>
                    <a:solidFill>
                      <a:srgbClr val="FFFFFF"/>
                    </a:solidFill>
                  </a:tcPr>
                </a:tc>
                <a:tc>
                  <a:txBody>
                    <a:bodyPr/>
                    <a:lstStyle/>
                    <a:p>
                      <a:pPr>
                        <a:defRPr sz="1000">
                          <a:solidFill>
                            <a:srgbClr val="0B1B2D"/>
                          </a:solidFill>
                        </a:defRPr>
                      </a:pPr>
                      <a:r>
                        <a:t>Mock langsung</a:t>
                      </a:r>
                    </a:p>
                  </a:txBody>
                  <a:tcPr>
                    <a:solidFill>
                      <a:srgbClr val="FFFFFF"/>
                    </a:solidFill>
                  </a:tcPr>
                </a:tc>
                <a:tc>
                  <a:txBody>
                    <a:bodyPr/>
                    <a:lstStyle/>
                    <a:p>
                      <a:pPr>
                        <a:defRPr sz="1000">
                          <a:solidFill>
                            <a:srgbClr val="0B1B2D"/>
                          </a:solidFill>
                        </a:defRPr>
                      </a:pPr>
                      <a:r>
                        <a:t>Mock container + gateway</a:t>
                      </a:r>
                    </a:p>
                  </a:txBody>
                  <a:tcPr>
                    <a:solidFill>
                      <a:srgbClr val="FFFFFF"/>
                    </a:solidFill>
                  </a:tcPr>
                </a:tc>
              </a:tr>
              <a:tr h="457200">
                <a:tc>
                  <a:txBody>
                    <a:bodyPr/>
                    <a:lstStyle/>
                    <a:p>
                      <a:pPr>
                        <a:defRPr sz="1000">
                          <a:solidFill>
                            <a:srgbClr val="0B1B2D"/>
                          </a:solidFill>
                        </a:defRPr>
                      </a:pPr>
                      <a:r>
                        <a:t>Readability</a:t>
                      </a:r>
                    </a:p>
                  </a:txBody>
                  <a:tcPr>
                    <a:solidFill>
                      <a:srgbClr val="FFFFFF"/>
                    </a:solidFill>
                  </a:tcPr>
                </a:tc>
                <a:tc>
                  <a:txBody>
                    <a:bodyPr/>
                    <a:lstStyle/>
                    <a:p>
                      <a:pPr>
                        <a:defRPr sz="1000">
                          <a:solidFill>
                            <a:srgbClr val="0B1B2D"/>
                          </a:solidFill>
                        </a:defRPr>
                      </a:pPr>
                      <a:r>
                        <a:t>Signature jelas</a:t>
                      </a:r>
                    </a:p>
                  </a:txBody>
                  <a:tcPr>
                    <a:solidFill>
                      <a:srgbClr val="FFFFFF"/>
                    </a:solidFill>
                  </a:tcPr>
                </a:tc>
                <a:tc>
                  <a:txBody>
                    <a:bodyPr/>
                    <a:lstStyle/>
                    <a:p>
                      <a:pPr>
                        <a:defRPr sz="1000">
                          <a:solidFill>
                            <a:srgbClr val="0B1B2D"/>
                          </a:solidFill>
                        </a:defRPr>
                      </a:pPr>
                      <a:r>
                        <a:t>Butuh telusuri container</a:t>
                      </a:r>
                    </a:p>
                  </a:txBody>
                  <a:tcPr>
                    <a:solidFill>
                      <a:srgbClr val="FFFFFF"/>
                    </a:solidFill>
                  </a:tcPr>
                </a:tc>
              </a:tr>
              <a:tr h="457200">
                <a:tc>
                  <a:txBody>
                    <a:bodyPr/>
                    <a:lstStyle/>
                    <a:p>
                      <a:pPr>
                        <a:defRPr sz="1000">
                          <a:solidFill>
                            <a:srgbClr val="0B1B2D"/>
                          </a:solidFill>
                        </a:defRPr>
                      </a:pPr>
                      <a:r>
                        <a:t>Swap provider</a:t>
                      </a:r>
                    </a:p>
                  </a:txBody>
                  <a:tcPr>
                    <a:solidFill>
                      <a:srgbClr val="FFFFFF"/>
                    </a:solidFill>
                  </a:tcPr>
                </a:tc>
                <a:tc>
                  <a:txBody>
                    <a:bodyPr/>
                    <a:lstStyle/>
                    <a:p>
                      <a:pPr>
                        <a:defRPr sz="1000">
                          <a:solidFill>
                            <a:srgbClr val="0B1B2D"/>
                          </a:solidFill>
                        </a:defRPr>
                      </a:pPr>
                      <a:r>
                        <a:t>Satu baris di root</a:t>
                      </a:r>
                    </a:p>
                  </a:txBody>
                  <a:tcPr>
                    <a:solidFill>
                      <a:srgbClr val="FFFFFF"/>
                    </a:solidFill>
                  </a:tcPr>
                </a:tc>
                <a:tc>
                  <a:txBody>
                    <a:bodyPr/>
                    <a:lstStyle/>
                    <a:p>
                      <a:pPr>
                        <a:defRPr sz="1000">
                          <a:solidFill>
                            <a:srgbClr val="0B1B2D"/>
                          </a:solidFill>
                        </a:defRPr>
                      </a:pPr>
                      <a:r>
                        <a:t>Satu baris di root</a:t>
                      </a:r>
                    </a:p>
                  </a:txBody>
                  <a:tcPr>
                    <a:solidFill>
                      <a:srgbClr val="FFFFFF"/>
                    </a:solidFill>
                  </a:tcPr>
                </a:tc>
              </a:tr>
              <a:tr h="457200">
                <a:tc>
                  <a:txBody>
                    <a:bodyPr/>
                    <a:lstStyle/>
                    <a:p>
                      <a:pPr>
                        <a:defRPr sz="1000">
                          <a:solidFill>
                            <a:srgbClr val="0B1B2D"/>
                          </a:solidFill>
                        </a:defRPr>
                      </a:pPr>
                      <a:r>
                        <a:t>Risk nil</a:t>
                      </a:r>
                    </a:p>
                  </a:txBody>
                  <a:tcPr>
                    <a:solidFill>
                      <a:srgbClr val="FFFFFF"/>
                    </a:solidFill>
                  </a:tcPr>
                </a:tc>
                <a:tc>
                  <a:txBody>
                    <a:bodyPr/>
                    <a:lstStyle/>
                    <a:p>
                      <a:pPr>
                        <a:defRPr sz="1000">
                          <a:solidFill>
                            <a:srgbClr val="0B1B2D"/>
                          </a:solidFill>
                        </a:defRPr>
                      </a:pPr>
                      <a:r>
                        <a:t>Panic jika tanpa guard</a:t>
                      </a:r>
                    </a:p>
                  </a:txBody>
                  <a:tcPr>
                    <a:solidFill>
                      <a:srgbClr val="FFFFFF"/>
                    </a:solidFill>
                  </a:tcPr>
                </a:tc>
                <a:tc>
                  <a:txBody>
                    <a:bodyPr/>
                    <a:lstStyle/>
                    <a:p>
                      <a:pPr>
                        <a:defRPr sz="1000">
                          <a:solidFill>
                            <a:srgbClr val="0B1B2D"/>
                          </a:solidFill>
                        </a:defRPr>
                      </a:pPr>
                      <a:r>
                        <a:t>Panic jika Get returns nil</a:t>
                      </a:r>
                    </a:p>
                  </a:txBody>
                  <a:tcPr>
                    <a:solidFill>
                      <a:srgbClr val="FFFFFF"/>
                    </a:solidFill>
                  </a:tcPr>
                </a:tc>
              </a:tr>
            </a:tbl>
          </a:graphicData>
        </a:graphic>
      </p:graphicFrame>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Tabel ini membandingkan dua pola berdasarkan empat aspek yang relevan dengan perawatan kode. Constructor injection memiliki boilerplate lebih tinggi di composition root, tetapi membuat dependensi terlihat di setiap constructor call site. Service locator mengurangi jumlah parameter, tetapi menambatkan domain pada API container. Lab ini tidak mengukur overhead runtime kedua pendekatan.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The hidden cost of a pattern is often measured in maintenance time, not execution time.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internal/di/processor.go • internal/di/locator.go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08 /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Setup Pengujian: Mock Isolasi Gateway</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MockGateway merekam panggilan dan bisa diforced fail tanpa jaringan.</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TEST HARNESS</a:t>
            </a:r>
          </a:p>
          <a:p>
            <a:pPr>
              <a:spcAft>
                <a:spcPts val="400"/>
              </a:spcAft>
              <a:defRPr sz="1200">
                <a:solidFill>
                  <a:srgbClr val="0B1B2D"/>
                </a:solidFill>
              </a:defRPr>
            </a:pPr>
            <a:r>
              <a:t>• MockGateway menyimpan ChargedMoney dan toggle ShouldFail.</a:t>
            </a:r>
          </a:p>
          <a:p>
            <a:pPr>
              <a:spcAft>
                <a:spcPts val="400"/>
              </a:spcAft>
              <a:defRPr sz="1200">
                <a:solidFill>
                  <a:srgbClr val="0B1B2D"/>
                </a:solidFill>
              </a:defRPr>
            </a:pPr>
            <a:r>
              <a:t>• 6 test cases: 3 untuk Processor (success, error, invalid), 3 untuk BadProcessor.</a:t>
            </a:r>
          </a:p>
          <a:p>
            <a:pPr>
              <a:spcAft>
                <a:spcPts val="400"/>
              </a:spcAft>
              <a:defRPr sz="1200">
                <a:solidFill>
                  <a:srgbClr val="0B1B2D"/>
                </a:solidFill>
              </a:defRPr>
            </a:pPr>
            <a:r>
              <a:t>• go test -race ./... dijalankan pada semua test sequential.</a:t>
            </a:r>
          </a:p>
          <a:p>
            <a:pPr>
              <a:spcAft>
                <a:spcPts val="400"/>
              </a:spcAft>
              <a:defRPr sz="1200">
                <a:solidFill>
                  <a:srgbClr val="0B1B2D"/>
                </a:solidFill>
              </a:defRPr>
            </a:pPr>
            <a:r>
              <a:t>• Tidak ada test concurrent atau benchmark throughput.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Test suite dirancang untuk memverifikasi tiga hal: happy path, error propagation, dan validasi pre-check. MockGateway menggantikan RealGateway sepenuhnya — tidak ada panggilan HTTP, tidak ada dependency eksternal. Race detector berjalan pada test sequential; ia bukan bukti bahwa produksi tanpa concurrent access aman, hanya menunjukkan tidak ada data race pada skenario yang diuji.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 focused test harness isolates one behavior at a time; it proves the path, not the whole system.</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tests/processor_test.go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09 /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Semua 6 Test Pass, Race Detector Clean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Output lokal: PASS 6/6, 0.00s per test case.</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 go test -race -v ./tests/</a:t>
            </a:r>
            <a:br/>
            <a:r>
              <a:t>=== RUN   TestProcessor_Success</a:t>
            </a:r>
            <a:br/>
            <a:r>
              <a:t>--- PASS: TestProcessor_Success (0.00s)</a:t>
            </a:r>
            <a:br/>
            <a:r>
              <a:t>=== RUN   TestProcessor_GatewayError</a:t>
            </a:r>
            <a:br/>
            <a:r>
              <a:t>--- PASS: TestProcessor_GatewayError (0.00s)</a:t>
            </a:r>
            <a:br/>
            <a:r>
              <a:t>=== RUN   TestProcessor_InvalidAmount</a:t>
            </a:r>
            <a:br/>
            <a:r>
              <a:t>--- PASS: TestProcessor_InvalidAmount (0.00s)</a:t>
            </a:r>
            <a:br/>
            <a:r>
              <a:t>=== RUN   TestBadProcessor_Success</a:t>
            </a:r>
            <a:br/>
            <a:r>
              <a:t>--- PASS: TestBadProcessor_Success (0.00s)</a:t>
            </a:r>
            <a:br/>
            <a:r>
              <a:t>=== RUN   TestBadProcessor_GatewayError</a:t>
            </a:r>
            <a:br/>
            <a:r>
              <a:t>--- PASS: TestBadProcessor_GatewayError (0.00s)</a:t>
            </a:r>
            <a:br/>
            <a:r>
              <a:t>=== RUN   TestBadProcessor_InvalidAmount</a:t>
            </a:r>
            <a:br/>
            <a:r>
              <a:t>--- PASS: TestBadProcessor_InvalidAmount (0.00s)</a:t>
            </a:r>
            <a:br/>
            <a:r>
              <a:t>PASS: ok lab16/tests (cached)</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Enam test case berlari dalam 0.00s per kasus. Race detector tidak melaporkan warning. Ini membuktikan jalur yang diuji aman dari data race pada goroutine tunggal — bukan berarti seluruh lifecycle production bebas race.</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Zero race warnings on a small sequential suite prove the tested paths; they do not prove the whole runtime safe.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tests/processor_test.go • README.md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10 /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Angka 0.00s Tidak Otomatis Jadi SLO Production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Waktu eksekusi test ≠ latency gateway nyata; mereka diukur di kondisi berbeda.</a:t>
            </a:r>
          </a:p>
        </p:txBody>
      </p:sp>
      <p:graphicFrame>
        <p:nvGraphicFramePr>
          <p:cNvPr id="6" name="Table 5"/>
          <p:cNvGraphicFramePr>
            <a:graphicFrameLocks noGrp="1"/>
          </p:cNvGraphicFramePr>
          <p:nvPr/>
        </p:nvGraphicFramePr>
        <p:xfrm>
          <a:off x="731520" y="1828800"/>
          <a:ext cx="5120640" cy="2286000"/>
        </p:xfrm>
        <a:graphic>
          <a:graphicData uri="http://schemas.openxmlformats.org/drawingml/2006/table">
            <a:tbl>
              <a:tblPr firstRow="1" bandRow="1">
                <a:tableStyleId>{5C22544A-7EE6-4342-B048-85BDC9FD1C3A}</a:tableStyleId>
              </a:tblPr>
              <a:tblGrid>
                <a:gridCol w="1280160"/>
                <a:gridCol w="1280160"/>
                <a:gridCol w="1280160"/>
                <a:gridCol w="1280160"/>
              </a:tblGrid>
              <a:tr h="457200">
                <a:tc>
                  <a:txBody>
                    <a:bodyPr/>
                    <a:lstStyle/>
                    <a:p>
                      <a:pPr>
                        <a:defRPr b="1" sz="1100">
                          <a:solidFill>
                            <a:srgbClr val="FFFFFF"/>
                          </a:solidFill>
                        </a:defRPr>
                      </a:pPr>
                      <a:r>
                        <a:t>Metric</a:t>
                      </a:r>
                    </a:p>
                  </a:txBody>
                  <a:tcPr>
                    <a:solidFill>
                      <a:srgbClr val="0B1B2D"/>
                    </a:solidFill>
                  </a:tcPr>
                </a:tc>
                <a:tc>
                  <a:txBody>
                    <a:bodyPr/>
                    <a:lstStyle/>
                    <a:p>
                      <a:pPr>
                        <a:defRPr b="1" sz="1100">
                          <a:solidFill>
                            <a:srgbClr val="FFFFFF"/>
                          </a:solidFill>
                        </a:defRPr>
                      </a:pPr>
                      <a:r>
                        <a:t>Nilai</a:t>
                      </a:r>
                    </a:p>
                  </a:txBody>
                  <a:tcPr>
                    <a:solidFill>
                      <a:srgbClr val="0B1B2D"/>
                    </a:solidFill>
                  </a:tcPr>
                </a:tc>
                <a:tc>
                  <a:txBody>
                    <a:bodyPr/>
                    <a:lstStyle/>
                    <a:p>
                      <a:pPr>
                        <a:defRPr b="1" sz="1100">
                          <a:solidFill>
                            <a:srgbClr val="FFFFFF"/>
                          </a:solidFill>
                        </a:defRPr>
                      </a:pPr>
                      <a:r>
                        <a:t>Makna</a:t>
                      </a:r>
                    </a:p>
                  </a:txBody>
                  <a:tcPr>
                    <a:solidFill>
                      <a:srgbClr val="0B1B2D"/>
                    </a:solidFill>
                  </a:tcPr>
                </a:tc>
                <a:tc>
                  <a:txBody>
                    <a:bodyPr/>
                    <a:lstStyle/>
                    <a:p>
                      <a:pPr>
                        <a:defRPr b="1" sz="1100">
                          <a:solidFill>
                            <a:srgbClr val="FFFFFF"/>
                          </a:solidFill>
                        </a:defRPr>
                      </a:pPr>
                      <a:r>
                        <a:t>Batas</a:t>
                      </a:r>
                    </a:p>
                  </a:txBody>
                  <a:tcPr>
                    <a:solidFill>
                      <a:srgbClr val="0B1B2D"/>
                    </a:solidFill>
                  </a:tcPr>
                </a:tc>
              </a:tr>
              <a:tr h="457200">
                <a:tc>
                  <a:txBody>
                    <a:bodyPr/>
                    <a:lstStyle/>
                    <a:p>
                      <a:pPr>
                        <a:defRPr sz="1000">
                          <a:solidFill>
                            <a:srgbClr val="0B1B2D"/>
                          </a:solidFill>
                        </a:defRPr>
                      </a:pPr>
                      <a:r>
                        <a:t>Test duration</a:t>
                      </a:r>
                    </a:p>
                  </a:txBody>
                  <a:tcPr>
                    <a:solidFill>
                      <a:srgbClr val="FFFFFF"/>
                    </a:solidFill>
                  </a:tcPr>
                </a:tc>
                <a:tc>
                  <a:txBody>
                    <a:bodyPr/>
                    <a:lstStyle/>
                    <a:p>
                      <a:pPr>
                        <a:defRPr sz="1000">
                          <a:solidFill>
                            <a:srgbClr val="0B1B2D"/>
                          </a:solidFill>
                        </a:defRPr>
                      </a:pPr>
                      <a:r>
                        <a:t>0.00s/case</a:t>
                      </a:r>
                    </a:p>
                  </a:txBody>
                  <a:tcPr>
                    <a:solidFill>
                      <a:srgbClr val="FFFFFF"/>
                    </a:solidFill>
                  </a:tcPr>
                </a:tc>
                <a:tc>
                  <a:txBody>
                    <a:bodyPr/>
                    <a:lstStyle/>
                    <a:p>
                      <a:pPr>
                        <a:defRPr sz="1000">
                          <a:solidFill>
                            <a:srgbClr val="0B1B2D"/>
                          </a:solidFill>
                        </a:defRPr>
                      </a:pPr>
                      <a:r>
                        <a:t>Unit test in-memory</a:t>
                      </a:r>
                    </a:p>
                  </a:txBody>
                  <a:tcPr>
                    <a:solidFill>
                      <a:srgbClr val="FFFFFF"/>
                    </a:solidFill>
                  </a:tcPr>
                </a:tc>
                <a:tc>
                  <a:txBody>
                    <a:bodyPr/>
                    <a:lstStyle/>
                    <a:p>
                      <a:pPr>
                        <a:defRPr sz="1000">
                          <a:solidFill>
                            <a:srgbClr val="0B1B2D"/>
                          </a:solidFill>
                        </a:defRPr>
                      </a:pPr>
                      <a:r>
                        <a:t>Bukan network latency</a:t>
                      </a:r>
                    </a:p>
                  </a:txBody>
                  <a:tcPr>
                    <a:solidFill>
                      <a:srgbClr val="FFFFFF"/>
                    </a:solidFill>
                  </a:tcPr>
                </a:tc>
              </a:tr>
              <a:tr h="457200">
                <a:tc>
                  <a:txBody>
                    <a:bodyPr/>
                    <a:lstStyle/>
                    <a:p>
                      <a:pPr>
                        <a:defRPr sz="1000">
                          <a:solidFill>
                            <a:srgbClr val="0B1B2D"/>
                          </a:solidFill>
                        </a:defRPr>
                      </a:pPr>
                      <a:r>
                        <a:t>Race warnings</a:t>
                      </a:r>
                    </a:p>
                  </a:txBody>
                  <a:tcPr>
                    <a:solidFill>
                      <a:srgbClr val="FFFFFF"/>
                    </a:solidFill>
                  </a:tcPr>
                </a:tc>
                <a:tc>
                  <a:txBody>
                    <a:bodyPr/>
                    <a:lstStyle/>
                    <a:p>
                      <a:pPr>
                        <a:defRPr sz="1000">
                          <a:solidFill>
                            <a:srgbClr val="0B1B2D"/>
                          </a:solidFill>
                        </a:defRPr>
                      </a:pPr>
                      <a:r>
                        <a:t>0</a:t>
                      </a:r>
                    </a:p>
                  </a:txBody>
                  <a:tcPr>
                    <a:solidFill>
                      <a:srgbClr val="FFFFFF"/>
                    </a:solidFill>
                  </a:tcPr>
                </a:tc>
                <a:tc>
                  <a:txBody>
                    <a:bodyPr/>
                    <a:lstStyle/>
                    <a:p>
                      <a:pPr>
                        <a:defRPr sz="1000">
                          <a:solidFill>
                            <a:srgbClr val="0B1B2D"/>
                          </a:solidFill>
                        </a:defRPr>
                      </a:pPr>
                      <a:r>
                        <a:t>Sequential test clean</a:t>
                      </a:r>
                    </a:p>
                  </a:txBody>
                  <a:tcPr>
                    <a:solidFill>
                      <a:srgbClr val="FFFFFF"/>
                    </a:solidFill>
                  </a:tcPr>
                </a:tc>
                <a:tc>
                  <a:txBody>
                    <a:bodyPr/>
                    <a:lstStyle/>
                    <a:p>
                      <a:pPr>
                        <a:defRPr sz="1000">
                          <a:solidFill>
                            <a:srgbClr val="0B1B2D"/>
                          </a:solidFill>
                        </a:defRPr>
                      </a:pPr>
                      <a:r>
                        <a:t>Belum concurrent test</a:t>
                      </a:r>
                    </a:p>
                  </a:txBody>
                  <a:tcPr>
                    <a:solidFill>
                      <a:srgbClr val="FFFFFF"/>
                    </a:solidFill>
                  </a:tcPr>
                </a:tc>
              </a:tr>
              <a:tr h="457200">
                <a:tc>
                  <a:txBody>
                    <a:bodyPr/>
                    <a:lstStyle/>
                    <a:p>
                      <a:pPr>
                        <a:defRPr sz="1000">
                          <a:solidFill>
                            <a:srgbClr val="0B1B2D"/>
                          </a:solidFill>
                        </a:defRPr>
                      </a:pPr>
                      <a:r>
                        <a:t>Mock coverage</a:t>
                      </a:r>
                    </a:p>
                  </a:txBody>
                  <a:tcPr>
                    <a:solidFill>
                      <a:srgbClr val="FFFFFF"/>
                    </a:solidFill>
                  </a:tcPr>
                </a:tc>
                <a:tc>
                  <a:txBody>
                    <a:bodyPr/>
                    <a:lstStyle/>
                    <a:p>
                      <a:pPr>
                        <a:defRPr sz="1000">
                          <a:solidFill>
                            <a:srgbClr val="0B1B2D"/>
                          </a:solidFill>
                        </a:defRPr>
                      </a:pPr>
                      <a:r>
                        <a:t>Charge captured</a:t>
                      </a:r>
                    </a:p>
                  </a:txBody>
                  <a:tcPr>
                    <a:solidFill>
                      <a:srgbClr val="FFFFFF"/>
                    </a:solidFill>
                  </a:tcPr>
                </a:tc>
                <a:tc>
                  <a:txBody>
                    <a:bodyPr/>
                    <a:lstStyle/>
                    <a:p>
                      <a:pPr>
                        <a:defRPr sz="1000">
                          <a:solidFill>
                            <a:srgbClr val="0B1B2D"/>
                          </a:solidFill>
                        </a:defRPr>
                      </a:pPr>
                      <a:r>
                        <a:t>Path: valid+error+invalid</a:t>
                      </a:r>
                    </a:p>
                  </a:txBody>
                  <a:tcPr>
                    <a:solidFill>
                      <a:srgbClr val="FFFFFF"/>
                    </a:solidFill>
                  </a:tcPr>
                </a:tc>
                <a:tc>
                  <a:txBody>
                    <a:bodyPr/>
                    <a:lstStyle/>
                    <a:p>
                      <a:pPr>
                        <a:defRPr sz="1000">
                          <a:solidFill>
                            <a:srgbClr val="0B1B2D"/>
                          </a:solidFill>
                        </a:defRPr>
                      </a:pPr>
                      <a:r>
                        <a:t>Belum edge: timeout</a:t>
                      </a:r>
                    </a:p>
                  </a:txBody>
                  <a:tcPr>
                    <a:solidFill>
                      <a:srgbClr val="FFFFFF"/>
                    </a:solidFill>
                  </a:tcPr>
                </a:tc>
              </a:tr>
              <a:tr h="457200">
                <a:tc>
                  <a:txBody>
                    <a:bodyPr/>
                    <a:lstStyle/>
                    <a:p>
                      <a:pPr>
                        <a:defRPr sz="1000">
                          <a:solidFill>
                            <a:srgbClr val="0B1B2D"/>
                          </a:solidFill>
                        </a:defRPr>
                      </a:pPr>
                      <a:r>
                        <a:t>Demo output</a:t>
                      </a:r>
                    </a:p>
                  </a:txBody>
                  <a:tcPr>
                    <a:solidFill>
                      <a:srgbClr val="FFFFFF"/>
                    </a:solidFill>
                  </a:tcPr>
                </a:tc>
                <a:tc>
                  <a:txBody>
                    <a:bodyPr/>
                    <a:lstStyle/>
                    <a:p>
                      <a:pPr>
                        <a:defRPr sz="1000">
                          <a:solidFill>
                            <a:srgbClr val="0B1B2D"/>
                          </a:solidFill>
                        </a:defRPr>
                      </a:pPr>
                      <a:r>
                        <a:t>RealGateway charging</a:t>
                      </a:r>
                    </a:p>
                  </a:txBody>
                  <a:tcPr>
                    <a:solidFill>
                      <a:srgbClr val="FFFFFF"/>
                    </a:solidFill>
                  </a:tcPr>
                </a:tc>
                <a:tc>
                  <a:txBody>
                    <a:bodyPr/>
                    <a:lstStyle/>
                    <a:p>
                      <a:pPr>
                        <a:defRPr sz="1000">
                          <a:solidFill>
                            <a:srgbClr val="0B1B2D"/>
                          </a:solidFill>
                        </a:defRPr>
                      </a:pPr>
                      <a:r>
                        <a:t>Integration manual verified</a:t>
                      </a:r>
                    </a:p>
                  </a:txBody>
                  <a:tcPr>
                    <a:solidFill>
                      <a:srgbClr val="FFFFFF"/>
                    </a:solidFill>
                  </a:tcPr>
                </a:tc>
                <a:tc>
                  <a:txBody>
                    <a:bodyPr/>
                    <a:lstStyle/>
                    <a:p>
                      <a:pPr>
                        <a:defRPr sz="1000">
                          <a:solidFill>
                            <a:srgbClr val="0B1B2D"/>
                          </a:solidFill>
                        </a:defRPr>
                      </a:pPr>
                      <a:r>
                        <a:t>Bukan automated claim</a:t>
                      </a:r>
                    </a:p>
                  </a:txBody>
                  <a:tcPr>
                    <a:solidFill>
                      <a:srgbClr val="FFFFFF"/>
                    </a:solidFill>
                  </a:tcPr>
                </a:tc>
              </a:tr>
            </a:tbl>
          </a:graphicData>
        </a:graphic>
      </p:graphicFrame>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Tabel ini memetakan setiap angka ke interpretasi yang benar dan batasannya. Test duration 0.00s berarti operasi in-memory cepat, bukan gateway berlatensi nol. Race warnings nol berarti jalur sequential aman, bukan berarti konkurensi production aman. Cakupannya mengikuti test.</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Benchmark numbers are context-bound; they measure what the harness measures, nothing more.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tests/processor_test.go • cmd/demo/main.go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11 /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Trade-off: Boilerplate Konstruksi vs Kemampuan Uji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Menambah satu parameter constructor membuka jalan untuk mock isolation.</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BIAYA &amp; MANFAAT</a:t>
            </a:r>
          </a:p>
          <a:p>
            <a:pPr>
              <a:spcAft>
                <a:spcPts val="400"/>
              </a:spcAft>
              <a:defRPr sz="1200">
                <a:solidFill>
                  <a:srgbClr val="0B1B2D"/>
                </a:solidFill>
              </a:defRPr>
            </a:pPr>
            <a:r>
              <a:t>• Biaya: Tambah 1 parameter di constructor</a:t>
            </a:r>
          </a:p>
          <a:p>
            <a:pPr>
              <a:spcAft>
                <a:spcPts val="400"/>
              </a:spcAft>
              <a:defRPr sz="1200">
                <a:solidFill>
                  <a:srgbClr val="0B1B2D"/>
                </a:solidFill>
              </a:defRPr>
            </a:pPr>
            <a:r>
              <a:t>• Manfaat: Mocking tanpa network call di unit test</a:t>
            </a:r>
          </a:p>
          <a:p>
            <a:pPr>
              <a:spcAft>
                <a:spcPts val="400"/>
              </a:spcAft>
              <a:defRPr sz="1200">
                <a:solidFill>
                  <a:srgbClr val="0B1B2D"/>
                </a:solidFill>
              </a:defRPr>
            </a:pPr>
            <a:r>
              <a:t>• Biaya: Composition root perlu tahu concrete type</a:t>
            </a:r>
          </a:p>
          <a:p>
            <a:pPr>
              <a:spcAft>
                <a:spcPts val="400"/>
              </a:spcAft>
              <a:defRPr sz="1200">
                <a:solidFill>
                  <a:srgbClr val="0B1B2D"/>
                </a:solidFill>
              </a:defRPr>
            </a:pPr>
            <a:r>
              <a:t>• Manfaat: Error propagation tetap terverifikasi rapi</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Trade-off ini sebanding: satu baris boilerplate di constructor mendapatkannya isolated testing. Namun mock isolation bukan berarti production safety — ia hanya menghilangkan dependency eksternal dari test. Validasi amount dan error wrapping masih membutuhkan test terpisah.</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DI trades a small construction cost for isolation gains; it does not buy production safety.</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internal/di/processor.go • tests/processor_test.go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12 /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Nil Guard Menutupi Runtime Risk</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Menambahkan pengecekan nil pada constructor membuat dependency wajib terlihat.</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NewProcessor(g PaymentGateway) *Processor {</a:t>
            </a:r>
            <a:br/>
            <a:r>
              <a:t>    if g == nil {</a:t>
            </a:r>
            <a:br/>
            <a:r>
              <a:t>        return nil // atau panic, tergantung kebijakan tim</a:t>
            </a:r>
            <a:br/>
            <a:r>
              <a:t>    }</a:t>
            </a:r>
            <a:br/>
            <a:r>
              <a:t>    return &amp;Processor{gateway: g}</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Menambahkan nil check pada constructor merupakan langkah selanjutnya yang disarankan. Saat ini, constructor menerima nil tanpa peringatan — caller akan menghadapi nil pointer panic saat gateway.Charge dipanggil. Lab ini belum menerapkan guard tersebut; ia sengaja mempertahankan pola minimal untuk fokus pada kontras DI vs Service Locator.</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Explicit nil checks convert runtime surprises into compile-time or call-site failures.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internal/di/processor.go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13 /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Sebelum vs Sesudah: Konstruktor Injection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Perubahan hanya di signature; domain logic tetap identik.</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BEFORE (TIGHT COUPLING)</a:t>
            </a:r>
          </a:p>
          <a:p>
            <a:pPr>
              <a:spcAft>
                <a:spcPts val="400"/>
              </a:spcAft>
              <a:defRPr sz="1200">
                <a:solidFill>
                  <a:srgbClr val="0B1B2D"/>
                </a:solidFill>
              </a:defRPr>
            </a:pPr>
            <a:r>
              <a:t>• Processor { gateway RealGateway }</a:t>
            </a:r>
          </a:p>
          <a:p>
            <a:pPr>
              <a:spcAft>
                <a:spcPts val="400"/>
              </a:spcAft>
              <a:defRPr sz="1200">
                <a:solidFill>
                  <a:srgbClr val="0B1B2D"/>
                </a:solidFill>
              </a:defRPr>
            </a:pPr>
            <a:r>
              <a:t>NewProcessor() → &amp;Processor{gateway: &amp;RealGateway{}}</a:t>
            </a:r>
          </a:p>
          <a:p>
            <a:pPr>
              <a:spcAft>
                <a:spcPts val="400"/>
              </a:spcAft>
              <a:defRPr sz="1200">
                <a:solidFill>
                  <a:srgbClr val="0B1B2D"/>
                </a:solidFill>
              </a:defRPr>
            </a:pPr>
            <a:r>
              <a:t>• Test: harus pakai RealGateway atau setup mocking kompleks</a:t>
            </a:r>
          </a:p>
          <a:p>
            <a:pPr>
              <a:spcAft>
                <a:spcPts val="400"/>
              </a:spcAft>
              <a:defRPr sz="1200">
                <a:solidFill>
                  <a:srgbClr val="0B1B2D"/>
                </a:solidFill>
              </a:defRPr>
            </a:pPr>
            <a:r>
              <a:t>• Swap: edit seluruh call site</a:t>
            </a:r>
          </a:p>
          <a:p>
            <a:pPr>
              <a:defRPr sz="1200" b="1">
                <a:solidFill>
                  <a:srgbClr val="087F76"/>
                </a:solidFill>
              </a:defRPr>
            </a:pPr>
            <a:r>
              <a:t>AFTER (CONSTRUCTOR INJECTION)</a:t>
            </a:r>
          </a:p>
          <a:p>
            <a:pPr>
              <a:spcAft>
                <a:spcPts val="400"/>
              </a:spcAft>
              <a:defRPr sz="1200">
                <a:solidFill>
                  <a:srgbClr val="0B1B2D"/>
                </a:solidFill>
              </a:defRPr>
            </a:pPr>
            <a:r>
              <a:t>• Processor { gateway PaymentGateway }</a:t>
            </a:r>
          </a:p>
          <a:p>
            <a:pPr>
              <a:spcAft>
                <a:spcPts val="400"/>
              </a:spcAft>
              <a:defRPr sz="1200">
                <a:solidFill>
                  <a:srgbClr val="0B1B2D"/>
                </a:solidFill>
              </a:defRPr>
            </a:pPr>
            <a:r>
              <a:t>NewProcessor(g PaymentGateway) → &amp;Processor{gateway: g}</a:t>
            </a:r>
          </a:p>
          <a:p>
            <a:pPr>
              <a:spcAft>
                <a:spcPts val="400"/>
              </a:spcAft>
              <a:defRPr sz="1200">
                <a:solidFill>
                  <a:srgbClr val="0B1B2D"/>
                </a:solidFill>
              </a:defRPr>
            </a:pPr>
            <a:r>
              <a:t>• Test: cukup passed MockGateway{}</a:t>
            </a:r>
          </a:p>
          <a:p>
            <a:pPr>
              <a:spcAft>
                <a:spcPts val="400"/>
              </a:spcAft>
              <a:defRPr sz="1200">
                <a:solidFill>
                  <a:srgbClr val="0B1B2D"/>
                </a:solidFill>
              </a:defRPr>
            </a:pPr>
            <a:r>
              <a:t>• Swap: satu baris di main.go</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Perbandingan struktural ini menunjukkan bahwa perubahan terbesar bukan di dalam Processor, melainkan di titik komposisinya. Domain logic tetap sama; yang berubah adalah siapa yang bertanggung jawab atas concrete type. Ini bukan berarti semua sistem harus melalui transformasi serupa — ia hanya menunjukkan trade-off yang diambil lab ini.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The biggest change is at the composition boundary, not inside the domain logic.</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internal/di/processor.go • cmd/demo/main.go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14 /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Apa yang Tidak Dicakup oleh Lab Ini</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Laboratorium ini hanya membuktikan pola struktural, bukan skalabilitas production.</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YANG DILAB</a:t>
            </a:r>
          </a:p>
          <a:p>
            <a:pPr>
              <a:spcAft>
                <a:spcPts val="400"/>
              </a:spcAft>
              <a:defRPr sz="1200">
                <a:solidFill>
                  <a:srgbClr val="0B1B2D"/>
                </a:solidFill>
              </a:defRPr>
            </a:pPr>
            <a:r>
              <a:t>• Kontras struktural antara Constructor Injection dan Service Locator.</a:t>
            </a:r>
          </a:p>
          <a:p>
            <a:pPr>
              <a:spcAft>
                <a:spcPts val="400"/>
              </a:spcAft>
              <a:defRPr sz="1200">
                <a:solidFill>
                  <a:srgbClr val="0B1B2D"/>
                </a:solidFill>
              </a:defRPr>
            </a:pPr>
            <a:r>
              <a:t>• Verifikasi mock substitution bekerja pada test sequential.</a:t>
            </a:r>
          </a:p>
          <a:p>
            <a:pPr>
              <a:spcAft>
                <a:spcPts val="400"/>
              </a:spcAft>
              <a:defRPr sz="1200">
                <a:solidFill>
                  <a:srgbClr val="0B1B2D"/>
                </a:solidFill>
              </a:defRPr>
            </a:pPr>
            <a:r>
              <a:t>• Race detector bersih pada test suite saat ini.</a:t>
            </a:r>
          </a:p>
          <a:p>
            <a:pPr>
              <a:defRPr sz="1200" b="1">
                <a:solidFill>
                  <a:srgbClr val="087F76"/>
                </a:solidFill>
              </a:defRPr>
            </a:pPr>
            <a:r>
              <a:t>YANG TIDAK DILAB</a:t>
            </a:r>
          </a:p>
          <a:p>
            <a:pPr>
              <a:spcAft>
                <a:spcPts val="400"/>
              </a:spcAft>
              <a:defRPr sz="1200">
                <a:solidFill>
                  <a:srgbClr val="0B1B2D"/>
                </a:solidFill>
              </a:defRPr>
            </a:pPr>
            <a:r>
              <a:t>• Lifecycle management (singleton, scoped, transient).</a:t>
            </a:r>
          </a:p>
          <a:p>
            <a:pPr>
              <a:spcAft>
                <a:spcPts val="400"/>
              </a:spcAft>
              <a:defRPr sz="1200">
                <a:solidFill>
                  <a:srgbClr val="0B1B2D"/>
                </a:solidFill>
              </a:defRPr>
            </a:pPr>
            <a:r>
              <a:t>• Performance overhead reflection-based DI frameworks.</a:t>
            </a:r>
          </a:p>
          <a:p>
            <a:pPr>
              <a:spcAft>
                <a:spcPts val="400"/>
              </a:spcAft>
              <a:defRPr sz="1200">
                <a:solidFill>
                  <a:srgbClr val="0B1B2D"/>
                </a:solidFill>
              </a:defRPr>
            </a:pPr>
            <a:r>
              <a:t>• Concurrent access patterns pada shared dependencies.</a:t>
            </a:r>
          </a:p>
          <a:p>
            <a:pPr>
              <a:spcAft>
                <a:spcPts val="400"/>
              </a:spcAft>
              <a:defRPr sz="1200">
                <a:solidFill>
                  <a:srgbClr val="0B1B2D"/>
                </a:solidFill>
              </a:defRPr>
            </a:pPr>
            <a:r>
              <a:t>• Production defect rate reduction claim.</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Lab ini sengaja membatasi diri pada pola struktural dasar. Ia tidak mengklaim bahwa constructor injection menghasilkan production-ready code tanpa pertimbangan lebih lanjut. Lifecycle management, concurrency safety, dan framework integration adalah topik yang masih perlu penyelidikan terpisah.</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 lab proves what it designs to prove; it does not absolve you from production considerations.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 • README.md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15 /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Edge Case: Nil Dependency Menghasilkan Panic</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NewProcessor(nil) lulus konstrutor; panic terjadi saat Charge dipanggil.</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SKENARIO EDGE</a:t>
            </a:r>
          </a:p>
          <a:p>
            <a:pPr>
              <a:spcAft>
                <a:spcPts val="400"/>
              </a:spcAft>
              <a:defRPr sz="1200">
                <a:solidFill>
                  <a:srgbClr val="0B1B2D"/>
                </a:solidFill>
              </a:defRPr>
            </a:pPr>
            <a:r>
              <a:t>• Caller mengoper nil sebagai PaymentGateway.</a:t>
            </a:r>
          </a:p>
          <a:p>
            <a:pPr>
              <a:spcAft>
                <a:spcPts val="400"/>
              </a:spcAft>
              <a:defRPr sz="1200">
                <a:solidFill>
                  <a:srgbClr val="0B1B2D"/>
                </a:solidFill>
              </a:defRPr>
            </a:pPr>
            <a:r>
              <a:t>• Constructor tidak menolak; Processor tetap terbuat.</a:t>
            </a:r>
          </a:p>
          <a:p>
            <a:pPr>
              <a:spcAft>
                <a:spcPts val="400"/>
              </a:spcAft>
              <a:defRPr sz="1200">
                <a:solidFill>
                  <a:srgbClr val="0B1B2D"/>
                </a:solidFill>
              </a:defRPr>
            </a:pPr>
            <a:r>
              <a:t>ProcessPayment(100) → gateway.Charge(m) → nil pointer panic.</a:t>
            </a:r>
          </a:p>
          <a:p>
            <a:pPr>
              <a:spcAft>
                <a:spcPts val="400"/>
              </a:spcAft>
              <a:defRPr sz="1200">
                <a:solidFill>
                  <a:srgbClr val="0B1B2D"/>
                </a:solidFill>
              </a:defRPr>
            </a:pPr>
            <a:r>
              <a:t>• Error tidak ter-catch; crash terjadi di runtime.</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Nil dependency adalah edge case yang belum ditangani oleh constructor saat ini. Ia bukan kelemahan DI secara prinsip, melainkan konsekuensi dari ketiadaan explicit guard. Dalam production, caller yang bertanggung jawab memastikan non-nil; namun test suite saat ini tidak memiliki case untuk nil input.</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Absence of a guard is not a DI flaw; it is a defensive programming gap that any pattern must address.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internal/di/processor.go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16 / 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Test Suite Membuktikan Tiga Jalur Saja</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Happy path, gateway error, dan invalid amount — tidak lebih.</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YANG DIBUKTIKAN</a:t>
            </a:r>
          </a:p>
          <a:p>
            <a:pPr>
              <a:spcAft>
                <a:spcPts val="400"/>
              </a:spcAft>
              <a:defRPr sz="1200">
                <a:solidFill>
                  <a:srgbClr val="0B1B2D"/>
                </a:solidFill>
              </a:defRPr>
            </a:pPr>
            <a:r>
              <a:t>• MockGateway berhasil menangkap panggilan Charge dengan amount dan currency benar.</a:t>
            </a:r>
          </a:p>
          <a:p>
            <a:pPr>
              <a:spcAft>
                <a:spcPts val="400"/>
              </a:spcAft>
              <a:defRPr sz="1200">
                <a:solidFill>
                  <a:srgbClr val="0B1B2D"/>
                </a:solidFill>
              </a:defRPr>
            </a:pPr>
            <a:r>
              <a:t>• Error dari gateway dipropagasikan ke caller tanpa di-suppress.</a:t>
            </a:r>
          </a:p>
          <a:p>
            <a:pPr>
              <a:spcAft>
                <a:spcPts val="400"/>
              </a:spcAft>
              <a:defRPr sz="1200">
                <a:solidFill>
                  <a:srgbClr val="0B1B2D"/>
                </a:solidFill>
              </a:defRPr>
            </a:pPr>
            <a:r>
              <a:t>• Pre-check amount &lt;= 0 mencegah panggilan gateway (ChargedMoney tetap 0).</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Ketiga jalur ini membentuk inti verifikasi behavior Processor. Namun test ini membuktikan jalur A, bukan klaim production B. Misalnya, concurrency safety, memory leak, atau integration dengan payment provider sungguhan tidak tercover oleh test suite yang ada.</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Tests prove the paths they cover; they do not prove the paths they do not traverse.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tests/processor_test.go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17 / 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Yang Belum Dibuktikan oleh Test Suite</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Test sequential tidak menjamin behavior pada konkurensi atau skala besar.</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YANG TIDAK DIBUKTIKAN</a:t>
            </a:r>
          </a:p>
          <a:p>
            <a:pPr>
              <a:spcAft>
                <a:spcPts val="400"/>
              </a:spcAft>
              <a:defRPr sz="1200">
                <a:solidFill>
                  <a:srgbClr val="0B1B2D"/>
                </a:solidFill>
              </a:defRPr>
            </a:pPr>
            <a:r>
              <a:t>• Concurrency safety: tidak ada concurrent test yang memicu race condition.</a:t>
            </a:r>
          </a:p>
          <a:p>
            <a:pPr>
              <a:spcAft>
                <a:spcPts val="400"/>
              </a:spcAft>
              <a:defRPr sz="1200">
                <a:solidFill>
                  <a:srgbClr val="0B1B2D"/>
                </a:solidFill>
              </a:defRPr>
            </a:pPr>
            <a:r>
              <a:t>• Lifecycle management: tidak adauji singleton vs transient vs scoped.</a:t>
            </a:r>
          </a:p>
          <a:p>
            <a:pPr>
              <a:spcAft>
                <a:spcPts val="400"/>
              </a:spcAft>
              <a:defRPr sz="1200">
                <a:solidFill>
                  <a:srgbClr val="0B1B2D"/>
                </a:solidFill>
              </a:defRPr>
            </a:pPr>
            <a:r>
              <a:t>• Framework DI overhead: tidak diukur latency injection vs manual new.</a:t>
            </a:r>
          </a:p>
          <a:p>
            <a:pPr>
              <a:spcAft>
                <a:spcPts val="400"/>
              </a:spcAft>
              <a:defRPr sz="1200">
                <a:solidFill>
                  <a:srgbClr val="0B1B2D"/>
                </a:solidFill>
              </a:defRPr>
            </a:pPr>
            <a:r>
              <a:t>• Production defect reduction: tidak ada studi empiris dalam lab ini.</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Ruang kosong ini bukan kegagalan lab — ia adalah batasan yang disengaja. Lab bertujuan menunjukkan kontras struktural, bukan menyelidiki aspek non-fungsional. Klaim production safety memerlukan evidence tambahan dari load test, chaos engineering, atau audit kode manual.</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The absence of evidence is not evidence of absence; it is a scope declaration.</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tests/processor_test.go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18 / 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Risiko Menerapkan Pola Tanpa Pertimbangan Lifecycle</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Constructor injection tanpa lifecycle management berpotensi memory leak.</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RISIKO POTENSIAL</a:t>
            </a:r>
          </a:p>
          <a:p>
            <a:pPr>
              <a:spcAft>
                <a:spcPts val="400"/>
              </a:spcAft>
              <a:defRPr sz="1200">
                <a:solidFill>
                  <a:srgbClr val="0B1B2D"/>
                </a:solidFill>
              </a:defRPr>
            </a:pPr>
            <a:r>
              <a:t>Setiap call site membuat Processor baru → object graph tumbuh tanpa batas.</a:t>
            </a:r>
          </a:p>
          <a:p>
            <a:pPr>
              <a:spcAft>
                <a:spcPts val="400"/>
              </a:spcAft>
              <a:defRPr sz="1200">
                <a:solidFill>
                  <a:srgbClr val="0B1B2D"/>
                </a:solidFill>
              </a:defRPr>
            </a:pPr>
            <a:r>
              <a:t>• Shared state di dalam PaymentGateway (misal token cache) perlu sinkronisasi.</a:t>
            </a:r>
          </a:p>
          <a:p>
            <a:pPr>
              <a:spcAft>
                <a:spcPts val="400"/>
              </a:spcAft>
              <a:defRPr sz="1200">
                <a:solidFill>
                  <a:srgbClr val="0B1B2D"/>
                </a:solidFill>
              </a:defRPr>
            </a:pPr>
            <a:r>
              <a:t>Nil guard tidak ada → caller error menghasilkan panic di runtime.</a:t>
            </a:r>
          </a:p>
          <a:p>
            <a:pPr>
              <a:spcAft>
                <a:spcPts val="400"/>
              </a:spcAft>
              <a:defRPr sz="1200">
                <a:solidFill>
                  <a:srgbClr val="0B1B2D"/>
                </a:solidFill>
              </a:defRPr>
            </a:pPr>
            <a:r>
              <a:t>• Komposisi root tunggal (`main.go`) bisa menjadi bottleneck pada sistem besar.</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Risiko-rikiko ini muncul ketika pola diterapkan secara naif tanpa mempertimbangkan scope dan lifecycle. Lab ini tidak menyelesaikan masalah-masalah tersebut; ia hanya menunjukkan bahwa pola konstruktif injection lebih mudah diuji daripada tight coupling. Solusi lengkap memerlukan dependency container atau manual wiring yang lebih matang.</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Pattern application without lifecycle awareness turns a testing benefit into an operational risk.</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 • internal/di/processor.go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19 / 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Checklist Implementasi Dependency Injection yang Aman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Langkah-langkah praktis untuk menerapkan DI tanpa overengineering.</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LANGKAH KERJA</a:t>
            </a:r>
          </a:p>
          <a:p>
            <a:pPr>
              <a:spcAft>
                <a:spcPts val="400"/>
              </a:spcAft>
              <a:defRPr sz="1200">
                <a:solidFill>
                  <a:srgbClr val="0B1B2D"/>
                </a:solidFill>
              </a:defRPr>
            </a:pPr>
            <a:r>
              <a:t>• [ ] Dependeansi dideklarasikan sebagai interface, bukan concrete type.</a:t>
            </a:r>
          </a:p>
          <a:p>
            <a:pPr>
              <a:spcAft>
                <a:spcPts val="400"/>
              </a:spcAft>
              <a:defRPr sz="1200">
                <a:solidFill>
                  <a:srgbClr val="0B1B2D"/>
                </a:solidFill>
              </a:defRPr>
            </a:pPr>
            <a:r>
              <a:t>• [ ] Constructor injection digunakan; semua dependency eksplisit di signature.</a:t>
            </a:r>
          </a:p>
          <a:p>
            <a:pPr>
              <a:spcAft>
                <a:spcPts val="400"/>
              </a:spcAft>
              <a:defRPr sz="1200">
                <a:solidFill>
                  <a:srgbClr val="0B1B2D"/>
                </a:solidFill>
              </a:defRPr>
            </a:pPr>
            <a:r>
              <a:t>• [ ] Composition root (`main.go`) adalah satu-satunya tempat konstruksi concrete.</a:t>
            </a:r>
          </a:p>
          <a:p>
            <a:pPr>
              <a:spcAft>
                <a:spcPts val="400"/>
              </a:spcAft>
              <a:defRPr sz="1200">
                <a:solidFill>
                  <a:srgbClr val="0B1B2D"/>
                </a:solidFill>
              </a:defRPr>
            </a:pPr>
            <a:r>
              <a:t>• [ ] Value objects (seperti `Money`) diinstansiasi langsung, bukan melalui DI.</a:t>
            </a:r>
          </a:p>
          <a:p>
            <a:pPr>
              <a:spcAft>
                <a:spcPts val="400"/>
              </a:spcAft>
              <a:defRPr sz="1200">
                <a:solidFill>
                  <a:srgbClr val="0B1B2D"/>
                </a:solidFill>
              </a:defRPr>
            </a:pPr>
            <a:r>
              <a:t>• [ ] Validasi input dilakukan sebelum delegasi ke dependency eksternal.</a:t>
            </a:r>
          </a:p>
          <a:p>
            <a:pPr>
              <a:spcAft>
                <a:spcPts val="400"/>
              </a:spcAft>
              <a:defRPr sz="1200">
                <a:solidFill>
                  <a:srgbClr val="0B1B2D"/>
                </a:solidFill>
              </a:defRPr>
            </a:pPr>
            <a:r>
              <a:t>• [ ] `go test -race ./...` dijalankan dan PASS sebelum merge.</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Checklist ini merupakan panduan minimum yang diturunkan dari eksperimen lab. Ia bukan standar universal — masing-masing tim mungkin menambahkan aturan tambahan seperti dependency audit, interface segregation, atau DI container integration. Poin kelima hingga keenam belum sepenuhnya diuji pada skenario concurrent production.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Checklists guide practice; they do not replace architectural judgment or runtime verification.</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content/02-master-draft.md • tests/processor_test.go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20 /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Anti-Pattern: Service Locator di Domain Logic</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Menyuntikkan container ke kelas bisnis menyembunyikan dependensi aktual.</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HINDARI POLA INI</a:t>
            </a:r>
          </a:p>
          <a:p>
            <a:pPr>
              <a:spcAft>
                <a:spcPts val="400"/>
              </a:spcAft>
              <a:defRPr sz="1200">
                <a:solidFill>
                  <a:srgbClr val="0B1B2D"/>
                </a:solidFill>
              </a:defRPr>
            </a:pPr>
            <a:r>
              <a:t>• NewBadProcessor(c Container) — signature menyembunyikan PaymentGateway.</a:t>
            </a:r>
          </a:p>
          <a:p>
            <a:pPr>
              <a:spcAft>
                <a:spcPts val="400"/>
              </a:spcAft>
              <a:defRPr sz="1200">
                <a:solidFill>
                  <a:srgbClr val="0B1B2D"/>
                </a:solidFill>
              </a:defRPr>
            </a:pPr>
            <a:r>
              <a:t>• container.GetPaymentGateway() dipanggil di dalam method domain.</a:t>
            </a:r>
          </a:p>
          <a:p>
            <a:pPr>
              <a:spcAft>
                <a:spcPts val="400"/>
              </a:spcAft>
              <a:defRPr sz="1200">
                <a:solidFill>
                  <a:srgbClr val="0B1B2D"/>
                </a:solidFill>
              </a:defRPr>
            </a:pPr>
            <a:r>
              <a:t>• Test harus mock Container alih-alih gateway — tambahan kompleksitas.</a:t>
            </a:r>
          </a:p>
          <a:p>
            <a:pPr>
              <a:spcAft>
                <a:spcPts val="400"/>
              </a:spcAft>
              <a:defRPr sz="1200">
                <a:solidFill>
                  <a:srgbClr val="0B1B2D"/>
                </a:solidFill>
              </a:defRPr>
            </a:pPr>
            <a:r>
              <a:t>• Swap provider tetap satu baris, tetapi readability dan traceability menurun.</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Service Locator bukanlah pola yang salah secara absolut — ia useful dalam konteks tertentu seperti plugin systems. Namun untuk domain logic yang memerlukan testability dan traceability, pola ini menambah biaya kognitif tanpa memberikan manfaat yang setara. Lab ini menunjukkannya sebagai kontras, bukan sebagai solusi yang dilarang mutlak.</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Service Locator is a tool, not a sin; misuse depends on where and why it is applied.</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internal/di/locator.go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21 /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Reproduksi Mandiri di Mesin Lokal</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Go standard library, zero external dependencies.</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cd labs/16-dependency-injection</a:t>
            </a:r>
            <a:br/>
            <a:r>
              <a:t>go test -race -v ./tests/     # validasi 6 test cases</a:t>
            </a:r>
            <a:br/>
            <a:r>
              <a:t>go run ./cmd/demo            # jalankan demo kedua pola</a:t>
            </a:r>
            <a:br/>
            <a:r>
              <a:t>go vet ./...                 # statik analisis tambahan</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Lab ini zero-dependency dan dapat direproduksi langsung di mesin lokal manapun. Menjalankan test dan demo membuktikan pola struktural bekerja sesuai deskripsi. Ia tidak membuktikan bahwa pola tersebut cocok untuk sistem dengan ratusan call site atau multi-threaded production workload.</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Reproducibility on a local machine is necessary but not sufficient for production confidence.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README.md • go.mod • tests/</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22 /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16</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Constructor Membuat Dependency Terlihat</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Signature yang eksplisit memudahkan mock, swap, dan code review.</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PRINSIP REKAYASA</a:t>
            </a:r>
          </a:p>
          <a:p>
            <a:pPr>
              <a:spcAft>
                <a:spcPts val="400"/>
              </a:spcAft>
              <a:defRPr sz="1200">
                <a:solidFill>
                  <a:srgbClr val="0B1B2D"/>
                </a:solidFill>
              </a:defRPr>
            </a:pPr>
            <a:r>
              <a:t>• DI bukan fitur framework — ia arah kendali atas instantiation.</a:t>
            </a:r>
          </a:p>
          <a:p>
            <a:pPr>
              <a:spcAft>
                <a:spcPts val="400"/>
              </a:spcAft>
              <a:defRPr sz="1200">
                <a:solidFill>
                  <a:srgbClr val="0B1B2D"/>
                </a:solidFill>
              </a:defRPr>
            </a:pPr>
            <a:r>
              <a:t>• Constructor injection memindahkan keputusan ke composition root.</a:t>
            </a:r>
          </a:p>
          <a:p>
            <a:pPr>
              <a:spcAft>
                <a:spcPts val="400"/>
              </a:spcAft>
              <a:defRPr sz="1200">
                <a:solidFill>
                  <a:srgbClr val="0B1B2D"/>
                </a:solidFill>
              </a:defRPr>
            </a:pPr>
            <a:r>
              <a:t>• Service Locator mengurangi boilerplate parameter, tetapi menambah indirection.</a:t>
            </a:r>
          </a:p>
          <a:p>
            <a:pPr>
              <a:spcAft>
                <a:spcPts val="400"/>
              </a:spcAft>
              <a:defRPr sz="1200">
                <a:solidFill>
                  <a:srgbClr val="0B1B2D"/>
                </a:solidFill>
              </a:defRPr>
            </a:pPr>
            <a:r>
              <a:t>• Nil guard dan lifecycle management adalah tanggung jawab implementasi, bukan pola.</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Pelajaran utama lab ini: dependency injection mengubah bagaimana kita berpikir tentang ownership. Domain tidak owning dependensinya; caller yang owning dan menyuntikkannya. Ini tidak otomatis membuat codebase production-ready, tetapi ia membuat trade-off antara testability dan complexity lebih terlihat.</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DI shifts ownership from the component to its assembler; visibility improves testability.</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content/05-key-takeaways.md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23 / 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16</a:t>
            </a:r>
          </a:p>
        </p:txBody>
      </p:sp>
      <p:sp>
        <p:nvSpPr>
          <p:cNvPr id="4" name="TextBox 3"/>
          <p:cNvSpPr txBox="1"/>
          <p:nvPr/>
        </p:nvSpPr>
        <p:spPr>
          <a:xfrm>
            <a:off x="731520" y="731520"/>
            <a:ext cx="10728655" cy="731520"/>
          </a:xfrm>
          <a:prstGeom prst="rect">
            <a:avLst/>
          </a:prstGeom>
          <a:noFill/>
        </p:spPr>
        <p:txBody>
          <a:bodyPr wrap="none">
            <a:spAutoFit/>
          </a:bodyPr>
          <a:lstStyle/>
          <a:p>
            <a:pPr>
              <a:defRPr sz="2800" b="1">
                <a:solidFill>
                  <a:srgbClr val="FFFFFF"/>
                </a:solidFill>
              </a:defRPr>
            </a:pPr>
            <a:r>
              <a:t>Constructor memperlihatkan dependency wajib; validasi nil tetap tanggung jawab constructor.</a:t>
            </a:r>
          </a:p>
        </p:txBody>
      </p:sp>
      <p:sp>
        <p:nvSpPr>
          <p:cNvPr id="5" name="TextBox 4"/>
          <p:cNvSpPr txBox="1"/>
          <p:nvPr/>
        </p:nvSpPr>
        <p:spPr>
          <a:xfrm>
            <a:off x="731520" y="1463040"/>
            <a:ext cx="10728655" cy="731520"/>
          </a:xfrm>
          <a:prstGeom prst="rect">
            <a:avLst/>
          </a:prstGeom>
          <a:noFill/>
        </p:spPr>
        <p:txBody>
          <a:bodyPr wrap="square">
            <a:spAutoFit/>
          </a:bodyPr>
          <a:lstStyle/>
          <a:p>
            <a:pPr>
              <a:defRPr sz="1700" b="1">
                <a:solidFill>
                  <a:srgbClr val="38BDF8"/>
                </a:solidFill>
              </a:defRPr>
            </a:pPr>
            <a:r>
              <a:t>Constructor injection makes dependencies explicit; it does not replace lifecycle management or nil safety.</a:t>
            </a:r>
          </a:p>
        </p:txBody>
      </p:sp>
      <p:sp>
        <p:nvSpPr>
          <p:cNvPr id="6" name="TextBox 5"/>
          <p:cNvSpPr txBox="1"/>
          <p:nvPr/>
        </p:nvSpPr>
        <p:spPr>
          <a:xfrm>
            <a:off x="731520" y="2377440"/>
            <a:ext cx="5120640" cy="3291840"/>
          </a:xfrm>
          <a:prstGeom prst="rect">
            <a:avLst/>
          </a:prstGeom>
          <a:noFill/>
        </p:spPr>
        <p:txBody>
          <a:bodyPr wrap="square">
            <a:spAutoFit/>
          </a:bodyPr>
          <a:lstStyle/>
          <a:p>
            <a:pPr>
              <a:defRPr sz="1400" b="1">
                <a:solidFill>
                  <a:srgbClr val="FFFFFF"/>
                </a:solidFill>
              </a:defRPr>
            </a:pPr>
            <a:r>
              <a:t>Software Engineering Lab 16 - Dependency Injection di Go</a:t>
            </a:r>
          </a:p>
          <a:p>
            <a:pPr>
              <a:defRPr sz="1200">
                <a:solidFill>
                  <a:srgbClr val="CBD5E1"/>
                </a:solidFill>
              </a:defRPr>
            </a:pPr>
            <a:r>
              <a:t>https://github.com/lukman-ss/software-engineering-lab/tree/main/labs/16-dependency-injection</a:t>
            </a:r>
          </a:p>
          <a:p>
            <a:br/>
            <a:pPr>
              <a:defRPr sz="1100" b="1">
                <a:solidFill>
                  <a:srgbClr val="20C997"/>
                </a:solidFill>
              </a:defRPr>
            </a:pPr>
            <a:r>
              <a:t>REPOSITORY</a:t>
            </a:r>
          </a:p>
          <a:p>
            <a:pPr>
              <a:defRPr sz="1100">
                <a:solidFill>
                  <a:srgbClr val="FFFFFF"/>
                </a:solidFill>
                <a:latin typeface="Courier New"/>
              </a:defRPr>
            </a:pPr>
            <a:r>
              <a:t>github.com/lukman-ss/software-engineering-lab/tree/main/labs/16-dependency-injection</a:t>
            </a:r>
          </a:p>
        </p:txBody>
      </p:sp>
      <p:sp>
        <p:nvSpPr>
          <p:cNvPr id="7" name="TextBox 6"/>
          <p:cNvSpPr txBox="1"/>
          <p:nvPr/>
        </p:nvSpPr>
        <p:spPr>
          <a:xfrm>
            <a:off x="6217920" y="2377440"/>
            <a:ext cx="5120640" cy="3291840"/>
          </a:xfrm>
          <a:prstGeom prst="rect">
            <a:avLst/>
          </a:prstGeom>
          <a:noFill/>
        </p:spPr>
        <p:txBody>
          <a:bodyPr wrap="square">
            <a:spAutoFit/>
          </a:bodyPr>
          <a:lstStyle/>
          <a:p>
            <a:pPr>
              <a:defRPr sz="1600" b="1">
                <a:solidFill>
                  <a:srgbClr val="FFFFFF"/>
                </a:solidFill>
              </a:defRPr>
            </a:pPr>
            <a:r>
              <a:t>Lukman / lukman-ss</a:t>
            </a:r>
          </a:p>
          <a:p>
            <a:pPr>
              <a:defRPr sz="1200">
                <a:solidFill>
                  <a:srgbClr val="94A3B8"/>
                </a:solidFill>
              </a:defRPr>
            </a:pPr>
            <a:r>
              <a:t>Sumber: commit d7fb619</a:t>
            </a:r>
          </a:p>
          <a:p>
            <a:pPr>
              <a:defRPr sz="1200">
                <a:solidFill>
                  <a:srgbClr val="94A3B8"/>
                </a:solidFill>
              </a:defRPr>
            </a:pPr>
            <a:r>
              <a:t>Test passing dan diverifikasi (Race-Clean Go 1.22).</a:t>
            </a:r>
          </a:p>
          <a:p>
            <a:pPr>
              <a:defRPr sz="1200">
                <a:solidFill>
                  <a:srgbClr val="94A3B8"/>
                </a:solidFill>
              </a:defRPr>
            </a:pPr>
            <a:r>
              <a:t>Simulasi in-memory Store; membuktikan reduksi O(N) ke O(1).</a:t>
            </a:r>
          </a:p>
        </p:txBody>
      </p:sp>
      <p:sp>
        <p:nvSpPr>
          <p:cNvPr id="8" name="TextBox 7"/>
          <p:cNvSpPr txBox="1"/>
          <p:nvPr/>
        </p:nvSpPr>
        <p:spPr>
          <a:xfrm>
            <a:off x="731520" y="6309360"/>
            <a:ext cx="7315200" cy="365760"/>
          </a:xfrm>
          <a:prstGeom prst="rect">
            <a:avLst/>
          </a:prstGeom>
          <a:noFill/>
        </p:spPr>
        <p:txBody>
          <a:bodyPr wrap="none">
            <a:spAutoFit/>
          </a:bodyPr>
          <a:lstStyle/>
          <a:p>
            <a:pPr>
              <a:defRPr sz="1100">
                <a:solidFill>
                  <a:srgbClr val="64748B"/>
                </a:solidFill>
              </a:defRPr>
            </a:pPr>
            <a:r>
              <a:t>DI • IoC • Go • Constructor Injection • Service Locator • Testing</a:t>
            </a:r>
          </a:p>
        </p:txBody>
      </p:sp>
      <p:sp>
        <p:nvSpPr>
          <p:cNvPr id="9" name="TextBox 8"/>
          <p:cNvSpPr txBox="1"/>
          <p:nvPr/>
        </p:nvSpPr>
        <p:spPr>
          <a:xfrm>
            <a:off x="8686800" y="6309360"/>
            <a:ext cx="2743200" cy="365760"/>
          </a:xfrm>
          <a:prstGeom prst="rect">
            <a:avLst/>
          </a:prstGeom>
          <a:noFill/>
        </p:spPr>
        <p:txBody>
          <a:bodyPr wrap="none">
            <a:spAutoFit/>
          </a:bodyPr>
          <a:lstStyle/>
          <a:p>
            <a:pPr algn="r">
              <a:defRPr sz="1100" b="1">
                <a:solidFill>
                  <a:srgbClr val="64748B"/>
                </a:solidFill>
              </a:defRPr>
            </a:pPr>
            <a:r>
              <a:t>24 /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