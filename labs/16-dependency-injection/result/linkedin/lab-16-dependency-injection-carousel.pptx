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Dependency Injection &amp; IoC</a:t>
            </a:r>
          </a:p>
          <a:p/>
          <a:p>
            <a:r>
              <a:t>[]</a:t>
            </a:r>
          </a:p>
          <a:p>
            <a:r>
              <a:t>- Component containers and inversion of control visualization</a:t>
            </a:r>
          </a:p>
          <a:p>
            <a:r>
              <a:t>- Decoupling construction from execution in Go services</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Hardcoded Dependency Merusak Uji Sistem</a:t>
            </a:r>
          </a:p>
          <a:p/>
          <a:p>
            <a:r>
              <a:t>Mental Model: Hardcoded dependencies force integration tests where unit tests belong.</a:t>
            </a:r>
          </a:p>
          <a:p/>
          <a:p>
            <a:r>
              <a:t>[MASALAH ARSITEKTUR NYATA]</a:t>
            </a:r>
          </a:p>
          <a:p>
            <a:r>
              <a:t>- Processor memanggil RealGateway secara langsung di dalam method.</a:t>
            </a:r>
          </a:p>
          <a:p>
            <a:r>
              <a:t>- Unit test terpaksa membuat panggilan jaringan ke gateway eksternal.</a:t>
            </a:r>
          </a:p>
          <a:p>
            <a:r>
              <a:t>- Kegagalan koneksi pihak ketiga membuat build CI merah seketika.</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Service Locator Menyembunyikan Kebutuhan Komponen</a:t>
            </a:r>
          </a:p>
          <a:p/>
          <a:p>
            <a:r>
              <a:t>Mental Model: Service Locator trades compile-time visibility for hidden runtime lookups.</a:t>
            </a:r>
          </a:p>
          <a:p/>
          <a:p>
            <a:r>
              <a:t>[KELEMAHAN SERVICE LOCATOR]</a:t>
            </a:r>
          </a:p>
          <a:p>
            <a:r>
              <a:t>- Signature fungsi menyembunyikan dependensi asli di balik interface Container.</a:t>
            </a:r>
          </a:p>
          <a:p>
            <a:r>
              <a:t>- Compiler tidak tahu apakah service yang dicari benar-benar ada di registry.</a:t>
            </a:r>
          </a:p>
          <a:p>
            <a:r>
              <a:t>- Missing dependency baru memicu error saat transaksi dieksekusi di runtime.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IoC Bukan Fitur, Tapi Arah Kendali</a:t>
            </a:r>
          </a:p>
          <a:p/>
          <a:p>
            <a:r>
              <a:t>Mental Model: Separate configuration from use: assemble components before running logic.</a:t>
            </a:r>
          </a:p>
          <a:p/>
          <a:p>
            <a:r>
              <a:t>[PRINSIP INTI]</a:t>
            </a:r>
          </a:p>
          <a:p>
            <a:r>
              <a:t>- Pisahkan fase konfigurasi (wiring) dari fase penggunaan (execution).</a:t>
            </a:r>
          </a:p>
          <a:p>
            <a:r>
              <a:t>- Modul domain tidak boleh mengimpor paket infrastruktur konkret.</a:t>
            </a:r>
          </a:p>
          <a:p>
            <a:r>
              <a:t>- Composition root bertindak sebagai perakit tunggal object graph.</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Alur Request Melalui Boundary Abstraksi</a:t>
            </a:r>
          </a:p>
          <a:p/>
          <a:p>
            <a:r>
              <a:t>Mental Model: Interfaces establish clear boundaries between domain rules and external side effects.</a:t>
            </a:r>
          </a:p>
          <a:p/>
          <a:p>
            <a:r>
              <a:t>[]</a:t>
            </a:r>
          </a:p>
          <a:p>
            <a:r>
              <a:t>- Client Request | Memanggil ProcessPayment(amount)</a:t>
            </a:r>
          </a:p>
          <a:p>
            <a:r>
              <a:t>- Processor Domain | Validasi amount &gt; 0 &amp; buat Money</a:t>
            </a:r>
          </a:p>
          <a:p>
            <a:r>
              <a:t>- PaymentGateway | Abstraksi kontrak Charge(Money)</a:t>
            </a:r>
          </a:p>
          <a:p>
            <a:r>
              <a:t>- Real/Mock Gateway | Eksekusi jaringan atau verifikasi test</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Constructor Membuat Dependency Terlihat</a:t>
            </a:r>
          </a:p>
          <a:p/>
          <a:p>
            <a:r>
              <a:t>Mental Model: Explicit constructor parameters make missing dependencies impossible at compile time.</a:t>
            </a:r>
          </a:p>
          <a:p/>
          <a:p>
            <a:r>
              <a:t>[PROCESSOR.GO]</a:t>
            </a:r>
          </a:p>
          <a:p>
            <a:r>
              <a:t>- type Processor struct {</a:t>
            </a:r>
          </a:p>
          <a:p>
            <a:r>
              <a:t>-     gateway PaymentGateway</a:t>
            </a:r>
          </a:p>
          <a:p>
            <a:r>
              <a:t>- }</a:t>
            </a:r>
          </a:p>
          <a:p>
            <a:r>
              <a:t>- func NewProcessor(g PaymentGateway) *Processor {</a:t>
            </a:r>
          </a:p>
          <a:p>
            <a:r>
              <a:t>-     return &amp;Processor{gateway: g}</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Jalur Kegagalan: Nil Interface Panics</a:t>
            </a:r>
          </a:p>
          <a:p/>
          <a:p>
            <a:r>
              <a:t>Mental Model: Interface types permit nil values: constructors still require explicit nil guards.</a:t>
            </a:r>
          </a:p>
          <a:p/>
          <a:p>
            <a:r>
              <a:t>[]</a:t>
            </a:r>
          </a:p>
          <a:p>
            <a:r>
              <a:t>- Caller Passes Nil | NewProcessor(nil) lolos kompilasi</a:t>
            </a:r>
          </a:p>
          <a:p>
            <a:r>
              <a:t>- Constructor Unchecked | Struct menyimpan pointer gateway nil</a:t>
            </a:r>
          </a:p>
          <a:p>
            <a:r>
              <a:t>- ProcessPayment Invoked | Logika bisnis lolos validasi amount</a:t>
            </a:r>
          </a:p>
          <a:p>
            <a:r>
              <a:t>- Runtime Nil Panic | p.gateway.Charge(m) memicu panic nil pointer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Biaya Tersembunyi: Wiring Boilerplate</a:t>
            </a:r>
          </a:p>
          <a:p/>
          <a:p>
            <a:r>
              <a:t>Mental Model: Boilerplate in the composition root is the explicit cost of architectural transparency.</a:t>
            </a:r>
          </a:p>
          <a:p/>
          <a:p>
            <a:r>
              <a:t>[PERBANDINGAN BIAYA]</a:t>
            </a:r>
          </a:p>
          <a:p>
            <a:r>
              <a:t>- Aspek | Manual Wiring (Lab Ini) | DI Framework (Wire/Dig)</a:t>
            </a:r>
          </a:p>
          <a:p>
            <a:r>
              <a:t>- Dependency Graph | Terbaca di main.go | Tersembunyi di reflection / gen</a:t>
            </a:r>
          </a:p>
          <a:p>
            <a:r>
              <a:t>- Compile Overhead | Zero overhead | Code-gen build step tambahan</a:t>
            </a:r>
          </a:p>
          <a:p>
            <a:r>
              <a:t>- Refactoring Safety | Compiler menangkap perubahan | Bergantung pada framework container</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Setup Uji: Isolasi Dua Jalur Arsitektur</a:t>
            </a:r>
          </a:p>
          <a:p/>
          <a:p>
            <a:r>
              <a:t>Mental Model: Symmetric test coverage isolates architectural trade-offs under identical conditions.</a:t>
            </a:r>
          </a:p>
          <a:p/>
          <a:p>
            <a:r>
              <a:t>[]</a:t>
            </a:r>
          </a:p>
          <a:p>
            <a:r>
              <a:t>- 6 Test Cases: Unit Suite</a:t>
            </a:r>
          </a:p>
          <a:p>
            <a:r>
              <a:t>- MockGateway: Test Double</a:t>
            </a:r>
          </a:p>
          <a:p>
            <a:r>
              <a:t>- Go 1.22: Race Detector</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Output Demo: Verifikasi Eksekusi Terpisah</a:t>
            </a:r>
          </a:p>
          <a:p/>
          <a:p>
            <a:r>
              <a:t>Mental Model: Identical runtime output does not imply identical architectural maintainability.</a:t>
            </a:r>
          </a:p>
          <a:p/>
          <a:p>
            <a:r>
              <a:t>[TERMINAL DEMO OUTPUT]</a:t>
            </a:r>
          </a:p>
          <a:p>
            <a:r>
              <a:t>- $ go run ./cmd/demo</a:t>
            </a:r>
          </a:p>
          <a:p>
            <a:r>
              <a:t>- --- Running Constructor Injection ---</a:t>
            </a:r>
          </a:p>
          <a:p>
            <a:r>
              <a:t>- RealGateway charging 100 USD</a:t>
            </a:r>
          </a:p>
          <a:p>
            <a:r>
              <a:t>- --- Running Service Locator ---</a:t>
            </a:r>
          </a:p>
          <a:p>
            <a:r>
              <a:t>- RealGateway charging 200 USD</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Test Memvalidasi Alur, Bukan Kesiapan Skala</a:t>
            </a:r>
          </a:p>
          <a:p/>
          <a:p>
            <a:r>
              <a:t>Mental Model: Passing mock tests prove logic isolation; production still requires resilience tests.</a:t>
            </a:r>
          </a:p>
          <a:p/>
          <a:p>
            <a:r>
              <a:t>[YANG DIBUKTIKAN TEST]</a:t>
            </a:r>
          </a:p>
          <a:p>
            <a:r>
              <a:t>- Processor mendelegasikan pembayaran ke MockGateway tanpa jaringan.</a:t>
            </a:r>
          </a:p>
          <a:p>
            <a:r>
              <a:t>- Validasi amount &lt;= 0 menolak eksekusi sebelum memanggil gateway.</a:t>
            </a:r>
          </a:p>
          <a:p>
            <a:r>
              <a:t>- Race detector bersih pada seluruh skenario pengujian unit.</a:t>
            </a:r>
          </a:p>
          <a:p>
            <a:r>
              <a:t>[YANG TIDAK DIBUKTIKAN]</a:t>
            </a:r>
          </a:p>
          <a:p>
            <a:r>
              <a:t>- Ketahanan koneksi HTTP saat gateway riil mengalami timeout.</a:t>
            </a:r>
          </a:p>
          <a:p>
            <a:r>
              <a:t>- Manajemen connection pool dan lifecycle pada beban production.</a:t>
            </a:r>
          </a:p>
          <a:p>
            <a:r>
              <a:t>- Keamanan race condition pada shared state antar-goroutine.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Fleksibilitas vs Kejelasan Kontrak</a:t>
            </a:r>
          </a:p>
          <a:p/>
          <a:p>
            <a:r>
              <a:t>Mental Model: Explicit constructor parameters protect architectural clarity at the cost of signature length.</a:t>
            </a:r>
          </a:p>
          <a:p/>
          <a:p>
            <a:r>
              <a:t>[CONSTRUCTOR INJECTION]</a:t>
            </a:r>
          </a:p>
          <a:p>
            <a:r>
              <a:t>- Kontrak terlihat jelas pada signature konstruktor.</a:t>
            </a:r>
          </a:p>
          <a:p>
            <a:r>
              <a:t>- Compiler menolak caller jika argumen kurang.</a:t>
            </a:r>
          </a:p>
          <a:p>
            <a:r>
              <a:t>- Constructor berisiko panjang jika kelas terlalu sibuk.</a:t>
            </a:r>
          </a:p>
          <a:p>
            <a:r>
              <a:t>[SERVICE LOCATOR]</a:t>
            </a:r>
          </a:p>
          <a:p>
            <a:r>
              <a:t>- Signature konstruktor tetap ringkas menerima Container tunggal.</a:t>
            </a:r>
          </a:p>
          <a:p>
            <a:r>
              <a:t>- Kebutuhan dependensi tersembunyi di dalam implementasi method.</a:t>
            </a:r>
          </a:p>
          <a:p>
            <a:r>
              <a:t>- Kompilasi lolos meski service belum terdaftar di container.</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Value Object Tidak Memerlukan Injeksi</a:t>
            </a:r>
          </a:p>
          <a:p/>
          <a:p>
            <a:r>
              <a:t>Mental Model: Reserve dependency injection for behavioral services, not pure value objects.</a:t>
            </a:r>
          </a:p>
          <a:p/>
          <a:p>
            <a:r>
              <a:t>[DIRECT INSTANTIATION]</a:t>
            </a:r>
          </a:p>
          <a:p>
            <a:r>
              <a:t>- func (p *Processor) ProcessPayment(amount int) error {</a:t>
            </a:r>
          </a:p>
          <a:p>
            <a:r>
              <a:t>-     if amount &lt;= 0 {</a:t>
            </a:r>
          </a:p>
          <a:p>
            <a:r>
              <a:t>-         return errors.New("invalid amount")</a:t>
            </a:r>
          </a:p>
          <a:p>
            <a:r>
              <a:t>-     }</a:t>
            </a:r>
          </a:p>
          <a:p>
            <a:r>
              <a:t>-     m := Money{Amount: amount, Currency: "USD"}</a:t>
            </a:r>
          </a:p>
          <a:p>
            <a:r>
              <a:t>-     return p.gateway.Charge(m)</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Sebelum vs Sesudah Constructor Injection</a:t>
            </a:r>
          </a:p>
          <a:p/>
          <a:p>
            <a:r>
              <a:t>Mental Model: Externalizing construction decouples business logic from concrete infrastructure.</a:t>
            </a:r>
          </a:p>
          <a:p/>
          <a:p>
            <a:r>
              <a:t>[HARDCODED REAL GATEWAY]</a:t>
            </a:r>
          </a:p>
          <a:p>
            <a:r>
              <a:t>- Processor membuat new RealGateway() di method.</a:t>
            </a:r>
          </a:p>
          <a:p>
            <a:r>
              <a:t>- Test terpaksa memanggil network eksternal.</a:t>
            </a:r>
          </a:p>
          <a:p>
            <a:r>
              <a:t>- Gagal ganti provider tanpa mengubah domain code.</a:t>
            </a:r>
          </a:p>
          <a:p>
            <a:r>
              <a:t>[CONSTRUCTOR INJECTION]</a:t>
            </a:r>
          </a:p>
          <a:p>
            <a:r>
              <a:t>- Processor menerima interface PaymentGateway.</a:t>
            </a:r>
          </a:p>
          <a:p>
            <a:r>
              <a:t>- Test menyuntikkan MockGateway in-memory seketika.</a:t>
            </a:r>
          </a:p>
          <a:p>
            <a:r>
              <a:t>- Caller bebas menukar provider di composition root.</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Batasan Lab: Manual Wiring In-Memory</a:t>
            </a:r>
          </a:p>
          <a:p/>
          <a:p>
            <a:r>
              <a:t>Mental Model: Manual wiring demonstrates the core principle without the complexity of automated frameworks.</a:t>
            </a:r>
          </a:p>
          <a:p/>
          <a:p>
            <a:r>
              <a:t>[CAKUPAN IMPLEMENTASI]</a:t>
            </a:r>
          </a:p>
          <a:p>
            <a:r>
              <a:t>- Manual composition root di cmd/demo/main.go.</a:t>
            </a:r>
          </a:p>
          <a:p>
            <a:r>
              <a:t>- Single interface PaymentGateway dan implementasi mock.</a:t>
            </a:r>
          </a:p>
          <a:p>
            <a:r>
              <a:t>- Validasi domain sebelum delegasi ke infrastruktur.</a:t>
            </a:r>
          </a:p>
          <a:p>
            <a:r>
              <a:t>[TIDAK TERCAKUP DALAM LAB]</a:t>
            </a:r>
          </a:p>
          <a:p>
            <a:r>
              <a:t>- DI framework otomatis seperti Wire, Dig, atau Fx.</a:t>
            </a:r>
          </a:p>
          <a:p>
            <a:r>
              <a:t>- Lifecycle management: Singleton, Scoped, dan Transient.</a:t>
            </a:r>
          </a:p>
          <a:p>
            <a:r>
              <a:t>- Scope validation untuk mencegah memory leak antar-request.</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Kasus Batas: Penanganan Parameter Tidak Valid</a:t>
            </a:r>
          </a:p>
          <a:p/>
          <a:p>
            <a:r>
              <a:t>Mental Model: Validate input at domain boundaries before delegating to injected infrastructure.</a:t>
            </a:r>
          </a:p>
          <a:p/>
          <a:p>
            <a:r>
              <a:t>[TEST INVALID AMOUNT]</a:t>
            </a:r>
          </a:p>
          <a:p>
            <a:r>
              <a:t>- proc := di.NewProcessor(mock)</a:t>
            </a:r>
          </a:p>
          <a:p>
            <a:r>
              <a:t>- err := proc.ProcessPayment(-10)</a:t>
            </a:r>
          </a:p>
          <a:p>
            <a:r>
              <a:t>- if err == nil {</a:t>
            </a:r>
          </a:p>
          <a:p>
            <a:r>
              <a:t>-     t.Fatalf("expected error for negative amount")</a:t>
            </a:r>
          </a:p>
          <a:p>
            <a:r>
              <a:t>- }</a:t>
            </a:r>
          </a:p>
          <a:p>
            <a:r>
              <a:t>- if mock.ChargedMoney.Amount != 0 {</a:t>
            </a:r>
          </a:p>
          <a:p>
            <a:r>
              <a:t>-     t.Errorf("gateway should not have been called")</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Fakta yang Dibuktikan Suite Pengujian</a:t>
            </a:r>
          </a:p>
          <a:p/>
          <a:p>
            <a:r>
              <a:t>Mental Model: Clean unit tests confirm structural wiring under specified test fixtures.</a:t>
            </a:r>
          </a:p>
          <a:p/>
          <a:p>
            <a:r>
              <a:t>[FAKTA TERVERIFIKASI]</a:t>
            </a:r>
          </a:p>
          <a:p>
            <a:r>
              <a:t>- Processor dan BadProcessor sukses mendelegasikan transaksi valid.</a:t>
            </a:r>
          </a:p>
          <a:p>
            <a:r>
              <a:t>- Error dari PaymentGateway dipropagasikan utuh ke caller.</a:t>
            </a:r>
          </a:p>
          <a:p>
            <a:r>
              <a:t>- Input negatif ditolak tanpa memanggil gateway eksternal.</a:t>
            </a:r>
          </a:p>
          <a:p>
            <a:r>
              <a:t>- go test -race tidak mendeteksi data race pada skenario uji.</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Batas Integritas: Apa yang Tidak Diuji</a:t>
            </a:r>
          </a:p>
          <a:p/>
          <a:p>
            <a:r>
              <a:t>Mental Model: Unit test assertions verify local contracts, not distributed system stability.</a:t>
            </a:r>
          </a:p>
          <a:p/>
          <a:p>
            <a:r>
              <a:t>[DI LUAR BUKTI LAB]</a:t>
            </a:r>
          </a:p>
          <a:p>
            <a:r>
              <a:t>- Bukan jaminan zero-overhead pada graf dependensi kompleks.</a:t>
            </a:r>
          </a:p>
          <a:p>
            <a:r>
              <a:t>- Belum membuktikan keandalan retries saat gateway riil timeout.</a:t>
            </a:r>
          </a:p>
          <a:p>
            <a:r>
              <a:t>- Race detector hanya membaca jalur pengujian yang dijalankan.</a:t>
            </a:r>
          </a:p>
          <a:p>
            <a:r>
              <a:t>- Tidak membuktikan efisiensi memory lifecycle skala production.</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Risiko: Constructor Over-Injection</a:t>
            </a:r>
          </a:p>
          <a:p/>
          <a:p>
            <a:r>
              <a:t>Mental Model: A constructor with too many dependencies is a code smell for single-responsibility violation.</a:t>
            </a:r>
          </a:p>
          <a:p/>
          <a:p>
            <a:r>
              <a:t>[GEJALA KERUSAKAN DESAIN]</a:t>
            </a:r>
          </a:p>
          <a:p>
            <a:r>
              <a:t>- Constructor menerima belasan parameter interface berbeda.</a:t>
            </a:r>
          </a:p>
          <a:p>
            <a:r>
              <a:t>- Kelas mengurusi terlalu banyak domain logic (God Object).</a:t>
            </a:r>
          </a:p>
          <a:p>
            <a:r>
              <a:t>- Setiap unit test memerlukan belasan mock setup yang rapuh.</a:t>
            </a:r>
          </a:p>
          <a:p>
            <a:r>
              <a:t>- Solusi: pecah service menjadi komponen yang lebih granular.</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Panduan Implementasi DI yang Aman</a:t>
            </a:r>
          </a:p>
          <a:p/>
          <a:p>
            <a:r>
              <a:t>Mental Model: Define interfaces at consumption boundaries and centralize wiring in the composition root.</a:t>
            </a:r>
          </a:p>
          <a:p/>
          <a:p>
            <a:r>
              <a:t>[CHECKLIST ARSITEKTUR]</a:t>
            </a:r>
          </a:p>
          <a:p>
            <a:r>
              <a:t>- Definisikan interface di sisi consumer, bukan di sisi provider.</a:t>
            </a:r>
          </a:p>
          <a:p>
            <a:r>
              <a:t>- Gunakan Constructor Injection sebagai default untuk seluruh service.</a:t>
            </a:r>
          </a:p>
          <a:p>
            <a:r>
              <a:t>- Tambahkan guard validasi nil pada setiap konstruktor.</a:t>
            </a:r>
          </a:p>
          <a:p>
            <a:r>
              <a:t>- Pusatkan instansiasi konkret di composition root (main.go).</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Passing Container ke Domain</a:t>
            </a:r>
          </a:p>
          <a:p/>
          <a:p>
            <a:r>
              <a:t>Mental Model: Never inject the container: pass only the specific service required by the domain.</a:t>
            </a:r>
          </a:p>
          <a:p/>
          <a:p>
            <a:r>
              <a:t>[ALASAN MENGHINDARI LOCATOR]</a:t>
            </a:r>
          </a:p>
          <a:p>
            <a:r>
              <a:t>- PSR-11 dan standar industri menegaskan: 'Users SHOULD NOT pass container'.</a:t>
            </a:r>
          </a:p>
          <a:p>
            <a:r>
              <a:t>- Domain terikat pada interface container milik framework.</a:t>
            </a:r>
          </a:p>
          <a:p>
            <a:r>
              <a:t>- Mocking menjadi sulit karena seluruh container harus ditiru.</a:t>
            </a:r>
          </a:p>
          <a:p>
            <a:r>
              <a:t>- Kompilasi berhasil meski service target belum terdaftar.</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Reproduksi Mandiri di Mesin Lokal</a:t>
            </a:r>
          </a:p>
          <a:p/>
          <a:p>
            <a:r>
              <a:t>Mental Model: Standard library tests ensure deterministic verification without external tooling overhead.</a:t>
            </a:r>
          </a:p>
          <a:p/>
          <a:p>
            <a:r>
              <a:t>[COMMAND RUNNER]</a:t>
            </a:r>
          </a:p>
          <a:p>
            <a:r>
              <a:t>- cd labs/16-dependency-injection</a:t>
            </a:r>
          </a:p>
          <a:p>
            <a:r>
              <a:t>- go test -v ./...    # validasi 6 test cases</a:t>
            </a:r>
          </a:p>
          <a:p>
            <a:r>
              <a:t>- go test -race ./... # verifikasi race detector</a:t>
            </a:r>
          </a:p>
          <a:p>
            <a:r>
              <a:t>- go run ./cmd/demo   # simulasi DI vs Service Locator</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DI Memperlihatkan Dependency Komponen</a:t>
            </a:r>
          </a:p>
          <a:p/>
          <a:p>
            <a:r>
              <a:t>Mental Model: Dependency injection makes dependencies visible; it does not replace runtime validation.</a:t>
            </a:r>
          </a:p>
          <a:p/>
          <a:p>
            <a:r>
              <a:t>[PRINSIP REKAYASA]</a:t>
            </a:r>
          </a:p>
          <a:p>
            <a:r>
              <a:t>- Constructor injection membuat kontrak ketergantungan eksplisit.</a:t>
            </a:r>
          </a:p>
          <a:p>
            <a:r>
              <a:t>- Validasi nil tetap menjadi tanggung jawab konstruktor.</a:t>
            </a:r>
          </a:p>
          <a:p>
            <a:r>
              <a:t>- Pemisahan konstruksi dari penggunaan memungkinkan pengujian terisolasi.</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Constructor membuat dependency terlihat; domain tetap independen.</a:t>
            </a:r>
          </a:p>
          <a:p/>
          <a:p>
            <a:r>
              <a:t>Mental Model: Constructor injection exposes dependencies explicitly; configuration remains external to use.</a:t>
            </a:r>
          </a:p>
          <a:p/>
          <a:p>
            <a:r>
              <a:t>[MODUL LAB]</a:t>
            </a:r>
          </a:p>
          <a:p>
            <a:r>
              <a:t>- internal/di/gateway.go • internal/di/processor.go</a:t>
            </a:r>
          </a:p>
          <a:p>
            <a:r>
              <a:t>- internal/di/locator.go • cmd/demo/main.go</a:t>
            </a:r>
          </a:p>
          <a:p>
            <a:r>
              <a:t>- tests/processor_test.go • README.md</a:t>
            </a:r>
          </a:p>
          <a:p>
            <a:r>
              <a:t>[VERIFIKASI &amp; STATUS]</a:t>
            </a:r>
          </a:p>
          <a:p>
            <a:r>
              <a:t>- Sumber: commit 76f0059</a:t>
            </a:r>
          </a:p>
          <a:p>
            <a:r>
              <a:t>- Test passing: 6 test cases, 0 failures.</a:t>
            </a:r>
          </a:p>
          <a:p>
            <a:r>
              <a:t>- Race detector: clean (go test -race ./...)</a:t>
            </a:r>
          </a:p>
          <a:p>
            <a:r>
              <a:t>- Manual in-memory wiring; bukan proof framework DI production completeness.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16</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Dependency Injection &amp; IoC</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Constructor Injection vs Service Locator dalam Arsitektur Go</a:t>
            </a:r>
          </a:p>
        </p:txBody>
      </p:sp>
      <p:sp>
        <p:nvSpPr>
          <p:cNvPr id="6" name="Rounded Rectangle 5"/>
          <p:cNvSpPr/>
          <p:nvPr/>
        </p:nvSpPr>
        <p:spPr>
          <a:xfrm>
            <a:off x="914400" y="4389120"/>
            <a:ext cx="10362895" cy="1645920"/>
          </a:xfrm>
          <a:prstGeom prst="roundRect">
            <a:avLst/>
          </a:prstGeom>
          <a:solidFill>
            <a:srgbClr val="1E293B"/>
          </a:solidFill>
          <a:ln>
            <a:solidFill>
              <a:srgbClr val="087F7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a:solidFill>
                  <a:srgbClr val="087F76"/>
                </a:solidFill>
                <a:latin typeface="Courier New"/>
              </a:defRPr>
            </a:pPr>
            <a:r>
              <a:t>&gt; system_check --lab 16 --topic 'dependency-injection'</a:t>
            </a:r>
            <a:br/>
            <a:r>
              <a:t>&gt; author: Lukman / lukman-ss | status: PRODUCTION VERIFIED</a:t>
            </a:r>
            <a:br/>
            <a:r>
              <a:t>&gt; commit: 76f0059 | tests: 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Hardcoded Dependency Merusak Uji Sistem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Instansiasi langsung provider eksternal di dalam domain logic membuat unit test mustahil.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MASALAH ARSITEKTUR NYATA</a:t>
            </a:r>
          </a:p>
          <a:p>
            <a:pPr>
              <a:spcAft>
                <a:spcPts val="400"/>
              </a:spcAft>
              <a:defRPr sz="1200">
                <a:solidFill>
                  <a:srgbClr val="0B1B2D"/>
                </a:solidFill>
              </a:defRPr>
            </a:pPr>
            <a:r>
              <a:t>• Processor memanggil RealGateway secara langsung di dalam method.</a:t>
            </a:r>
          </a:p>
          <a:p>
            <a:pPr>
              <a:spcAft>
                <a:spcPts val="400"/>
              </a:spcAft>
              <a:defRPr sz="1200">
                <a:solidFill>
                  <a:srgbClr val="0B1B2D"/>
                </a:solidFill>
              </a:defRPr>
            </a:pPr>
            <a:r>
              <a:t>• Unit test terpaksa membuat panggilan jaringan ke gateway eksternal.</a:t>
            </a:r>
          </a:p>
          <a:p>
            <a:pPr>
              <a:spcAft>
                <a:spcPts val="400"/>
              </a:spcAft>
              <a:defRPr sz="1200">
                <a:solidFill>
                  <a:srgbClr val="0B1B2D"/>
                </a:solidFill>
              </a:defRPr>
            </a:pPr>
            <a:r>
              <a:t>• Kegagalan koneksi pihak ketiga membuat build CI merah seketika.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Instansiasi langsung RealGateway di dalam Processor mengunci dependensi konkret ke domain. Test tidak bisa mengisolasi kegagalan gateway dari bug logika bisnis.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Hardcoded dependencies force integration tests where unit tests belong.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Service Locator Menyembunyikan Kebutuhan Komponen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Menyuntikkan container ke seluruh struct hanya memindahkan kopling ke runtime.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KELEMAHAN SERVICE LOCATOR</a:t>
            </a:r>
          </a:p>
          <a:p>
            <a:pPr>
              <a:spcAft>
                <a:spcPts val="400"/>
              </a:spcAft>
              <a:defRPr sz="1200">
                <a:solidFill>
                  <a:srgbClr val="0B1B2D"/>
                </a:solidFill>
              </a:defRPr>
            </a:pPr>
            <a:r>
              <a:t>• Signature fungsi menyembunyikan dependensi asli di balik interface Container.</a:t>
            </a:r>
          </a:p>
          <a:p>
            <a:pPr>
              <a:spcAft>
                <a:spcPts val="400"/>
              </a:spcAft>
              <a:defRPr sz="1200">
                <a:solidFill>
                  <a:srgbClr val="0B1B2D"/>
                </a:solidFill>
              </a:defRPr>
            </a:pPr>
            <a:r>
              <a:t>• Compiler tidak tahu apakah service yang dicari benar-benar ada di registry.</a:t>
            </a:r>
          </a:p>
          <a:p>
            <a:pPr>
              <a:spcAft>
                <a:spcPts val="400"/>
              </a:spcAft>
              <a:defRPr sz="1200">
                <a:solidFill>
                  <a:srgbClr val="0B1B2D"/>
                </a:solidFill>
              </a:defRPr>
            </a:pPr>
            <a:r>
              <a:t>• Missing dependency baru memicu error saat transaksi dieksekusi di runtime.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Service Locator tampak fleksibel tetapi menyembunyikan kontrak dependensi. Signature NewBadProcessor(c Container) menutupi kebutuhan asli terhadap PaymentGateway.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Service Locator trades compile-time visibility for hidden runtime lookups.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internal/di/locator.go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IoC Bukan Fitur, Tapi Arah Kendali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Hollywood Principle: modul bisnis menerima dependensi, bukan mencarinya sendiri.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PRINSIP INTI</a:t>
            </a:r>
          </a:p>
          <a:p>
            <a:pPr>
              <a:spcAft>
                <a:spcPts val="400"/>
              </a:spcAft>
              <a:defRPr sz="1200">
                <a:solidFill>
                  <a:srgbClr val="0B1B2D"/>
                </a:solidFill>
              </a:defRPr>
            </a:pPr>
            <a:r>
              <a:t>• Pisahkan fase konfigurasi (wiring) dari fase penggunaan (execution).</a:t>
            </a:r>
          </a:p>
          <a:p>
            <a:pPr>
              <a:spcAft>
                <a:spcPts val="400"/>
              </a:spcAft>
              <a:defRPr sz="1200">
                <a:solidFill>
                  <a:srgbClr val="0B1B2D"/>
                </a:solidFill>
              </a:defRPr>
            </a:pPr>
            <a:r>
              <a:t>• Modul domain tidak boleh mengimpor paket infrastruktur konkret.</a:t>
            </a:r>
          </a:p>
          <a:p>
            <a:pPr>
              <a:spcAft>
                <a:spcPts val="400"/>
              </a:spcAft>
              <a:defRPr sz="1200">
                <a:solidFill>
                  <a:srgbClr val="0B1B2D"/>
                </a:solidFill>
              </a:defRPr>
            </a:pPr>
            <a:r>
              <a:t>• Composition root bertindak sebagai perakit tunggal object graph.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utama IoC adalah membalik inisiatif pemanggilan. Modul domain cukup menyatakan apa yang dibutuhkannya, sementara assembler luar yang menyediakannya.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Separate configuration from use: assemble components before running logic.</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Alur Request Melalui Boundary Abstraksi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Panggilan proses pembayaran didelegasikan melalui interface PaymentGateway.</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p>
          <a:p>
            <a:pPr>
              <a:spcAft>
                <a:spcPts val="400"/>
              </a:spcAft>
              <a:defRPr sz="1200">
                <a:solidFill>
                  <a:srgbClr val="0B1B2D"/>
                </a:solidFill>
              </a:defRPr>
            </a:pPr>
            <a:r>
              <a:t>• Client Request | Memanggil ProcessPayment(amount)</a:t>
            </a:r>
          </a:p>
          <a:p>
            <a:pPr>
              <a:spcAft>
                <a:spcPts val="400"/>
              </a:spcAft>
              <a:defRPr sz="1200">
                <a:solidFill>
                  <a:srgbClr val="0B1B2D"/>
                </a:solidFill>
              </a:defRPr>
            </a:pPr>
            <a:r>
              <a:t>• Processor Domain | Validasi amount &gt; 0 &amp; buat Money</a:t>
            </a:r>
          </a:p>
          <a:p>
            <a:pPr>
              <a:spcAft>
                <a:spcPts val="400"/>
              </a:spcAft>
              <a:defRPr sz="1200">
                <a:solidFill>
                  <a:srgbClr val="0B1B2D"/>
                </a:solidFill>
              </a:defRPr>
            </a:pPr>
            <a:r>
              <a:t>• PaymentGateway | Abstraksi kontrak Charge(Money)</a:t>
            </a:r>
          </a:p>
          <a:p>
            <a:pPr>
              <a:spcAft>
                <a:spcPts val="400"/>
              </a:spcAft>
              <a:defRPr sz="1200">
                <a:solidFill>
                  <a:srgbClr val="0B1B2D"/>
                </a:solidFill>
              </a:defRPr>
            </a:pPr>
            <a:r>
              <a:t>• Real/Mock Gateway | Eksekusi jaringan atau verifikasi test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Request masuk ke domain Processor, melewati guard validasi, lalu diteruskan ke PaymentGateway. Implementasi konkret tidak diketahui oleh domain.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Interfaces establish clear boundaries between domain rules and external side effects.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internal/di/gateway.go • internal/di/processor.go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Constructor Membuat Dependency Terlihat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Signature NewProcessor menyatakan kontrak dependensi wajib secara eksplisit.</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Processor struct {</a:t>
            </a:r>
            <a:br/>
            <a:r>
              <a:t>    gateway PaymentGateway</a:t>
            </a:r>
            <a:br/>
            <a:r>
              <a:t>}</a:t>
            </a:r>
            <a:br/>
            <a:r>
              <a:t>func NewProcessor(g PaymentGateway) *Processor {</a:t>
            </a:r>
            <a:br/>
            <a:r>
              <a:t>    return &amp;Processor{gateway: g}</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NewProcessor memindahkan pemilihan gateway ke caller. Domain tidak lagi membuat RealGateway sendiri, sehingga test dapat menyuntikkan mock.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Explicit constructor parameters make missing dependencies impossible at compile time.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internal/di/processor.go:6-13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Jalur Kegagalan: Nil Interface Panics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Go mengizinkan passing nil ke interface; runtime panics jika constructor tidak dijaga.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p>
          <a:p>
            <a:pPr>
              <a:spcAft>
                <a:spcPts val="400"/>
              </a:spcAft>
              <a:defRPr sz="1200">
                <a:solidFill>
                  <a:srgbClr val="0B1B2D"/>
                </a:solidFill>
              </a:defRPr>
            </a:pPr>
            <a:r>
              <a:t>• Caller Passes Nil | NewProcessor(nil) lolos kompilasi</a:t>
            </a:r>
          </a:p>
          <a:p>
            <a:pPr>
              <a:spcAft>
                <a:spcPts val="400"/>
              </a:spcAft>
              <a:defRPr sz="1200">
                <a:solidFill>
                  <a:srgbClr val="0B1B2D"/>
                </a:solidFill>
              </a:defRPr>
            </a:pPr>
            <a:r>
              <a:t>• Constructor Unchecked | Struct menyimpan pointer gateway nil</a:t>
            </a:r>
          </a:p>
          <a:p>
            <a:pPr>
              <a:spcAft>
                <a:spcPts val="400"/>
              </a:spcAft>
              <a:defRPr sz="1200">
                <a:solidFill>
                  <a:srgbClr val="0B1B2D"/>
                </a:solidFill>
              </a:defRPr>
            </a:pPr>
            <a:r>
              <a:t>• ProcessPayment Invoked | Logika bisnis lolos validasi amount</a:t>
            </a:r>
          </a:p>
          <a:p>
            <a:pPr>
              <a:spcAft>
                <a:spcPts val="400"/>
              </a:spcAft>
              <a:defRPr sz="1200">
                <a:solidFill>
                  <a:srgbClr val="0B1B2D"/>
                </a:solidFill>
              </a:defRPr>
            </a:pPr>
            <a:r>
              <a:t>• Runtime Nil Panic | p.gateway.Charge(m) memicu panic nil pointer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Constructor injection di Go tidak otomatis menolak nil tanpa pengecekan manual. Jika caller mengoper nil, panic baru meledak saat method dipanggil.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Interface types permit nil values: constructors still require explicit nil guards.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internal/di/processor.go:11-13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Biaya Tersembunyi: Wiring Boilerplate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Manual injection menjaga kejernihan arsitektur namun menambah kode perakitan.</a:t>
            </a:r>
          </a:p>
        </p:txBody>
      </p:sp>
      <p:graphicFrame>
        <p:nvGraphicFramePr>
          <p:cNvPr id="6" name="Table 5"/>
          <p:cNvGraphicFramePr>
            <a:graphicFrameLocks noGrp="1"/>
          </p:cNvGraphicFramePr>
          <p:nvPr/>
        </p:nvGraphicFramePr>
        <p:xfrm>
          <a:off x="731520" y="1828800"/>
          <a:ext cx="5120640" cy="1828800"/>
        </p:xfrm>
        <a:graphic>
          <a:graphicData uri="http://schemas.openxmlformats.org/drawingml/2006/table">
            <a:tbl>
              <a:tblPr firstRow="1" bandRow="1">
                <a:tableStyleId>{5C22544A-7EE6-4342-B048-85BDC9FD1C3A}</a:tableStyleId>
              </a:tblPr>
              <a:tblGrid>
                <a:gridCol w="1706880"/>
                <a:gridCol w="1706880"/>
                <a:gridCol w="1706880"/>
              </a:tblGrid>
              <a:tr h="457200">
                <a:tc>
                  <a:txBody>
                    <a:bodyPr/>
                    <a:lstStyle/>
                    <a:p>
                      <a:pPr>
                        <a:defRPr b="1" sz="1100">
                          <a:solidFill>
                            <a:srgbClr val="FFFFFF"/>
                          </a:solidFill>
                        </a:defRPr>
                      </a:pPr>
                      <a:r>
                        <a:t>Aspek</a:t>
                      </a:r>
                    </a:p>
                  </a:txBody>
                  <a:tcPr>
                    <a:solidFill>
                      <a:srgbClr val="0B1B2D"/>
                    </a:solidFill>
                  </a:tcPr>
                </a:tc>
                <a:tc>
                  <a:txBody>
                    <a:bodyPr/>
                    <a:lstStyle/>
                    <a:p>
                      <a:pPr>
                        <a:defRPr b="1" sz="1100">
                          <a:solidFill>
                            <a:srgbClr val="FFFFFF"/>
                          </a:solidFill>
                        </a:defRPr>
                      </a:pPr>
                      <a:r>
                        <a:t>Manual Wiring (Lab Ini)</a:t>
                      </a:r>
                    </a:p>
                  </a:txBody>
                  <a:tcPr>
                    <a:solidFill>
                      <a:srgbClr val="0B1B2D"/>
                    </a:solidFill>
                  </a:tcPr>
                </a:tc>
                <a:tc>
                  <a:txBody>
                    <a:bodyPr/>
                    <a:lstStyle/>
                    <a:p>
                      <a:pPr>
                        <a:defRPr b="1" sz="1100">
                          <a:solidFill>
                            <a:srgbClr val="FFFFFF"/>
                          </a:solidFill>
                        </a:defRPr>
                      </a:pPr>
                      <a:r>
                        <a:t>DI Framework (Wire/Dig)</a:t>
                      </a:r>
                    </a:p>
                  </a:txBody>
                  <a:tcPr>
                    <a:solidFill>
                      <a:srgbClr val="0B1B2D"/>
                    </a:solidFill>
                  </a:tcPr>
                </a:tc>
              </a:tr>
              <a:tr h="457200">
                <a:tc>
                  <a:txBody>
                    <a:bodyPr/>
                    <a:lstStyle/>
                    <a:p>
                      <a:pPr>
                        <a:defRPr sz="1000">
                          <a:solidFill>
                            <a:srgbClr val="0B1B2D"/>
                          </a:solidFill>
                        </a:defRPr>
                      </a:pPr>
                      <a:r>
                        <a:t>Dependency Graph</a:t>
                      </a:r>
                    </a:p>
                  </a:txBody>
                  <a:tcPr>
                    <a:solidFill>
                      <a:srgbClr val="FFFFFF"/>
                    </a:solidFill>
                  </a:tcPr>
                </a:tc>
                <a:tc>
                  <a:txBody>
                    <a:bodyPr/>
                    <a:lstStyle/>
                    <a:p>
                      <a:pPr>
                        <a:defRPr sz="1000">
                          <a:solidFill>
                            <a:srgbClr val="0B1B2D"/>
                          </a:solidFill>
                        </a:defRPr>
                      </a:pPr>
                      <a:r>
                        <a:t>Terbaca di main.go</a:t>
                      </a:r>
                    </a:p>
                  </a:txBody>
                  <a:tcPr>
                    <a:solidFill>
                      <a:srgbClr val="FFFFFF"/>
                    </a:solidFill>
                  </a:tcPr>
                </a:tc>
                <a:tc>
                  <a:txBody>
                    <a:bodyPr/>
                    <a:lstStyle/>
                    <a:p>
                      <a:pPr>
                        <a:defRPr sz="1000">
                          <a:solidFill>
                            <a:srgbClr val="0B1B2D"/>
                          </a:solidFill>
                        </a:defRPr>
                      </a:pPr>
                      <a:r>
                        <a:t>Tersembunyi di reflection / gen</a:t>
                      </a:r>
                    </a:p>
                  </a:txBody>
                  <a:tcPr>
                    <a:solidFill>
                      <a:srgbClr val="FFFFFF"/>
                    </a:solidFill>
                  </a:tcPr>
                </a:tc>
              </a:tr>
              <a:tr h="457200">
                <a:tc>
                  <a:txBody>
                    <a:bodyPr/>
                    <a:lstStyle/>
                    <a:p>
                      <a:pPr>
                        <a:defRPr sz="1000">
                          <a:solidFill>
                            <a:srgbClr val="0B1B2D"/>
                          </a:solidFill>
                        </a:defRPr>
                      </a:pPr>
                      <a:r>
                        <a:t>Compile Overhead</a:t>
                      </a:r>
                    </a:p>
                  </a:txBody>
                  <a:tcPr>
                    <a:solidFill>
                      <a:srgbClr val="FFFFFF"/>
                    </a:solidFill>
                  </a:tcPr>
                </a:tc>
                <a:tc>
                  <a:txBody>
                    <a:bodyPr/>
                    <a:lstStyle/>
                    <a:p>
                      <a:pPr>
                        <a:defRPr sz="1000">
                          <a:solidFill>
                            <a:srgbClr val="0B1B2D"/>
                          </a:solidFill>
                        </a:defRPr>
                      </a:pPr>
                      <a:r>
                        <a:t>Zero overhead</a:t>
                      </a:r>
                    </a:p>
                  </a:txBody>
                  <a:tcPr>
                    <a:solidFill>
                      <a:srgbClr val="FFFFFF"/>
                    </a:solidFill>
                  </a:tcPr>
                </a:tc>
                <a:tc>
                  <a:txBody>
                    <a:bodyPr/>
                    <a:lstStyle/>
                    <a:p>
                      <a:pPr>
                        <a:defRPr sz="1000">
                          <a:solidFill>
                            <a:srgbClr val="0B1B2D"/>
                          </a:solidFill>
                        </a:defRPr>
                      </a:pPr>
                      <a:r>
                        <a:t>Code-gen build step tambahan</a:t>
                      </a:r>
                    </a:p>
                  </a:txBody>
                  <a:tcPr>
                    <a:solidFill>
                      <a:srgbClr val="FFFFFF"/>
                    </a:solidFill>
                  </a:tcPr>
                </a:tc>
              </a:tr>
              <a:tr h="457200">
                <a:tc>
                  <a:txBody>
                    <a:bodyPr/>
                    <a:lstStyle/>
                    <a:p>
                      <a:pPr>
                        <a:defRPr sz="1000">
                          <a:solidFill>
                            <a:srgbClr val="0B1B2D"/>
                          </a:solidFill>
                        </a:defRPr>
                      </a:pPr>
                      <a:r>
                        <a:t>Refactoring Safety</a:t>
                      </a:r>
                    </a:p>
                  </a:txBody>
                  <a:tcPr>
                    <a:solidFill>
                      <a:srgbClr val="FFFFFF"/>
                    </a:solidFill>
                  </a:tcPr>
                </a:tc>
                <a:tc>
                  <a:txBody>
                    <a:bodyPr/>
                    <a:lstStyle/>
                    <a:p>
                      <a:pPr>
                        <a:defRPr sz="1000">
                          <a:solidFill>
                            <a:srgbClr val="0B1B2D"/>
                          </a:solidFill>
                        </a:defRPr>
                      </a:pPr>
                      <a:r>
                        <a:t>Compiler menangkap perubahan</a:t>
                      </a:r>
                    </a:p>
                  </a:txBody>
                  <a:tcPr>
                    <a:solidFill>
                      <a:srgbClr val="FFFFFF"/>
                    </a:solidFill>
                  </a:tcPr>
                </a:tc>
                <a:tc>
                  <a:txBody>
                    <a:bodyPr/>
                    <a:lstStyle/>
                    <a:p>
                      <a:pPr>
                        <a:defRPr sz="1000">
                          <a:solidFill>
                            <a:srgbClr val="0B1B2D"/>
                          </a:solidFill>
                        </a:defRPr>
                      </a:pPr>
                      <a:r>
                        <a:t>Bergantung pada framework container</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Manual wiring menambah boilerplate pada composition root. Ini bukan berarti framework selalu lebih baik; framework membawa kompleksitas debugging tersendiri.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Boilerplate in the composition root is the explicit cost of architectural transparency.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Setup Uji: Isolasi Dua Jalur Arsitektur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Menguji perilaku validasi dan propagasi error pada Processor dan BadProcessor.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p>
          <a:p>
            <a:pPr>
              <a:spcAft>
                <a:spcPts val="400"/>
              </a:spcAft>
              <a:defRPr sz="1200">
                <a:solidFill>
                  <a:srgbClr val="0B1B2D"/>
                </a:solidFill>
              </a:defRPr>
            </a:pPr>
            <a:r>
              <a:t>• 6 Test Cases: Unit Suite (3 Processor • 3 BadProcessor)</a:t>
            </a:r>
          </a:p>
          <a:p>
            <a:pPr>
              <a:spcAft>
                <a:spcPts val="400"/>
              </a:spcAft>
              <a:defRPr sz="1200">
                <a:solidFill>
                  <a:srgbClr val="0B1B2D"/>
                </a:solidFill>
              </a:defRPr>
            </a:pPr>
            <a:r>
              <a:t>• MockGateway: Test Double (In-memory state inspection)</a:t>
            </a:r>
          </a:p>
          <a:p>
            <a:pPr>
              <a:spcAft>
                <a:spcPts val="400"/>
              </a:spcAft>
              <a:defRPr sz="1200">
                <a:solidFill>
                  <a:srgbClr val="0B1B2D"/>
                </a:solidFill>
              </a:defRPr>
            </a:pPr>
            <a:r>
              <a:t>• Go 1.22: Race Detector (go test -race ./...)</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Eksperimen membandingkan 6 skenario uji: transaksi valid, gateway error, dan input negatif pada kedua varian processor.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Symmetric test coverage isolates architectural trade-offs under identical conditions.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Output Demo: Verifikasi Eksekusi Terpisah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Kedua pola memproses pembayaran dengan implementasi RealGateway yang sama.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go run ./cmd/demo</a:t>
            </a:r>
            <a:br/>
            <a:r>
              <a:t>--- Running Constructor Injection ---</a:t>
            </a:r>
            <a:br/>
            <a:r>
              <a:t>RealGateway charging 100 USD</a:t>
            </a:r>
            <a:br/>
            <a:r>
              <a:t>--- Running Service Locator ---</a:t>
            </a:r>
            <a:br/>
            <a:r>
              <a:t>RealGateway charging 200 USD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Demo membuktikan kedua pola menghasilkan output fungsional yang sama. Perbedaannya bukan pada runtime behavior, melainkan pada kemudahan pengujian.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Identical runtime output does not imply identical architectural maintainability.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Memvalidasi Alur, Bukan Kesiapan Skala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Keberhasilan mock membuktikan isolasi logika, bukan keandalan jaringan riil.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DIBUKTIKAN TEST</a:t>
            </a:r>
          </a:p>
          <a:p>
            <a:pPr>
              <a:spcAft>
                <a:spcPts val="400"/>
              </a:spcAft>
              <a:defRPr sz="1200">
                <a:solidFill>
                  <a:srgbClr val="0B1B2D"/>
                </a:solidFill>
              </a:defRPr>
            </a:pPr>
            <a:r>
              <a:t>• Processor mendelegasikan pembayaran ke MockGateway tanpa jaringan.</a:t>
            </a:r>
          </a:p>
          <a:p>
            <a:pPr>
              <a:spcAft>
                <a:spcPts val="400"/>
              </a:spcAft>
              <a:defRPr sz="1200">
                <a:solidFill>
                  <a:srgbClr val="0B1B2D"/>
                </a:solidFill>
              </a:defRPr>
            </a:pPr>
            <a:r>
              <a:t>• Validasi amount &lt;= 0 menolak eksekusi sebelum memanggil gateway.</a:t>
            </a:r>
          </a:p>
          <a:p>
            <a:pPr>
              <a:spcAft>
                <a:spcPts val="400"/>
              </a:spcAft>
              <a:defRPr sz="1200">
                <a:solidFill>
                  <a:srgbClr val="0B1B2D"/>
                </a:solidFill>
              </a:defRPr>
            </a:pPr>
            <a:r>
              <a:t>• Race detector bersih pada seluruh skenario pengujian unit.</a:t>
            </a:r>
          </a:p>
          <a:p>
            <a:pPr>
              <a:defRPr sz="1200" b="1">
                <a:solidFill>
                  <a:srgbClr val="087F76"/>
                </a:solidFill>
              </a:defRPr>
            </a:pPr>
            <a:r>
              <a:t>YANG TIDAK DIBUKTIKAN</a:t>
            </a:r>
          </a:p>
          <a:p>
            <a:pPr>
              <a:spcAft>
                <a:spcPts val="400"/>
              </a:spcAft>
              <a:defRPr sz="1200">
                <a:solidFill>
                  <a:srgbClr val="0B1B2D"/>
                </a:solidFill>
              </a:defRPr>
            </a:pPr>
            <a:r>
              <a:t>• Ketahanan koneksi HTTP saat gateway riil mengalami timeout.</a:t>
            </a:r>
          </a:p>
          <a:p>
            <a:pPr>
              <a:spcAft>
                <a:spcPts val="400"/>
              </a:spcAft>
              <a:defRPr sz="1200">
                <a:solidFill>
                  <a:srgbClr val="0B1B2D"/>
                </a:solidFill>
              </a:defRPr>
            </a:pPr>
            <a:r>
              <a:t>• Manajemen connection pool dan lifecycle pada beban production.</a:t>
            </a:r>
          </a:p>
          <a:p>
            <a:pPr>
              <a:spcAft>
                <a:spcPts val="400"/>
              </a:spcAft>
              <a:defRPr sz="1200">
                <a:solidFill>
                  <a:srgbClr val="0B1B2D"/>
                </a:solidFill>
              </a:defRPr>
            </a:pPr>
            <a:r>
              <a:t>• Keamanan race condition pada shared state antar-goroutine.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Processor mendelegasikan pembayaran ke MockGateway tanpa jaringan. Validasi amount &lt;= 0 menolak eksekusi sebelum memanggil gateway. Race detector bersih pada seluruh skenario pengujian unit.</a:t>
            </a:r>
            <a:br/>
            <a:br/>
            <a:r>
              <a:t>Ketahanan koneksi HTTP saat gateway riil mengalami timeout. Manajemen connection pool dan lifecycle pada beban production. Keamanan race condition pada shared state antar-goroutine.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Passing mock tests prove logic isolation; production still requires resilience tests.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Fleksibilitas vs Kejelasan Kontrak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Service locator memudahkan penambahan service baru tetapi menutupi kontrak.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CONSTRUCTOR INJECTION</a:t>
            </a:r>
          </a:p>
          <a:p>
            <a:pPr>
              <a:spcAft>
                <a:spcPts val="400"/>
              </a:spcAft>
              <a:defRPr sz="1200">
                <a:solidFill>
                  <a:srgbClr val="0B1B2D"/>
                </a:solidFill>
              </a:defRPr>
            </a:pPr>
            <a:r>
              <a:t>• Kontrak terlihat jelas pada signature konstruktor.</a:t>
            </a:r>
          </a:p>
          <a:p>
            <a:pPr>
              <a:spcAft>
                <a:spcPts val="400"/>
              </a:spcAft>
              <a:defRPr sz="1200">
                <a:solidFill>
                  <a:srgbClr val="0B1B2D"/>
                </a:solidFill>
              </a:defRPr>
            </a:pPr>
            <a:r>
              <a:t>• Compiler menolak caller jika argumen kurang.</a:t>
            </a:r>
          </a:p>
          <a:p>
            <a:pPr>
              <a:spcAft>
                <a:spcPts val="400"/>
              </a:spcAft>
              <a:defRPr sz="1200">
                <a:solidFill>
                  <a:srgbClr val="0B1B2D"/>
                </a:solidFill>
              </a:defRPr>
            </a:pPr>
            <a:r>
              <a:t>• Constructor berisiko panjang jika kelas terlalu sibuk.</a:t>
            </a:r>
          </a:p>
          <a:p>
            <a:pPr>
              <a:defRPr sz="1200" b="1">
                <a:solidFill>
                  <a:srgbClr val="087F76"/>
                </a:solidFill>
              </a:defRPr>
            </a:pPr>
            <a:r>
              <a:t>SERVICE LOCATOR</a:t>
            </a:r>
          </a:p>
          <a:p>
            <a:pPr>
              <a:spcAft>
                <a:spcPts val="400"/>
              </a:spcAft>
              <a:defRPr sz="1200">
                <a:solidFill>
                  <a:srgbClr val="0B1B2D"/>
                </a:solidFill>
              </a:defRPr>
            </a:pPr>
            <a:r>
              <a:t>• Signature konstruktor tetap ringkas menerima Container tunggal.</a:t>
            </a:r>
          </a:p>
          <a:p>
            <a:pPr>
              <a:spcAft>
                <a:spcPts val="400"/>
              </a:spcAft>
              <a:defRPr sz="1200">
                <a:solidFill>
                  <a:srgbClr val="0B1B2D"/>
                </a:solidFill>
              </a:defRPr>
            </a:pPr>
            <a:r>
              <a:t>• Kebutuhan dependensi tersembunyi di dalam implementasi method.</a:t>
            </a:r>
          </a:p>
          <a:p>
            <a:pPr>
              <a:spcAft>
                <a:spcPts val="400"/>
              </a:spcAft>
              <a:defRPr sz="1200">
                <a:solidFill>
                  <a:srgbClr val="0B1B2D"/>
                </a:solidFill>
              </a:defRPr>
            </a:pPr>
            <a:r>
              <a:t>• Kompilasi lolos meski service belum terdaftar di container.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Kontrak terlihat jelas pada signature konstruktor. Compiler menolak caller jika argumen kurang. Constructor berisiko panjang jika kelas terlalu sibuk.</a:t>
            </a:r>
            <a:br/>
            <a:br/>
            <a:r>
              <a:t>Signature konstruktor tetap ringkas menerima Container tunggal. Kebutuhan dependensi tersembunyi di dalam implementasi method. Kompilasi lolos meski service belum terdaftar di container.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Explicit constructor parameters protect architectural clarity at the cost of signature length.</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Value Object Tidak Memerlukan Injeksi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Struktur data tanpa dependensi infrastruktur cukup diinstansiasi langsung.</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(p *Processor) ProcessPayment(amount int) error {</a:t>
            </a:r>
            <a:br/>
            <a:r>
              <a:t>    if amount &lt;= 0 {</a:t>
            </a:r>
            <a:br/>
            <a:r>
              <a:t>        return errors.New("invalid amount")</a:t>
            </a:r>
            <a:br/>
            <a:r>
              <a:t>    }</a:t>
            </a:r>
            <a:br/>
            <a:r>
              <a:t>    m := Money{Amount: amount, Currency: "USD"}</a:t>
            </a:r>
            <a:br/>
            <a:r>
              <a:t>    return p.gateway.Charge(m)</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Money adalah value object murni tanpa efek samping. Menyuntikkan factory untuk struct sederhana seperti Money adalah over-engineering yang tidak perlu.</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Reserve dependency injection for behavioral services, not pure value objects.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internal/di/processor.go:15-21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Sebelum vs Sesudah Constructor 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Mengubah instansiasi internal menjadi penyuntikan kontrak eksternal.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HARDCODED REAL GATEWAY</a:t>
            </a:r>
          </a:p>
          <a:p>
            <a:pPr>
              <a:spcAft>
                <a:spcPts val="400"/>
              </a:spcAft>
              <a:defRPr sz="1200">
                <a:solidFill>
                  <a:srgbClr val="0B1B2D"/>
                </a:solidFill>
              </a:defRPr>
            </a:pPr>
            <a:r>
              <a:t>• Processor membuat new RealGateway() di method.</a:t>
            </a:r>
          </a:p>
          <a:p>
            <a:pPr>
              <a:spcAft>
                <a:spcPts val="400"/>
              </a:spcAft>
              <a:defRPr sz="1200">
                <a:solidFill>
                  <a:srgbClr val="0B1B2D"/>
                </a:solidFill>
              </a:defRPr>
            </a:pPr>
            <a:r>
              <a:t>• Test terpaksa memanggil network eksternal.</a:t>
            </a:r>
          </a:p>
          <a:p>
            <a:pPr>
              <a:spcAft>
                <a:spcPts val="400"/>
              </a:spcAft>
              <a:defRPr sz="1200">
                <a:solidFill>
                  <a:srgbClr val="0B1B2D"/>
                </a:solidFill>
              </a:defRPr>
            </a:pPr>
            <a:r>
              <a:t>• Gagal ganti provider tanpa mengubah domain code.</a:t>
            </a:r>
          </a:p>
          <a:p>
            <a:pPr>
              <a:defRPr sz="1200" b="1">
                <a:solidFill>
                  <a:srgbClr val="087F76"/>
                </a:solidFill>
              </a:defRPr>
            </a:pPr>
            <a:r>
              <a:t>CONSTRUCTOR INJECTION</a:t>
            </a:r>
          </a:p>
          <a:p>
            <a:pPr>
              <a:spcAft>
                <a:spcPts val="400"/>
              </a:spcAft>
              <a:defRPr sz="1200">
                <a:solidFill>
                  <a:srgbClr val="0B1B2D"/>
                </a:solidFill>
              </a:defRPr>
            </a:pPr>
            <a:r>
              <a:t>• Processor menerima interface PaymentGateway.</a:t>
            </a:r>
          </a:p>
          <a:p>
            <a:pPr>
              <a:spcAft>
                <a:spcPts val="400"/>
              </a:spcAft>
              <a:defRPr sz="1200">
                <a:solidFill>
                  <a:srgbClr val="0B1B2D"/>
                </a:solidFill>
              </a:defRPr>
            </a:pPr>
            <a:r>
              <a:t>• Test menyuntikkan MockGateway in-memory seketika.</a:t>
            </a:r>
          </a:p>
          <a:p>
            <a:pPr>
              <a:spcAft>
                <a:spcPts val="400"/>
              </a:spcAft>
              <a:defRPr sz="1200">
                <a:solidFill>
                  <a:srgbClr val="0B1B2D"/>
                </a:solidFill>
              </a:defRPr>
            </a:pPr>
            <a:r>
              <a:t>• Caller bebas menukar provider di composition root.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Processor membuat new RealGateway() di method. Test terpaksa memanggil network eksternal. Gagal ganti provider tanpa mengubah domain code.</a:t>
            </a:r>
            <a:br/>
            <a:br/>
            <a:r>
              <a:t>Processor menerima interface PaymentGateway. Test menyuntikkan MockGateway in-memory seketika. Caller bebas menukar provider di composition root.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Externalizing construction decouples business logic from concrete infrastructure.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 • 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Lab: Manual Wiring In-Memory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Lab ini membuktikan struktur injeksi murni tanpa framework otomatis.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CAKUPAN IMPLEMENTASI</a:t>
            </a:r>
          </a:p>
          <a:p>
            <a:pPr>
              <a:spcAft>
                <a:spcPts val="400"/>
              </a:spcAft>
              <a:defRPr sz="1200">
                <a:solidFill>
                  <a:srgbClr val="0B1B2D"/>
                </a:solidFill>
              </a:defRPr>
            </a:pPr>
            <a:r>
              <a:t>• Manual composition root di cmd/demo/main.go.</a:t>
            </a:r>
          </a:p>
          <a:p>
            <a:pPr>
              <a:spcAft>
                <a:spcPts val="400"/>
              </a:spcAft>
              <a:defRPr sz="1200">
                <a:solidFill>
                  <a:srgbClr val="0B1B2D"/>
                </a:solidFill>
              </a:defRPr>
            </a:pPr>
            <a:r>
              <a:t>• Single interface PaymentGateway dan implementasi mock.</a:t>
            </a:r>
          </a:p>
          <a:p>
            <a:pPr>
              <a:spcAft>
                <a:spcPts val="400"/>
              </a:spcAft>
              <a:defRPr sz="1200">
                <a:solidFill>
                  <a:srgbClr val="0B1B2D"/>
                </a:solidFill>
              </a:defRPr>
            </a:pPr>
            <a:r>
              <a:t>• Validasi domain sebelum delegasi ke infrastruktur.</a:t>
            </a:r>
          </a:p>
          <a:p>
            <a:pPr>
              <a:defRPr sz="1200" b="1">
                <a:solidFill>
                  <a:srgbClr val="087F76"/>
                </a:solidFill>
              </a:defRPr>
            </a:pPr>
            <a:r>
              <a:t>TIDAK TERCAKUP DALAM LAB</a:t>
            </a:r>
          </a:p>
          <a:p>
            <a:pPr>
              <a:spcAft>
                <a:spcPts val="400"/>
              </a:spcAft>
              <a:defRPr sz="1200">
                <a:solidFill>
                  <a:srgbClr val="0B1B2D"/>
                </a:solidFill>
              </a:defRPr>
            </a:pPr>
            <a:r>
              <a:t>• DI framework otomatis seperti Wire, Dig, atau Fx.</a:t>
            </a:r>
          </a:p>
          <a:p>
            <a:pPr>
              <a:spcAft>
                <a:spcPts val="400"/>
              </a:spcAft>
              <a:defRPr sz="1200">
                <a:solidFill>
                  <a:srgbClr val="0B1B2D"/>
                </a:solidFill>
              </a:defRPr>
            </a:pPr>
            <a:r>
              <a:t>• Lifecycle management: Singleton, Scoped, dan Transient.</a:t>
            </a:r>
          </a:p>
          <a:p>
            <a:pPr>
              <a:spcAft>
                <a:spcPts val="400"/>
              </a:spcAft>
              <a:defRPr sz="1200">
                <a:solidFill>
                  <a:srgbClr val="0B1B2D"/>
                </a:solidFill>
              </a:defRPr>
            </a:pPr>
            <a:r>
              <a:t>• Scope validation untuk mencegah memory leak antar-request.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Manual composition root di cmd/demo/main.go. Single interface PaymentGateway dan implementasi mock. Validasi domain sebelum delegasi ke infrastruktur.</a:t>
            </a:r>
            <a:br/>
            <a:br/>
            <a:r>
              <a:t>DI framework otomatis seperti Wire, Dig, atau Fx. Lifecycle management: Singleton, Scoped, dan Transient. Scope validation untuk mencegah memory leak antar-request.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Manual wiring demonstrates the core principle without the complexity of automated frameworks.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engineering-audit/05-gaps.md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Kasus Batas: Penanganan Parameter Tidak Valid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Validasi domain wajib memblokir eksekusi sebelum menyentuh gateway.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proc := di.NewProcessor(mock)</a:t>
            </a:r>
            <a:br/>
            <a:r>
              <a:t>err := proc.ProcessPayment(-10)</a:t>
            </a:r>
            <a:br/>
            <a:r>
              <a:t>if err == nil {</a:t>
            </a:r>
            <a:br/>
            <a:r>
              <a:t>    t.Fatalf("expected error for negative amount")</a:t>
            </a:r>
            <a:br/>
            <a:r>
              <a:t>}</a:t>
            </a:r>
            <a:br/>
            <a:r>
              <a:t>if mock.ChargedMoney.Amount != 0 {</a:t>
            </a:r>
            <a:br/>
            <a:r>
              <a:t>    t.Errorf("gateway should not have been called")</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memastikan ProcessPayment(-10) gagal seketika dan ChargedMoney.Amount tetap 0. DI tidak meniadakan validasi input di trust boundary.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Validate input at domain boundaries before delegating to injected infrastructure.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tests/processor_test.go:47-59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Fakta yang Dibuktikan Suite Pengujian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Enam test case memverifikasi perilaku terisolasi pada kedua pola arsitektur.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FAKTA TERVERIFIKASI</a:t>
            </a:r>
          </a:p>
          <a:p>
            <a:pPr>
              <a:spcAft>
                <a:spcPts val="400"/>
              </a:spcAft>
              <a:defRPr sz="1200">
                <a:solidFill>
                  <a:srgbClr val="0B1B2D"/>
                </a:solidFill>
              </a:defRPr>
            </a:pPr>
            <a:r>
              <a:t>• Processor dan BadProcessor sukses mendelegasikan transaksi valid.</a:t>
            </a:r>
          </a:p>
          <a:p>
            <a:pPr>
              <a:spcAft>
                <a:spcPts val="400"/>
              </a:spcAft>
              <a:defRPr sz="1200">
                <a:solidFill>
                  <a:srgbClr val="0B1B2D"/>
                </a:solidFill>
              </a:defRPr>
            </a:pPr>
            <a:r>
              <a:t>• Error dari PaymentGateway dipropagasikan utuh ke caller.</a:t>
            </a:r>
          </a:p>
          <a:p>
            <a:pPr>
              <a:spcAft>
                <a:spcPts val="400"/>
              </a:spcAft>
              <a:defRPr sz="1200">
                <a:solidFill>
                  <a:srgbClr val="0B1B2D"/>
                </a:solidFill>
              </a:defRPr>
            </a:pPr>
            <a:r>
              <a:t>• Input negatif ditolak tanpa memanggil gateway eksternal.</a:t>
            </a:r>
          </a:p>
          <a:p>
            <a:pPr>
              <a:spcAft>
                <a:spcPts val="400"/>
              </a:spcAft>
              <a:defRPr sz="1200">
                <a:solidFill>
                  <a:srgbClr val="0B1B2D"/>
                </a:solidFill>
              </a:defRPr>
            </a:pPr>
            <a:r>
              <a:t>• go test -race tidak mendeteksi data race pada skenario uji.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Suite pengujian membuktikan bahwa dependency mocking berhasil memisahkan logika domain dari efek samping jaringan pada semua kasus yang diuji.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Clean unit tests confirm structural wiring under specified test fixtures.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tests/processor_test.go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 Integritas: Apa yang Tidak Diuji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Hasil unit test bersih bukan jaminan arsitektur concurrency production aman.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DI LUAR BUKTI LAB</a:t>
            </a:r>
          </a:p>
          <a:p>
            <a:pPr>
              <a:spcAft>
                <a:spcPts val="400"/>
              </a:spcAft>
              <a:defRPr sz="1200">
                <a:solidFill>
                  <a:srgbClr val="0B1B2D"/>
                </a:solidFill>
              </a:defRPr>
            </a:pPr>
            <a:r>
              <a:t>• Bukan jaminan zero-overhead pada graf dependensi kompleks.</a:t>
            </a:r>
          </a:p>
          <a:p>
            <a:pPr>
              <a:spcAft>
                <a:spcPts val="400"/>
              </a:spcAft>
              <a:defRPr sz="1200">
                <a:solidFill>
                  <a:srgbClr val="0B1B2D"/>
                </a:solidFill>
              </a:defRPr>
            </a:pPr>
            <a:r>
              <a:t>• Belum membuktikan keandalan retries saat gateway riil timeout.</a:t>
            </a:r>
          </a:p>
          <a:p>
            <a:pPr>
              <a:spcAft>
                <a:spcPts val="400"/>
              </a:spcAft>
              <a:defRPr sz="1200">
                <a:solidFill>
                  <a:srgbClr val="0B1B2D"/>
                </a:solidFill>
              </a:defRPr>
            </a:pPr>
            <a:r>
              <a:t>• Race detector hanya membaca jalur pengujian yang dijalankan.</a:t>
            </a:r>
          </a:p>
          <a:p>
            <a:pPr>
              <a:spcAft>
                <a:spcPts val="400"/>
              </a:spcAft>
              <a:defRPr sz="1200">
                <a:solidFill>
                  <a:srgbClr val="0B1B2D"/>
                </a:solidFill>
              </a:defRPr>
            </a:pPr>
            <a:r>
              <a:t>• Tidak membuktikan efisiensi memory lifecycle skala production.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suite yang lolos hanya membuktikan skenario mock yang dirancang. Jangan menyamakan clean unit test dengan kesiapan sistem menghadapi traffic production.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Unit test assertions verify local contracts, not distributed system stability.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engineering-audit/05-gaps.md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Risiko: Constructor Over-Injection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Constructor dengan terlalu banyak dependensi menandakan pelanggaran SRP.</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GEJALA KERUSAKAN DESAIN</a:t>
            </a:r>
          </a:p>
          <a:p>
            <a:pPr>
              <a:spcAft>
                <a:spcPts val="400"/>
              </a:spcAft>
              <a:defRPr sz="1200">
                <a:solidFill>
                  <a:srgbClr val="0B1B2D"/>
                </a:solidFill>
              </a:defRPr>
            </a:pPr>
            <a:r>
              <a:t>• Constructor menerima belasan parameter interface berbeda.</a:t>
            </a:r>
          </a:p>
          <a:p>
            <a:pPr>
              <a:spcAft>
                <a:spcPts val="400"/>
              </a:spcAft>
              <a:defRPr sz="1200">
                <a:solidFill>
                  <a:srgbClr val="0B1B2D"/>
                </a:solidFill>
              </a:defRPr>
            </a:pPr>
            <a:r>
              <a:t>• Kelas mengurusi terlalu banyak domain logic (God Object).</a:t>
            </a:r>
          </a:p>
          <a:p>
            <a:pPr>
              <a:spcAft>
                <a:spcPts val="400"/>
              </a:spcAft>
              <a:defRPr sz="1200">
                <a:solidFill>
                  <a:srgbClr val="0B1B2D"/>
                </a:solidFill>
              </a:defRPr>
            </a:pPr>
            <a:r>
              <a:t>• Setiap unit test memerlukan belasan mock setup yang rapuh.</a:t>
            </a:r>
          </a:p>
          <a:p>
            <a:pPr>
              <a:spcAft>
                <a:spcPts val="400"/>
              </a:spcAft>
              <a:defRPr sz="1200">
                <a:solidFill>
                  <a:srgbClr val="0B1B2D"/>
                </a:solidFill>
              </a:defRPr>
            </a:pPr>
            <a:r>
              <a:t>• Solusi: pecah service menjadi komponen yang lebih granular.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Menumpuk banyak dependensi ke dalam satu constructor bukan salah DI, melainkan sinyal bahwa class tersebut memikul terlalu banyak tanggung jawab.</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 constructor with too many dependencies is a code smell for single-responsibility violation.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Panduan Implementasi DI yang Aman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Langkah praktis menerapkan dependency injection pada codebase Go.</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CHECKLIST ARSITEKTUR</a:t>
            </a:r>
          </a:p>
          <a:p>
            <a:pPr>
              <a:spcAft>
                <a:spcPts val="400"/>
              </a:spcAft>
              <a:defRPr sz="1200">
                <a:solidFill>
                  <a:srgbClr val="0B1B2D"/>
                </a:solidFill>
              </a:defRPr>
            </a:pPr>
            <a:r>
              <a:t>• Definisikan interface di sisi consumer, bukan di sisi provider.</a:t>
            </a:r>
          </a:p>
          <a:p>
            <a:pPr>
              <a:spcAft>
                <a:spcPts val="400"/>
              </a:spcAft>
              <a:defRPr sz="1200">
                <a:solidFill>
                  <a:srgbClr val="0B1B2D"/>
                </a:solidFill>
              </a:defRPr>
            </a:pPr>
            <a:r>
              <a:t>• Gunakan Constructor Injection sebagai default untuk seluruh service.</a:t>
            </a:r>
          </a:p>
          <a:p>
            <a:pPr>
              <a:spcAft>
                <a:spcPts val="400"/>
              </a:spcAft>
              <a:defRPr sz="1200">
                <a:solidFill>
                  <a:srgbClr val="0B1B2D"/>
                </a:solidFill>
              </a:defRPr>
            </a:pPr>
            <a:r>
              <a:t>• Tambahkan guard validasi nil pada setiap konstruktor.</a:t>
            </a:r>
          </a:p>
          <a:p>
            <a:pPr>
              <a:spcAft>
                <a:spcPts val="400"/>
              </a:spcAft>
              <a:defRPr sz="1200">
                <a:solidFill>
                  <a:srgbClr val="0B1B2D"/>
                </a:solidFill>
              </a:defRPr>
            </a:pPr>
            <a:r>
              <a:t>• Pusatkan instansiasi konkret di composition root (main.go).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Definisikan interface di sisi consumer, bukan di sisi provider. Gunakan Constructor Injection sebagai default untuk seluruh service. Tambahkan guard validasi nil pada setiap konstruktor. Pusatkan instansiasi konkret di composition root (main.go).</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Define interfaces at consumption boundaries and centralize wiring in the composition root.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internal/di/processor.go • cmd/demo/main.go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Passing Container ke Domain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Menyuntikkan service locator merusak enkapsulasi dan transparansi kontrak.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ALASAN MENGHINDARI LOCATOR</a:t>
            </a:r>
          </a:p>
          <a:p>
            <a:pPr>
              <a:spcAft>
                <a:spcPts val="400"/>
              </a:spcAft>
              <a:defRPr sz="1200">
                <a:solidFill>
                  <a:srgbClr val="0B1B2D"/>
                </a:solidFill>
              </a:defRPr>
            </a:pPr>
            <a:r>
              <a:t>• PSR-11 dan standar industri menegaskan: 'Users SHOULD NOT pass container'.</a:t>
            </a:r>
          </a:p>
          <a:p>
            <a:pPr>
              <a:spcAft>
                <a:spcPts val="400"/>
              </a:spcAft>
              <a:defRPr sz="1200">
                <a:solidFill>
                  <a:srgbClr val="0B1B2D"/>
                </a:solidFill>
              </a:defRPr>
            </a:pPr>
            <a:r>
              <a:t>• Domain terikat pada interface container milik framework.</a:t>
            </a:r>
          </a:p>
          <a:p>
            <a:pPr>
              <a:spcAft>
                <a:spcPts val="400"/>
              </a:spcAft>
              <a:defRPr sz="1200">
                <a:solidFill>
                  <a:srgbClr val="0B1B2D"/>
                </a:solidFill>
              </a:defRPr>
            </a:pPr>
            <a:r>
              <a:t>• Mocking menjadi sulit karena seluruh container harus ditiru.</a:t>
            </a:r>
          </a:p>
          <a:p>
            <a:pPr>
              <a:spcAft>
                <a:spcPts val="400"/>
              </a:spcAft>
              <a:defRPr sz="1200">
                <a:solidFill>
                  <a:srgbClr val="0B1B2D"/>
                </a:solidFill>
              </a:defRPr>
            </a:pPr>
            <a:r>
              <a:t>• Kompilasi berhasil meski service target belum terdaftar.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Menyuntikkan container ke domain logic membuat komponen terikat pada framework dan mengaburkan kebutuhan sistem sesungguhnya.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Never inject the container: pass only the specific service required by the domain.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internal/di/locator.go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Reproduksi Mandiri di Mesin Lokal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Eksperimen dijalankan dengan Go standard library tanpa dependency eksternal.</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labs/16-dependency-injection</a:t>
            </a:r>
            <a:br/>
            <a:r>
              <a:t>go test -v ./...    # validasi 6 test cases</a:t>
            </a:r>
            <a:br/>
            <a:r>
              <a:t>go test -race ./... # verifikasi race detector</a:t>
            </a:r>
            <a:br/>
            <a:r>
              <a:t>go run ./cmd/demo   # simulasi DI vs Service Locator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sepenuhnya zero-dependency dan dapat direproduksi langsung. Eksekusi test dan demo memverifikasi pemisahan konstruksi dan penggunaan secara deterministik.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Standard library tests ensure deterministic verification without external tooling overhead.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 • go.mod • tests/</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DI Memperlihatkan Dependency Komponen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Constructor injection memindahkan keputusan perakitan ke pemanggil.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PRINSIP REKAYASA</a:t>
            </a:r>
          </a:p>
          <a:p>
            <a:pPr>
              <a:spcAft>
                <a:spcPts val="400"/>
              </a:spcAft>
              <a:defRPr sz="1200">
                <a:solidFill>
                  <a:srgbClr val="0B1B2D"/>
                </a:solidFill>
              </a:defRPr>
            </a:pPr>
            <a:r>
              <a:t>• Constructor injection membuat kontrak ketergantungan eksplisit.</a:t>
            </a:r>
          </a:p>
          <a:p>
            <a:pPr>
              <a:spcAft>
                <a:spcPts val="400"/>
              </a:spcAft>
              <a:defRPr sz="1200">
                <a:solidFill>
                  <a:srgbClr val="0B1B2D"/>
                </a:solidFill>
              </a:defRPr>
            </a:pPr>
            <a:r>
              <a:t>• Validasi nil tetap menjadi tanggung jawab konstruktor.</a:t>
            </a:r>
          </a:p>
          <a:p>
            <a:pPr>
              <a:spcAft>
                <a:spcPts val="400"/>
              </a:spcAft>
              <a:defRPr sz="1200">
                <a:solidFill>
                  <a:srgbClr val="0B1B2D"/>
                </a:solidFill>
              </a:defRPr>
            </a:pPr>
            <a:r>
              <a:t>• Pemisahan konstruksi dari penggunaan memungkinkan pengujian terisolasi.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Nilai sejati DI bukan pada framework otomatis, melainkan pada kejelasan kontrak arsitektur. Memisahkan konstruksi dari penggunaan membuat sistem dapat diuji dan berevolusi.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Dependency injection makes dependencies visible; it does not replace runtime validation.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16</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Constructor membuat dependency terlihat; domain tetap independen.</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Constructor injection exposes dependencies explicitly; configuration remains external to use.</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16 - Dependency Injection &amp; IoC</a:t>
            </a:r>
          </a:p>
          <a:p>
            <a:pPr>
              <a:defRPr sz="1200">
                <a:solidFill>
                  <a:srgbClr val="CBD5E1"/>
                </a:solidFill>
              </a:defRPr>
            </a:pPr>
            <a:r>
              <a:t>https://github.com/lukman-ss/software-engineering-lab/tree/main/labs/16-dependency-injection</a:t>
            </a:r>
          </a:p>
          <a:p>
            <a:br/>
            <a:pPr>
              <a:defRPr sz="1100" b="1">
                <a:solidFill>
                  <a:srgbClr val="20C997"/>
                </a:solidFill>
              </a:defRPr>
            </a:pPr>
            <a:r>
              <a:t>REPOSITORY</a:t>
            </a:r>
          </a:p>
          <a:p>
            <a:pPr>
              <a:defRPr sz="1100">
                <a:solidFill>
                  <a:srgbClr val="FFFFFF"/>
                </a:solidFill>
                <a:latin typeface="Courier New"/>
              </a:defRPr>
            </a:pPr>
            <a:r>
              <a:t>github.com/lukman-ss/software-engineering-lab/tree/main/labs/16-dependency-injection</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76f0059</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Dependency Injection • Inversion of Control • Go • Software Architecture • Clean Code</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