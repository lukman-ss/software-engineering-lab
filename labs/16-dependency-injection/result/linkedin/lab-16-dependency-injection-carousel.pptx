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Dependency Injection &amp; Inversion of Control</a:t>
            </a:r>
          </a:p>
          <a:p/>
          <a:p>
            <a:r>
              <a:t>Mental Model: Externalize object creation to achieve separation of configuration from use.</a:t>
            </a:r>
          </a:p>
          <a:p/>
          <a:p>
            <a:r>
              <a:t>[]</a:t>
            </a:r>
          </a:p>
          <a:p>
            <a:r>
              <a:t>- Constructor Injection vs Service Locator Anti-Pattern in Go</a:t>
            </a:r>
          </a:p>
          <a:p>
            <a:r>
              <a:t>- Payment Gateway Dependency Separation with Manual Wiring</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Hard-Coded Dependencies Mengunci Logika Bisnis pada Infrastruktur</a:t>
            </a:r>
          </a:p>
          <a:p/>
          <a:p>
            <a:r>
              <a:t>Mental Model: Hard-coded dependencies couple business logic to infrastructure, breaking testability and evolvability.</a:t>
            </a:r>
          </a:p>
          <a:p/>
          <a:p>
            <a:r>
              <a:t>[DAMPAK TIGHT COUPLING]</a:t>
            </a:r>
          </a:p>
          <a:p>
            <a:r>
              <a:t>- Pengujian Lambat: Setiap test memerlukan setup jaringan, database, atau payment provider riil yang flaky.</a:t>
            </a:r>
          </a:p>
          <a:p>
            <a:r>
              <a:t>- Vendor Lock-in: Pergantian payment gateway memaksa edit banyak kelas yang bergantung pada implementasi konkret.</a:t>
            </a:r>
          </a:p>
          <a:p>
            <a:r>
              <a:t>- Bukan Berarti Malas: Tim aktif menulis kode, tetapi bukan berarti produktif jika setiap perubahan memicu domino refactoring.</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Code Review Manual Tidak Menangkap Dependensi Tersembunyi</a:t>
            </a:r>
          </a:p>
          <a:p/>
          <a:p>
            <a:r>
              <a:t>Mental Model: Manual review cannot systematically enforce dependency separation across a large codebase.</a:t>
            </a:r>
          </a:p>
          <a:p/>
          <a:p>
            <a:r>
              <a:t>[KEGAGALAN APPROACH NAIF]</a:t>
            </a:r>
          </a:p>
          <a:p>
            <a:r>
              <a:t>- Tidak Lengkap: Reviewer mungkin melewatkan instantiate baru di dalam method ketika fokus pada alur utama.</a:t>
            </a:r>
          </a:p>
          <a:p>
            <a:r>
              <a:t>- Tidak Otomatis: Manual review tidak dapat memverifikasi bahwa semua dependensi telah dipisahkan ke constructor.</a:t>
            </a:r>
          </a:p>
          <a:p>
            <a:r>
              <a:t>- Skala Buruk: Pada codebase besar, jejak dependensi tersebar di banyak file; bukan berarti review manual cukup.</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Pemisahan Konfigurasi dari Penggunaan</a:t>
            </a:r>
          </a:p>
          <a:p/>
          <a:p>
            <a:r>
              <a:t>Mental Model: Separate configuration (composition root) from use (business logic) to achieve loose coupling.</a:t>
            </a:r>
          </a:p>
          <a:p/>
          <a:p>
            <a:r>
              <a:t>[DUA FASE DALAM SISTEM]</a:t>
            </a:r>
          </a:p>
          <a:p>
            <a:r>
              <a:t>- 1. Konfigurasi (Composition Root): Instansiasi implementasi konkret dan penyuntikan ke dalam constructor (main.go).</a:t>
            </a:r>
          </a:p>
          <a:p>
            <a:r>
              <a:t>- 2. Penggunaan (Business Logic): Kelas menerima dependensi melalui parameter constructor; tidak mengetahui implementasi konkret.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Kerja Dependency Injection Manual</a:t>
            </a:r>
          </a:p>
          <a:p/>
          <a:p>
            <a:r>
              <a:t>Mental Model: Manual wiring sequence: instantiate → inject → validate → delegate → propagate error.</a:t>
            </a:r>
          </a:p>
          <a:p/>
          <a:p>
            <a:r>
              <a:t>[TAHAPAN EKSEKUSI PAYMENT PROCESSOR]</a:t>
            </a:r>
          </a:p>
          <a:p>
            <a:r>
              <a:t>- 1. Composition Root (main.go): Membuat realGateway := &amp;di.RealGateway{}.</a:t>
            </a:r>
          </a:p>
          <a:p>
            <a:r>
              <a:t>- 2. Constructor Injection (NewProcessor): processor := di.NewProcessor(realGateway); gateway tersimpan sebagai field unexported.</a:t>
            </a:r>
          </a:p>
          <a:p>
            <a:r>
              <a:t>- 3. Validasi Input (ProcessPayment): Periksa amount &lt;= 0; kembalikan error jika invalid.</a:t>
            </a:r>
          </a:p>
          <a:p>
            <a:r>
              <a:t>- 4. Delegasi (gateway.Charge): Buat Money value object dan panggil gateway.Charge(m).</a:t>
            </a:r>
          </a:p>
          <a:p>
            <a:r>
              <a:t>- 5. Propagasi Error (Error Return): Error dari gateway dipropagasikan ke caller tanpa ditelan.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Constructor Injection: NewProcessor Menerima Interface</a:t>
            </a:r>
          </a:p>
          <a:p/>
          <a:p>
            <a:r>
              <a:t>Mental Model: Constructor injection membuat dependensi eksplisit saat konstruksi.</a:t>
            </a:r>
          </a:p>
          <a:p/>
          <a:p>
            <a:r>
              <a:t>[internal/di/processor.go]</a:t>
            </a:r>
          </a:p>
          <a:p>
            <a:r>
              <a:t>- type Processor struct {</a:t>
            </a:r>
          </a:p>
          <a:p>
            <a:r>
              <a:t>-     gateway PaymentGateway</a:t>
            </a:r>
          </a:p>
          <a:p>
            <a:r>
              <a:t>- }</a:t>
            </a:r>
          </a:p>
          <a:p>
            <a:r>
              <a:t>- </a:t>
            </a:r>
          </a:p>
          <a:p>
            <a:r>
              <a:t>- func NewProcessor(g PaymentGateway) *Processor {</a:t>
            </a:r>
          </a:p>
          <a:p>
            <a:r>
              <a:t>-     return &amp;Processor{gateway: g}</a:t>
            </a:r>
          </a:p>
          <a:p>
            <a:r>
              <a:t>- }</a:t>
            </a:r>
          </a:p>
          <a:p>
            <a:r>
              <a:t>- </a:t>
            </a:r>
          </a:p>
          <a:p>
            <a:r>
              <a:t>- func (p *Processor) ProcessPayment(amount int) error {</a:t>
            </a:r>
          </a:p>
          <a:p>
            <a:r>
              <a:t>-     if amount &lt;= 0 {</a:t>
            </a:r>
          </a:p>
          <a:p>
            <a:r>
              <a:t>-         return errors.New("invalid amount")</a:t>
            </a:r>
          </a:p>
          <a:p>
            <a:r>
              <a:t>-     }</a:t>
            </a:r>
          </a:p>
          <a:p>
            <a:r>
              <a:t>-     m := Money{Amount: amount, Currency: "USD"}</a:t>
            </a:r>
          </a:p>
          <a:p>
            <a:r>
              <a:t>-     return p.gateway.Charge(m)</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Service Locator Menyembunyikan Dependensi Sesungguhnya</a:t>
            </a:r>
          </a:p>
          <a:p/>
          <a:p>
            <a:r>
              <a:t>Mental Model: Service Locator obscures dependencies, complicating testing and reducing code transparency.</a:t>
            </a:r>
          </a:p>
          <a:p/>
          <a:p>
            <a:r>
              <a:t>[SKENARIO KEGAGALAN LOKATOR]</a:t>
            </a:r>
          </a:p>
          <a:p>
            <a:r>
              <a:t>- Dependensi Tersembunyi: Constructor hanya menerima Container; developer tidak tahu method butuh PaymentGateway.</a:t>
            </a:r>
          </a:p>
          <a:p>
            <a:r>
              <a:t>- Pencarian Dinamis: ProcessPayment memanggil p.container.GetPaymentGateway() saat runtime, menambah indirection.</a:t>
            </a:r>
          </a:p>
          <a:p>
            <a:r>
              <a:t>- Beban Mocking Tambahan: Pengujian unit terpaksa menyusun MockContainer bertingkat hanya untuk menyuplai gateway konkret.</a:t>
            </a:r>
          </a:p>
          <a:p>
            <a:r>
              <a:t>- Kopling Container Kaku: BadProcessor terikat langsung pada interface Container, bukan abstraksi domain spesifik.</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Kontras Constructor Injection vs Service Locator</a:t>
            </a:r>
          </a:p>
          <a:p/>
          <a:p>
            <a:r>
              <a:t>Mental Model: Compare injection mechanisms along axes of visibility, testability, and industry acceptance.</a:t>
            </a:r>
          </a:p>
          <a:p/>
          <a:p>
            <a:r>
              <a:t>[ASPEK VS KONSTRUKTOR INJECTION VS SERVICE LOCATOR]</a:t>
            </a:r>
          </a:p>
          <a:p>
            <a:r>
              <a:t>- Aspek | Constructor Injection | Service Locator</a:t>
            </a:r>
          </a:p>
          <a:p>
            <a:r>
              <a:t>- Dependensi | Eksplisit di constructor | Tersembunyi di container</a:t>
            </a:r>
          </a:p>
          <a:p>
            <a:r>
              <a:t>- Mocking | Langsung inject mock | Harus mock container + get()</a:t>
            </a:r>
          </a:p>
          <a:p>
            <a:r>
              <a:t>- Kontrak Dependensi | Membuat dependensi eksplisit saat konstruksi | Tersembunyi di balik lookup container</a:t>
            </a:r>
          </a:p>
          <a:p>
            <a:r>
              <a:t>- Kompleksitas | Mudah dipahami | Menambah indirection layer</a:t>
            </a:r>
          </a:p>
          <a:p>
            <a:r>
              <a:t>- Standar Industri | Diterima sebagai best practice | Dipandang sebagai anti-pattern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Keputusan Desain DI pada Lab Ini</a:t>
            </a:r>
          </a:p>
          <a:p/>
          <a:p>
            <a:r>
              <a:t>Mental Model: Choose constructor injection to make dependencies explicit at construction time.</a:t>
            </a:r>
          </a:p>
          <a:p/>
          <a:p>
            <a:r>
              <a:t>[KEPUTUSAN PENTING]</a:t>
            </a:r>
          </a:p>
          <a:p>
            <a:r>
              <a:t>- Pilih Constructor Injection: Default modern; membantu menjaga kontrak dependensi tetap terlihat dan eksplisit.</a:t>
            </a:r>
          </a:p>
          <a:p>
            <a:r>
              <a:t>- Hindari Service Locator di Domain: Container hanya digunakan di composition root; tidak disuntikkan ke service.</a:t>
            </a:r>
          </a:p>
          <a:p>
            <a:r>
              <a:t>- Gunakan Value Object Langsung: Money diinstansiasi langsung karena tidak memiliki dependensi infrastruktur.</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6 Test Case Lolos dengan Race Detector</a:t>
            </a:r>
          </a:p>
          <a:p/>
          <a:p>
            <a:r>
              <a:t>Mental Model: Executable test suite proves isolation, error handling, and input validation without external infrastructure.</a:t>
            </a:r>
          </a:p>
          <a:p/>
          <a:p>
            <a:r>
              <a:t>[TERMINAL OUTPUT: go test -v -race ./...]</a:t>
            </a:r>
          </a:p>
          <a:p>
            <a:r>
              <a:t>- === RUN   TestProcessor_Success</a:t>
            </a:r>
          </a:p>
          <a:p>
            <a:r>
              <a:t>- --- PASS: TestProcessor_Success (0.00s)</a:t>
            </a:r>
          </a:p>
          <a:p>
            <a:r>
              <a:t>- === RUN   TestProcessor_GatewayError</a:t>
            </a:r>
          </a:p>
          <a:p>
            <a:r>
              <a:t>- --- PASS: TestProcessor_GatewayError (0.00s)</a:t>
            </a:r>
          </a:p>
          <a:p>
            <a:r>
              <a:t>- === RUN   TestProcessor_InvalidAmount</a:t>
            </a:r>
          </a:p>
          <a:p>
            <a:r>
              <a:t>- --- PASS: TestProcessor_InvalidAmount (0.00s)</a:t>
            </a:r>
          </a:p>
          <a:p>
            <a:r>
              <a:t>- === RUN   TestBadProcessor_Success</a:t>
            </a:r>
          </a:p>
          <a:p>
            <a:r>
              <a:t>- --- PASS: TestBadProcessor_Success (0.00s)</a:t>
            </a:r>
          </a:p>
          <a:p>
            <a:r>
              <a:t>- === RUN   TestBadProcessor_GatewayError</a:t>
            </a:r>
          </a:p>
          <a:p>
            <a:r>
              <a:t>- --- PASS: TestBadProcessor_GatewayError (0.00s)</a:t>
            </a:r>
          </a:p>
          <a:p>
            <a:r>
              <a:t>- === RUN   TestBadProcessor_InvalidAmount</a:t>
            </a:r>
          </a:p>
          <a:p>
            <a:r>
              <a:t>- --- PASS: TestBadProcessor_InvalidAmount (0.00s)</a:t>
            </a:r>
          </a:p>
          <a:p>
            <a:r>
              <a:t>- PASS</a:t>
            </a:r>
          </a:p>
          <a:p>
            <a:r>
              <a:t>- ok      lab16/tests   (cached)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Batasan Bukti Lab: Yang Dibuktikan vs Belum</a:t>
            </a:r>
          </a:p>
          <a:p/>
          <a:p>
            <a:r>
              <a:t>Mental Model: Strictly separate proven unit-test behavior from unproven production-scale claims.</a:t>
            </a:r>
          </a:p>
          <a:p/>
          <a:p>
            <a:r>
              <a:t>[BATAS PEMBUKTIAN SISTEM]</a:t>
            </a:r>
          </a:p>
          <a:p>
            <a:r>
              <a:t>- YANG DIBUKTIKAN: Isolasi mock, propagation error, validasi input, race safety pada 6 test case.</a:t>
            </a:r>
          </a:p>
          <a:p>
            <a:r>
              <a:t>- YANG TIDAK DIBUKTIKAN: Lifecycle management (singleton/scoped/transient), performance overhead container, pengurangan defect rate.</a:t>
            </a:r>
          </a:p>
          <a:p>
            <a:r>
              <a:t>- BATAS KLAIM EMPIRIS: Tidak ada data kuantitatif tentang kecepatan pengujian atau stabilitas sistem setelah penerapan DI.</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Penerapan DI Manual vs Framework</a:t>
            </a:r>
          </a:p>
          <a:p/>
          <a:p>
            <a:r>
              <a:t>Mental Model: DI manual wiring trades boilerplate for type safety and zero external dependencies.</a:t>
            </a:r>
          </a:p>
          <a:p/>
          <a:p>
            <a:r>
              <a:t>[KOMPROMI REKAYASA DI]</a:t>
            </a:r>
          </a:p>
          <a:p>
            <a:r>
              <a:t>- Boilerplate vs Kemudahan: Manual wiring memerlukan kode ekstra di main.go; framework mengurangi boilerplate tetapi menambah kompleksitas.</a:t>
            </a:r>
          </a:p>
          <a:p>
            <a:r>
              <a:t>- Type Safety vs Fleksibilitas: Compiler memeriksa tipe parameter, bukan seluruh validitas graph; framework refleksi lebih fleksibel tetapi menambah risiko runtime.</a:t>
            </a:r>
          </a:p>
          <a:p>
            <a:r>
              <a:t>- Tidak Otomatis Skalabel: Pada object graph sangat besar, manual wiring memerlukan ketelitian perakitan; bukan berarti framework refleksi selalu diperlukan.</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Race Safety pada Implementasi DI</a:t>
            </a:r>
          </a:p>
          <a:p/>
          <a:p>
            <a:r>
              <a:t>Mental Model: Skenario test ini tidak menunjukkan race pada jalur yang dieksekusi.</a:t>
            </a:r>
          </a:p>
          <a:p/>
          <a:p>
            <a:r>
              <a:t>[tests/processor_test.go]</a:t>
            </a:r>
          </a:p>
          <a:p>
            <a:r>
              <a:t>- func TestProcessor_Success(t *testing.T) {</a:t>
            </a:r>
          </a:p>
          <a:p>
            <a:r>
              <a:t>-     mock := &amp;MockGateway{}</a:t>
            </a:r>
          </a:p>
          <a:p>
            <a:r>
              <a:t>-     proc := di.NewProcessor(mock)</a:t>
            </a:r>
          </a:p>
          <a:p>
            <a:r>
              <a:t>-     err := proc.ProcessPayment(50)</a:t>
            </a:r>
          </a:p>
          <a:p>
            <a:r>
              <a:t>-     if err != nil {</a:t>
            </a:r>
          </a:p>
          <a:p>
            <a:r>
              <a:t>-         t.Fatalf("expected nil error, got %v", err)</a:t>
            </a:r>
          </a:p>
          <a:p>
            <a:r>
              <a:t>-     }</a:t>
            </a:r>
          </a:p>
          <a:p>
            <a:r>
              <a:t>-     // Race detector passes; no shared mutable state</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Transformasi: Dari Hard-Coded ke Constructor Injection</a:t>
            </a:r>
          </a:p>
          <a:p/>
          <a:p>
            <a:r>
              <a:t>Mental Model: Replace internal instantiation with external injection to achieve loose coupling.</a:t>
            </a:r>
          </a:p>
          <a:p/>
          <a:p>
            <a:r>
              <a:t>[SEBELUM (TIGHT COUPLING) VS SESUDAH (DI)]</a:t>
            </a:r>
          </a:p>
          <a:p>
            <a:r>
              <a:t>- Sebelum: Hard-Coded: Processor membuat RealGateway di dalam method; tidak bisa di-mock tanpa mengubah kode sumber.</a:t>
            </a:r>
          </a:p>
          <a:p>
            <a:r>
              <a:t>- Sesudah: DI Manual: NewProcessor menerima PaymentGateway; mock disuntikkan langsung pada test.</a:t>
            </a:r>
          </a:p>
          <a:p>
            <a:r>
              <a:t>- Bukan Berarti Sempurna: DI bukan solusi ajaib; tetap perlu disiplin composition root dan hindari over-injection.</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Interface PaymentGateway: Kontrak Tunggal</a:t>
            </a:r>
          </a:p>
          <a:p/>
          <a:p>
            <a:r>
              <a:t>Mental Model: Define minimal interfaces that capture the required behavior without exposing implementation details.</a:t>
            </a:r>
          </a:p>
          <a:p/>
          <a:p>
            <a:r>
              <a:t>[internal/di/gateway.go]</a:t>
            </a:r>
          </a:p>
          <a:p>
            <a:r>
              <a:t>- type Money struct {</a:t>
            </a:r>
          </a:p>
          <a:p>
            <a:r>
              <a:t>-     Amount   int</a:t>
            </a:r>
          </a:p>
          <a:p>
            <a:r>
              <a:t>-     Currency string</a:t>
            </a:r>
          </a:p>
          <a:p>
            <a:r>
              <a:t>- }</a:t>
            </a:r>
          </a:p>
          <a:p>
            <a:r>
              <a:t>- </a:t>
            </a:r>
          </a:p>
          <a:p>
            <a:r>
              <a:t>- type PaymentGateway interface {</a:t>
            </a:r>
          </a:p>
          <a:p>
            <a:r>
              <a:t>-     Charge(m Money) error</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Money: Value Object yang Diinstansiasi Langsung</a:t>
            </a:r>
          </a:p>
          <a:p/>
          <a:p>
            <a:r>
              <a:t>Mental Model: Instantiate value objects directly; reserve DI for services that depend on external infrastructure.</a:t>
            </a:r>
          </a:p>
          <a:p/>
          <a:p>
            <a:r>
              <a:t>[internal/di/processor.go]</a:t>
            </a:r>
          </a:p>
          <a:p>
            <a:r>
              <a:t>- func (p *Processor) ProcessPayment(amount int) error {</a:t>
            </a:r>
          </a:p>
          <a:p>
            <a:r>
              <a:t>-     if amount &lt;= 0 {</a:t>
            </a:r>
          </a:p>
          <a:p>
            <a:r>
              <a:t>-         return errors.New("invalid amount")</a:t>
            </a:r>
          </a:p>
          <a:p>
            <a:r>
              <a:t>-     }</a:t>
            </a:r>
          </a:p>
          <a:p>
            <a:r>
              <a:t>-     m := Money{Amount: amount, Currency: "USD"}</a:t>
            </a:r>
          </a:p>
          <a:p>
            <a:r>
              <a:t>-     return p.gateway.Charge(m)</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MockGateway: Test Double untuk Isolasi Pengujian</a:t>
            </a:r>
          </a:p>
          <a:p/>
          <a:p>
            <a:r>
              <a:t>Mental Model: Use mock doubles to isolate unit tests from external side effects.</a:t>
            </a:r>
          </a:p>
          <a:p/>
          <a:p>
            <a:r>
              <a:t>[tests/processor_test.go]</a:t>
            </a:r>
          </a:p>
          <a:p>
            <a:r>
              <a:t>- type MockGateway struct {</a:t>
            </a:r>
          </a:p>
          <a:p>
            <a:r>
              <a:t>-     ChargedMoney di.Money</a:t>
            </a:r>
          </a:p>
          <a:p>
            <a:r>
              <a:t>-     ShouldFail   bool</a:t>
            </a:r>
          </a:p>
          <a:p>
            <a:r>
              <a:t>- }</a:t>
            </a:r>
          </a:p>
          <a:p>
            <a:r>
              <a:t>- </a:t>
            </a:r>
          </a:p>
          <a:p>
            <a:r>
              <a:t>- func (m *MockGateway) Charge(money di.Money) error {</a:t>
            </a:r>
          </a:p>
          <a:p>
            <a:r>
              <a:t>-     if m.ShouldFail {</a:t>
            </a:r>
          </a:p>
          <a:p>
            <a:r>
              <a:t>-         return errors.New("gateway unavailable")</a:t>
            </a:r>
          </a:p>
          <a:p>
            <a:r>
              <a:t>-     }</a:t>
            </a:r>
          </a:p>
          <a:p>
            <a:r>
              <a:t>-     m.ChargedMoney = money</a:t>
            </a:r>
          </a:p>
          <a:p>
            <a:r>
              <a:t>-     return nil</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Composition Root: main.go sebagai Titik Penyambungan</a:t>
            </a:r>
          </a:p>
          <a:p/>
          <a:p>
            <a:r>
              <a:t>Mental Model: Centralize concrete instantiation in a single composition root to maintain separation of concerns.</a:t>
            </a:r>
          </a:p>
          <a:p/>
          <a:p>
            <a:r>
              <a:t>[cmd/demo/main.go]</a:t>
            </a:r>
          </a:p>
          <a:p>
            <a:r>
              <a:t>- func main() {</a:t>
            </a:r>
          </a:p>
          <a:p>
            <a:r>
              <a:t>-     realGateway := &amp;di.RealGateway{}</a:t>
            </a:r>
          </a:p>
          <a:p>
            <a:r>
              <a:t>-     processor := di.NewProcessor(realGateway)</a:t>
            </a:r>
          </a:p>
          <a:p>
            <a:r>
              <a:t>-     fmt.Println("--- Running Constructor Injection ---")</a:t>
            </a:r>
          </a:p>
          <a:p>
            <a:r>
              <a:t>-     err := processor.ProcessPayment(100)</a:t>
            </a:r>
          </a:p>
          <a:p>
            <a:r>
              <a:t>-     if err != nil {</a:t>
            </a:r>
          </a:p>
          <a:p>
            <a:r>
              <a:t>-         fmt.Printf("Error: %v\n", err)</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Validasi Input Sebelum Delegasi ke Gateway</a:t>
            </a:r>
          </a:p>
          <a:p/>
          <a:p>
            <a:r>
              <a:t>Mental Model: Validate inputs early to fail fast and avoid side effects in downstream dependencies.</a:t>
            </a:r>
          </a:p>
          <a:p/>
          <a:p>
            <a:r>
              <a:t>[internal/di/processor.go]</a:t>
            </a:r>
          </a:p>
          <a:p>
            <a:r>
              <a:t>- func (p *Processor) ProcessPayment(amount int) error {</a:t>
            </a:r>
          </a:p>
          <a:p>
            <a:r>
              <a:t>-     if amount &lt;= 0 {</a:t>
            </a:r>
          </a:p>
          <a:p>
            <a:r>
              <a:t>-         return errors.New("invalid amount")</a:t>
            </a:r>
          </a:p>
          <a:p>
            <a:r>
              <a:t>-     }</a:t>
            </a:r>
          </a:p>
          <a:p>
            <a:r>
              <a:t>-     // ... create Money and call gateway</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Penerapan Dependency Injection</a:t>
            </a:r>
          </a:p>
          <a:p/>
          <a:p>
            <a:r>
              <a:t>Mental Model: Enforce dependency injection guidelines through a systematic checklist.</a:t>
            </a:r>
          </a:p>
          <a:p/>
          <a:p>
            <a:r>
              <a:t>[KRITERIA IMPLEMENTASI DI YANG BAIK]</a:t>
            </a:r>
          </a:p>
          <a:p>
            <a:r>
              <a:t>- Dependensi dideklarasikan sebagai interface, bukan tipe konkret.</a:t>
            </a:r>
          </a:p>
          <a:p>
            <a:r>
              <a:t>- Constructor injection digunakan sebagai default untuk semua service.</a:t>
            </a:r>
          </a:p>
          <a:p>
            <a:r>
              <a:t>- Composition root (main.go atau setara) adalah satu-satunya tempat yang membuat implementasi konkret.</a:t>
            </a:r>
          </a:p>
          <a:p>
            <a:r>
              <a:t>- Tidak ada container.Get(...) di dalam logika domain.</a:t>
            </a:r>
          </a:p>
          <a:p>
            <a:r>
              <a:t>- Value objects (Money, DateTime, Address) diinstansiasi langsung.</a:t>
            </a:r>
          </a:p>
          <a:p>
            <a:r>
              <a:t>- Setiap service dapat diuji dengan mock tanpa setup infrastruktur.</a:t>
            </a:r>
          </a:p>
          <a:p>
            <a:r>
              <a:t>- Validasi input dilakukan sebelum delegasi ke dependensi eksternal.</a:t>
            </a:r>
          </a:p>
          <a:p>
            <a:r>
              <a:t>- Test mencakup happy path, error propagation, dan invalid input.</a:t>
            </a:r>
          </a:p>
          <a:p>
            <a:r>
              <a:t>- go test -race ./... PASS tanpa warning.</a:t>
            </a:r>
          </a:p>
          <a:p>
            <a:r>
              <a:t>- Heuristik lab (seperti 12 parameter) tidak dikutip sebagai standar universal.</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Umum dalam Dependency Injection</a:t>
            </a:r>
          </a:p>
          <a:p/>
          <a:p>
            <a:r>
              <a:t>Mental Model: Identify and avoid common DI anti-patterns to preserve testability and clarity.</a:t>
            </a:r>
          </a:p>
          <a:p/>
          <a:p>
            <a:r>
              <a:t>[HINDARI KESALAHAN INI]</a:t>
            </a:r>
          </a:p>
          <a:p>
            <a:r>
              <a:t>- Service Locator di Domain: Menyuntikkan container ke kelas bisnis; dependensi menjadi tersembunyi.</a:t>
            </a:r>
          </a:p>
          <a:p>
            <a:r>
              <a:t>- Mengabstraksi Value Object: Memasukkan Money ke dalam container DI padahal hanya struktur data.</a:t>
            </a:r>
          </a:p>
          <a:p>
            <a:r>
              <a:t>- Constructor Bloat: Konstruktor dengan banyak parameter menandakan kelas melakukan terlalu banyak hal.</a:t>
            </a:r>
          </a:p>
          <a:p>
            <a:r>
              <a:t>- DI Overuse: Menggunakan DI untuk segala hal, termasuk fungsi murni tanpa state.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di Mesin Lokal Menggunakan Go</a:t>
            </a:r>
          </a:p>
          <a:p/>
          <a:p>
            <a:r>
              <a:t>Mental Model: Use minimal reproduction commands to verify DI implementation locally.</a:t>
            </a:r>
          </a:p>
          <a:p/>
          <a:p>
            <a:r>
              <a:t>[COMMAND RUNNER]</a:t>
            </a:r>
          </a:p>
          <a:p>
            <a:r>
              <a:t>- cd labs/16-dependency-injection</a:t>
            </a:r>
          </a:p>
          <a:p>
            <a:r>
              <a:t>- go test -v ./...    # jalankan semua test case</a:t>
            </a:r>
          </a:p>
          <a:p>
            <a:r>
              <a:t>- go test -race ./... # skenario test ini tidak menunjukkan race pada jalur yang dieksekusi</a:t>
            </a:r>
          </a:p>
          <a:p>
            <a:r>
              <a:t>- go run ./cmd/demo   # eksekusi demo constructor injection &amp; service locator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Inti: Dependency Harus Eksplisit</a:t>
            </a:r>
          </a:p>
          <a:p/>
          <a:p>
            <a:r>
              <a:t>Mental Model: Architect systems with explicit dependencies and separated concerns for long-term maintainability.</a:t>
            </a:r>
          </a:p>
          <a:p/>
          <a:p>
            <a:r>
              <a:t>[TIGA PILAR ARSITEKTUR DI]</a:t>
            </a:r>
          </a:p>
          <a:p>
            <a:r>
              <a:t>- Separation of Concerns: Configuration (composition root) terpisah dari use (business logic).</a:t>
            </a:r>
          </a:p>
          <a:p>
            <a:r>
              <a:t>- Program to Interfaces: Consumer bergantung pada kontrak interface, bukan implementasi konkret.</a:t>
            </a:r>
          </a:p>
          <a:p>
            <a:r>
              <a:t>- Explicit over Implicit: Semua dependensi dinyatakan eksplisit di constructor; tidak ada magic lookup.</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Dependency Injection adalah tentang kejelasan, bukan kerumitan.</a:t>
            </a:r>
          </a:p>
          <a:p/>
          <a:p>
            <a:r>
              <a:t>Mental Model: Dependency Injection separates concerns, making systems testable and evolvable.</a:t>
            </a:r>
          </a:p>
          <a:p/>
          <a:p>
            <a:r>
              <a:t>[MODUL IMPLEMENTASI]</a:t>
            </a:r>
          </a:p>
          <a:p>
            <a:r>
              <a:t>- internal/di/gateway.go • internal/di/processor.go • internal/di/locator.go</a:t>
            </a:r>
          </a:p>
          <a:p>
            <a:r>
              <a:t>- cmd/demo/main.go • tests/processor_test.go</a:t>
            </a:r>
          </a:p>
          <a:p>
            <a:r>
              <a:t>- content/02-master-draft.md • content/01-content-brief.md</a:t>
            </a:r>
          </a:p>
          <a:p>
            <a:r>
              <a:t>[VERIFIKASI &amp; STATUS]</a:t>
            </a:r>
          </a:p>
          <a:p>
            <a:r>
              <a:t>- Commit: 3d936ba • Repositori: software-engineering-lab</a:t>
            </a:r>
          </a:p>
          <a:p>
            <a:r>
              <a:t>- Test passing: 6 test scenarios (success, error propagation, invalid amount)</a:t>
            </a:r>
          </a:p>
          <a:p>
            <a:r>
              <a:t>- Race detector: Skenario test ini tidak menunjukkan race pada jalur yang dieksekusi (PASS)</a:t>
            </a:r>
          </a:p>
          <a:p>
            <a:r>
              <a:t>- Zero external dependencies: 100% Go standard library.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16</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Dependency Injection &amp; Inversion of Control</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Memisahkan Konfigurasi dari Penggunaan di Go</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Hard-Coded Dependencies Mengunci Logika Bisnis pada Infrastruktur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kelas menginstansiasi dependensinya sendiri, pengujian menjadi lambat dan penggantian vendor memaksa modifikasi menyeluruh.</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DAMPAK TIGHT COUPLING</a:t>
            </a:r>
          </a:p>
          <a:p>
            <a:pPr>
              <a:spcAft>
                <a:spcPts val="400"/>
              </a:spcAft>
              <a:defRPr sz="1200">
                <a:solidFill>
                  <a:srgbClr val="0B1B2D"/>
                </a:solidFill>
              </a:defRPr>
            </a:pPr>
            <a:r>
              <a:t>• Pengujian Lambat: Setiap test memerlukan setup jaringan, database, atau payment provider riil yang flaky.</a:t>
            </a:r>
          </a:p>
          <a:p>
            <a:pPr>
              <a:spcAft>
                <a:spcPts val="400"/>
              </a:spcAft>
              <a:defRPr sz="1200">
                <a:solidFill>
                  <a:srgbClr val="0B1B2D"/>
                </a:solidFill>
              </a:defRPr>
            </a:pPr>
            <a:r>
              <a:t>• Vendor Lock-in: Pergantian payment gateway memaksa edit banyak kelas yang bergantung pada implementasi konkret.</a:t>
            </a:r>
          </a:p>
          <a:p>
            <a:pPr>
              <a:spcAft>
                <a:spcPts val="400"/>
              </a:spcAft>
              <a:defRPr sz="1200">
                <a:solidFill>
                  <a:srgbClr val="0B1B2D"/>
                </a:solidFill>
              </a:defRPr>
            </a:pPr>
            <a:r>
              <a:t>• Bukan Berarti Malas: Tim aktif menulis kode, tetapi bukan berarti produktif jika setiap perubahan memicu domino refactoring.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sebuah kelas membangun dependensinya sendiri, logika bisnis menjadi terkunci pada infrastruktur eksternal. Pengujian unit jadi sulit karena harus mengandalkan status jaringan nyata yang tidak deterministik.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Hard-coded dependencies couple business logic to infrastructure, breaking testability and evolvability.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Code Review Manual Tidak Menangkap Dependensi Tersembunyi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Dependensi yang diinstansiasi secara internal sulit dilacak hanya dengan membaca kode secara sekilas.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KEGAGALAN APPROACH NAIF</a:t>
            </a:r>
          </a:p>
          <a:p>
            <a:pPr>
              <a:spcAft>
                <a:spcPts val="400"/>
              </a:spcAft>
              <a:defRPr sz="1200">
                <a:solidFill>
                  <a:srgbClr val="0B1B2D"/>
                </a:solidFill>
              </a:defRPr>
            </a:pPr>
            <a:r>
              <a:t>• Tidak Lengkap: Reviewer mungkin melewatkan instantiate baru di dalam method ketika fokus pada alur utama.</a:t>
            </a:r>
          </a:p>
          <a:p>
            <a:pPr>
              <a:spcAft>
                <a:spcPts val="400"/>
              </a:spcAft>
              <a:defRPr sz="1200">
                <a:solidFill>
                  <a:srgbClr val="0B1B2D"/>
                </a:solidFill>
              </a:defRPr>
            </a:pPr>
            <a:r>
              <a:t>• Tidak Otomatis: Manual review tidak dapat memverifikasi bahwa semua dependensi telah dipisahkan ke constructor.</a:t>
            </a:r>
          </a:p>
          <a:p>
            <a:pPr>
              <a:spcAft>
                <a:spcPts val="400"/>
              </a:spcAft>
              <a:defRPr sz="1200">
                <a:solidFill>
                  <a:srgbClr val="0B1B2D"/>
                </a:solidFill>
              </a:defRPr>
            </a:pPr>
            <a:r>
              <a:t>• Skala Buruk: Pada codebase besar, jejak dependensi tersebar di banyak file; bukan berarti review manual cukup.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Code review manual mengandalkan perhatian manusia untuk menangkap pola coupling. Pendekatan ini tidak otomatis menjamin bahwa setiap dependensi eksternal telah diinjeksi melalui constructor.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Manual review cannot systematically enforce dependency separation across a large codebase.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Pemisahan Konfigurasi dari Penggunaan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Fase konfigurasi (composition root) terpisah dari fase penggunaan (business logic).</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DUA FASE DALAM SISTEM</a:t>
            </a:r>
          </a:p>
          <a:p>
            <a:pPr>
              <a:spcAft>
                <a:spcPts val="400"/>
              </a:spcAft>
              <a:defRPr sz="1200">
                <a:solidFill>
                  <a:srgbClr val="0B1B2D"/>
                </a:solidFill>
              </a:defRPr>
            </a:pPr>
            <a:r>
              <a:t>• 1. Konfigurasi (Composition Root): Instansiasi implementasi konkret dan penyuntikan ke dalam constructor (main.go).</a:t>
            </a:r>
          </a:p>
          <a:p>
            <a:pPr>
              <a:spcAft>
                <a:spcPts val="400"/>
              </a:spcAft>
              <a:defRPr sz="1200">
                <a:solidFill>
                  <a:srgbClr val="0B1B2D"/>
                </a:solidFill>
              </a:defRPr>
            </a:pPr>
            <a:r>
              <a:t>• 2. Penggunaan (Business Logic): Kelas menerima dependensi melalui parameter constructor; tidak mengetahui implementasi konkret.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inti Dependency Injection adalah memisahkan pembentukan objek dari penggunaannya. Composition root bertugas merakit object graph, sementara modul bisnis hanya menggunakan dependensi yang telah tersedia.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Separate configuration (composition root) from use (business logic) to achieve loose coupling.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Kerja Dependency Injection Manual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Dari instansiasi gateway hingga delegasi ke method Charge.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TAHAPAN EKSEKUSI PAYMENT PROCESSOR</a:t>
            </a:r>
          </a:p>
          <a:p>
            <a:pPr>
              <a:spcAft>
                <a:spcPts val="400"/>
              </a:spcAft>
              <a:defRPr sz="1200">
                <a:solidFill>
                  <a:srgbClr val="0B1B2D"/>
                </a:solidFill>
              </a:defRPr>
            </a:pPr>
            <a:r>
              <a:t>• 1. Composition Root (main.go): Membuat realGateway := &amp;di.RealGateway{}.</a:t>
            </a:r>
          </a:p>
          <a:p>
            <a:pPr>
              <a:spcAft>
                <a:spcPts val="400"/>
              </a:spcAft>
              <a:defRPr sz="1200">
                <a:solidFill>
                  <a:srgbClr val="0B1B2D"/>
                </a:solidFill>
              </a:defRPr>
            </a:pPr>
            <a:r>
              <a:t>• 2. Constructor Injection (NewProcessor): processor := di.NewProcessor(realGateway); gateway tersimpan sebagai field unexported.</a:t>
            </a:r>
          </a:p>
          <a:p>
            <a:pPr>
              <a:spcAft>
                <a:spcPts val="400"/>
              </a:spcAft>
              <a:defRPr sz="1200">
                <a:solidFill>
                  <a:srgbClr val="0B1B2D"/>
                </a:solidFill>
              </a:defRPr>
            </a:pPr>
            <a:r>
              <a:t>• 3. Validasi Input (ProcessPayment): Periksa amount &lt;= 0; kembalikan error jika invalid.</a:t>
            </a:r>
          </a:p>
          <a:p>
            <a:pPr>
              <a:spcAft>
                <a:spcPts val="400"/>
              </a:spcAft>
              <a:defRPr sz="1200">
                <a:solidFill>
                  <a:srgbClr val="0B1B2D"/>
                </a:solidFill>
              </a:defRPr>
            </a:pPr>
            <a:r>
              <a:t>• 4. Delegasi (gateway.Charge): Buat Money value object dan panggil gateway.Charge(m).</a:t>
            </a:r>
          </a:p>
          <a:p>
            <a:pPr>
              <a:spcAft>
                <a:spcPts val="400"/>
              </a:spcAft>
              <a:defRPr sz="1200">
                <a:solidFill>
                  <a:srgbClr val="0B1B2D"/>
                </a:solidFill>
              </a:defRPr>
            </a:pPr>
            <a:r>
              <a:t>• 5. Propagasi Error (Error Return): Error dari gateway dipropagasikan ke caller tanpa ditelan.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DI manual dimulai dari composition root yang menginialisasi implementasi konkret. Konstruktor menyimpan dependensi sebagai field, method bisnis memvalidasi input lalu mendelegasikan ke gateway.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Manual wiring sequence: instantiate → inject → validate → delegate → propagate error.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cmd/demo/main.go:16-36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Constructor Injection: NewProcessor Menerima Interface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Processor menyimpan gateway PaymentGateway tanpa mengetahui implementasinya.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Processor struct {</a:t>
            </a:r>
            <a:br/>
            <a:r>
              <a:t>    gateway PaymentGateway</a:t>
            </a:r>
            <a:br/>
            <a:r>
              <a:t>}</a:t>
            </a:r>
            <a:br/>
            <a:br/>
            <a:r>
              <a:t>func NewProcessor(g PaymentGateway) *Processor {</a:t>
            </a:r>
            <a:br/>
            <a:r>
              <a:t>    return &amp;Processor{gateway: g}</a:t>
            </a:r>
            <a:br/>
            <a:r>
              <a:t>}</a:t>
            </a:r>
            <a:br/>
            <a:br/>
            <a:r>
              <a:t>func (p *Processor) ProcessPayment(amount int) error {</a:t>
            </a:r>
            <a:br/>
            <a:r>
              <a:t>    if amount &lt;= 0 {</a:t>
            </a:r>
            <a:br/>
            <a:r>
              <a:t>        return errors.New("invalid amount")</a:t>
            </a:r>
            <a:br/>
            <a:r>
              <a:t>    }</a:t>
            </a:r>
            <a:br/>
            <a:r>
              <a:t>    m := Money{Amount: amount, Currency: "USD"}</a:t>
            </a:r>
            <a:br/>
            <a:r>
              <a:t>    return p.gateway.Charge(m)</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Constructor injection membuat Processor hanya mengenal interface PaymentGateway, bukan implementasi konkret RealGateway. Dependensi dibuat eksplisit di signature constructor.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Constructor injection membuat dependensi eksplisit saat konstruksi.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Service Locator Menyembunyikan Dependensi Sesungguhnya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BadProcessor menerima Container alih-alih PaymentGateway, membuat dependensi tersembunyi.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SKENARIO KEGAGALAN LOKATOR</a:t>
            </a:r>
          </a:p>
          <a:p>
            <a:pPr>
              <a:spcAft>
                <a:spcPts val="400"/>
              </a:spcAft>
              <a:defRPr sz="1200">
                <a:solidFill>
                  <a:srgbClr val="0B1B2D"/>
                </a:solidFill>
              </a:defRPr>
            </a:pPr>
            <a:r>
              <a:t>• Dependensi Tersembunyi: Constructor hanya menerima Container; developer tidak tahu method butuh PaymentGateway.</a:t>
            </a:r>
          </a:p>
          <a:p>
            <a:pPr>
              <a:spcAft>
                <a:spcPts val="400"/>
              </a:spcAft>
              <a:defRPr sz="1200">
                <a:solidFill>
                  <a:srgbClr val="0B1B2D"/>
                </a:solidFill>
              </a:defRPr>
            </a:pPr>
            <a:r>
              <a:t>• Pencarian Dinamis: ProcessPayment memanggil p.container.GetPaymentGateway() saat runtime, menambah indirection.</a:t>
            </a:r>
          </a:p>
          <a:p>
            <a:pPr>
              <a:spcAft>
                <a:spcPts val="400"/>
              </a:spcAft>
              <a:defRPr sz="1200">
                <a:solidFill>
                  <a:srgbClr val="0B1B2D"/>
                </a:solidFill>
              </a:defRPr>
            </a:pPr>
            <a:r>
              <a:t>• Beban Mocking Tambahan: Pengujian unit terpaksa menyusun MockContainer bertingkat hanya untuk menyuplai gateway konkret.</a:t>
            </a:r>
          </a:p>
          <a:p>
            <a:pPr>
              <a:spcAft>
                <a:spcPts val="400"/>
              </a:spcAft>
              <a:defRPr sz="1200">
                <a:solidFill>
                  <a:srgbClr val="0B1B2D"/>
                </a:solidFill>
              </a:defRPr>
            </a:pPr>
            <a:r>
              <a:t>• Kopling Container Kaku: BadProcessor terikat langsung pada interface Container, bukan abstraksi domain spesifik.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Service Locator menyembunyikan dependensi nyata di balik lookup method container saat runtime. Hal ini menyulitkan pelacakan dependensi dan membebani pengujian unit karena developer wajib menyiapkan MockContainer bertingkat hanya untuk menyuplai gateway konkret.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Service Locator obscures dependencies, complicating testing and reducing code transparency.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internal/di/locator.go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Kontras Constructor Injection vs Service Locator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mekanisme, pengujian, dan konsekuensi arsitektur.</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Aspek</a:t>
                      </a:r>
                    </a:p>
                  </a:txBody>
                  <a:tcPr>
                    <a:solidFill>
                      <a:srgbClr val="0B1B2D"/>
                    </a:solidFill>
                  </a:tcPr>
                </a:tc>
                <a:tc>
                  <a:txBody>
                    <a:bodyPr/>
                    <a:lstStyle/>
                    <a:p>
                      <a:pPr>
                        <a:defRPr b="1" sz="1100">
                          <a:solidFill>
                            <a:srgbClr val="FFFFFF"/>
                          </a:solidFill>
                        </a:defRPr>
                      </a:pPr>
                      <a:r>
                        <a:t>Constructor Injection</a:t>
                      </a:r>
                    </a:p>
                  </a:txBody>
                  <a:tcPr>
                    <a:solidFill>
                      <a:srgbClr val="0B1B2D"/>
                    </a:solidFill>
                  </a:tcPr>
                </a:tc>
                <a:tc>
                  <a:txBody>
                    <a:bodyPr/>
                    <a:lstStyle/>
                    <a:p>
                      <a:pPr>
                        <a:defRPr b="1" sz="1100">
                          <a:solidFill>
                            <a:srgbClr val="FFFFFF"/>
                          </a:solidFill>
                        </a:defRPr>
                      </a:pPr>
                      <a:r>
                        <a:t>Service Locator</a:t>
                      </a:r>
                    </a:p>
                  </a:txBody>
                  <a:tcPr>
                    <a:solidFill>
                      <a:srgbClr val="0B1B2D"/>
                    </a:solidFill>
                  </a:tcPr>
                </a:tc>
              </a:tr>
              <a:tr h="457200">
                <a:tc>
                  <a:txBody>
                    <a:bodyPr/>
                    <a:lstStyle/>
                    <a:p>
                      <a:pPr>
                        <a:defRPr sz="1000">
                          <a:solidFill>
                            <a:srgbClr val="0B1B2D"/>
                          </a:solidFill>
                        </a:defRPr>
                      </a:pPr>
                      <a:r>
                        <a:t>Dependensi</a:t>
                      </a:r>
                    </a:p>
                  </a:txBody>
                  <a:tcPr>
                    <a:solidFill>
                      <a:srgbClr val="FFFFFF"/>
                    </a:solidFill>
                  </a:tcPr>
                </a:tc>
                <a:tc>
                  <a:txBody>
                    <a:bodyPr/>
                    <a:lstStyle/>
                    <a:p>
                      <a:pPr>
                        <a:defRPr sz="1000">
                          <a:solidFill>
                            <a:srgbClr val="0B1B2D"/>
                          </a:solidFill>
                        </a:defRPr>
                      </a:pPr>
                      <a:r>
                        <a:t>Eksplisit di constructor</a:t>
                      </a:r>
                    </a:p>
                  </a:txBody>
                  <a:tcPr>
                    <a:solidFill>
                      <a:srgbClr val="FFFFFF"/>
                    </a:solidFill>
                  </a:tcPr>
                </a:tc>
                <a:tc>
                  <a:txBody>
                    <a:bodyPr/>
                    <a:lstStyle/>
                    <a:p>
                      <a:pPr>
                        <a:defRPr sz="1000">
                          <a:solidFill>
                            <a:srgbClr val="0B1B2D"/>
                          </a:solidFill>
                        </a:defRPr>
                      </a:pPr>
                      <a:r>
                        <a:t>Tersembunyi di container</a:t>
                      </a:r>
                    </a:p>
                  </a:txBody>
                  <a:tcPr>
                    <a:solidFill>
                      <a:srgbClr val="FFFFFF"/>
                    </a:solidFill>
                  </a:tcPr>
                </a:tc>
              </a:tr>
              <a:tr h="457200">
                <a:tc>
                  <a:txBody>
                    <a:bodyPr/>
                    <a:lstStyle/>
                    <a:p>
                      <a:pPr>
                        <a:defRPr sz="1000">
                          <a:solidFill>
                            <a:srgbClr val="0B1B2D"/>
                          </a:solidFill>
                        </a:defRPr>
                      </a:pPr>
                      <a:r>
                        <a:t>Mocking</a:t>
                      </a:r>
                    </a:p>
                  </a:txBody>
                  <a:tcPr>
                    <a:solidFill>
                      <a:srgbClr val="FFFFFF"/>
                    </a:solidFill>
                  </a:tcPr>
                </a:tc>
                <a:tc>
                  <a:txBody>
                    <a:bodyPr/>
                    <a:lstStyle/>
                    <a:p>
                      <a:pPr>
                        <a:defRPr sz="1000">
                          <a:solidFill>
                            <a:srgbClr val="0B1B2D"/>
                          </a:solidFill>
                        </a:defRPr>
                      </a:pPr>
                      <a:r>
                        <a:t>Langsung inject mock</a:t>
                      </a:r>
                    </a:p>
                  </a:txBody>
                  <a:tcPr>
                    <a:solidFill>
                      <a:srgbClr val="FFFFFF"/>
                    </a:solidFill>
                  </a:tcPr>
                </a:tc>
                <a:tc>
                  <a:txBody>
                    <a:bodyPr/>
                    <a:lstStyle/>
                    <a:p>
                      <a:pPr>
                        <a:defRPr sz="1000">
                          <a:solidFill>
                            <a:srgbClr val="0B1B2D"/>
                          </a:solidFill>
                        </a:defRPr>
                      </a:pPr>
                      <a:r>
                        <a:t>Harus mock container + get()</a:t>
                      </a:r>
                    </a:p>
                  </a:txBody>
                  <a:tcPr>
                    <a:solidFill>
                      <a:srgbClr val="FFFFFF"/>
                    </a:solidFill>
                  </a:tcPr>
                </a:tc>
              </a:tr>
              <a:tr h="457200">
                <a:tc>
                  <a:txBody>
                    <a:bodyPr/>
                    <a:lstStyle/>
                    <a:p>
                      <a:pPr>
                        <a:defRPr sz="1000">
                          <a:solidFill>
                            <a:srgbClr val="0B1B2D"/>
                          </a:solidFill>
                        </a:defRPr>
                      </a:pPr>
                      <a:r>
                        <a:t>Kontrak Dependensi</a:t>
                      </a:r>
                    </a:p>
                  </a:txBody>
                  <a:tcPr>
                    <a:solidFill>
                      <a:srgbClr val="FFFFFF"/>
                    </a:solidFill>
                  </a:tcPr>
                </a:tc>
                <a:tc>
                  <a:txBody>
                    <a:bodyPr/>
                    <a:lstStyle/>
                    <a:p>
                      <a:pPr>
                        <a:defRPr sz="1000">
                          <a:solidFill>
                            <a:srgbClr val="0B1B2D"/>
                          </a:solidFill>
                        </a:defRPr>
                      </a:pPr>
                      <a:r>
                        <a:t>Membuat dependensi eksplisit saat konstruksi</a:t>
                      </a:r>
                    </a:p>
                  </a:txBody>
                  <a:tcPr>
                    <a:solidFill>
                      <a:srgbClr val="FFFFFF"/>
                    </a:solidFill>
                  </a:tcPr>
                </a:tc>
                <a:tc>
                  <a:txBody>
                    <a:bodyPr/>
                    <a:lstStyle/>
                    <a:p>
                      <a:pPr>
                        <a:defRPr sz="1000">
                          <a:solidFill>
                            <a:srgbClr val="0B1B2D"/>
                          </a:solidFill>
                        </a:defRPr>
                      </a:pPr>
                      <a:r>
                        <a:t>Tersembunyi di balik lookup container</a:t>
                      </a:r>
                    </a:p>
                  </a:txBody>
                  <a:tcPr>
                    <a:solidFill>
                      <a:srgbClr val="FFFFFF"/>
                    </a:solidFill>
                  </a:tcPr>
                </a:tc>
              </a:tr>
              <a:tr h="457200">
                <a:tc>
                  <a:txBody>
                    <a:bodyPr/>
                    <a:lstStyle/>
                    <a:p>
                      <a:pPr>
                        <a:defRPr sz="1000">
                          <a:solidFill>
                            <a:srgbClr val="0B1B2D"/>
                          </a:solidFill>
                        </a:defRPr>
                      </a:pPr>
                      <a:r>
                        <a:t>Kompleksitas</a:t>
                      </a:r>
                    </a:p>
                  </a:txBody>
                  <a:tcPr>
                    <a:solidFill>
                      <a:srgbClr val="FFFFFF"/>
                    </a:solidFill>
                  </a:tcPr>
                </a:tc>
                <a:tc>
                  <a:txBody>
                    <a:bodyPr/>
                    <a:lstStyle/>
                    <a:p>
                      <a:pPr>
                        <a:defRPr sz="1000">
                          <a:solidFill>
                            <a:srgbClr val="0B1B2D"/>
                          </a:solidFill>
                        </a:defRPr>
                      </a:pPr>
                      <a:r>
                        <a:t>Mudah dipahami</a:t>
                      </a:r>
                    </a:p>
                  </a:txBody>
                  <a:tcPr>
                    <a:solidFill>
                      <a:srgbClr val="FFFFFF"/>
                    </a:solidFill>
                  </a:tcPr>
                </a:tc>
                <a:tc>
                  <a:txBody>
                    <a:bodyPr/>
                    <a:lstStyle/>
                    <a:p>
                      <a:pPr>
                        <a:defRPr sz="1000">
                          <a:solidFill>
                            <a:srgbClr val="0B1B2D"/>
                          </a:solidFill>
                        </a:defRPr>
                      </a:pPr>
                      <a:r>
                        <a:t>Menambah indirection layer</a:t>
                      </a:r>
                    </a:p>
                  </a:txBody>
                  <a:tcPr>
                    <a:solidFill>
                      <a:srgbClr val="FFFFFF"/>
                    </a:solidFill>
                  </a:tcPr>
                </a:tc>
              </a:tr>
              <a:tr h="457200">
                <a:tc>
                  <a:txBody>
                    <a:bodyPr/>
                    <a:lstStyle/>
                    <a:p>
                      <a:pPr>
                        <a:defRPr sz="1000">
                          <a:solidFill>
                            <a:srgbClr val="0B1B2D"/>
                          </a:solidFill>
                        </a:defRPr>
                      </a:pPr>
                      <a:r>
                        <a:t>Standar Industri</a:t>
                      </a:r>
                    </a:p>
                  </a:txBody>
                  <a:tcPr>
                    <a:solidFill>
                      <a:srgbClr val="FFFFFF"/>
                    </a:solidFill>
                  </a:tcPr>
                </a:tc>
                <a:tc>
                  <a:txBody>
                    <a:bodyPr/>
                    <a:lstStyle/>
                    <a:p>
                      <a:pPr>
                        <a:defRPr sz="1000">
                          <a:solidFill>
                            <a:srgbClr val="0B1B2D"/>
                          </a:solidFill>
                        </a:defRPr>
                      </a:pPr>
                      <a:r>
                        <a:t>Diterima sebagai best practice</a:t>
                      </a:r>
                    </a:p>
                  </a:txBody>
                  <a:tcPr>
                    <a:solidFill>
                      <a:srgbClr val="FFFFFF"/>
                    </a:solidFill>
                  </a:tcPr>
                </a:tc>
                <a:tc>
                  <a:txBody>
                    <a:bodyPr/>
                    <a:lstStyle/>
                    <a:p>
                      <a:pPr>
                        <a:defRPr sz="1000">
                          <a:solidFill>
                            <a:srgbClr val="0B1B2D"/>
                          </a:solidFill>
                        </a:defRPr>
                      </a:pPr>
                      <a:r>
                        <a:t>Dipandang sebagai anti-pattern</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ini memetakan perbedaan mendasar antara dua pendekatan. Constructor injection menghasilkan dependensi yang eksplisit dan mudah diuji; service locator memperkenalkan lapisan tambahan yang menyulitkan isolasi.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Compare injection mechanisms along axes of visibility, testability, and industry acceptance.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 internal/di/locator.go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Keputusan Desain DI pada Lab Ini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keputusan arsitektural yang menentukan struktur kode.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KEPUTUSAN PENTING</a:t>
            </a:r>
          </a:p>
          <a:p>
            <a:pPr>
              <a:spcAft>
                <a:spcPts val="400"/>
              </a:spcAft>
              <a:defRPr sz="1200">
                <a:solidFill>
                  <a:srgbClr val="0B1B2D"/>
                </a:solidFill>
              </a:defRPr>
            </a:pPr>
            <a:r>
              <a:t>• Pilih Constructor Injection: Default modern; membantu menjaga kontrak dependensi tetap terlihat dan eksplisit.</a:t>
            </a:r>
          </a:p>
          <a:p>
            <a:pPr>
              <a:spcAft>
                <a:spcPts val="400"/>
              </a:spcAft>
              <a:defRPr sz="1200">
                <a:solidFill>
                  <a:srgbClr val="0B1B2D"/>
                </a:solidFill>
              </a:defRPr>
            </a:pPr>
            <a:r>
              <a:t>• Hindari Service Locator di Domain: Container hanya digunakan di composition root; tidak disuntikkan ke service.</a:t>
            </a:r>
          </a:p>
          <a:p>
            <a:pPr>
              <a:spcAft>
                <a:spcPts val="400"/>
              </a:spcAft>
              <a:defRPr sz="1200">
                <a:solidFill>
                  <a:srgbClr val="0B1B2D"/>
                </a:solidFill>
              </a:defRPr>
            </a:pPr>
            <a:r>
              <a:t>• Gunakan Value Object Langsung: Money diinstansiasi langsung karena tidak memiliki dependensi infrastruktur.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memilih constructor injection sebagai pola default karena membantu menjaga kontrak dependensi tetap terlihat. Service Locator hanya digunakan untuk mendemonstrasikan anti-pattern, bukan sebagai solusi arsitektur utama.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Choose constructor injection to make dependencies explicit at construction time.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content/02-master-draft.md:91-101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6 Test Case Lolos dengan Race Detector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Semua test berjalan dalam 0.00s per kasus tanpa dependency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TestProcessor_Success</a:t>
            </a:r>
            <a:br/>
            <a:r>
              <a:t>--- PASS: TestProcessor_Success (0.00s)</a:t>
            </a:r>
            <a:br/>
            <a:r>
              <a:t>=== RUN   TestProcessor_GatewayError</a:t>
            </a:r>
            <a:br/>
            <a:r>
              <a:t>--- PASS: TestProcessor_GatewayError (0.00s)</a:t>
            </a:r>
            <a:br/>
            <a:r>
              <a:t>=== RUN   TestProcessor_InvalidAmount</a:t>
            </a:r>
            <a:br/>
            <a:r>
              <a:t>--- PASS: TestProcessor_InvalidAmount (0.00s)</a:t>
            </a:r>
            <a:br/>
            <a:r>
              <a:t>=== RUN   TestBadProcessor_Success</a:t>
            </a:r>
            <a:br/>
            <a:r>
              <a:t>--- PASS: TestBadProcessor_Success (0.00s)</a:t>
            </a:r>
            <a:br/>
            <a:r>
              <a:t>=== RUN   TestBadProcessor_GatewayError</a:t>
            </a:r>
            <a:br/>
            <a:r>
              <a:t>--- PASS: TestBadProcessor_GatewayError (0.00s)</a:t>
            </a:r>
            <a:br/>
            <a:r>
              <a:t>=== RUN   TestBadProcessor_InvalidAmount</a:t>
            </a:r>
            <a:br/>
            <a:r>
              <a:t>--- PASS: TestBadProcessor_InvalidAmount (0.00s)</a:t>
            </a:r>
            <a:br/>
            <a:r>
              <a:t>PASS</a:t>
            </a:r>
            <a:br/>
            <a:r>
              <a:t>ok      lab16/tests   (cached)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Output terminal membuktikan seluruh enam test case lulus termasuk race detector. Test berhasil mengisolasi Processor dari gateway nyata, memverifikasi happy path, error propagation, dan validasi input.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Executable test suite proves isolation, error handling, and input validation without external infrastructure.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Bukti Lab: Yang Dibuktikan vs Belum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Menegaskan cakupan verifikasi terhadap skenario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PEMBUKTIAN SISTEM</a:t>
            </a:r>
          </a:p>
          <a:p>
            <a:pPr>
              <a:spcAft>
                <a:spcPts val="400"/>
              </a:spcAft>
              <a:defRPr sz="1200">
                <a:solidFill>
                  <a:srgbClr val="0B1B2D"/>
                </a:solidFill>
              </a:defRPr>
            </a:pPr>
            <a:r>
              <a:t>• YANG DIBUKTIKAN: Isolasi mock, propagation error, validasi input, race safety pada 6 test case.</a:t>
            </a:r>
          </a:p>
          <a:p>
            <a:pPr>
              <a:spcAft>
                <a:spcPts val="400"/>
              </a:spcAft>
              <a:defRPr sz="1200">
                <a:solidFill>
                  <a:srgbClr val="0B1B2D"/>
                </a:solidFill>
              </a:defRPr>
            </a:pPr>
            <a:r>
              <a:t>• YANG TIDAK DIBUKTIKAN: Lifecycle management (singleton/scoped/transient), performance overhead container, pengurangan defect rate.</a:t>
            </a:r>
          </a:p>
          <a:p>
            <a:pPr>
              <a:spcAft>
                <a:spcPts val="400"/>
              </a:spcAft>
              <a:defRPr sz="1200">
                <a:solidFill>
                  <a:srgbClr val="0B1B2D"/>
                </a:solidFill>
              </a:defRPr>
            </a:pPr>
            <a:r>
              <a:t>• BATAS KLAIM EMPIRIS: Tidak ada data kuantitatif tentang kecepatan pengujian atau stabilitas sistem setelah penerapan DI.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membuktikan sifat isolasi dan propagasi error pada skenario sederhana. Namun belum membuktikan aspek lifecycle, kinerja, atau dampak empiris terhadap metrik rekayasa perangkat lunak.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Strictly separate proven unit-test behavior from unproven production-scale claims.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content/01-content-brief.md:13-17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Penerapan DI Manual vs Framework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Manual wiring menambah boilerplate tetapi memperjelas kontrak tipe tanpa dependensi eksternal.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KOMPROMI REKAYASA DI</a:t>
            </a:r>
          </a:p>
          <a:p>
            <a:pPr>
              <a:spcAft>
                <a:spcPts val="400"/>
              </a:spcAft>
              <a:defRPr sz="1200">
                <a:solidFill>
                  <a:srgbClr val="0B1B2D"/>
                </a:solidFill>
              </a:defRPr>
            </a:pPr>
            <a:r>
              <a:t>• Boilerplate vs Kemudahan: Manual wiring memerlukan kode ekstra di main.go; framework mengurangi boilerplate tetapi menambah kompleksitas.</a:t>
            </a:r>
          </a:p>
          <a:p>
            <a:pPr>
              <a:spcAft>
                <a:spcPts val="400"/>
              </a:spcAft>
              <a:defRPr sz="1200">
                <a:solidFill>
                  <a:srgbClr val="0B1B2D"/>
                </a:solidFill>
              </a:defRPr>
            </a:pPr>
            <a:r>
              <a:t>• Type Safety vs Fleksibilitas: Compiler memeriksa tipe parameter, bukan seluruh validitas graph; framework refleksi lebih fleksibel tetapi menambah risiko runtime.</a:t>
            </a:r>
          </a:p>
          <a:p>
            <a:pPr>
              <a:spcAft>
                <a:spcPts val="400"/>
              </a:spcAft>
              <a:defRPr sz="1200">
                <a:solidFill>
                  <a:srgbClr val="0B1B2D"/>
                </a:solidFill>
              </a:defRPr>
            </a:pPr>
            <a:r>
              <a:t>• Tidak Otomatis Skalabel: Pada object graph sangat besar, manual wiring memerlukan ketelitian perakitan; bukan berarti framework refleksi selalu diperlukan.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DI manual menuntut penulisan composition root yang jelas. Pada skala besar, overhead boilerplate dapat bertambah, namun trade-off ini sering diterima demi kejelasan kontrak dan kemudahan pengujian.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DI manual wiring trades boilerplate for type safety and zero external dependencies.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content/02-master-draft.md:76-81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Race Safety pada Implementasi DI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 dengan race detector memastikan tidak ada shared mutable state.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TestProcessor_Success(t *testing.T) {</a:t>
            </a:r>
            <a:br/>
            <a:r>
              <a:t>    mock := &amp;MockGateway{}</a:t>
            </a:r>
            <a:br/>
            <a:r>
              <a:t>    proc := di.NewProcessor(mock)</a:t>
            </a:r>
            <a:br/>
            <a:r>
              <a:t>    err := proc.ProcessPayment(50)</a:t>
            </a:r>
            <a:br/>
            <a:r>
              <a:t>    if err != nil {</a:t>
            </a:r>
            <a:br/>
            <a:r>
              <a:t>        t.Fatalf("expected nil error, got %v", err)</a:t>
            </a:r>
            <a:br/>
            <a:r>
              <a:t>    }</a:t>
            </a:r>
            <a:br/>
            <a:r>
              <a:t>    // Race detector passes; no shared mutable state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Race detector Go memeriksa akses memori konkuren. Pada pengujian ini, skenario test ini tidak menunjukkan race pada jalur yang dieksekusi karena komponen bersifat stateless.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Skenario test ini tidak menunjukkan race pada jalur yang dieksekusi.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tests/processor_test.go:23-35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Transformasi: Dari Hard-Coded ke Constructor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kode sebelum dan sesudah penerapan DI.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SEBELUM (TIGHT COUPLING) VS SESUDAH (DI)</a:t>
            </a:r>
          </a:p>
          <a:p>
            <a:pPr>
              <a:spcAft>
                <a:spcPts val="400"/>
              </a:spcAft>
              <a:defRPr sz="1200">
                <a:solidFill>
                  <a:srgbClr val="0B1B2D"/>
                </a:solidFill>
              </a:defRPr>
            </a:pPr>
            <a:r>
              <a:t>• Sebelum: Hard-Coded: Processor membuat RealGateway di dalam method; tidak bisa di-mock tanpa mengubah kode sumber.</a:t>
            </a:r>
          </a:p>
          <a:p>
            <a:pPr>
              <a:spcAft>
                <a:spcPts val="400"/>
              </a:spcAft>
              <a:defRPr sz="1200">
                <a:solidFill>
                  <a:srgbClr val="0B1B2D"/>
                </a:solidFill>
              </a:defRPr>
            </a:pPr>
            <a:r>
              <a:t>• Sesudah: DI Manual: NewProcessor menerima PaymentGateway; mock disuntikkan langsung pada test.</a:t>
            </a:r>
          </a:p>
          <a:p>
            <a:pPr>
              <a:spcAft>
                <a:spcPts val="400"/>
              </a:spcAft>
              <a:defRPr sz="1200">
                <a:solidFill>
                  <a:srgbClr val="0B1B2D"/>
                </a:solidFill>
              </a:defRPr>
            </a:pPr>
            <a:r>
              <a:t>• Bukan Berarti Sempurna: DI bukan solusi ajaib; tetap perlu disiplin composition root dan hindari over-injection.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Sebelum DI, kelas bisnis langsung menginstansiasi dependensi konkret, mengunci pada satu implementasi. Setelah DI, dependensi datang dari luar, memungkinkan penggantian dan pengujian terisolasi.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Replace internal instantiation with external injection to achieve loose coupling.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 internal/di/locator.go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Interface PaymentGateway: Kontrak Tunggal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Definisi metode Charge yang menerima value object Money.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Money struct {</a:t>
            </a:r>
            <a:br/>
            <a:r>
              <a:t>    Amount   int</a:t>
            </a:r>
            <a:br/>
            <a:r>
              <a:t>    Currency string</a:t>
            </a:r>
            <a:br/>
            <a:r>
              <a:t>}</a:t>
            </a:r>
            <a:br/>
            <a:br/>
            <a:r>
              <a:t>type PaymentGateway interface {</a:t>
            </a:r>
            <a:br/>
            <a:r>
              <a:t>    Charge(m Money) error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Interface PaymentGateway mendefinisikan kontrak tunggal untuk semua implementasi gateway. Money adalah value object yang mewakili uang dengan amount dan currency.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Define minimal interfaces that capture the required behavior without exposing implementation details.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internal/di/gateway.go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Money: Value Object yang Diinstansiasi Langsung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Value object tidak memerlukan DI karena tidak memiliki dependensi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(p *Processor) ProcessPayment(amount int) error {</a:t>
            </a:r>
            <a:br/>
            <a:r>
              <a:t>    if amount &lt;= 0 {</a:t>
            </a:r>
            <a:br/>
            <a:r>
              <a:t>        return errors.New("invalid amount")</a:t>
            </a:r>
            <a:br/>
            <a:r>
              <a:t>    }</a:t>
            </a:r>
            <a:br/>
            <a:r>
              <a:t>    m := Money{Amount: amount, Currency: "USD"}</a:t>
            </a:r>
            <a:br/>
            <a:r>
              <a:t>    return p.gateway.Charge(m)</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Money dibuat langsung di dalam method karena merupakan struktur data murni tanpa dependensi infrastruktur. Menggunakan DI untuk value object akan menambah abstraksi tanpa manfaat.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Instantiate value objects directly; reserve DI for services that depend on external infrastructure.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internal/di/processor.go:15-21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MockGateway: Test Double untuk Isolasi Pengujian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Mock meniru PaymentGateway tanpa panggilan jaringan nyata.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MockGateway struct {</a:t>
            </a:r>
            <a:br/>
            <a:r>
              <a:t>    ChargedMoney di.Money</a:t>
            </a:r>
            <a:br/>
            <a:r>
              <a:t>    ShouldFail   bool</a:t>
            </a:r>
            <a:br/>
            <a:r>
              <a:t>}</a:t>
            </a:r>
            <a:br/>
            <a:br/>
            <a:r>
              <a:t>func (m *MockGateway) Charge(money di.Money) error {</a:t>
            </a:r>
            <a:br/>
            <a:r>
              <a:t>    if m.ShouldFail {</a:t>
            </a:r>
            <a:br/>
            <a:r>
              <a:t>        return errors.New("gateway unavailable")</a:t>
            </a:r>
            <a:br/>
            <a:r>
              <a:t>    }</a:t>
            </a:r>
            <a:br/>
            <a:r>
              <a:t>    m.ChargedMoney = money</a:t>
            </a:r>
            <a:br/>
            <a:r>
              <a:t>    return nil</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MockGateway merekam panggilan Charge dan dapat dikonfigurasi untuk gagal. Hal ini memungkinkan pengujian error propagation tanpa koneksi jaringan riil.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Use mock doubles to isolate unit tests from external side effects.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tests/processor_test.go:10-21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Composition Root: main.go sebagai Titik Penyambungan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Satu-satunya tempat yang tahu implementasi konkret dan menyuntikkannya.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main() {</a:t>
            </a:r>
            <a:br/>
            <a:r>
              <a:t>    realGateway := &amp;di.RealGateway{}</a:t>
            </a:r>
            <a:br/>
            <a:r>
              <a:t>    processor := di.NewProcessor(realGateway)</a:t>
            </a:r>
            <a:br/>
            <a:r>
              <a:t>    fmt.Println("--- Running Constructor Injection ---")</a:t>
            </a:r>
            <a:br/>
            <a:r>
              <a:t>    err := processor.ProcessPayment(100)</a:t>
            </a:r>
            <a:br/>
            <a:r>
              <a:t>    if err != nil {</a:t>
            </a:r>
            <a:br/>
            <a:r>
              <a:t>        fmt.Printf("Error: %v\n", err)</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Composition root adalah fungsi main yang bertanggung jawab merakit object graph. Ia satu-satunya tempat yang mengimpor implementasi konkret RealGateway.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Centralize concrete instantiation in a single composition root to maintain separation of concerns.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cmd/demo/main.go:16-26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Input Sebelum Delegasi ke Gateway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Processor menolak amount &lt;= 0 tanpa memanggil gateway.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(p *Processor) ProcessPayment(amount int) error {</a:t>
            </a:r>
            <a:br/>
            <a:r>
              <a:t>    if amount &lt;= 0 {</a:t>
            </a:r>
            <a:br/>
            <a:r>
              <a:t>        return errors.New("invalid amount")</a:t>
            </a:r>
            <a:br/>
            <a:r>
              <a:t>    }</a:t>
            </a:r>
            <a:br/>
            <a:r>
              <a:t>    // ... create Money and call gateway</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Validasi input dilakukan sebelum delegasi ke dependensi eksternal. Ini mencegah panggilan jaringan sia-sia dan memastikan hanya amount yang valid yang diproses.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Validate inputs early to fail fast and avoid side effects in downstream dependencies.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internal/di/processor.go:15-18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Penerapan Dependency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Standar wajib sebelum menggabungkan modul bisnis dengan dependensi eksternal.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KRITERIA IMPLEMENTASI DI YANG BAIK</a:t>
            </a:r>
          </a:p>
          <a:p>
            <a:pPr>
              <a:spcAft>
                <a:spcPts val="400"/>
              </a:spcAft>
              <a:defRPr sz="1200">
                <a:solidFill>
                  <a:srgbClr val="0B1B2D"/>
                </a:solidFill>
              </a:defRPr>
            </a:pPr>
            <a:r>
              <a:t>• Dependensi dideklarasikan sebagai interface, bukan tipe konkret.</a:t>
            </a:r>
          </a:p>
          <a:p>
            <a:pPr>
              <a:spcAft>
                <a:spcPts val="400"/>
              </a:spcAft>
              <a:defRPr sz="1200">
                <a:solidFill>
                  <a:srgbClr val="0B1B2D"/>
                </a:solidFill>
              </a:defRPr>
            </a:pPr>
            <a:r>
              <a:t>• Constructor injection digunakan sebagai default untuk semua service.</a:t>
            </a:r>
          </a:p>
          <a:p>
            <a:pPr>
              <a:spcAft>
                <a:spcPts val="400"/>
              </a:spcAft>
              <a:defRPr sz="1200">
                <a:solidFill>
                  <a:srgbClr val="0B1B2D"/>
                </a:solidFill>
              </a:defRPr>
            </a:pPr>
            <a:r>
              <a:t>• Composition root (main.go atau setara) adalah satu-satunya tempat yang membuat implementasi konkret.</a:t>
            </a:r>
          </a:p>
          <a:p>
            <a:pPr>
              <a:spcAft>
                <a:spcPts val="400"/>
              </a:spcAft>
              <a:defRPr sz="1200">
                <a:solidFill>
                  <a:srgbClr val="0B1B2D"/>
                </a:solidFill>
              </a:defRPr>
            </a:pPr>
            <a:r>
              <a:t>• Tidak ada container.Get(...) di dalam logika domain.</a:t>
            </a:r>
          </a:p>
          <a:p>
            <a:pPr>
              <a:spcAft>
                <a:spcPts val="400"/>
              </a:spcAft>
              <a:defRPr sz="1200">
                <a:solidFill>
                  <a:srgbClr val="0B1B2D"/>
                </a:solidFill>
              </a:defRPr>
            </a:pPr>
            <a:r>
              <a:t>• Value objects (Money, DateTime, Address) diinstansiasi langsung.</a:t>
            </a:r>
          </a:p>
          <a:p>
            <a:pPr>
              <a:spcAft>
                <a:spcPts val="400"/>
              </a:spcAft>
              <a:defRPr sz="1200">
                <a:solidFill>
                  <a:srgbClr val="0B1B2D"/>
                </a:solidFill>
              </a:defRPr>
            </a:pPr>
            <a:r>
              <a:t>• Setiap service dapat diuji dengan mock tanpa setup infrastruktur.</a:t>
            </a:r>
          </a:p>
          <a:p>
            <a:pPr>
              <a:spcAft>
                <a:spcPts val="400"/>
              </a:spcAft>
              <a:defRPr sz="1200">
                <a:solidFill>
                  <a:srgbClr val="0B1B2D"/>
                </a:solidFill>
              </a:defRPr>
            </a:pPr>
            <a:r>
              <a:t>• Validasi input dilakukan sebelum delegasi ke dependensi eksternal.</a:t>
            </a:r>
          </a:p>
          <a:p>
            <a:pPr>
              <a:spcAft>
                <a:spcPts val="400"/>
              </a:spcAft>
              <a:defRPr sz="1200">
                <a:solidFill>
                  <a:srgbClr val="0B1B2D"/>
                </a:solidFill>
              </a:defRPr>
            </a:pPr>
            <a:r>
              <a:t>• Test mencakup happy path, error propagation, dan invalid input.</a:t>
            </a:r>
          </a:p>
          <a:p>
            <a:pPr>
              <a:spcAft>
                <a:spcPts val="400"/>
              </a:spcAft>
              <a:defRPr sz="1200">
                <a:solidFill>
                  <a:srgbClr val="0B1B2D"/>
                </a:solidFill>
              </a:defRPr>
            </a:pPr>
            <a:r>
              <a:t>• go test -race ./... PASS tanpa warning.</a:t>
            </a:r>
          </a:p>
          <a:p>
            <a:pPr>
              <a:spcAft>
                <a:spcPts val="400"/>
              </a:spcAft>
              <a:defRPr sz="1200">
                <a:solidFill>
                  <a:srgbClr val="0B1B2D"/>
                </a:solidFill>
              </a:defRPr>
            </a:pPr>
            <a:r>
              <a:t>• Heuristik lab (seperti 12 parameter) tidak dikutip sebagai standar universal.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prinsip-prinsip DI yang harus dipenuhi agar kode tetap teruji, terelaborasi, dan mudah berkembang.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dependency injection guidelines through a systematic checklist.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content/02-master-draft.md:155-167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Umum dalam Dependency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Kesalahan desain yang sering merusak manfaat DI.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HINDARI KESALAHAN INI</a:t>
            </a:r>
          </a:p>
          <a:p>
            <a:pPr>
              <a:spcAft>
                <a:spcPts val="400"/>
              </a:spcAft>
              <a:defRPr sz="1200">
                <a:solidFill>
                  <a:srgbClr val="0B1B2D"/>
                </a:solidFill>
              </a:defRPr>
            </a:pPr>
            <a:r>
              <a:t>• Service Locator di Domain: Menyuntikkan container ke kelas bisnis; dependensi menjadi tersembunyi.</a:t>
            </a:r>
          </a:p>
          <a:p>
            <a:pPr>
              <a:spcAft>
                <a:spcPts val="400"/>
              </a:spcAft>
              <a:defRPr sz="1200">
                <a:solidFill>
                  <a:srgbClr val="0B1B2D"/>
                </a:solidFill>
              </a:defRPr>
            </a:pPr>
            <a:r>
              <a:t>• Mengabstraksi Value Object: Memasukkan Money ke dalam container DI padahal hanya struktur data.</a:t>
            </a:r>
          </a:p>
          <a:p>
            <a:pPr>
              <a:spcAft>
                <a:spcPts val="400"/>
              </a:spcAft>
              <a:defRPr sz="1200">
                <a:solidFill>
                  <a:srgbClr val="0B1B2D"/>
                </a:solidFill>
              </a:defRPr>
            </a:pPr>
            <a:r>
              <a:t>• Constructor Bloat: Konstruktor dengan banyak parameter menandakan kelas melakukan terlalu banyak hal.</a:t>
            </a:r>
          </a:p>
          <a:p>
            <a:pPr>
              <a:spcAft>
                <a:spcPts val="400"/>
              </a:spcAft>
              <a:defRPr sz="1200">
                <a:solidFill>
                  <a:srgbClr val="0B1B2D"/>
                </a:solidFill>
              </a:defRPr>
            </a:pPr>
            <a:r>
              <a:t>• DI Overuse: Menggunakan DI untuk segala hal, termasuk fungsi murni tanpa state.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Service Locator adalah anti-pattern karena menyembunyikan dependensi. Value object seharusnya tidak diinject. Constructor bloat menunjukkan pelanggaran Single Responsibility Principle.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Identify and avoid common DI anti-patterns to preserve testability and clarity.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content/02-master-draft.md:135-146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di Mesin Lokal Menggunakan Go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Verifikasi mandiri DI dengan menjalankan test suite.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labs/16-dependency-injection</a:t>
            </a:r>
            <a:br/>
            <a:r>
              <a:t>go test -v ./...    # jalankan semua test case</a:t>
            </a:r>
            <a:br/>
            <a:r>
              <a:t>go test -race ./... # skenario test ini tidak menunjukkan race pada jalur yang dieksekusi</a:t>
            </a:r>
            <a:br/>
            <a:r>
              <a:t>go run ./cmd/demo   # eksekusi demo constructor injection &amp; service locator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Semua kode ditulis dengan Go standard library tanpa dependensi eksternal. Test suite mencakup isolasi, error propagation, dan validasi input.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Use minimal reproduction commands to verify DI implementation locally.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README.md:14-23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Inti: Dependency Harus Eksplisit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Konfigurasi terpisah dari penggunaan; interface sebagai kontrak.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PILAR ARSITEKTUR DI</a:t>
            </a:r>
          </a:p>
          <a:p>
            <a:pPr>
              <a:spcAft>
                <a:spcPts val="400"/>
              </a:spcAft>
              <a:defRPr sz="1200">
                <a:solidFill>
                  <a:srgbClr val="0B1B2D"/>
                </a:solidFill>
              </a:defRPr>
            </a:pPr>
            <a:r>
              <a:t>• Separation of Concerns: Configuration (composition root) terpisah dari use (business logic).</a:t>
            </a:r>
          </a:p>
          <a:p>
            <a:pPr>
              <a:spcAft>
                <a:spcPts val="400"/>
              </a:spcAft>
              <a:defRPr sz="1200">
                <a:solidFill>
                  <a:srgbClr val="0B1B2D"/>
                </a:solidFill>
              </a:defRPr>
            </a:pPr>
            <a:r>
              <a:t>• Program to Interfaces: Consumer bergantung pada kontrak interface, bukan implementasi konkret.</a:t>
            </a:r>
          </a:p>
          <a:p>
            <a:pPr>
              <a:spcAft>
                <a:spcPts val="400"/>
              </a:spcAft>
              <a:defRPr sz="1200">
                <a:solidFill>
                  <a:srgbClr val="0B1B2D"/>
                </a:solidFill>
              </a:defRPr>
            </a:pPr>
            <a:r>
              <a:t>• Explicit over Implicit: Semua dependensi dinyatakan eksplisit di constructor; tidak ada magic lookup.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DI menekankan kejelasan dependensi. Dengan memisahkan konfigurasi dan penggunaan, sistem menjadi lebih mudah diuji, dipahami, dan dikembangkan.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Architect systems with explicit dependencies and separated concerns for long-term maintainability.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Dependency Injection adalah tentang kejelasan, bukan kerumitan.</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Dependency Injection separates concerns, making systems testable and evolvable.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16 - Dependency Injection &amp; Inversion of Control</a:t>
            </a:r>
          </a:p>
          <a:p>
            <a:pPr>
              <a:defRPr sz="1200">
                <a:solidFill>
                  <a:srgbClr val="CBD5E1"/>
                </a:solidFill>
              </a:defRPr>
            </a:pPr>
            <a:r>
              <a:t>https://github.com/lukman-ss/software-engineering-lab/tree/main/labs/16-dependency-injection</a:t>
            </a:r>
          </a:p>
          <a:p>
            <a:br/>
            <a:pPr>
              <a:defRPr sz="1100" b="1">
                <a:solidFill>
                  <a:srgbClr val="20C997"/>
                </a:solidFill>
              </a:defRPr>
            </a:pPr>
            <a:r>
              <a:t>REPOSITORY</a:t>
            </a:r>
          </a:p>
          <a:p>
            <a:pPr>
              <a:defRPr sz="1100">
                <a:solidFill>
                  <a:srgbClr val="FFFFFF"/>
                </a:solidFill>
                <a:latin typeface="Courier New"/>
              </a:defRPr>
            </a:pPr>
            <a:r>
              <a:t>github.com/lukman-ss/software-engineering-lab</a:t>
            </a:r>
            <a:br/>
            <a:r>
              <a:t>labs/16-dependency-injection</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3d936ba</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Dependency Injection • IoC • Constructor Injection • Service Locator Anti-Pattern • Go • Mocking</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