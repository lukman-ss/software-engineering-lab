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Dependency Injection &amp; Inversion of Control</a:t>
            </a:r>
          </a:p>
          <a:p/>
          <a:p>
            <a:r>
              <a:t>Mental Model: Separate object configuration from business logic to enable fast, isolated verification.</a:t>
            </a:r>
          </a:p>
          <a:p/>
          <a:p>
            <a:r>
              <a:t>[]</a:t>
            </a:r>
          </a:p>
          <a:p>
            <a:r>
              <a:t>- Retro Terminal Displaying Decoupled Object Graph &amp; Interface Boundaries</a:t>
            </a:r>
          </a:p>
          <a:p>
            <a:r>
              <a:t>- Constructor Injection vs Service Locator Anti-Pattern in Pure Go</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Instansiasi Langsung di Logika Bisnis Mengunci Dependensi</a:t>
            </a:r>
          </a:p>
          <a:p/>
          <a:p>
            <a:r>
              <a:t>Mental Model: Direct object instantiation inside business logic locks domain code to external infrastructure.</a:t>
            </a:r>
          </a:p>
          <a:p/>
          <a:p>
            <a:r>
              <a:t>[DAMPAK INSTANSIASI LANGSUNG DI LOGIKA BISNIS]</a:t>
            </a:r>
          </a:p>
          <a:p>
            <a:r>
              <a:t>- Test Lambat &amp; Rapuh: Pengujian terpaksa menyentuh jaringan atau database eksternal karena dependensi tidak dapat diganti.</a:t>
            </a:r>
          </a:p>
          <a:p>
            <a:r>
              <a:t>- Vendor Lock-in Kaku: Mengganti gateway pembayaran memaksa refaktorisasi menyeluruh di seluruh lapisan logika domain.</a:t>
            </a:r>
          </a:p>
          <a:p>
            <a:r>
              <a:t>- Bukan Berarti Rusak: Kode berjalan normal di production, tetapi bukan berarti arsitektur mudah berevolusi tanpa rewrite.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Service Locator Terlihat Bersih Namun Menyembunyikan Keterikatan</a:t>
            </a:r>
          </a:p>
          <a:p/>
          <a:p>
            <a:r>
              <a:t>Mental Model: Passing a container into business logic hides true dependencies behind runtime lookups.</a:t>
            </a:r>
          </a:p>
          <a:p/>
          <a:p>
            <a:r>
              <a:t>[PENDEKATAN NAIF VS REALITA TEKNIS]</a:t>
            </a:r>
          </a:p>
          <a:p>
            <a:r>
              <a:t>- Kontrak Tersembunyi: Signature NewBadProcessor(Container) menyembunyikan service apa saja yang sebenarnya dibutuhkan.</a:t>
            </a:r>
          </a:p>
          <a:p>
            <a:r>
              <a:t>- Mocking Menjadi Rumit: Unit test wajib mem-mock container dan method lookup alih-alih langsung menyuplai service mock.</a:t>
            </a:r>
          </a:p>
          <a:p>
            <a:r>
              <a:t>- Tidak Otomatis Aman: Menghilangkan kata kunci 'new' tidak otomatis membuat kode loosely coupled jika container bocor ke domain.</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Pemisahan Konfigurasi dari Penggunaan: Dua Fase Terisolasi</a:t>
            </a:r>
          </a:p>
          <a:p/>
          <a:p>
            <a:r>
              <a:t>Mental Model: Separate configuration from use: assemble object graphs externally, pass dependencies via interfaces.</a:t>
            </a:r>
          </a:p>
          <a:p/>
          <a:p>
            <a:r>
              <a:t>[EMPAT PILAR SEPARATION OF CONFIGURATION FROM USE]</a:t>
            </a:r>
          </a:p>
          <a:p>
            <a:r>
              <a:t>- 1. Composition Root (Wiring Engine): Hanya main.go atau bootstrap yang berhak membuat struct konkret RealGateway.</a:t>
            </a:r>
          </a:p>
          <a:p>
            <a:r>
              <a:t>- 2. Interface Contract (Boundary Guard): Processor hanya mengenal PaymentGateway interface tanpa tahu implementasi jaringan.</a:t>
            </a:r>
          </a:p>
          <a:p>
            <a:r>
              <a:t>- 3. Constructor Injection (State Verifier): NewProcessor(g) menjamin dependensi valid saat inisialisasi tanpa mutasi runtime.</a:t>
            </a:r>
          </a:p>
          <a:p>
            <a:r>
              <a:t>- 4. Value Objects (Direct Instantiation): Money dibuat langsung; hanya pada jalur ini objek tanpa IO eksternal tidak di-inject.</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Eksekusi: Composition Root ke Processor dan Gateway</a:t>
            </a:r>
          </a:p>
          <a:p/>
          <a:p>
            <a:r>
              <a:t>Mental Model: Validate inputs locally at domain boundaries before delegating to external interface contracts.</a:t>
            </a:r>
          </a:p>
          <a:p/>
          <a:p>
            <a:r>
              <a:t>[ALUR TRANSAKSI PEMBAYARAN TERISOLASI]</a:t>
            </a:r>
          </a:p>
          <a:p>
            <a:r>
              <a:t>- 1. Instantiation (main.go): Menginstansiasi RealGateway{} dan menginjeksi ke NewProcessor(realGateway).</a:t>
            </a:r>
          </a:p>
          <a:p>
            <a:r>
              <a:t>- 2. Input Validation (Processor Guard): Memeriksa amount &lt;= 0; mengembalikan error instan sebelum menyentuh gateway.</a:t>
            </a:r>
          </a:p>
          <a:p>
            <a:r>
              <a:t>- 3. Value Assembly (Domain Layer): Membentuk struct Money{Amount, Currency} langsung di stack memory.</a:t>
            </a:r>
          </a:p>
          <a:p>
            <a:r>
              <a:t>- 4. Gateway Charge (PaymentGateway): Mendelegasikan Charge(m); belum membuktikan performa di jaringan latency tinggi.</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Constructor Injection: Dependensi Eksplisit dan Valid Saat Lahir</a:t>
            </a:r>
          </a:p>
          <a:p/>
          <a:p>
            <a:r>
              <a:t>Mental Model: Constructor injection guarantees immutable references and makes all dependencies explicit in the constructor signature.</a:t>
            </a:r>
          </a:p>
          <a:p/>
          <a:p>
            <a:r>
              <a:t>[internal/di/processor.go]</a:t>
            </a:r>
          </a:p>
          <a:p>
            <a:r>
              <a:t>- type Processor struct {</a:t>
            </a:r>
          </a:p>
          <a:p>
            <a:r>
              <a:t>-     gateway PaymentGateway</a:t>
            </a:r>
          </a:p>
          <a:p>
            <a:r>
              <a:t>- }</a:t>
            </a:r>
          </a:p>
          <a:p>
            <a:r>
              <a:t>- func NewProcessor(g PaymentGateway) *Processor {</a:t>
            </a:r>
          </a:p>
          <a:p>
            <a:r>
              <a:t>-     return &amp;Processor{gateway: g}</a:t>
            </a:r>
          </a:p>
          <a:p>
            <a:r>
              <a:t>- }</a:t>
            </a:r>
          </a:p>
          <a:p>
            <a:r>
              <a:t>- func (p *Processor) ProcessPayment(amount int) error {</a:t>
            </a:r>
          </a:p>
          <a:p>
            <a:r>
              <a:t>-     if amount &lt;= 0 { return errors.New("invalid amount") }</a:t>
            </a:r>
          </a:p>
          <a:p>
            <a:r>
              <a:t>-     m := Money{Amount: amount, Currency: "USD"}</a:t>
            </a:r>
          </a:p>
          <a:p>
            <a:r>
              <a:t>-     return p.gateway.Charge(m)</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Kegagalan Service Locator: Keterikatan Tersembunyi Container</a:t>
            </a:r>
          </a:p>
          <a:p/>
          <a:p>
            <a:r>
              <a:t>Mental Model: Hiding dependencies inside a container transforms compile-time missing dependency checks into runtime failures.</a:t>
            </a:r>
          </a:p>
          <a:p/>
          <a:p>
            <a:r>
              <a:t>[SKENARIO KEGAGALAN SERVICE LOCATOR]</a:t>
            </a:r>
          </a:p>
          <a:p>
            <a:r>
              <a:t>- Dependensi Gelap: Membaca signature konstruktor tidak memberi tahu reviewer bahwa kelas membutuhkan PaymentGateway.</a:t>
            </a:r>
          </a:p>
          <a:p>
            <a:r>
              <a:t>- Runtime Resolution Bug: Jika container mengembalikan nil saat GetPaymentGateway(), terjadi nil-pointer panic saat runtime.</a:t>
            </a:r>
          </a:p>
          <a:p>
            <a:r>
              <a:t>- Pelanggaran PSR-11: Passing container ke dalam domain object melanggar panduan PSR-11: 'SHOULD NOT pass container'.</a:t>
            </a:r>
          </a:p>
          <a:p>
            <a:r>
              <a:t>- Rigid Coupling: Kelas terikat mati pada kontrak Container; hanya pada jalur ini pengujian terpaksa membuat mock container.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Matriks Komparasi: Constructor Injection vs Service Locator</a:t>
            </a:r>
          </a:p>
          <a:p/>
          <a:p>
            <a:r>
              <a:t>Mental Model: Prefer compile-time safety and explicit dependencies over opaque runtime container lookups.</a:t>
            </a:r>
          </a:p>
          <a:p/>
          <a:p>
            <a:r>
              <a:t>[FITUR ARSITEKTUR VS POLA DESAIN]</a:t>
            </a:r>
          </a:p>
          <a:p>
            <a:r>
              <a:t>- Dimensi Evaluasi | Constructor Injection (Processor) | Service Locator (BadProcessor)</a:t>
            </a:r>
          </a:p>
          <a:p>
            <a:r>
              <a:t>- Deklarasi Dependensi | Eksplisit di parameter NewProcessor | Tersembunyi di balik Container</a:t>
            </a:r>
          </a:p>
          <a:p>
            <a:r>
              <a:t>- Type Safety &amp; Validitas | Compile-time check, valid at birth | Runtime resolution, rawan nil panic</a:t>
            </a:r>
          </a:p>
          <a:p>
            <a:r>
              <a:t>- Beban Mocking Pengujian | Minimal: langsung injeksi MockGateway | Ganda: wajib MockContainer + MockGateway</a:t>
            </a:r>
          </a:p>
          <a:p>
            <a:r>
              <a:t>- Kopling Domain Logic | Nol ke framework / container | Terikat langsung ke interface Container</a:t>
            </a:r>
          </a:p>
          <a:p>
            <a:r>
              <a:t>- Rekomendasi Standar | Best practice industri modern | Discouraged (PSR-11: SHOULD NOT)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Keputusan Arsitektur: Memilih Pola Perakitan Dependensi</a:t>
            </a:r>
          </a:p>
          <a:p/>
          <a:p>
            <a:r>
              <a:t>Mental Model: Default to constructor injection for services, instantiate value objects directly, and assemble graphs in main.</a:t>
            </a:r>
          </a:p>
          <a:p/>
          <a:p>
            <a:r>
              <a:t>[SEKUENS KEPUTUSAN WIRING DEPENDENSI]</a:t>
            </a:r>
          </a:p>
          <a:p>
            <a:r>
              <a:t>- 1. Constructor Default: Gunakan Constructor Injection untuk semua service inti demi validitas status dan immutability.</a:t>
            </a:r>
          </a:p>
          <a:p>
            <a:r>
              <a:t>- 2. Bypass Value Objects: Instansiasi langsung struct data murni seperti Money; jangan kelola DTO di dalam injector.</a:t>
            </a:r>
          </a:p>
          <a:p>
            <a:r>
              <a:t>- 3. Manual Composition: Gunakan manual wiring di main.go; bukan berarti anti-framework, melainkan prioritas kesederhanaan YAGNI.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Eksekusi Demo cmd/demo dan Test Suite Lolos Bersih</a:t>
            </a:r>
          </a:p>
          <a:p/>
          <a:p>
            <a:r>
              <a:t>Mental Model: Executable verification proves functional parity between patterns while exposing architectural divergence.</a:t>
            </a:r>
          </a:p>
          <a:p/>
          <a:p>
            <a:r>
              <a:t>[TERMINAL OUTPUT: go test -v -race ./... &amp;&amp; go run ./cmd/demo]</a:t>
            </a:r>
          </a:p>
          <a:p>
            <a:r>
              <a:t>- === RUN   TestProcessor_Success</a:t>
            </a:r>
          </a:p>
          <a:p>
            <a:r>
              <a:t>- --- PASS: TestProcessor_Success (0.00s)</a:t>
            </a:r>
          </a:p>
          <a:p>
            <a:r>
              <a:t>- === RUN   TestProcessor_GatewayError</a:t>
            </a:r>
          </a:p>
          <a:p>
            <a:r>
              <a:t>- --- PASS: TestProcessor_GatewayError (0.00s)</a:t>
            </a:r>
          </a:p>
          <a:p>
            <a:r>
              <a:t>- === RUN   TestProcessor_InvalidAmount</a:t>
            </a:r>
          </a:p>
          <a:p>
            <a:r>
              <a:t>- --- PASS: TestProcessor_InvalidAmount (0.00s)</a:t>
            </a:r>
          </a:p>
          <a:p>
            <a:r>
              <a:t>- === RUN   TestBadProcessor_Success / GatewayError / InvalidAmount</a:t>
            </a:r>
          </a:p>
          <a:p>
            <a:r>
              <a:t>- --- PASS: TestBadProcessor_* (0.00s)</a:t>
            </a:r>
          </a:p>
          <a:p>
            <a:r>
              <a:t>- PASS: ok lab16/tests 1.356s (race detector: clean)</a:t>
            </a:r>
          </a:p>
          <a:p>
            <a:r>
              <a:t>- --- Running Constructor Injection: RealGateway charging 100 USD</a:t>
            </a:r>
          </a:p>
          <a:p>
            <a:r>
              <a:t>- --- Running Service Locator: RealGateway charging 200 USD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Batasan Bukti Lab: Yang Dibuktikan vs Belum</a:t>
            </a:r>
          </a:p>
          <a:p/>
          <a:p>
            <a:r>
              <a:t>Mental Model: Clearly delimit verified architectural properties from unproven enterprise heuristics.</a:t>
            </a:r>
          </a:p>
          <a:p/>
          <a:p>
            <a:r>
              <a:t>[BATAS PEMBUKTIAN SISTEM]</a:t>
            </a:r>
          </a:p>
          <a:p>
            <a:r>
              <a:t>- YANG DIBUKTIKAN: Isolasi unit test via mock, validasi guard amount &lt;= 0, dan propagasi gateway error.</a:t>
            </a:r>
          </a:p>
          <a:p>
            <a:r>
              <a:t>- YANG TIDAK DIBUKTIKAN: Lifecycle management singleton/scoped/transient dan performa container otomatis.</a:t>
            </a:r>
          </a:p>
          <a:p>
            <a:r>
              <a:t>- BATAS KLAIM EMPIRIS: Lab belum membuktikan klaim reduksi defect rate production atau batas baku 12 parameter.</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Penerapan Dependency Injection</a:t>
            </a:r>
          </a:p>
          <a:p/>
          <a:p>
            <a:r>
              <a:t>Mental Model: DI trades code colocation and simple tracing for loose coupling and isolated testability.</a:t>
            </a:r>
          </a:p>
          <a:p/>
          <a:p>
            <a:r>
              <a:t>[KOMPROMI REKAYASA DEPENDENCY INJECTION]</a:t>
            </a:r>
          </a:p>
          <a:p>
            <a:r>
              <a:t>- Indirection &amp; Tracing: Pemisahan konstruksi menyulitkan penelusuran implementasi konkret saat membaca kode tanpa IDE canggih.</a:t>
            </a:r>
          </a:p>
          <a:p>
            <a:r>
              <a:t>- Boilerplate Inisialisasi: Manual wiring menambah baris perakitan di composition root seiring membesarnya graph objek.</a:t>
            </a:r>
          </a:p>
          <a:p>
            <a:r>
              <a:t>- Tidak Otomatis Sederhana: Menerapkan DI tidak otomatis menyederhanakan kode jika kelas belum memiliki abstraksi yang stabil.</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Keamanan Konkurensi pada Komponen Stateless</a:t>
            </a:r>
          </a:p>
          <a:p/>
          <a:p>
            <a:r>
              <a:t>Mental Model: Stateless service components receiving read-only interface references are inherently thread-safe.</a:t>
            </a:r>
          </a:p>
          <a:p/>
          <a:p>
            <a:r>
              <a:t>[internal/di/processor.go]</a:t>
            </a:r>
          </a:p>
          <a:p>
            <a:r>
              <a:t>- // Processor stateless: gateway bersifat read-only setelah konstruksi</a:t>
            </a:r>
          </a:p>
          <a:p>
            <a:r>
              <a:t>- type Processor struct {</a:t>
            </a:r>
          </a:p>
          <a:p>
            <a:r>
              <a:t>-     gateway PaymentGateway</a:t>
            </a:r>
          </a:p>
          <a:p>
            <a:r>
              <a:t>- }</a:t>
            </a:r>
          </a:p>
          <a:p>
            <a:r>
              <a:t>- // Aman dipanggil lintas goroutine selama gateway thread-safe</a:t>
            </a:r>
          </a:p>
          <a:p>
            <a:r>
              <a:t>- func (p *Processor) ProcessPayment(amount int) error {</a:t>
            </a:r>
          </a:p>
          <a:p>
            <a:r>
              <a:t>-     if amount &lt;= 0 { return errors.New("invalid amount") }</a:t>
            </a:r>
          </a:p>
          <a:p>
            <a:r>
              <a:t>-     m := Money{Amount: amount, Currency: "USD"}</a:t>
            </a:r>
          </a:p>
          <a:p>
            <a:r>
              <a:t>-     return p.gateway.Charge(m)</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Transformasi Desain: Hardcoded vs Constructor Injection</a:t>
            </a:r>
          </a:p>
          <a:p/>
          <a:p>
            <a:r>
              <a:t>Mental Model: Extract concrete instantiation to constructor parameters to transform flaky integration tests into instant unit tests.</a:t>
            </a:r>
          </a:p>
          <a:p/>
          <a:p>
            <a:r>
              <a:t>[SEBELUM (HARDCODED) VS SESUDAH (DI VIA CONSTRUCTOR)]</a:t>
            </a:r>
          </a:p>
          <a:p>
            <a:r>
              <a:t>- Sebelum: new RealGateway(): Logika pembayaran menginstansiasi network client di dalam method; unit test mustahil tanpa internet.</a:t>
            </a:r>
          </a:p>
          <a:p>
            <a:r>
              <a:t>- Sesudah: Constructor Injection: Processor menerima PaymentGateway; unit test berjalan 0.00s menggunakan MockGateway.</a:t>
            </a:r>
          </a:p>
          <a:p>
            <a:r>
              <a:t>- Bukan Berarti Rumit: Refaktorisasi ke constructor injection hanya menambah 3 baris kode namun membuka kemampuan testability.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Interface Minimal dan Pengecualian untuk Value Object</a:t>
            </a:r>
          </a:p>
          <a:p/>
          <a:p>
            <a:r>
              <a:t>Mental Model: Inject external infrastructure services; instantiate pure immutable value objects directly.</a:t>
            </a:r>
          </a:p>
          <a:p/>
          <a:p>
            <a:r>
              <a:t>[internal/di/gateway.go]</a:t>
            </a:r>
          </a:p>
          <a:p>
            <a:r>
              <a:t>- // Money adalah value object data murni: instansiasi langsung</a:t>
            </a:r>
          </a:p>
          <a:p>
            <a:r>
              <a:t>- type Money struct {</a:t>
            </a:r>
          </a:p>
          <a:p>
            <a:r>
              <a:t>-     Amount   int</a:t>
            </a:r>
          </a:p>
          <a:p>
            <a:r>
              <a:t>-     Currency string</a:t>
            </a:r>
          </a:p>
          <a:p>
            <a:r>
              <a:t>- }</a:t>
            </a:r>
          </a:p>
          <a:p>
            <a:r>
              <a:t>- // PaymentGateway mendefinisikan kontrak minimal abstraction</a:t>
            </a:r>
          </a:p>
          <a:p>
            <a:r>
              <a:t>- type PaymentGateway interface {</a:t>
            </a:r>
          </a:p>
          <a:p>
            <a:r>
              <a:t>-     Charge(m Money) error</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Pengujian Terisolasi Menggunakan Test Double MockGateway</a:t>
            </a:r>
          </a:p>
          <a:p/>
          <a:p>
            <a:r>
              <a:t>Mental Model: Test doubles verify business logic deterministically without incurring network latency or side effects.</a:t>
            </a:r>
          </a:p>
          <a:p/>
          <a:p>
            <a:r>
              <a:t>[tests/processor_test.go]</a:t>
            </a:r>
          </a:p>
          <a:p>
            <a:r>
              <a:t>- type MockGateway struct {</a:t>
            </a:r>
          </a:p>
          <a:p>
            <a:r>
              <a:t>-     ChargedMoney di.Money</a:t>
            </a:r>
          </a:p>
          <a:p>
            <a:r>
              <a:t>-     ShouldFail   bool</a:t>
            </a:r>
          </a:p>
          <a:p>
            <a:r>
              <a:t>- }</a:t>
            </a:r>
          </a:p>
          <a:p>
            <a:r>
              <a:t>- func (m *MockGateway) Charge(money di.Money) error {</a:t>
            </a:r>
          </a:p>
          <a:p>
            <a:r>
              <a:t>-     if m.ShouldFail { return errors.New("gateway unavailable") }</a:t>
            </a:r>
          </a:p>
          <a:p>
            <a:r>
              <a:t>-     m.ChargedMoney = money</a:t>
            </a:r>
          </a:p>
          <a:p>
            <a:r>
              <a:t>-     return nil</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Validasi Pre-Check Mencegah Panggilan Jaringan Sia-sia</a:t>
            </a:r>
          </a:p>
          <a:p/>
          <a:p>
            <a:r>
              <a:t>Mental Model: Enforce business validation guards before delegating to downstream infrastructure dependencies.</a:t>
            </a:r>
          </a:p>
          <a:p/>
          <a:p>
            <a:r>
              <a:t>[tests/processor_test.go]</a:t>
            </a:r>
          </a:p>
          <a:p>
            <a:r>
              <a:t>- func TestProcessor_InvalidAmount(t *testing.T) {</a:t>
            </a:r>
          </a:p>
          <a:p>
            <a:r>
              <a:t>-     mock := &amp;MockGateway{}</a:t>
            </a:r>
          </a:p>
          <a:p>
            <a:r>
              <a:t>-     proc := di.NewProcessor(mock)</a:t>
            </a:r>
          </a:p>
          <a:p>
            <a:r>
              <a:t>-     err := proc.ProcessPayment(-10)</a:t>
            </a:r>
          </a:p>
          <a:p>
            <a:r>
              <a:t>-     if err == nil { t.Fatalf("expected error for negative amount") }</a:t>
            </a:r>
          </a:p>
          <a:p>
            <a:r>
              <a:t>-     if mock.ChargedMoney.Amount != 0 {</a:t>
            </a:r>
          </a:p>
          <a:p>
            <a:r>
              <a:t>-         t.Errorf("gateway should not have been called, got %d",</a:t>
            </a:r>
          </a:p>
          <a:p>
            <a:r>
              <a:t>-             mock.ChargedMoney.Amount)</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Propagasi Error Transparan dari Lapisan Infrastruktur</a:t>
            </a:r>
          </a:p>
          <a:p/>
          <a:p>
            <a:r>
              <a:t>Mental Model: Transparent error propagation preserves downstream failure context for upstream callers.</a:t>
            </a:r>
          </a:p>
          <a:p/>
          <a:p>
            <a:r>
              <a:t>[tests/processor_test.go]</a:t>
            </a:r>
          </a:p>
          <a:p>
            <a:r>
              <a:t>- func TestProcessor_GatewayError(t *testing.T) {</a:t>
            </a:r>
          </a:p>
          <a:p>
            <a:r>
              <a:t>-     mock := &amp;MockGateway{ShouldFail: true}</a:t>
            </a:r>
          </a:p>
          <a:p>
            <a:r>
              <a:t>-     proc := di.NewProcessor(mock)</a:t>
            </a:r>
          </a:p>
          <a:p>
            <a:r>
              <a:t>-     err := proc.ProcessPayment(50)</a:t>
            </a:r>
          </a:p>
          <a:p>
            <a:r>
              <a:t>-     if err == nil {</a:t>
            </a:r>
          </a:p>
          <a:p>
            <a:r>
              <a:t>-         t.Fatalf("expected error from gateway, got nil")</a:t>
            </a:r>
          </a:p>
          <a:p>
            <a:r>
              <a:t>-     }</a:t>
            </a:r>
          </a:p>
          <a:p>
            <a:r>
              <a:t>-     // Verifikasi error gateway sampai ke pemanggil</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Composition Root di cmd/demo: Satu Titik Perakitan Objek</a:t>
            </a:r>
          </a:p>
          <a:p/>
          <a:p>
            <a:r>
              <a:t>Mental Model: Centralize concrete component instantiations strictly within the application composition root.</a:t>
            </a:r>
          </a:p>
          <a:p/>
          <a:p>
            <a:r>
              <a:t>[cmd/demo/main.go]</a:t>
            </a:r>
          </a:p>
          <a:p>
            <a:r>
              <a:t>- func main() {</a:t>
            </a:r>
          </a:p>
          <a:p>
            <a:r>
              <a:t>-     // Instansiasi dependensi konkret</a:t>
            </a:r>
          </a:p>
          <a:p>
            <a:r>
              <a:t>-     realGateway := &amp;di.RealGateway{}</a:t>
            </a:r>
          </a:p>
          <a:p>
            <a:r>
              <a:t>-     // Constructor Injection eksplisit</a:t>
            </a:r>
          </a:p>
          <a:p>
            <a:r>
              <a:t>-     processor := di.NewProcessor(realGateway)</a:t>
            </a:r>
          </a:p>
          <a:p>
            <a:r>
              <a:t>-     _ = processor.ProcessPayment(100)</a:t>
            </a:r>
          </a:p>
          <a:p>
            <a:r>
              <a:t>-     // Service Locator anti-pattern untuk demonstrasi</a:t>
            </a:r>
          </a:p>
          <a:p>
            <a:r>
              <a:t>-     container := &amp;SimpleContainer{gateway: realGateway}</a:t>
            </a:r>
          </a:p>
          <a:p>
            <a:r>
              <a:t>-     badProcessor := di.NewBadProcessor(container)</a:t>
            </a:r>
          </a:p>
          <a:p>
            <a:r>
              <a:t>-     _ = badProcessor.ProcessPayment(200)</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Penerapan Dependency Injection di Go</a:t>
            </a:r>
          </a:p>
          <a:p/>
          <a:p>
            <a:r>
              <a:t>Mental Model: Apply strict architectural gates to ensure dependencies remain explicit and testable.</a:t>
            </a:r>
          </a:p>
          <a:p/>
          <a:p>
            <a:r>
              <a:t>[KRITERIA IMPLEMENTASI DI]</a:t>
            </a:r>
          </a:p>
          <a:p>
            <a:r>
              <a:t>- Dependensi infrastruktur dideklarasikan sebagai interface, bukan struct konkret.</a:t>
            </a:r>
          </a:p>
          <a:p>
            <a:r>
              <a:t>- Constructor injection digunakan sebagai default; semua dependensi eksplisit di parameter.</a:t>
            </a:r>
          </a:p>
          <a:p>
            <a:r>
              <a:t>- Composition root (main.go atau wire bootstrap) adalah satu-satunya perakit implementasi konkret.</a:t>
            </a:r>
          </a:p>
          <a:p>
            <a:r>
              <a:t>- Tidak ada pemanggilan generic container.Get() di dalam lapisan logika domain bisnis.</a:t>
            </a:r>
          </a:p>
          <a:p>
            <a:r>
              <a:t>- Value object murni (seperti Money) diinstansiasi langsung tanpa melalui injection container.</a:t>
            </a:r>
          </a:p>
          <a:p>
            <a:r>
              <a:t>- Seluruh service memiliki unit test terisolasi menggunakan mock tanpa menyentuh jaringan.</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Umum dalam Penerapan Dependency Injection</a:t>
            </a:r>
          </a:p>
          <a:p/>
          <a:p>
            <a:r>
              <a:t>Mental Model: Avoid container leakage, prevent constructor parameter bloat, and never inject pure value objects.</a:t>
            </a:r>
          </a:p>
          <a:p/>
          <a:p>
            <a:r>
              <a:t>[HINDARI KESALAHAN UMUM INI]</a:t>
            </a:r>
          </a:p>
          <a:p>
            <a:r>
              <a:t>- Service Locator Leak: Mengoper Container ke dalam domain; menyembunyikan dependensi nyata di balik lookup method runtime.</a:t>
            </a:r>
          </a:p>
          <a:p>
            <a:r>
              <a:t>- Over-Injection &amp; Bloat: Konstruktor menerima belasan dependensi; sinyal keras pelanggaran Single Responsibility Principle.</a:t>
            </a:r>
          </a:p>
          <a:p>
            <a:r>
              <a:t>- Value Object Injection: Memasukkan struct data murni seperti Money atau DateTime ke container DI; bukan berarti lebih bersih.</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di Mesin Lokal Menggunakan Go</a:t>
            </a:r>
          </a:p>
          <a:p/>
          <a:p>
            <a:r>
              <a:t>Mental Model: Zero-dependency local verification guarantees fast, repeatable validation across developer workflows.</a:t>
            </a:r>
          </a:p>
          <a:p/>
          <a:p>
            <a:r>
              <a:t>[COMMAND RUNNER (ZERO DEPENDENCIES)]</a:t>
            </a:r>
          </a:p>
          <a:p>
            <a:r>
              <a:t>- cd labs/16-dependency-injection</a:t>
            </a:r>
          </a:p>
          <a:p>
            <a:r>
              <a:t>- go test -v ./...    # validasi unit test terisolasi Processor dan BadProcessor</a:t>
            </a:r>
          </a:p>
          <a:p>
            <a:r>
              <a:t>- go test -race ./... # verifikasi konkurensi stateless bebas race condition</a:t>
            </a:r>
          </a:p>
          <a:p>
            <a:r>
              <a:t>- go run ./cmd/demo   # eksekusi komparasi Constructor Injection vs Service Locator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Inti: Pisahkan Konfigurasi, Eksplisitkan Kontrak</a:t>
            </a:r>
          </a:p>
          <a:p/>
          <a:p>
            <a:r>
              <a:t>Mental Model: Decouple configuration from execution to preserve long-term evolvability and testability.</a:t>
            </a:r>
          </a:p>
          <a:p/>
          <a:p>
            <a:r>
              <a:t>[TIGA PILAR KELANGSUNGAN ARSITEKTUR]</a:t>
            </a:r>
          </a:p>
          <a:p>
            <a:r>
              <a:t>- Pisahkan Konfigurasi: Biarkan composition root merakit graf objek; modul bisnis fokus murni pada aturan domain.</a:t>
            </a:r>
          </a:p>
          <a:p>
            <a:r>
              <a:t>- Kontrak Eksplisit: Gunakan Constructor Injection agar dependensi terlihat transparan sejak kompilasi.</a:t>
            </a:r>
          </a:p>
          <a:p>
            <a:r>
              <a:t>- Disiplin Batas Domain: Menerapkan DI tidak otomatis menyelesaikan semua masalah jika batasan bounded context tidak dirancang benar.</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Logika bisnis yang menginstansiasi dependensinya sendiri adalah sistem yang menolak untuk diuji.</a:t>
            </a:r>
          </a:p>
          <a:p/>
          <a:p>
            <a:r>
              <a:t>Mental Model: Business logic that instantiates its own dependencies creates code that resists testing.</a:t>
            </a:r>
          </a:p>
          <a:p/>
          <a:p>
            <a:r>
              <a:t>[MODUL IMPLEMENTASI]</a:t>
            </a:r>
          </a:p>
          <a:p>
            <a:r>
              <a:t>- internal/di/gateway.go • internal/di/processor.go • internal/di/locator.go</a:t>
            </a:r>
          </a:p>
          <a:p>
            <a:r>
              <a:t>- cmd/demo/main.go • tests/processor_test.go</a:t>
            </a:r>
          </a:p>
          <a:p>
            <a:r>
              <a:t>- engineering/01-design.md • content/02-master-draft.md</a:t>
            </a:r>
          </a:p>
          <a:p>
            <a:r>
              <a:t>[VERIFIKASI &amp; STATUS]</a:t>
            </a:r>
          </a:p>
          <a:p>
            <a:r>
              <a:t>- Commit: 5563838 • Status: APPROVED</a:t>
            </a:r>
          </a:p>
          <a:p>
            <a:r>
              <a:t>- Test passing: 6 unit tests (happy path, gateway error, input validation pre-check)</a:t>
            </a:r>
          </a:p>
          <a:p>
            <a:r>
              <a:t>- Race detector: Clean (go test -race ./... PASS in 1.35s)</a:t>
            </a:r>
          </a:p>
          <a:p>
            <a:r>
              <a:t>- Manual wiring Go murni; bukan framework DI berbasis refleksi runtime.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16</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Dependency Injection &amp; Inversion of Control</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Memisahkan Konfigurasi dari Penggunaan untuk Pengujian Terisolasi di Go</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Instansiasi Langsung di Logika Bisnis Mengunci Dependensi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class memanggil new concrete service di dalam method, sistem terkunci pada infrastruktur.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DAMPAK INSTANSIASI LANGSUNG DI LOGIKA BISNIS</a:t>
            </a:r>
          </a:p>
          <a:p>
            <a:pPr>
              <a:spcAft>
                <a:spcPts val="400"/>
              </a:spcAft>
              <a:defRPr sz="1200">
                <a:solidFill>
                  <a:srgbClr val="0B1B2D"/>
                </a:solidFill>
              </a:defRPr>
            </a:pPr>
            <a:r>
              <a:t>• Test Lambat &amp; Rapuh: Pengujian terpaksa menyentuh jaringan atau database eksternal karena dependensi tidak dapat diganti.</a:t>
            </a:r>
          </a:p>
          <a:p>
            <a:pPr>
              <a:spcAft>
                <a:spcPts val="400"/>
              </a:spcAft>
              <a:defRPr sz="1200">
                <a:solidFill>
                  <a:srgbClr val="0B1B2D"/>
                </a:solidFill>
              </a:defRPr>
            </a:pPr>
            <a:r>
              <a:t>• Vendor Lock-in Kaku: Mengganti gateway pembayaran memaksa refaktorisasi menyeluruh di seluruh lapisan logika domain.</a:t>
            </a:r>
          </a:p>
          <a:p>
            <a:pPr>
              <a:spcAft>
                <a:spcPts val="400"/>
              </a:spcAft>
              <a:defRPr sz="1200">
                <a:solidFill>
                  <a:srgbClr val="0B1B2D"/>
                </a:solidFill>
              </a:defRPr>
            </a:pPr>
            <a:r>
              <a:t>• Bukan Berarti Rusak: Kode berjalan normal di production, tetapi bukan berarti arsitektur mudah berevolusi tanpa rewrite.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Ketika kelas menginstansiasi dependensi secara langsung di dalam method, logika bisnis terkunci ke infrastruktur konkret. Kode mungkin bekerja tanpa error di tahap awal, bukan berarti arsitekturnya sehat ketika vendor pihak ketiga harus diganti.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Direct object instantiation inside business logic locks domain code to external infrastructure.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Service Locator Terlihat Bersih Namun Menyembunyikan Keterikatan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Menyuntikkan generic container memindahkan instansiasi keluar tetapi mengaburkan kontrak dependensi.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PENDEKATAN NAIF VS REALITA TEKNIS</a:t>
            </a:r>
          </a:p>
          <a:p>
            <a:pPr>
              <a:spcAft>
                <a:spcPts val="400"/>
              </a:spcAft>
              <a:defRPr sz="1200">
                <a:solidFill>
                  <a:srgbClr val="0B1B2D"/>
                </a:solidFill>
              </a:defRPr>
            </a:pPr>
            <a:r>
              <a:t>• Kontrak Tersembunyi: Signature NewBadProcessor(Container) menyembunyikan service apa saja yang sebenarnya dibutuhkan.</a:t>
            </a:r>
          </a:p>
          <a:p>
            <a:pPr>
              <a:spcAft>
                <a:spcPts val="400"/>
              </a:spcAft>
              <a:defRPr sz="1200">
                <a:solidFill>
                  <a:srgbClr val="0B1B2D"/>
                </a:solidFill>
              </a:defRPr>
            </a:pPr>
            <a:r>
              <a:t>• Mocking Menjadi Rumit: Unit test wajib mem-mock container dan method lookup alih-alih langsung menyuplai service mock.</a:t>
            </a:r>
          </a:p>
          <a:p>
            <a:pPr>
              <a:spcAft>
                <a:spcPts val="400"/>
              </a:spcAft>
              <a:defRPr sz="1200">
                <a:solidFill>
                  <a:srgbClr val="0B1B2D"/>
                </a:solidFill>
              </a:defRPr>
            </a:pPr>
            <a:r>
              <a:t>• Tidak Otomatis Aman: Menghilangkan kata kunci 'new' tidak otomatis membuat kode loosely coupled jika container bocor ke domain.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Banyak tim mengira Service Locator menyelesaikan kopling karena objek tidak lagi memanggil new secara langsung. Faktanya, menyuntikkan container tidak otomatis menghasilkan kode decoupled jika dependensi sebenarnya tersembunyi di balik API lookup.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Passing a container into business logic hides true dependencies behind runtime lookups.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content/02-master-draft.md:35-38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Pemisahan Konfigurasi dari Penggunaan: Dua Fase Terisolasi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Konstruksi graf objek didelegasikan ke composition root; consumer hanya menerima kontrak.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EMPAT PILAR SEPARATION OF CONFIGURATION FROM USE</a:t>
            </a:r>
          </a:p>
          <a:p>
            <a:pPr>
              <a:spcAft>
                <a:spcPts val="400"/>
              </a:spcAft>
              <a:defRPr sz="1200">
                <a:solidFill>
                  <a:srgbClr val="0B1B2D"/>
                </a:solidFill>
              </a:defRPr>
            </a:pPr>
            <a:r>
              <a:t>• 1. Composition Root (Wiring Engine): Hanya main.go atau bootstrap yang berhak membuat struct konkret RealGateway.</a:t>
            </a:r>
          </a:p>
          <a:p>
            <a:pPr>
              <a:spcAft>
                <a:spcPts val="400"/>
              </a:spcAft>
              <a:defRPr sz="1200">
                <a:solidFill>
                  <a:srgbClr val="0B1B2D"/>
                </a:solidFill>
              </a:defRPr>
            </a:pPr>
            <a:r>
              <a:t>• 2. Interface Contract (Boundary Guard): Processor hanya mengenal PaymentGateway interface tanpa tahu implementasi jaringan.</a:t>
            </a:r>
          </a:p>
          <a:p>
            <a:pPr>
              <a:spcAft>
                <a:spcPts val="400"/>
              </a:spcAft>
              <a:defRPr sz="1200">
                <a:solidFill>
                  <a:srgbClr val="0B1B2D"/>
                </a:solidFill>
              </a:defRPr>
            </a:pPr>
            <a:r>
              <a:t>• 3. Constructor Injection (State Verifier): NewProcessor(g) menjamin dependensi valid saat inisialisasi tanpa mutasi runtime.</a:t>
            </a:r>
          </a:p>
          <a:p>
            <a:pPr>
              <a:spcAft>
                <a:spcPts val="400"/>
              </a:spcAft>
              <a:defRPr sz="1200">
                <a:solidFill>
                  <a:srgbClr val="0B1B2D"/>
                </a:solidFill>
              </a:defRPr>
            </a:pPr>
            <a:r>
              <a:t>• 4. Value Objects (Direct Instantiation): Money dibuat langsung; hanya pada jalur ini objek tanpa IO eksternal tidak di-inject.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utama Fowler membedakan dua fase: perakitan graf objek di composition root dan eksekusi logika di domain. Hanya pada jalur ini komponen bisnis tetap bersih dari detail infrastruktur, sementara value object tetap diinstansiasi langsung.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Separate configuration from use: assemble object graphs externally, pass dependencies via interfaces.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content/02-master-draft.md:13-34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Eksekusi: Composition Root ke Processor dan Gateway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Dari wiring di main.go hingga verifikasi input dan delegasi transaksi payment.</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ALUR TRANSAKSI PEMBAYARAN TERISOLASI</a:t>
            </a:r>
          </a:p>
          <a:p>
            <a:pPr>
              <a:spcAft>
                <a:spcPts val="400"/>
              </a:spcAft>
              <a:defRPr sz="1200">
                <a:solidFill>
                  <a:srgbClr val="0B1B2D"/>
                </a:solidFill>
              </a:defRPr>
            </a:pPr>
            <a:r>
              <a:t>• 1. Instantiation (main.go): Menginstansiasi RealGateway{} dan menginjeksi ke NewProcessor(realGateway).</a:t>
            </a:r>
          </a:p>
          <a:p>
            <a:pPr>
              <a:spcAft>
                <a:spcPts val="400"/>
              </a:spcAft>
              <a:defRPr sz="1200">
                <a:solidFill>
                  <a:srgbClr val="0B1B2D"/>
                </a:solidFill>
              </a:defRPr>
            </a:pPr>
            <a:r>
              <a:t>• 2. Input Validation (Processor Guard): Memeriksa amount &lt;= 0; mengembalikan error instan sebelum menyentuh gateway.</a:t>
            </a:r>
          </a:p>
          <a:p>
            <a:pPr>
              <a:spcAft>
                <a:spcPts val="400"/>
              </a:spcAft>
              <a:defRPr sz="1200">
                <a:solidFill>
                  <a:srgbClr val="0B1B2D"/>
                </a:solidFill>
              </a:defRPr>
            </a:pPr>
            <a:r>
              <a:t>• 3. Value Assembly (Domain Layer): Membentuk struct Money{Amount, Currency} langsung di stack memory.</a:t>
            </a:r>
          </a:p>
          <a:p>
            <a:pPr>
              <a:spcAft>
                <a:spcPts val="400"/>
              </a:spcAft>
              <a:defRPr sz="1200">
                <a:solidFill>
                  <a:srgbClr val="0B1B2D"/>
                </a:solidFill>
              </a:defRPr>
            </a:pPr>
            <a:r>
              <a:t>• 4. Gateway Charge (PaymentGateway): Mendelegasikan Charge(m); belum membuktikan performa di jaringan latency tinggi.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Alur eksekusi dimulai dari instansiasi konkret di composition root, dilanjutkan validasi input lokal sebelum memanggil antarmuka gateway. Arsitektur ini mengisolasi logika, namun belum membuktikan keandalan sistem pada jaringan berlatensi tinggi.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Validate inputs locally at domain boundaries before delegating to external interface contracts.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content/04-diagrams.md:79-101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Constructor Injection: Dependensi Eksplisit dan Valid Saat Lahir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Menerima PaymentGateway via fungsi konstruktor NewProcessor tanpa dependensi tersembunyi.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Processor struct {</a:t>
            </a:r>
            <a:br/>
            <a:r>
              <a:t>    gateway PaymentGateway</a:t>
            </a:r>
            <a:br/>
            <a:r>
              <a:t>}</a:t>
            </a:r>
            <a:br/>
            <a:r>
              <a:t>func NewProcessor(g PaymentGateway) *Processor {</a:t>
            </a:r>
            <a:br/>
            <a:r>
              <a:t>    return &amp;Processor{gateway: g}</a:t>
            </a:r>
            <a:br/>
            <a:r>
              <a:t>}</a:t>
            </a:r>
            <a:br/>
            <a:r>
              <a:t>func (p *Processor) ProcessPayment(amount int) error {</a:t>
            </a:r>
            <a:br/>
            <a:r>
              <a:t>    if amount &lt;= 0 { return errors.New("invalid amount") }</a:t>
            </a:r>
            <a:br/>
            <a:r>
              <a:t>    m := Money{Amount: amount, Currency: "USD"}</a:t>
            </a:r>
            <a:br/>
            <a:r>
              <a:t>    return p.gateway.Charge(m)</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Processor mendeklarasikan gateway sebagai unexported field dan menerimanya saat konstruksi. Penggunaan interface bukan berarti arsitektur bebas alokasi memori; teknik ini menukar overhead pointer interface demi isolasi total dependensi domain.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Constructor injection guarantees immutable references and makes all dependencies explicit in the constructor signature.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internal/di/processor.go:6-21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Kegagalan Service Locator: Keterikatan Tersembunyi Container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NewBadProcessor memecahkan modularitas dan menyulitkan pelacakan dependensi.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SKENARIO KEGAGALAN SERVICE LOCATOR</a:t>
            </a:r>
          </a:p>
          <a:p>
            <a:pPr>
              <a:spcAft>
                <a:spcPts val="400"/>
              </a:spcAft>
              <a:defRPr sz="1200">
                <a:solidFill>
                  <a:srgbClr val="0B1B2D"/>
                </a:solidFill>
              </a:defRPr>
            </a:pPr>
            <a:r>
              <a:t>• Dependensi Gelap: Membaca signature konstruktor tidak memberi tahu reviewer bahwa kelas membutuhkan PaymentGateway.</a:t>
            </a:r>
          </a:p>
          <a:p>
            <a:pPr>
              <a:spcAft>
                <a:spcPts val="400"/>
              </a:spcAft>
              <a:defRPr sz="1200">
                <a:solidFill>
                  <a:srgbClr val="0B1B2D"/>
                </a:solidFill>
              </a:defRPr>
            </a:pPr>
            <a:r>
              <a:t>• Runtime Resolution Bug: Jika container mengembalikan nil saat GetPaymentGateway(), terjadi nil-pointer panic saat runtime.</a:t>
            </a:r>
          </a:p>
          <a:p>
            <a:pPr>
              <a:spcAft>
                <a:spcPts val="400"/>
              </a:spcAft>
              <a:defRPr sz="1200">
                <a:solidFill>
                  <a:srgbClr val="0B1B2D"/>
                </a:solidFill>
              </a:defRPr>
            </a:pPr>
            <a:r>
              <a:t>• Pelanggaran PSR-11: Passing container ke dalam domain object melanggar panduan PSR-11: 'SHOULD NOT pass container'.</a:t>
            </a:r>
          </a:p>
          <a:p>
            <a:pPr>
              <a:spcAft>
                <a:spcPts val="400"/>
              </a:spcAft>
              <a:defRPr sz="1200">
                <a:solidFill>
                  <a:srgbClr val="0B1B2D"/>
                </a:solidFill>
              </a:defRPr>
            </a:pPr>
            <a:r>
              <a:t>• Rigid Coupling: Kelas terikat mati pada kontrak Container; hanya pada jalur ini pengujian terpaksa membuat mock container.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Service Locator menyembunyikan dependensi nyata di dalam tubuh method dan berisiko memicu panic saat lookup gagal. Hanya pada jalur ini unit test dipaksa membuat MockContainer tambahan yang tidak relevan dengan kebutuhan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Hiding dependencies inside a container transforms compile-time missing dependency checks into runtime failures.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internal/di/locator.go:6-25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Matriks Komparasi: Constructor Injection vs Service Locator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Membedah perbedaan mendasar transparansi kontrak, pengujian, dan siklus hidup komponen.</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Dimensi Evaluasi</a:t>
                      </a:r>
                    </a:p>
                  </a:txBody>
                  <a:tcPr>
                    <a:solidFill>
                      <a:srgbClr val="0B1B2D"/>
                    </a:solidFill>
                  </a:tcPr>
                </a:tc>
                <a:tc>
                  <a:txBody>
                    <a:bodyPr/>
                    <a:lstStyle/>
                    <a:p>
                      <a:pPr>
                        <a:defRPr b="1" sz="1100">
                          <a:solidFill>
                            <a:srgbClr val="FFFFFF"/>
                          </a:solidFill>
                        </a:defRPr>
                      </a:pPr>
                      <a:r>
                        <a:t>Constructor Injection (Processor)</a:t>
                      </a:r>
                    </a:p>
                  </a:txBody>
                  <a:tcPr>
                    <a:solidFill>
                      <a:srgbClr val="0B1B2D"/>
                    </a:solidFill>
                  </a:tcPr>
                </a:tc>
                <a:tc>
                  <a:txBody>
                    <a:bodyPr/>
                    <a:lstStyle/>
                    <a:p>
                      <a:pPr>
                        <a:defRPr b="1" sz="1100">
                          <a:solidFill>
                            <a:srgbClr val="FFFFFF"/>
                          </a:solidFill>
                        </a:defRPr>
                      </a:pPr>
                      <a:r>
                        <a:t>Service Locator (BadProcessor)</a:t>
                      </a:r>
                    </a:p>
                  </a:txBody>
                  <a:tcPr>
                    <a:solidFill>
                      <a:srgbClr val="0B1B2D"/>
                    </a:solidFill>
                  </a:tcPr>
                </a:tc>
              </a:tr>
              <a:tr h="457200">
                <a:tc>
                  <a:txBody>
                    <a:bodyPr/>
                    <a:lstStyle/>
                    <a:p>
                      <a:pPr>
                        <a:defRPr sz="1000">
                          <a:solidFill>
                            <a:srgbClr val="0B1B2D"/>
                          </a:solidFill>
                        </a:defRPr>
                      </a:pPr>
                      <a:r>
                        <a:t>Deklarasi Dependensi</a:t>
                      </a:r>
                    </a:p>
                  </a:txBody>
                  <a:tcPr>
                    <a:solidFill>
                      <a:srgbClr val="FFFFFF"/>
                    </a:solidFill>
                  </a:tcPr>
                </a:tc>
                <a:tc>
                  <a:txBody>
                    <a:bodyPr/>
                    <a:lstStyle/>
                    <a:p>
                      <a:pPr>
                        <a:defRPr sz="1000">
                          <a:solidFill>
                            <a:srgbClr val="0B1B2D"/>
                          </a:solidFill>
                        </a:defRPr>
                      </a:pPr>
                      <a:r>
                        <a:t>Eksplisit di parameter NewProcessor</a:t>
                      </a:r>
                    </a:p>
                  </a:txBody>
                  <a:tcPr>
                    <a:solidFill>
                      <a:srgbClr val="FFFFFF"/>
                    </a:solidFill>
                  </a:tcPr>
                </a:tc>
                <a:tc>
                  <a:txBody>
                    <a:bodyPr/>
                    <a:lstStyle/>
                    <a:p>
                      <a:pPr>
                        <a:defRPr sz="1000">
                          <a:solidFill>
                            <a:srgbClr val="0B1B2D"/>
                          </a:solidFill>
                        </a:defRPr>
                      </a:pPr>
                      <a:r>
                        <a:t>Tersembunyi di balik Container</a:t>
                      </a:r>
                    </a:p>
                  </a:txBody>
                  <a:tcPr>
                    <a:solidFill>
                      <a:srgbClr val="FFFFFF"/>
                    </a:solidFill>
                  </a:tcPr>
                </a:tc>
              </a:tr>
              <a:tr h="457200">
                <a:tc>
                  <a:txBody>
                    <a:bodyPr/>
                    <a:lstStyle/>
                    <a:p>
                      <a:pPr>
                        <a:defRPr sz="1000">
                          <a:solidFill>
                            <a:srgbClr val="0B1B2D"/>
                          </a:solidFill>
                        </a:defRPr>
                      </a:pPr>
                      <a:r>
                        <a:t>Type Safety &amp; Validitas</a:t>
                      </a:r>
                    </a:p>
                  </a:txBody>
                  <a:tcPr>
                    <a:solidFill>
                      <a:srgbClr val="FFFFFF"/>
                    </a:solidFill>
                  </a:tcPr>
                </a:tc>
                <a:tc>
                  <a:txBody>
                    <a:bodyPr/>
                    <a:lstStyle/>
                    <a:p>
                      <a:pPr>
                        <a:defRPr sz="1000">
                          <a:solidFill>
                            <a:srgbClr val="0B1B2D"/>
                          </a:solidFill>
                        </a:defRPr>
                      </a:pPr>
                      <a:r>
                        <a:t>Compile-time check, valid at birth</a:t>
                      </a:r>
                    </a:p>
                  </a:txBody>
                  <a:tcPr>
                    <a:solidFill>
                      <a:srgbClr val="FFFFFF"/>
                    </a:solidFill>
                  </a:tcPr>
                </a:tc>
                <a:tc>
                  <a:txBody>
                    <a:bodyPr/>
                    <a:lstStyle/>
                    <a:p>
                      <a:pPr>
                        <a:defRPr sz="1000">
                          <a:solidFill>
                            <a:srgbClr val="0B1B2D"/>
                          </a:solidFill>
                        </a:defRPr>
                      </a:pPr>
                      <a:r>
                        <a:t>Runtime resolution, rawan nil panic</a:t>
                      </a:r>
                    </a:p>
                  </a:txBody>
                  <a:tcPr>
                    <a:solidFill>
                      <a:srgbClr val="FFFFFF"/>
                    </a:solidFill>
                  </a:tcPr>
                </a:tc>
              </a:tr>
              <a:tr h="457200">
                <a:tc>
                  <a:txBody>
                    <a:bodyPr/>
                    <a:lstStyle/>
                    <a:p>
                      <a:pPr>
                        <a:defRPr sz="1000">
                          <a:solidFill>
                            <a:srgbClr val="0B1B2D"/>
                          </a:solidFill>
                        </a:defRPr>
                      </a:pPr>
                      <a:r>
                        <a:t>Beban Mocking Pengujian</a:t>
                      </a:r>
                    </a:p>
                  </a:txBody>
                  <a:tcPr>
                    <a:solidFill>
                      <a:srgbClr val="FFFFFF"/>
                    </a:solidFill>
                  </a:tcPr>
                </a:tc>
                <a:tc>
                  <a:txBody>
                    <a:bodyPr/>
                    <a:lstStyle/>
                    <a:p>
                      <a:pPr>
                        <a:defRPr sz="1000">
                          <a:solidFill>
                            <a:srgbClr val="0B1B2D"/>
                          </a:solidFill>
                        </a:defRPr>
                      </a:pPr>
                      <a:r>
                        <a:t>Minimal: langsung injeksi MockGateway</a:t>
                      </a:r>
                    </a:p>
                  </a:txBody>
                  <a:tcPr>
                    <a:solidFill>
                      <a:srgbClr val="FFFFFF"/>
                    </a:solidFill>
                  </a:tcPr>
                </a:tc>
                <a:tc>
                  <a:txBody>
                    <a:bodyPr/>
                    <a:lstStyle/>
                    <a:p>
                      <a:pPr>
                        <a:defRPr sz="1000">
                          <a:solidFill>
                            <a:srgbClr val="0B1B2D"/>
                          </a:solidFill>
                        </a:defRPr>
                      </a:pPr>
                      <a:r>
                        <a:t>Ganda: wajib MockContainer + MockGateway</a:t>
                      </a:r>
                    </a:p>
                  </a:txBody>
                  <a:tcPr>
                    <a:solidFill>
                      <a:srgbClr val="FFFFFF"/>
                    </a:solidFill>
                  </a:tcPr>
                </a:tc>
              </a:tr>
              <a:tr h="457200">
                <a:tc>
                  <a:txBody>
                    <a:bodyPr/>
                    <a:lstStyle/>
                    <a:p>
                      <a:pPr>
                        <a:defRPr sz="1000">
                          <a:solidFill>
                            <a:srgbClr val="0B1B2D"/>
                          </a:solidFill>
                        </a:defRPr>
                      </a:pPr>
                      <a:r>
                        <a:t>Kopling Domain Logic</a:t>
                      </a:r>
                    </a:p>
                  </a:txBody>
                  <a:tcPr>
                    <a:solidFill>
                      <a:srgbClr val="FFFFFF"/>
                    </a:solidFill>
                  </a:tcPr>
                </a:tc>
                <a:tc>
                  <a:txBody>
                    <a:bodyPr/>
                    <a:lstStyle/>
                    <a:p>
                      <a:pPr>
                        <a:defRPr sz="1000">
                          <a:solidFill>
                            <a:srgbClr val="0B1B2D"/>
                          </a:solidFill>
                        </a:defRPr>
                      </a:pPr>
                      <a:r>
                        <a:t>Nol ke framework / container</a:t>
                      </a:r>
                    </a:p>
                  </a:txBody>
                  <a:tcPr>
                    <a:solidFill>
                      <a:srgbClr val="FFFFFF"/>
                    </a:solidFill>
                  </a:tcPr>
                </a:tc>
                <a:tc>
                  <a:txBody>
                    <a:bodyPr/>
                    <a:lstStyle/>
                    <a:p>
                      <a:pPr>
                        <a:defRPr sz="1000">
                          <a:solidFill>
                            <a:srgbClr val="0B1B2D"/>
                          </a:solidFill>
                        </a:defRPr>
                      </a:pPr>
                      <a:r>
                        <a:t>Terikat langsung ke interface Container</a:t>
                      </a:r>
                    </a:p>
                  </a:txBody>
                  <a:tcPr>
                    <a:solidFill>
                      <a:srgbClr val="FFFFFF"/>
                    </a:solidFill>
                  </a:tcPr>
                </a:tc>
              </a:tr>
              <a:tr h="457200">
                <a:tc>
                  <a:txBody>
                    <a:bodyPr/>
                    <a:lstStyle/>
                    <a:p>
                      <a:pPr>
                        <a:defRPr sz="1000">
                          <a:solidFill>
                            <a:srgbClr val="0B1B2D"/>
                          </a:solidFill>
                        </a:defRPr>
                      </a:pPr>
                      <a:r>
                        <a:t>Rekomendasi Standar</a:t>
                      </a:r>
                    </a:p>
                  </a:txBody>
                  <a:tcPr>
                    <a:solidFill>
                      <a:srgbClr val="FFFFFF"/>
                    </a:solidFill>
                  </a:tcPr>
                </a:tc>
                <a:tc>
                  <a:txBody>
                    <a:bodyPr/>
                    <a:lstStyle/>
                    <a:p>
                      <a:pPr>
                        <a:defRPr sz="1000">
                          <a:solidFill>
                            <a:srgbClr val="0B1B2D"/>
                          </a:solidFill>
                        </a:defRPr>
                      </a:pPr>
                      <a:r>
                        <a:t>Best practice industri modern</a:t>
                      </a:r>
                    </a:p>
                  </a:txBody>
                  <a:tcPr>
                    <a:solidFill>
                      <a:srgbClr val="FFFFFF"/>
                    </a:solidFill>
                  </a:tcPr>
                </a:tc>
                <a:tc>
                  <a:txBody>
                    <a:bodyPr/>
                    <a:lstStyle/>
                    <a:p>
                      <a:pPr>
                        <a:defRPr sz="1000">
                          <a:solidFill>
                            <a:srgbClr val="0B1B2D"/>
                          </a:solidFill>
                        </a:defRPr>
                      </a:pPr>
                      <a:r>
                        <a:t>Discouraged (PSR-11: SHOULD NOT)</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Matriks ini memetakan keunggulan mutlak Constructor Injection atas Service Locator. Injeksi via konstruktor menjamin verifikasi tipe pada saat kompilasi, sedangkan Service Locator menunda deteksi dependensi yang hilang ke runtime.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Prefer compile-time safety and explicit dependencies over opaque runtime container lookups.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content/02-master-draft.md:35-38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Keputusan Arsitektur: Memilih Pola Perakitan Dependensi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pertimbangan terstruktur dalam menentukan strategi injeksi dependensi di Go.</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SEKUENS KEPUTUSAN WIRING DEPENDENSI</a:t>
            </a:r>
          </a:p>
          <a:p>
            <a:pPr>
              <a:spcAft>
                <a:spcPts val="400"/>
              </a:spcAft>
              <a:defRPr sz="1200">
                <a:solidFill>
                  <a:srgbClr val="0B1B2D"/>
                </a:solidFill>
              </a:defRPr>
            </a:pPr>
            <a:r>
              <a:t>• 1. Constructor Default: Gunakan Constructor Injection untuk semua service inti demi validitas status dan immutability.</a:t>
            </a:r>
          </a:p>
          <a:p>
            <a:pPr>
              <a:spcAft>
                <a:spcPts val="400"/>
              </a:spcAft>
              <a:defRPr sz="1200">
                <a:solidFill>
                  <a:srgbClr val="0B1B2D"/>
                </a:solidFill>
              </a:defRPr>
            </a:pPr>
            <a:r>
              <a:t>• 2. Bypass Value Objects: Instansiasi langsung struct data murni seperti Money; jangan kelola DTO di dalam injector.</a:t>
            </a:r>
          </a:p>
          <a:p>
            <a:pPr>
              <a:spcAft>
                <a:spcPts val="400"/>
              </a:spcAft>
              <a:defRPr sz="1200">
                <a:solidFill>
                  <a:srgbClr val="0B1B2D"/>
                </a:solidFill>
              </a:defRPr>
            </a:pPr>
            <a:r>
              <a:t>• 3. Manual Composition: Gunakan manual wiring di main.go; bukan berarti anti-framework, melainkan prioritas kesederhanaan YAGNI.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Keputusan arsitektural menetapkan Constructor Injection sebagai standar baku dan menginstansiasi value object secara langsung. Memilih manual wiring di main.go bukan berarti anti-framework, melainkan keputusan pragmatis menjaga kesederhanaan aplikasi Go.</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Default to constructor injection for services, instantiate value objects directly, and assemble graphs in main.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Eksekusi Demo cmd/demo dan Test Suite Lolos Bersih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terminal membuktikan kedua pola berjalan dan seluruh 6 unit test lulus tanpa warning.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TestProcessor_Success</a:t>
            </a:r>
            <a:br/>
            <a:r>
              <a:t>--- PASS: TestProcessor_Success (0.00s)</a:t>
            </a:r>
            <a:br/>
            <a:r>
              <a:t>=== RUN   TestProcessor_GatewayError</a:t>
            </a:r>
            <a:br/>
            <a:r>
              <a:t>--- PASS: TestProcessor_GatewayError (0.00s)</a:t>
            </a:r>
            <a:br/>
            <a:r>
              <a:t>=== RUN   TestProcessor_InvalidAmount</a:t>
            </a:r>
            <a:br/>
            <a:r>
              <a:t>--- PASS: TestProcessor_InvalidAmount (0.00s)</a:t>
            </a:r>
            <a:br/>
            <a:r>
              <a:t>=== RUN   TestBadProcessor_Success / GatewayError / InvalidAmount</a:t>
            </a:r>
            <a:br/>
            <a:r>
              <a:t>--- PASS: TestBadProcessor_* (0.00s)</a:t>
            </a:r>
            <a:br/>
            <a:r>
              <a:t>PASS: ok lab16/tests 1.356s (race detector: clean)</a:t>
            </a:r>
            <a:br/>
            <a:r>
              <a:t>--- Running Constructor Injection: RealGateway charging 100 USD</a:t>
            </a:r>
            <a:br/>
            <a:r>
              <a:t>--- Running Service Locator: RealGateway charging 200 USD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Verifikasi eksekusi membuktikan 6 skenario unit test lolos secara deterministik dalam hitungan detik. Eksekusi demo memperlihatkan kedua mekanisme berhasil memproses transaksi pembayaran tanpa race condition.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Executable verification proves functional parity between patterns while exposing architectural divergence.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engineering/03-execution-result.md:8-46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Bukti Lab: Yang Dibuktikan vs Belum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Menegaskan batasan verifikasi lab terhadap skenario enterprise berskala masif.</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BATAS PEMBUKTIAN SISTEM</a:t>
            </a:r>
          </a:p>
          <a:p>
            <a:pPr>
              <a:spcAft>
                <a:spcPts val="400"/>
              </a:spcAft>
              <a:defRPr sz="1200">
                <a:solidFill>
                  <a:srgbClr val="0B1B2D"/>
                </a:solidFill>
              </a:defRPr>
            </a:pPr>
            <a:r>
              <a:t>• YANG DIBUKTIKAN: Isolasi unit test via mock, validasi guard amount &lt;= 0, dan propagasi gateway error.</a:t>
            </a:r>
          </a:p>
          <a:p>
            <a:pPr>
              <a:spcAft>
                <a:spcPts val="400"/>
              </a:spcAft>
              <a:defRPr sz="1200">
                <a:solidFill>
                  <a:srgbClr val="0B1B2D"/>
                </a:solidFill>
              </a:defRPr>
            </a:pPr>
            <a:r>
              <a:t>• YANG TIDAK DIBUKTIKAN: Lifecycle management singleton/scoped/transient dan performa container otomatis.</a:t>
            </a:r>
          </a:p>
          <a:p>
            <a:pPr>
              <a:spcAft>
                <a:spcPts val="400"/>
              </a:spcAft>
              <a:defRPr sz="1200">
                <a:solidFill>
                  <a:srgbClr val="0B1B2D"/>
                </a:solidFill>
              </a:defRPr>
            </a:pPr>
            <a:r>
              <a:t>• BATAS KLAIM EMPIRIS: Lab belum membuktikan klaim reduksi defect rate production atau batas baku 12 parameter.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membuktikan isolasi pengujian unit dan validasi input sebelum pemanggilan infrastruktur eksternal. Hasil ini belum membuktikan efektivitas lifecycle management kompleks atau klaim penurunan tingkat cacat di production.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Clearly delimit verified architectural properties from unproven enterprise heuristics.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content/01-content-brief.md:12-17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Penerapan Dependency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Biaya indireksi dan konfigurasi tambahan berbanding lurus dengan fleksibilitas sistem.</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KOMPROMI REKAYASA DEPENDENCY INJECTION</a:t>
            </a:r>
          </a:p>
          <a:p>
            <a:pPr>
              <a:spcAft>
                <a:spcPts val="400"/>
              </a:spcAft>
              <a:defRPr sz="1200">
                <a:solidFill>
                  <a:srgbClr val="0B1B2D"/>
                </a:solidFill>
              </a:defRPr>
            </a:pPr>
            <a:r>
              <a:t>• Indirection &amp; Tracing: Pemisahan konstruksi menyulitkan penelusuran implementasi konkret saat membaca kode tanpa IDE canggih.</a:t>
            </a:r>
          </a:p>
          <a:p>
            <a:pPr>
              <a:spcAft>
                <a:spcPts val="400"/>
              </a:spcAft>
              <a:defRPr sz="1200">
                <a:solidFill>
                  <a:srgbClr val="0B1B2D"/>
                </a:solidFill>
              </a:defRPr>
            </a:pPr>
            <a:r>
              <a:t>• Boilerplate Inisialisasi: Manual wiring menambah baris perakitan di composition root seiring membesarnya graph objek.</a:t>
            </a:r>
          </a:p>
          <a:p>
            <a:pPr>
              <a:spcAft>
                <a:spcPts val="400"/>
              </a:spcAft>
              <a:defRPr sz="1200">
                <a:solidFill>
                  <a:srgbClr val="0B1B2D"/>
                </a:solidFill>
              </a:defRPr>
            </a:pPr>
            <a:r>
              <a:t>• Tidak Otomatis Sederhana: Menerapkan DI tidak otomatis menyederhanakan kode jika kelas belum memiliki abstraksi yang stabil.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DI membawa konsekuensi penelusuran alur yang lebih rumit karena implementasi konkret terpisah dari titik penggunaan. Menambahkan interface dan injector tidak otomatis membuat arsitektur lebih baik jika sistemnya masih monolitik sederhana.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DI trades code colocation and simple tracing for loose coupling and isolated testability.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content/02-master-draft.md:126-134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Keamanan Konkurensi pada Komponen Stateless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Processor yang hanya membaca interface gateway aman dieksekusi secara konkuren.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Processor stateless: gateway bersifat read-only setelah konstruksi</a:t>
            </a:r>
            <a:br/>
            <a:r>
              <a:t>type Processor struct {</a:t>
            </a:r>
            <a:br/>
            <a:r>
              <a:t>    gateway PaymentGateway</a:t>
            </a:r>
            <a:br/>
            <a:r>
              <a:t>}</a:t>
            </a:r>
            <a:br/>
            <a:r>
              <a:t>// Aman dipanggil lintas goroutine selama gateway thread-safe</a:t>
            </a:r>
            <a:br/>
            <a:r>
              <a:t>func (p *Processor) ProcessPayment(amount int) error {</a:t>
            </a:r>
            <a:br/>
            <a:r>
              <a:t>    if amount &lt;= 0 { return errors.New("invalid amount") }</a:t>
            </a:r>
            <a:br/>
            <a:r>
              <a:t>    m := Money{Amount: amount, Currency: "USD"}</a:t>
            </a:r>
            <a:br/>
            <a:r>
              <a:t>    return p.gateway.Charge(m)</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Processor bersifat stateless setelah dikonstruksi sehingga aman dipanggil konkuren lintas goroutine tanpa mutasi internal. Simulasi ini tidak sama dengan gateway jaringan riil yang mengelola koneksi socket dan state pool secara terdistribusi.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Stateless service components receiving read-only interface references are inherently thread-safe.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tests/processor_test.go:23-59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Transformasi Desain: Hardcoded vs Constructor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Pergeseran dari kopling ketat infrastruktur ke pemisahan tanggung jawab yang modular.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SEBELUM (HARDCODED) VS SESUDAH (DI VIA CONSTRUCTOR)</a:t>
            </a:r>
          </a:p>
          <a:p>
            <a:pPr>
              <a:spcAft>
                <a:spcPts val="400"/>
              </a:spcAft>
              <a:defRPr sz="1200">
                <a:solidFill>
                  <a:srgbClr val="0B1B2D"/>
                </a:solidFill>
              </a:defRPr>
            </a:pPr>
            <a:r>
              <a:t>• Sebelum: new RealGateway(): Logika pembayaran menginstansiasi network client di dalam method; unit test mustahil tanpa internet.</a:t>
            </a:r>
          </a:p>
          <a:p>
            <a:pPr>
              <a:spcAft>
                <a:spcPts val="400"/>
              </a:spcAft>
              <a:defRPr sz="1200">
                <a:solidFill>
                  <a:srgbClr val="0B1B2D"/>
                </a:solidFill>
              </a:defRPr>
            </a:pPr>
            <a:r>
              <a:t>• Sesudah: Constructor Injection: Processor menerima PaymentGateway; unit test berjalan 0.00s menggunakan MockGateway.</a:t>
            </a:r>
          </a:p>
          <a:p>
            <a:pPr>
              <a:spcAft>
                <a:spcPts val="400"/>
              </a:spcAft>
              <a:defRPr sz="1200">
                <a:solidFill>
                  <a:srgbClr val="0B1B2D"/>
                </a:solidFill>
              </a:defRPr>
            </a:pPr>
            <a:r>
              <a:t>• Bukan Berarti Rumit: Refaktorisasi ke constructor injection hanya menambah 3 baris kode namun membuka kemampuan testability.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Sebelum menerapkan DI, logika pembayaran terkunci pada implementasi RealGateway konkret yang menyulitkan pengujian offline. Memisahkan konstruksi ke NewProcessor bukan berarti menambah kompleksitas, melainkan membebaskan domain dari detail eksternal.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Extract concrete instantiation to constructor parameters to transform flaky integration tests into instant unit tests.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Interface Minimal dan Pengecualian untuk Value Object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Mendefinisikan kontrak abstraksi ramping serta aturan kapan DI tidak boleh digunakan.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Money adalah value object data murni: instansiasi langsung</a:t>
            </a:r>
            <a:br/>
            <a:r>
              <a:t>type Money struct {</a:t>
            </a:r>
            <a:br/>
            <a:r>
              <a:t>    Amount   int</a:t>
            </a:r>
            <a:br/>
            <a:r>
              <a:t>    Currency string</a:t>
            </a:r>
            <a:br/>
            <a:r>
              <a:t>}</a:t>
            </a:r>
            <a:br/>
            <a:r>
              <a:t>// PaymentGateway mendefinisikan kontrak minimal abstraction</a:t>
            </a:r>
            <a:br/>
            <a:r>
              <a:t>type PaymentGateway interface {</a:t>
            </a:r>
            <a:br/>
            <a:r>
              <a:t>    Charge(m Money) error</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Interface PaymentGateway dirancang ramping hanya dengan satu method Charge, sedangkan Money diinstansiasi langsung tanpa perantara container. Keputusan membedakan service dan value object ini cakupannya mengikuti test skenario spesifik lab ini.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Inject external infrastructure services; instantiate pure immutable value objects directly.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internal/di/gateway.go:5-15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Pengujian Terisolasi Menggunakan Test Double MockGateway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Menguji logika Processor tanpa menyentuh koneksi jaringan riil dengan determinisme mutlak.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MockGateway struct {</a:t>
            </a:r>
            <a:br/>
            <a:r>
              <a:t>    ChargedMoney di.Money</a:t>
            </a:r>
            <a:br/>
            <a:r>
              <a:t>    ShouldFail   bool</a:t>
            </a:r>
            <a:br/>
            <a:r>
              <a:t>}</a:t>
            </a:r>
            <a:br/>
            <a:r>
              <a:t>func (m *MockGateway) Charge(money di.Money) error {</a:t>
            </a:r>
            <a:br/>
            <a:r>
              <a:t>    if m.ShouldFail { return errors.New("gateway unavailable") }</a:t>
            </a:r>
            <a:br/>
            <a:r>
              <a:t>    m.ChargedMoney = money</a:t>
            </a:r>
            <a:br/>
            <a:r>
              <a:t>    return nil</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MockGateway mensimulasikan kegagalan jaringan dan mencatat payload transaksi tanpa koneksi HTTP riil. Menulis unit test dengan mock tidak otomatis menjamin integritas integrasi vendor jika payload skema production mengalami perubahan.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Test doubles verify business logic deterministically without incurring network latency or side effects.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tests/processor_test.go:10-21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Pre-Check Mencegah Panggilan Jaringan Sia-sia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Verifikasi amount &lt;= 0 memastikan gateway tidak pernah dipanggil pada payload invalid.</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TestProcessor_InvalidAmount(t *testing.T) {</a:t>
            </a:r>
            <a:br/>
            <a:r>
              <a:t>    mock := &amp;MockGateway{}</a:t>
            </a:r>
            <a:br/>
            <a:r>
              <a:t>    proc := di.NewProcessor(mock)</a:t>
            </a:r>
            <a:br/>
            <a:r>
              <a:t>    err := proc.ProcessPayment(-10)</a:t>
            </a:r>
            <a:br/>
            <a:r>
              <a:t>    if err == nil { t.Fatalf("expected error for negative amount") }</a:t>
            </a:r>
            <a:br/>
            <a:r>
              <a:t>    if mock.ChargedMoney.Amount != 0 {</a:t>
            </a:r>
            <a:br/>
            <a:r>
              <a:t>        t.Errorf("gateway should not have been called, got %d",</a:t>
            </a:r>
            <a:br/>
            <a:r>
              <a:t>            mock.ChargedMoney.Amount)</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memastikan bahwa input negatif langsung ditolak di lapisan domain sebelum menyentuh gateway. Hanya pada jalur ini mock memverifikasi bahwa amount tetap 0, membuktikan panggilan jaringan berhasil dicegah sejak awal.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business validation guards before delegating to downstream infrastructure dependencies.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tests/processor_test.go:47-59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Propagasi Error Transparan dari Lapisan Infrastruktur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gateway eksternal gagal, error diteruskan ke caller tanpa ditelan secara diam-diam.</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TestProcessor_GatewayError(t *testing.T) {</a:t>
            </a:r>
            <a:br/>
            <a:r>
              <a:t>    mock := &amp;MockGateway{ShouldFail: true}</a:t>
            </a:r>
            <a:br/>
            <a:r>
              <a:t>    proc := di.NewProcessor(mock)</a:t>
            </a:r>
            <a:br/>
            <a:r>
              <a:t>    err := proc.ProcessPayment(50)</a:t>
            </a:r>
            <a:br/>
            <a:r>
              <a:t>    if err == nil {</a:t>
            </a:r>
            <a:br/>
            <a:r>
              <a:t>        t.Fatalf("expected error from gateway, got nil")</a:t>
            </a:r>
            <a:br/>
            <a:r>
              <a:t>    }</a:t>
            </a:r>
            <a:br/>
            <a:r>
              <a:t>    // Verifikasi error gateway sampai ke pemanggil</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Processor meneruskan error dari gateway secara transparan ke caller. Meneruskan error mentah bukan berarti sistem tidak butuh retry policy; ini membuktikan kontrak interface mampu mengalirkan status kegagalan infrastruktur secara akurat.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Transparent error propagation preserves downstream failure context for upstream callers.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tests/processor_test.go:37-45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Composition Root di cmd/demo: Satu Titik Perakitan Objek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Inisialisasi komponen konkret dan perakitan graf dilakukan di titik masuk aplikasi.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main() {</a:t>
            </a:r>
            <a:br/>
            <a:r>
              <a:t>    // Instansiasi dependensi konkret</a:t>
            </a:r>
            <a:br/>
            <a:r>
              <a:t>    realGateway := &amp;di.RealGateway{}</a:t>
            </a:r>
            <a:br/>
            <a:r>
              <a:t>    // Constructor Injection eksplisit</a:t>
            </a:r>
            <a:br/>
            <a:r>
              <a:t>    processor := di.NewProcessor(realGateway)</a:t>
            </a:r>
            <a:br/>
            <a:r>
              <a:t>    _ = processor.ProcessPayment(100)</a:t>
            </a:r>
            <a:br/>
            <a:r>
              <a:t>    // Service Locator anti-pattern untuk demonstrasi</a:t>
            </a:r>
            <a:br/>
            <a:r>
              <a:t>    container := &amp;SimpleContainer{gateway: realGateway}</a:t>
            </a:r>
            <a:br/>
            <a:r>
              <a:t>    badProcessor := di.NewBadProcessor(container)</a:t>
            </a:r>
            <a:br/>
            <a:r>
              <a:t>    _ = badProcessor.ProcessPayment(200)</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Fungsi main bertindak sebagai composition root tunggal tempat semua struct konkret dibuat dan dirakit. Struktur sederhana ini sengaja dipilih tanpa framework DI pihak ketiga, dan cakupannya mengikuti test verifikasi perilaku lab.</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Centralize concrete component instantiations strictly within the application composition root.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cmd/demo/main.go:16-36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Penerapan Dependency Injection di Go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Pedoman wajib sebelum menggabungkan pull request yang mengelola dependensi infrastruktur.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KRITERIA IMPLEMENTASI DI</a:t>
            </a:r>
          </a:p>
          <a:p>
            <a:pPr>
              <a:spcAft>
                <a:spcPts val="400"/>
              </a:spcAft>
              <a:defRPr sz="1200">
                <a:solidFill>
                  <a:srgbClr val="0B1B2D"/>
                </a:solidFill>
              </a:defRPr>
            </a:pPr>
            <a:r>
              <a:t>• Dependensi infrastruktur dideklarasikan sebagai interface, bukan struct konkret.</a:t>
            </a:r>
          </a:p>
          <a:p>
            <a:pPr>
              <a:spcAft>
                <a:spcPts val="400"/>
              </a:spcAft>
              <a:defRPr sz="1200">
                <a:solidFill>
                  <a:srgbClr val="0B1B2D"/>
                </a:solidFill>
              </a:defRPr>
            </a:pPr>
            <a:r>
              <a:t>• Constructor injection digunakan sebagai default; semua dependensi eksplisit di parameter.</a:t>
            </a:r>
          </a:p>
          <a:p>
            <a:pPr>
              <a:spcAft>
                <a:spcPts val="400"/>
              </a:spcAft>
              <a:defRPr sz="1200">
                <a:solidFill>
                  <a:srgbClr val="0B1B2D"/>
                </a:solidFill>
              </a:defRPr>
            </a:pPr>
            <a:r>
              <a:t>• Composition root (main.go atau wire bootstrap) adalah satu-satunya perakit implementasi konkret.</a:t>
            </a:r>
          </a:p>
          <a:p>
            <a:pPr>
              <a:spcAft>
                <a:spcPts val="400"/>
              </a:spcAft>
              <a:defRPr sz="1200">
                <a:solidFill>
                  <a:srgbClr val="0B1B2D"/>
                </a:solidFill>
              </a:defRPr>
            </a:pPr>
            <a:r>
              <a:t>• Tidak ada pemanggilan generic container.Get() di dalam lapisan logika domain bisnis.</a:t>
            </a:r>
          </a:p>
          <a:p>
            <a:pPr>
              <a:spcAft>
                <a:spcPts val="400"/>
              </a:spcAft>
              <a:defRPr sz="1200">
                <a:solidFill>
                  <a:srgbClr val="0B1B2D"/>
                </a:solidFill>
              </a:defRPr>
            </a:pPr>
            <a:r>
              <a:t>• Value object murni (seperti Money) diinstansiasi langsung tanpa melalui injection container.</a:t>
            </a:r>
          </a:p>
          <a:p>
            <a:pPr>
              <a:spcAft>
                <a:spcPts val="400"/>
              </a:spcAft>
              <a:defRPr sz="1200">
                <a:solidFill>
                  <a:srgbClr val="0B1B2D"/>
                </a:solidFill>
              </a:defRPr>
            </a:pPr>
            <a:r>
              <a:t>• Seluruh service memiliki unit test terisolasi menggunakan mock tanpa menyentuh jaringan.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disiplin perancangan DI: kontrak berbasis interface, injeksi eksplisit via constructor, isolasi composition root, larangan container di domain, instansiasi langsung value object, dan pengujian unit terisolasi.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Apply strict architectural gates to ensure dependencies remain explicit and testable.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content/02-master-draft.md:155-167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Umum dalam Penerapan Dependency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perancangan yang sering merusak modularitas dan keterbacaan kode.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HINDARI KESALAHAN UMUM INI</a:t>
            </a:r>
          </a:p>
          <a:p>
            <a:pPr>
              <a:spcAft>
                <a:spcPts val="400"/>
              </a:spcAft>
              <a:defRPr sz="1200">
                <a:solidFill>
                  <a:srgbClr val="0B1B2D"/>
                </a:solidFill>
              </a:defRPr>
            </a:pPr>
            <a:r>
              <a:t>• Service Locator Leak: Mengoper Container ke dalam domain; menyembunyikan dependensi nyata di balik lookup method runtime.</a:t>
            </a:r>
          </a:p>
          <a:p>
            <a:pPr>
              <a:spcAft>
                <a:spcPts val="400"/>
              </a:spcAft>
              <a:defRPr sz="1200">
                <a:solidFill>
                  <a:srgbClr val="0B1B2D"/>
                </a:solidFill>
              </a:defRPr>
            </a:pPr>
            <a:r>
              <a:t>• Over-Injection &amp; Bloat: Konstruktor menerima belasan dependensi; sinyal keras pelanggaran Single Responsibility Principle.</a:t>
            </a:r>
          </a:p>
          <a:p>
            <a:pPr>
              <a:spcAft>
                <a:spcPts val="400"/>
              </a:spcAft>
              <a:defRPr sz="1200">
                <a:solidFill>
                  <a:srgbClr val="0B1B2D"/>
                </a:solidFill>
              </a:defRPr>
            </a:pPr>
            <a:r>
              <a:t>• Value Object Injection: Memasukkan struct data murni seperti Money atau DateTime ke container DI; bukan berarti lebih bersih.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Menyuntikkan container ke domain menyembunyikan dependensi, sedangkan konstruktor dengan belasan parameter menandakan pelanggaran SRP. Memasukkan value object ke dalam container bukan berarti arsitektur lebih rapi, melainkan menambah boilerplate sia-sia.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Avoid container leakage, prevent constructor parameter bloat, and never inject pure value objects.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content/02-master-draft.md:135-146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di Mesin Lokal Menggunakan Go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Eksperimen validasi mandiri tanpa dependensi pihak ketiga (zero-dependency).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labs/16-dependency-injection</a:t>
            </a:r>
            <a:br/>
            <a:r>
              <a:t>go test -v ./...    # validasi unit test terisolasi Processor dan BadProcessor</a:t>
            </a:r>
            <a:br/>
            <a:r>
              <a:t>go test -race ./... # verifikasi konkurensi stateless bebas race condition</a:t>
            </a:r>
            <a:br/>
            <a:r>
              <a:t>go run ./cmd/demo   # eksekusi komparasi Constructor Injection vs Service Locator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Seluruh mekanisme validasi ditulis menggunakan Go standard library murni tanpa framework eksternal. Skenario lokal ini memverifikasi isolasi logika, namun production masih perlu mempertimbangkan auto-wiring tool seperti wire pada skala ribuan komponen.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local verification guarantees fast, repeatable validation across developer workflows.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README.md:13-23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Inti: Pisahkan Konfigurasi, Eksplisitkan Kontrak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Arsitektur bertahan lama ketika logika bisnis terbebas dari mekanisme perakitan infrastruktur.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TIGA PILAR KELANGSUNGAN ARSITEKTUR</a:t>
            </a:r>
          </a:p>
          <a:p>
            <a:pPr>
              <a:spcAft>
                <a:spcPts val="400"/>
              </a:spcAft>
              <a:defRPr sz="1200">
                <a:solidFill>
                  <a:srgbClr val="0B1B2D"/>
                </a:solidFill>
              </a:defRPr>
            </a:pPr>
            <a:r>
              <a:t>• Pisahkan Konfigurasi: Biarkan composition root merakit graf objek; modul bisnis fokus murni pada aturan domain.</a:t>
            </a:r>
          </a:p>
          <a:p>
            <a:pPr>
              <a:spcAft>
                <a:spcPts val="400"/>
              </a:spcAft>
              <a:defRPr sz="1200">
                <a:solidFill>
                  <a:srgbClr val="0B1B2D"/>
                </a:solidFill>
              </a:defRPr>
            </a:pPr>
            <a:r>
              <a:t>• Kontrak Eksplisit: Gunakan Constructor Injection agar dependensi terlihat transparan sejak kompilasi.</a:t>
            </a:r>
          </a:p>
          <a:p>
            <a:pPr>
              <a:spcAft>
                <a:spcPts val="400"/>
              </a:spcAft>
              <a:defRPr sz="1200">
                <a:solidFill>
                  <a:srgbClr val="0B1B2D"/>
                </a:solidFill>
              </a:defRPr>
            </a:pPr>
            <a:r>
              <a:t>• Disiplin Batas Domain: Menerapkan DI tidak otomatis menyelesaikan semua masalah jika batasan bounded context tidak dirancang benar.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Dependency Injection adalah teknik memisahkan fase konfigurasi dari eksekusi logika. Menyuntikkan dependensi via interface tidak otomatis menyelesaikan kekacauan arsitektur jika tanggung jawab domain sejak awal tidak dirancang dengan batas yang tegas.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Decouple configuration from execution to preserve long-term evolvability and testability.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Logika bisnis yang menginstansiasi dependensinya sendiri adalah sistem yang menolak untuk diuji.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Business logic that instantiates its own dependencies creates code that resists testing.</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16 - Dependency Injection &amp; Inversion of Control</a:t>
            </a:r>
          </a:p>
          <a:p>
            <a:pPr>
              <a:defRPr sz="1200">
                <a:solidFill>
                  <a:srgbClr val="CBD5E1"/>
                </a:solidFill>
              </a:defRPr>
            </a:pPr>
            <a:r>
              <a:t>https://github.com/lukman-ss/software-engineering-lab/tree/main/labs/16-dependency-injection</a:t>
            </a:r>
          </a:p>
          <a:p>
            <a:br/>
            <a:pPr>
              <a:defRPr sz="1100" b="1">
                <a:solidFill>
                  <a:srgbClr val="20C997"/>
                </a:solidFill>
              </a:defRPr>
            </a:pPr>
            <a:r>
              <a:t>REPOSITORY</a:t>
            </a:r>
          </a:p>
          <a:p>
            <a:pPr>
              <a:defRPr sz="1100">
                <a:solidFill>
                  <a:srgbClr val="FFFFFF"/>
                </a:solidFill>
                <a:latin typeface="Courier New"/>
              </a:defRPr>
            </a:pPr>
            <a:r>
              <a:t>github.com/lukman-ss/software-engineering-lab/tree/main/labs/16-dependency-injection</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5563838</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Dependency Injection • Inversion of Control • Go • Testing • Software Architecture</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