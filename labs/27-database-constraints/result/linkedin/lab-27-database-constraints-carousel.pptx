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Database Constraints</a:t>
            </a:r>
          </a:p>
          <a:p/>
          <a:p>
            <a:r>
              <a:t>[]</a:t>
            </a:r>
          </a:p>
          <a:p>
            <a:r>
              <a:t>- Retro CRT monitor beige dengan scanlines bercahaya</a:t>
            </a:r>
          </a:p>
          <a:p>
            <a:r>
              <a:t>- ASCII art terminal menampilkan error SQLSTATE codes</a:t>
            </a:r>
          </a:p>
          <a:p>
            <a:r>
              <a:t>- Penulis: Lukman / lukman-ss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2: Validasi Aplikasi vs Database Constraint</a:t>
            </a:r>
          </a:p>
          <a:p/>
          <a:p>
            <a:r>
              <a:t>Mental Model: Database constraints eliminate the check-then-act vulnerability by merging check and write atomically.</a:t>
            </a:r>
          </a:p>
          <a:p/>
          <a:p>
            <a:r>
              <a:t>[MOTIVASI]</a:t>
            </a:r>
          </a:p>
          <a:p>
            <a:r>
              <a:t>- Validasi aplikasi saja rentan: SELECT → cek → INSERT dapat diinterleave</a:t>
            </a:r>
          </a:p>
          <a:p>
            <a:r>
              <a:t>- Test konkuren 20 goroutine: UnsafeStore menghasilkan &gt;1 record dengan email sama</a:t>
            </a:r>
          </a:p>
          <a:p>
            <a:r>
              <a:t>- Perbaikan duplikat data di produksi jauh lebih mahal daripada pencegahan</a:t>
            </a:r>
          </a:p>
          <a:p>
            <a:r>
              <a:t>[KONSEP]</a:t>
            </a:r>
          </a:p>
          <a:p>
            <a:r>
              <a:t>- Race condition terjadi saat dua transaksi membaca keadaan sama</a:t>
            </a:r>
          </a:p>
          <a:p>
            <a:r>
              <a:t>- Database constraint memindahkan pengecekan ke titik atomik: saat INSERT</a:t>
            </a:r>
          </a:p>
          <a:p>
            <a:r>
              <a:t>- UNIQUE constraint menggunakan B-tree index dengan ROW EXCLUSIVE lock</a:t>
            </a:r>
          </a:p>
          <a:p>
            <a:r>
              <a:t>[STUDI KASUS]</a:t>
            </a:r>
          </a:p>
          <a:p>
            <a:r>
              <a:t>- Goroutine A: scan → tidak ketemu → INSERT sukses</a:t>
            </a:r>
          </a:p>
          <a:p>
            <a:r>
              <a:t>- Goroutine B: scan → tidak ketemu → INSERT sukses (DUPLIKAT)</a:t>
            </a:r>
          </a:p>
          <a:p>
            <a:r>
              <a:t>- SafeStore delegation ke engine → hanya 1 berhasil, 19 error 23505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3: Lima Mekanisme Constraint PostgreSQL</a:t>
            </a:r>
          </a:p>
          <a:p/>
          <a:p>
            <a:r>
              <a:t>Mental Model: Constraints provide declarative, ACID-guaranteed enforcement at the storage layer.</a:t>
            </a:r>
          </a:p>
          <a:p/>
          <a:p>
            <a:r>
              <a:t>[NOT NULL (23502)]</a:t>
            </a:r>
          </a:p>
          <a:p>
            <a:r>
              <a:t>- Kolom wajib: email, username, user_id tidak boleh NULL</a:t>
            </a:r>
          </a:p>
          <a:p>
            <a:r>
              <a:t>- Constraint validation terjadi pada saat INSERT/UPDATE</a:t>
            </a:r>
          </a:p>
          <a:p>
            <a:r>
              <a:t>- Prevent integrity issues sebelum masuk ke business logic</a:t>
            </a:r>
          </a:p>
          <a:p>
            <a:r>
              <a:t>[CHECK (23514)]</a:t>
            </a:r>
          </a:p>
          <a:p>
            <a:r>
              <a:t>- Predikat boolean: age &gt;= 18, status IN ('active','inactive','banned')</a:t>
            </a:r>
          </a:p>
          <a:p>
            <a:r>
              <a:t>- total_cents &gt; 0 mencegah order dengan nilai nol atau negatif</a:t>
            </a:r>
          </a:p>
          <a:p>
            <a:r>
              <a:t>- Validasi domain-specific berbasis aturan deklaratif</a:t>
            </a:r>
          </a:p>
          <a:p>
            <a:r>
              <a:t>[UNIQUE (23505)]</a:t>
            </a:r>
          </a:p>
          <a:p>
            <a:r>
              <a:t>- Satu kemunculan per nilai di kolom atau kombinasi kolom</a:t>
            </a:r>
          </a:p>
          <a:p>
            <a:r>
              <a:t>- Mencegah race condition read-then-write secara otomatis</a:t>
            </a:r>
          </a:p>
          <a:p>
            <a:r>
              <a:t>- B-tree index otomatis dibuat untuk performa lookup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4: Referential Integrity &amp; Partial Uniqueness</a:t>
            </a:r>
          </a:p>
          <a:p/>
          <a:p>
            <a:r>
              <a:t>Mental Model: Partial unique index enables conditional uniqueness for soft-delete patterns.</a:t>
            </a:r>
          </a:p>
          <a:p/>
          <a:p>
            <a:r>
              <a:t>[FOREIGN KEY (23503)]</a:t>
            </a:r>
          </a:p>
          <a:p>
            <a:r>
              <a:t>- Menjamin user_id di orders merujuk ke record users yang ada</a:t>
            </a:r>
          </a:p>
          <a:p>
            <a:r>
              <a:t>- Mencegah orphan records tanpa data induk yang valid</a:t>
            </a:r>
          </a:p>
          <a:p>
            <a:r>
              <a:t>- Constraint name tersedia di error detail untuk debugging</a:t>
            </a:r>
          </a:p>
          <a:p>
            <a:r>
              <a:t>[PARTIAL UNIQUE INDEX]</a:t>
            </a:r>
          </a:p>
          <a:p>
            <a:r>
              <a:t>- CREATE UNIQUE INDEX ... WHERE deleted_at IS NULL</a:t>
            </a:r>
          </a:p>
          <a:p>
            <a:r>
              <a:t>- Uniqueness hanya untuk data aktif (deleted_at IS NULL)</a:t>
            </a:r>
          </a:p>
          <a:p>
            <a:r>
              <a:t>- Email dapat dipakai ulang setelah soft-delete</a:t>
            </a:r>
          </a:p>
          <a:p>
            <a:r>
              <a:t>[PARTIAL INDEX UNTUK SOFT-DELETE]</a:t>
            </a:r>
          </a:p>
          <a:p>
            <a:r>
              <a:t>- Active user dengan email same@example.com: hanya 1</a:t>
            </a:r>
          </a:p>
          <a:p>
            <a:r>
              <a:t>- Soft-deleted user dengan email same@example.com: diperbolehkan</a:t>
            </a:r>
          </a:p>
          <a:p>
            <a:r>
              <a:t>- Active user baru dengan email same@example.com: diperbolehkan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5: SQLSTATE: Kode Error Standar PostgreSQL</a:t>
            </a:r>
          </a:p>
          <a:p/>
          <a:p>
            <a:r>
              <a:t>Mental Model: SQLSTATE codes (23xxx) are stable across locales — use codes, not error text.</a:t>
            </a:r>
          </a:p>
          <a:p/>
          <a:p>
            <a:r>
              <a:t>[Kode SQLSTATE]</a:t>
            </a:r>
          </a:p>
          <a:p>
            <a:r>
              <a:t>- 23502: NOT NULL violation — kolom wajib kosong</a:t>
            </a:r>
          </a:p>
          <a:p>
            <a:r>
              <a:t>- 23503: FOREIGN KEY violation — referensi tidak ada</a:t>
            </a:r>
          </a:p>
          <a:p>
            <a:r>
              <a:t>- 23505: UNIQUE violation — duplicate key</a:t>
            </a:r>
          </a:p>
          <a:p>
            <a:r>
              <a:t>- 23514: CHECK violation — nilai di luar batas</a:t>
            </a:r>
          </a:p>
          <a:p>
            <a:r>
              <a:t>- 23P01: Exclusion violation — exclusion constraint</a:t>
            </a:r>
          </a:p>
          <a:p>
            <a:r>
              <a:t>[Error Object]</a:t>
            </a:r>
          </a:p>
          <a:p>
            <a:r>
              <a:t>- ConstraintError{Code, ConstraintName, TableName, Detail}</a:t>
            </a:r>
          </a:p>
          <a:p>
            <a:r>
              <a:t>- ConstraintName: nama constraint yang dilanggar</a:t>
            </a:r>
          </a:p>
          <a:p>
            <a:r>
              <a:t>- TableName: tabel yang terpengaruh</a:t>
            </a:r>
          </a:p>
          <a:p>
            <a:r>
              <a:t>- Detail: pesan error detail untuk debugging</a:t>
            </a:r>
          </a:p>
          <a:p>
            <a:r>
              <a:t>[Pemetaan ke Domain Error]</a:t>
            </a:r>
          </a:p>
          <a:p>
            <a:r>
              <a:t>- 23505 → HTTP 409 Conflict (resource exists)</a:t>
            </a:r>
          </a:p>
          <a:p>
            <a:r>
              <a:t>- 23502 → HTTP 400 Bad Request (missing field)</a:t>
            </a:r>
          </a:p>
          <a:p>
            <a:r>
              <a:t>- 23514 → HTTP 422 Unprocessable Entity (validation failed)</a:t>
            </a:r>
          </a:p>
          <a:p>
            <a:r>
              <a:t>- 23503 → HTTP 400 Bad Request (invalid reference)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6: Proof: UnsafeStore vs SafeStore di Bawah Konkurensi</a:t>
            </a:r>
          </a:p>
          <a:p/>
          <a:p>
            <a:r>
              <a:t>Mental Model: Without atomic constraint enforcement, read-then-write patterns fail under concurrency.</a:t>
            </a:r>
          </a:p>
          <a:p/>
          <a:p>
            <a:r>
              <a:t>[UNSAFE STORE (Tanpa Constraint)]</a:t>
            </a:r>
          </a:p>
          <a:p>
            <a:r>
              <a:t>- 20 goroutine memanggil RegisterUser() dengan email 'unsafe@example.com'</a:t>
            </a:r>
          </a:p>
          <a:p>
            <a:r>
              <a:t>- Setiap goroutine melakukan SELECT → scan loop → Sleep(1ms) → INSERT</a:t>
            </a:r>
          </a:p>
          <a:p>
            <a:r>
              <a:t>- Hasil: GetUsersCount() &gt; 1 (dua atau lebih record berhasil inserted)</a:t>
            </a:r>
          </a:p>
          <a:p>
            <a:r>
              <a:t>- Dua goroutine dapat membaca count=0 secara bersamaan</a:t>
            </a:r>
          </a:p>
          <a:p>
            <a:r>
              <a:t>[SAFE STORE (Dengan Constraint)]</a:t>
            </a:r>
          </a:p>
          <a:p>
            <a:r>
              <a:t>- 20 goroutine memanggil RegisterUser() dengan email 'safe@example.com'</a:t>
            </a:r>
          </a:p>
          <a:p>
            <a:r>
              <a:t>- Database constraint 23505 menolak 19 goroutine secara atomik</a:t>
            </a:r>
          </a:p>
          <a:p>
            <a:r>
              <a:t>- Hasil: GetUsersCount() = 1 (hanya 1 goroutine berhasil)</a:t>
            </a:r>
          </a:p>
          <a:p>
            <a:r>
              <a:t>- Exactly 1 success + 19 SQLSTATE 23505 errors</a:t>
            </a:r>
          </a:p>
          <a:p>
            <a:r>
              <a:t>[CONCLUSION]</a:t>
            </a:r>
          </a:p>
          <a:p>
            <a:r>
              <a:t>- Without constraint: race condition terjadi</a:t>
            </a:r>
          </a:p>
          <a:p>
            <a:r>
              <a:t>- With UNIQUE constraint: exactly one winner, N-1 failures</a:t>
            </a:r>
          </a:p>
          <a:p>
            <a:r>
              <a:t>- Database constraint mengeliminasi check-then-act window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7: Engine Simulator: In-Memory PostgreSQL Semantics</a:t>
            </a:r>
          </a:p>
          <a:p/>
          <a:p>
            <a:r>
              <a:t>Mental Model: Engine models SQLSTATE behavior and concurrency patterns — not production throughput.</a:t>
            </a:r>
          </a:p>
          <a:p/>
          <a:p>
            <a:r>
              <a:t>[Komponen Engine]</a:t>
            </a:r>
          </a:p>
          <a:p>
            <a:r>
              <a:t>- Engine: central state store dengan sync.RWMutex</a:t>
            </a:r>
          </a:p>
          <a:p>
            <a:r>
              <a:t>- users: map[int64]User, orders: map[int64]Order</a:t>
            </a:r>
          </a:p>
          <a:p>
            <a:r>
              <a:t>- InsertUser(): NOT NULL → CHECK → UNIQUE → Generate ID</a:t>
            </a:r>
          </a:p>
          <a:p>
            <a:r>
              <a:t>- InsertOrder(): NOT NULL → CHECK → FOREIGN KEY → Generate ID</a:t>
            </a:r>
          </a:p>
          <a:p>
            <a:r>
              <a:t>[Coarse-Grained Locking]</a:t>
            </a:r>
          </a:p>
          <a:p>
            <a:r>
              <a:t>- e.mu.Lock() menahan untuk seluruh operasi insert</a:t>
            </a:r>
          </a:p>
          <a:p>
            <a:r>
              <a:t>- Critical section atomik: cek dan tulis dalam satu lock</a:t>
            </a:r>
          </a:p>
          <a:p>
            <a:r>
              <a:t>- Tidak ada interleaving antara check dan write</a:t>
            </a:r>
          </a:p>
          <a:p>
            <a:r>
              <a:t>[Trade-off]</a:t>
            </a:r>
          </a:p>
          <a:p>
            <a:r>
              <a:t>- Coarse-grained lock bukan B-tree page latch</a:t>
            </a:r>
          </a:p>
          <a:p>
            <a:r>
              <a:t>- Readability dan zero-dependency diprioritaskan</a:t>
            </a:r>
          </a:p>
          <a:p>
            <a:r>
              <a:t>- Semantik SQLSTATE dan concurrency pattern termodel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8: Constraint Check Flow: Insert User</a:t>
            </a:r>
          </a:p>
          <a:p/>
          <a:p>
            <a:r>
              <a:t>Mental Model: Constraints are evaluated atomically during INSERT — no window for interleaving.</a:t>
            </a:r>
          </a:p>
          <a:p/>
          <a:p>
            <a:r>
              <a:t>[Urutan Evaluasi]</a:t>
            </a:r>
          </a:p>
          <a:p>
            <a:r>
              <a:t>- 1. NOT NULL: email, username, age, status wajib terisi</a:t>
            </a:r>
          </a:p>
          <a:p>
            <a:r>
              <a:t>- 2. CHECK: age &gt;= 18, status IN ('active','inactive','banned')</a:t>
            </a:r>
          </a:p>
          <a:p>
            <a:r>
              <a:t>- 3. UNIQUE: email tidak boleh duplicate</a:t>
            </a:r>
          </a:p>
          <a:p>
            <a:r>
              <a:t>- 4. Generate Primary Key dan commit ke users map</a:t>
            </a:r>
          </a:p>
          <a:p>
            <a:r>
              <a:t>- 5. Update B-tree index simulasi</a:t>
            </a:r>
          </a:p>
          <a:p>
            <a:r>
              <a:t>[Atomic Critical Section]</a:t>
            </a:r>
          </a:p>
          <a:p>
            <a:r>
              <a:t>- e.mu.Lock() di awal operasi</a:t>
            </a:r>
          </a:p>
          <a:p>
            <a:r>
              <a:t>- Semua check dan write terjadi di dalam lock</a:t>
            </a:r>
          </a:p>
          <a:p>
            <a:r>
              <a:t>- e.mu.Unlock() setelah commit berhasil</a:t>
            </a:r>
          </a:p>
          <a:p>
            <a:r>
              <a:t>[Partial Unique Index]</a:t>
            </a:r>
          </a:p>
          <a:p>
            <a:r>
              <a:t>- InsertUserPartial() menerima flag usePartialIndex</a:t>
            </a:r>
          </a:p>
          <a:p>
            <a:r>
              <a:t>- Partial unique index: WHERE deleted_at IS NULL</a:t>
            </a:r>
          </a:p>
          <a:p>
            <a:r>
              <a:t>- Soft-deleted user tidak ter-index untuk uniqueness check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9: Contoh Pelanggaran Constraint</a:t>
            </a:r>
          </a:p>
          <a:p/>
          <a:p>
            <a:r>
              <a:t>Mental Model: Each constraint type has a specific SQLSTATE code — use codes, not text.</a:t>
            </a:r>
          </a:p>
          <a:p/>
          <a:p>
            <a:r>
              <a:t>[NOT NULL Violation (23502)]</a:t>
            </a:r>
          </a:p>
          <a:p>
            <a:r>
              <a:t>- RegisterUser{Username: 'alice', Age: 25} tanpa email → error</a:t>
            </a:r>
          </a:p>
          <a:p>
            <a:r>
              <a:t>- RegisterUser{Email: 'alice@example.com', Age: 25} tanpa username → error</a:t>
            </a:r>
          </a:p>
          <a:p>
            <a:r>
              <a:t>- CreateOrder{TotalCents: 100} tanpa user_id → error</a:t>
            </a:r>
          </a:p>
          <a:p>
            <a:r>
              <a:t>[CHECK Violation (23514)]</a:t>
            </a:r>
          </a:p>
          <a:p>
            <a:r>
              <a:t>- User age=16 → age &lt; 18 violates CHECK constraint</a:t>
            </a:r>
          </a:p>
          <a:p>
            <a:r>
              <a:t>- User status='banned' → status tidak di ('active','inactive','banned')</a:t>
            </a:r>
          </a:p>
          <a:p>
            <a:r>
              <a:t>- Order total_cents=0 → total_cents &lt;= 0 violates CHECK</a:t>
            </a:r>
          </a:p>
          <a:p>
            <a:r>
              <a:t>[UNIQUE Violation (23505)]</a:t>
            </a:r>
          </a:p>
          <a:p>
            <a:r>
              <a:t>- First insert email='unique@example.com' → sukses</a:t>
            </a:r>
          </a:p>
          <a:p>
            <a:r>
              <a:t>- Second insert email='unique@example.com' → 23505 error</a:t>
            </a:r>
          </a:p>
          <a:p>
            <a:r>
              <a:t>- Concurrent insert same email → exactly 1 success, 19 failures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10: Foreign Key Constraint &amp; Referential Integrity</a:t>
            </a:r>
          </a:p>
          <a:p/>
          <a:p>
            <a:r>
              <a:t>Mental Model: Foreign key prevents orphan records — orders must reference existing users.</a:t>
            </a:r>
          </a:p>
          <a:p/>
          <a:p>
            <a:r>
              <a:t>[Insert Order Flow]</a:t>
            </a:r>
          </a:p>
          <a:p>
            <a:r>
              <a:t>- 1. NOT NULL: user_id wajib terisi</a:t>
            </a:r>
          </a:p>
          <a:p>
            <a:r>
              <a:t>- 2. CHECK: total_cents &gt; 0</a:t>
            </a:r>
          </a:p>
          <a:p>
            <a:r>
              <a:t>- 3. FOREIGN KEY: user_id harus ada di users map</a:t>
            </a:r>
          </a:p>
          <a:p>
            <a:r>
              <a:t>- 4. Generate Primary Key dan commit ke orders map</a:t>
            </a:r>
          </a:p>
          <a:p>
            <a:r>
              <a:t>[Violasi FK]</a:t>
            </a:r>
          </a:p>
          <a:p>
            <a:r>
              <a:t>- CreateOrder{UserID: 99999, TotalCents: 5000} → error 23503</a:t>
            </a:r>
          </a:p>
          <a:p>
            <a:r>
              <a:t>- 99999 tidak ada di users map → referential integrity violation</a:t>
            </a:r>
          </a:p>
          <a:p>
            <a:r>
              <a:t>- Order terpisah dari user induknya (orphan record)</a:t>
            </a:r>
          </a:p>
          <a:p>
            <a:r>
              <a:t>[Valid Order]</a:t>
            </a:r>
          </a:p>
          <a:p>
            <a:r>
              <a:t>- Insert User: id=1, email='fk@example.com'</a:t>
            </a:r>
          </a:p>
          <a:p>
            <a:r>
              <a:t>- CreateOrder{UserID: 1, TotalCents: 5000} → sukses</a:t>
            </a:r>
          </a:p>
          <a:p>
            <a:r>
              <a:t>- Order.id dan Order.UserID konsisten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11: Partial Unique Index: Soft-Delete Uniqueness Pattern</a:t>
            </a:r>
          </a:p>
          <a:p/>
          <a:p>
            <a:r>
              <a:t>Mental Model: Partial unique index: uniqueness only for active records, soft-deleted excluded.</a:t>
            </a:r>
          </a:p>
          <a:p/>
          <a:p>
            <a:r>
              <a:t>[DDL Index]</a:t>
            </a:r>
          </a:p>
          <a:p>
            <a:r>
              <a:t>- CREATE UNIQUE INDEX users_email_partial_idx ON users(email) WHERE deleted_at IS NULL</a:t>
            </a:r>
          </a:p>
          <a:p>
            <a:r>
              <a:t>- Index hanya memuat row dengan deleted_at IS NULL</a:t>
            </a:r>
          </a:p>
          <a:p>
            <a:r>
              <a:t>- Row dengan deleted_at NOT NULL tidak ter-index</a:t>
            </a:r>
          </a:p>
          <a:p>
            <a:r>
              <a:t>[Scenario: Email Reuse]</a:t>
            </a:r>
          </a:p>
          <a:p>
            <a:r>
              <a:t>- 1. Insert active user: email='partial@example.com' → sukses</a:t>
            </a:r>
          </a:p>
          <a:p>
            <a:r>
              <a:t>- 2. Insert duplicate active → 23505 (partially indexed)</a:t>
            </a:r>
          </a:p>
          <a:p>
            <a:r>
              <a:t>- 3. Soft delete: user1.deleted_at = now()</a:t>
            </a:r>
          </a:p>
          <a:p>
            <a:r>
              <a:t>- 4. Insert new active dengan email yang sama → sukses (user1 tidak ter-index)</a:t>
            </a:r>
          </a:p>
          <a:p>
            <a:r>
              <a:t>[Key Points]</a:t>
            </a:r>
          </a:p>
          <a:p>
            <a:r>
              <a:t>- Unique constraint: active users only</a:t>
            </a:r>
          </a:p>
          <a:p>
            <a:r>
              <a:t>- Partial index mencegah dupe aktif tanpa blokir soft-delete</a:t>
            </a:r>
          </a:p>
          <a:p>
            <a:r>
              <a:t>- User dapat di-activate ulang dengan email yang sama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12: Error Handling Pattern</a:t>
            </a:r>
          </a:p>
          <a:p/>
          <a:p>
            <a:r>
              <a:t>Mental Model: Use SQLSTATE codes for error classification, not error text parsing.</a:t>
            </a:r>
          </a:p>
          <a:p/>
          <a:p>
            <a:r>
              <a:t>[ConstraintError Structure]</a:t>
            </a:r>
          </a:p>
          <a:p>
            <a:r>
              <a:t>- type ConstraintError struct {</a:t>
            </a:r>
          </a:p>
          <a:p>
            <a:r>
              <a:t>-   Code           SQLState</a:t>
            </a:r>
          </a:p>
          <a:p>
            <a:r>
              <a:t>-   ConstraintName string</a:t>
            </a:r>
          </a:p>
          <a:p>
            <a:r>
              <a:t>-   TableName      string</a:t>
            </a:r>
          </a:p>
          <a:p>
            <a:r>
              <a:t>-   Detail         string</a:t>
            </a:r>
          </a:p>
          <a:p>
            <a:r>
              <a:t>- }</a:t>
            </a:r>
          </a:p>
          <a:p>
            <a:r>
              <a:t>[Constructor Functions]</a:t>
            </a:r>
          </a:p>
          <a:p>
            <a:r>
              <a:t>- NewNotNullViolation(table, column, constraintName)</a:t>
            </a:r>
          </a:p>
          <a:p>
            <a:r>
              <a:t>- NewUniqueViolation(table, constraintName, detail)</a:t>
            </a:r>
          </a:p>
          <a:p>
            <a:r>
              <a:t>- NewCheckViolation(table, constraintName, detail)</a:t>
            </a:r>
          </a:p>
          <a:p>
            <a:r>
              <a:t>- NewForeignKeyViolation(table, constraintName, detail)</a:t>
            </a:r>
          </a:p>
          <a:p>
            <a:r>
              <a:t>[Pemetaan Domain Error]</a:t>
            </a:r>
          </a:p>
          <a:p>
            <a:r>
              <a:t>- 23505 → 'conflict: resource with this unique attribute already exists'</a:t>
            </a:r>
          </a:p>
          <a:p>
            <a:r>
              <a:t>- 23502 → 'invalid input: mandatory field is missing'</a:t>
            </a:r>
          </a:p>
          <a:p>
            <a:r>
              <a:t>- 23514 → 'validation failed: value outside permissible boundary'</a:t>
            </a:r>
          </a:p>
          <a:p>
            <a:r>
              <a:t>- 23503 → 'reference error: referenced entity does not exist'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13: Store Layer: UnsafeStore vs SafeStore</a:t>
            </a:r>
          </a:p>
          <a:p/>
          <a:p>
            <a:r>
              <a:t>Mental Model: UnsafeStore demonstrates the race condition, SafeStore shows constraint protection.</a:t>
            </a:r>
          </a:p>
          <a:p/>
          <a:p>
            <a:r>
              <a:t>[UnsafeStore]</a:t>
            </a:r>
          </a:p>
          <a:p>
            <a:r>
              <a:t>- RegisterUser: app-level check loop → Sleep → InsertUserUnsafe</a:t>
            </a:r>
          </a:p>
          <a:p>
            <a:r>
              <a:t>- InsertUserUnsafe bypass database constraint</a:t>
            </a:r>
          </a:p>
          <a:p>
            <a:r>
              <a:t>- Vulnerable: two goroutines dapat lolos dengan email yang sama</a:t>
            </a:r>
          </a:p>
          <a:p>
            <a:r>
              <a:t>[SafeStore]</a:t>
            </a:r>
          </a:p>
          <a:p>
            <a:r>
              <a:t>- RegisterUser: delegate ke Engine.InsertUser</a:t>
            </a:r>
          </a:p>
          <a:p>
            <a:r>
              <a:t>- Database constraint menangani race condition atomik</a:t>
            </a:r>
          </a:p>
          <a:p>
            <a:r>
              <a:t>- All-or-nothing: success or 23505 error</a:t>
            </a:r>
          </a:p>
          <a:p>
            <a:r>
              <a:t>[Factory Functions]</a:t>
            </a:r>
          </a:p>
          <a:p>
            <a:r>
              <a:t>- NewUnsafeStore(eng)</a:t>
            </a:r>
          </a:p>
          <a:p>
            <a:r>
              <a:t>- NewSafeStore(eng)</a:t>
            </a:r>
          </a:p>
          <a:p>
            <a:r>
              <a:t>- Same engine, different constraint enforcement strategy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14: Test Coverage: 8 Test Cases</a:t>
            </a:r>
          </a:p>
          <a:p/>
          <a:p>
            <a:r>
              <a:t>Mental Model: 8 test cases cover all constraint types and concurrency edge cases.</a:t>
            </a:r>
          </a:p>
          <a:p/>
          <a:p>
            <a:r>
              <a:t>[Basic Constraint Tests]</a:t>
            </a:r>
          </a:p>
          <a:p>
            <a:r>
              <a:t>- TestNotNullConstraints: 3 assertions untuk email/username/user_id</a:t>
            </a:r>
          </a:p>
          <a:p>
            <a:r>
              <a:t>- TestCheckConstraints: 3 assertions untuk age/status/total_cents</a:t>
            </a:r>
          </a:p>
          <a:p>
            <a:r>
              <a:t>- TestUniqueConstraint: duplicate email rejection</a:t>
            </a:r>
          </a:p>
          <a:p>
            <a:r>
              <a:t>- TestForeignKeyConstraint: orphan order rejection</a:t>
            </a:r>
          </a:p>
          <a:p>
            <a:r>
              <a:t>[Advanced Tests]</a:t>
            </a:r>
          </a:p>
          <a:p>
            <a:r>
              <a:t>- TestPartialUniqueIndex: 6 assertions untuk soft-delete pattern</a:t>
            </a:r>
          </a:p>
          <a:p>
            <a:r>
              <a:t>- TestConcurrentRegistration_Safe_EnforcesUniqueness: 20 goroutines, 1 success</a:t>
            </a:r>
          </a:p>
          <a:p>
            <a:r>
              <a:t>- TestConcurrentRegistration_Unsafe_SuffersRaceCondition: 20 goroutines, &gt;1 record</a:t>
            </a:r>
          </a:p>
          <a:p>
            <a:r>
              <a:t>- TestErrorClassification: SQLSTATE mapping verification</a:t>
            </a:r>
          </a:p>
          <a:p>
            <a:r>
              <a:t>[Race Detector]</a:t>
            </a:r>
          </a:p>
          <a:p>
            <a:r>
              <a:t>- go test -race ./... → clean, no data races</a:t>
            </a:r>
          </a:p>
          <a:p>
            <a:r>
              <a:t>- TestConcurrentRegistration_Safe_*: thread-safe constraint enforcement</a:t>
            </a:r>
          </a:p>
          <a:p>
            <a:r>
              <a:t>- TestConcurrentRegistration_Unsafe_*: data race terdeteksi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15: Test Results: 8/8 PASS</a:t>
            </a:r>
          </a:p>
          <a:p/>
          <a:p>
            <a:r>
              <a:t>Mental Model: 8/8 test cases PASS with race detector clean — constraint enforcement verified.</a:t>
            </a:r>
          </a:p>
          <a:p/>
          <a:p>
            <a:r>
              <a:t>[Test Execution]</a:t>
            </a:r>
          </a:p>
          <a:p>
            <a:r>
              <a:t>- TestNotNullConstraints → PASS</a:t>
            </a:r>
          </a:p>
          <a:p>
            <a:r>
              <a:t>- TestCheckConstraints → PASS</a:t>
            </a:r>
          </a:p>
          <a:p>
            <a:r>
              <a:t>- TestUniqueConstraint → PASS</a:t>
            </a:r>
          </a:p>
          <a:p>
            <a:r>
              <a:t>- TestForeignKeyConstraint → PASS</a:t>
            </a:r>
          </a:p>
          <a:p>
            <a:r>
              <a:t>- TestPartialUniqueIndex → PASS</a:t>
            </a:r>
          </a:p>
          <a:p>
            <a:r>
              <a:t>[Concurrency Tests]</a:t>
            </a:r>
          </a:p>
          <a:p>
            <a:r>
              <a:t>- TestConcurrentRegistration_Safe_EnforcesUniqueness → PASS</a:t>
            </a:r>
          </a:p>
          <a:p>
            <a:r>
              <a:t>- TestConcurrentRegistration_Unsafe_SuffersRaceCondition → PASS</a:t>
            </a:r>
          </a:p>
          <a:p>
            <a:r>
              <a:t>- TestErrorClassification → PASS</a:t>
            </a:r>
          </a:p>
          <a:p>
            <a:r>
              <a:t>[Summary]</a:t>
            </a:r>
          </a:p>
          <a:p>
            <a:r>
              <a:t>- Total test: 8 test cases</a:t>
            </a:r>
          </a:p>
          <a:p>
            <a:r>
              <a:t>- Pass rate: 100% (8/8 PASS)</a:t>
            </a:r>
          </a:p>
          <a:p>
            <a:r>
              <a:t>- Race detector: clean, no data races</a:t>
            </a:r>
          </a:p>
          <a:p>
            <a:r>
              <a:t>- Test time: ~1.5s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16: Demo Program: Interactive Test Harness</a:t>
            </a:r>
          </a:p>
          <a:p/>
          <a:p>
            <a:r>
              <a:t>Mental Model: Demo program illustrates real-world usage of constraint-protected store.</a:t>
            </a:r>
          </a:p>
          <a:p/>
          <a:p>
            <a:r>
              <a:t>[Features]</a:t>
            </a:r>
          </a:p>
          <a:p>
            <a:r>
              <a:t>- Register users dengan email dan password</a:t>
            </a:r>
          </a:p>
          <a:p>
            <a:r>
              <a:t>- Create orders dengan user reference</a:t>
            </a:r>
          </a:p>
          <a:p>
            <a:r>
              <a:t>- Stress test dengan 50 goroutines konkuren</a:t>
            </a:r>
          </a:p>
          <a:p>
            <a:r>
              <a:t>- Real-time output: successful/rejected counts</a:t>
            </a:r>
          </a:p>
          <a:p>
            <a:r>
              <a:t>[Sample Output]</a:t>
            </a:r>
          </a:p>
          <a:p>
            <a:r>
              <a:t>- Total Goroutine: 50</a:t>
            </a:r>
          </a:p>
          <a:p>
            <a:r>
              <a:t>- Successful: 1</a:t>
            </a:r>
          </a:p>
          <a:p>
            <a:r>
              <a:t>- Rejected 23505: 49</a:t>
            </a:r>
          </a:p>
          <a:p>
            <a:r>
              <a:t>- Integrity intact: true</a:t>
            </a:r>
          </a:p>
          <a:p>
            <a:r>
              <a:t>[Usage]</a:t>
            </a:r>
          </a:p>
          <a:p>
            <a:r>
              <a:t>- go run ./cmd/demo</a:t>
            </a:r>
          </a:p>
          <a:p>
            <a:r>
              <a:t>- Interactive prompt untuk user input</a:t>
            </a:r>
          </a:p>
          <a:p>
            <a:r>
              <a:t>- Stress test mode untuk konkurensi test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17: Production Migration Strategy</a:t>
            </a:r>
          </a:p>
          <a:p/>
          <a:p>
            <a:r>
              <a:t>Mental Model: NOT VALID + VALIDATE avoids table lock and enables incremental validation.</a:t>
            </a:r>
          </a:p>
          <a:p/>
          <a:p>
            <a:r>
              <a:t>[NOT VALID Pattern]</a:t>
            </a:r>
          </a:p>
          <a:p>
            <a:r>
              <a:t>- ALTER TABLE orders ADD CONSTRAINT fk_user FOREIGN KEY(user_id) REFERENCES users(id) NOT VALID</a:t>
            </a:r>
          </a:p>
          <a:p>
            <a:r>
              <a:t>- Constraint tidak divalidasi untuk existing rows</a:t>
            </a:r>
          </a:p>
          <a:p>
            <a:r>
              <a:t>- Existing rows tidak dicek — constraint hanya berlaku untuk new/updated rows</a:t>
            </a:r>
          </a:p>
          <a:p>
            <a:r>
              <a:t>[VALIDATE CONSTRAINT]</a:t>
            </a:r>
          </a:p>
          <a:p>
            <a:r>
              <a:t>- ALTER TABLE orders VALIDATE CONSTRAINT fk_user</a:t>
            </a:r>
          </a:p>
          <a:p>
            <a:r>
              <a:t>- Background check: scan existing rows tanpa table lock</a:t>
            </a:r>
          </a:p>
          <a:p>
            <a:r>
              <a:t>- Zero-downtime: application tetap can read/write</a:t>
            </a:r>
          </a:p>
          <a:p>
            <a:r>
              <a:t>[Step-by-Step]</a:t>
            </a:r>
          </a:p>
          <a:p>
            <a:r>
              <a:t>- 1. Add constraint NOT VALID</a:t>
            </a:r>
          </a:p>
          <a:p>
            <a:r>
              <a:t>- 2. Validate constraint (background)</a:t>
            </a:r>
          </a:p>
          <a:p>
            <a:r>
              <a:t>- 3. Drop NOT VALID if desired</a:t>
            </a:r>
          </a:p>
          <a:p>
            <a:r>
              <a:t>- 4. Add indexes on referencing columns untuk DELETE/UPDATE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18: Keterbatasan Database Constraints</a:t>
            </a:r>
          </a:p>
          <a:p/>
          <a:p>
            <a:r>
              <a:t>Mental Model: Constraints are row-scoped — cross-row invariants require different approaches.</a:t>
            </a:r>
          </a:p>
          <a:p/>
          <a:p>
            <a:r>
              <a:t>[Row-Scoped Only]</a:t>
            </a:r>
          </a:p>
          <a:p>
            <a:r>
              <a:t>- CHECK cannot reference other rows</a:t>
            </a:r>
          </a:p>
          <a:p>
            <a:r>
              <a:t>- CHECK cannot query external services</a:t>
            </a:r>
          </a:p>
          <a:p>
            <a:r>
              <a:t>- CHECK cannot perform cross-row validation</a:t>
            </a:r>
          </a:p>
          <a:p>
            <a:r>
              <a:t>[Cross-Row Invariants]</a:t>
            </a:r>
          </a:p>
          <a:p>
            <a:r>
              <a:t>- Total balance = sum of accounts — requires aggregate</a:t>
            </a:r>
          </a:p>
          <a:p>
            <a:r>
              <a:t>- At most one active subscription per customer — requires count</a:t>
            </a:r>
          </a:p>
          <a:p>
            <a:r>
              <a:t>- Solution: SERIALIZABLE isolation atau triggers</a:t>
            </a:r>
          </a:p>
          <a:p>
            <a:r>
              <a:t>[FK Performance]</a:t>
            </a:r>
          </a:p>
          <a:p>
            <a:r>
              <a:t>- Referencing columns tidak auto-indexed</a:t>
            </a:r>
          </a:p>
          <a:p>
            <a:r>
              <a:t>- DELETE/UPDATE pada referenced table mungkin full scan</a:t>
            </a:r>
          </a:p>
          <a:p>
            <a:r>
              <a:t>- Manually add index pada referencing columns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19: Prinsip Desain: Defense in Depth</a:t>
            </a:r>
          </a:p>
          <a:p/>
          <a:p>
            <a:r>
              <a:t>Mental Model: Application for UX, database for correctness — defense in depth.</a:t>
            </a:r>
          </a:p>
          <a:p/>
          <a:p>
            <a:r>
              <a:t>[Two-Layer Defense]</a:t>
            </a:r>
          </a:p>
          <a:p>
            <a:r>
              <a:t>- Layer 1 (Aplikasi): user-friendly error messages</a:t>
            </a:r>
          </a:p>
          <a:p>
            <a:r>
              <a:t>- Layer 2 (Database): absolute correctness guarantee</a:t>
            </a:r>
          </a:p>
          <a:p>
            <a:r>
              <a:t>- Constraint database = last line of defense</a:t>
            </a:r>
          </a:p>
          <a:p>
            <a:r>
              <a:t>[Complementary Roles]</a:t>
            </a:r>
          </a:p>
          <a:p>
            <a:r>
              <a:t>- Application validation: UX lapis pertama</a:t>
            </a:r>
          </a:p>
          <a:p>
            <a:r>
              <a:t>- Database constraint: safety net untuk integrity</a:t>
            </a:r>
          </a:p>
          <a:p>
            <a:r>
              <a:t>- Duas layer bekerja bersama, bukan menggantikan</a:t>
            </a:r>
          </a:p>
          <a:p>
            <a:r>
              <a:t>[Real-World Analogy]</a:t>
            </a:r>
          </a:p>
          <a:p>
            <a:r>
              <a:t>- Flight check-in: app checks (bag weight), security check (physical scan)</a:t>
            </a:r>
          </a:p>
          <a:p>
            <a:r>
              <a:t>- Both layers catch different types of issues</a:t>
            </a:r>
          </a:p>
          <a:p>
            <a:r>
              <a:t>- Security check = database constraint (last line)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20: Kapan Gunakan Constraint Database vs App Validation</a:t>
            </a:r>
          </a:p>
          <a:p/>
          <a:p>
            <a:r>
              <a:t>Mental Model: Database constraint for mandatory integrity, app validation for optional UX.</a:t>
            </a:r>
          </a:p>
          <a:p/>
          <a:p>
            <a:r>
              <a:t>[Use Database Constraint]</a:t>
            </a:r>
          </a:p>
          <a:p>
            <a:r>
              <a:t>- Data integrity critical: UNIQUE, NOT NULL, CHECK</a:t>
            </a:r>
          </a:p>
          <a:p>
            <a:r>
              <a:t>- Race condition possible: concurrency workload</a:t>
            </a:r>
          </a:p>
          <a:p>
            <a:r>
              <a:t>- Single source of truth: database layer</a:t>
            </a:r>
          </a:p>
          <a:p>
            <a:r>
              <a:t>- Cross-application consistency: multi-service</a:t>
            </a:r>
          </a:p>
          <a:p>
            <a:r>
              <a:t>[Use Application Validation]</a:t>
            </a:r>
          </a:p>
          <a:p>
            <a:r>
              <a:t>- User-friendly error messages</a:t>
            </a:r>
          </a:p>
          <a:p>
            <a:r>
              <a:t>- Form validation on UI before submit</a:t>
            </a:r>
          </a:p>
          <a:p>
            <a:r>
              <a:t>- Performance: avoid DB round-trip untuk simple check</a:t>
            </a:r>
          </a:p>
          <a:p>
            <a:r>
              <a:t>- Complex business logic: multi-step validation</a:t>
            </a:r>
          </a:p>
          <a:p>
            <a:r>
              <a:t>[Best Practice]</a:t>
            </a:r>
          </a:p>
          <a:p>
            <a:r>
              <a:t>- Always use database constraint untuk integrity</a:t>
            </a:r>
          </a:p>
          <a:p>
            <a:r>
              <a:t>- Use application validation untuk UX</a:t>
            </a:r>
          </a:p>
          <a:p>
            <a:r>
              <a:t>- Never rely on app validation alone</a:t>
            </a:r>
          </a:p>
          <a:p>
            <a:r>
              <a:t>- Database constraint = mandatory, app = optional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21: SQLSTATE Standards: PostgreSQL &amp; SQLite</a:t>
            </a:r>
          </a:p>
          <a:p/>
          <a:p>
            <a:r>
              <a:t>Mental Model: SQLSTATE codes are stable — use codes, not error text, for classification.</a:t>
            </a:r>
          </a:p>
          <a:p/>
          <a:p>
            <a:r>
              <a:t>[SQLSTATE Overview]</a:t>
            </a:r>
          </a:p>
          <a:p>
            <a:r>
              <a:t>- PostgreSQL: class 23Constraint Violation</a:t>
            </a:r>
          </a:p>
          <a:p>
            <a:r>
              <a:t>- SQLite: class 23Constraint Violation</a:t>
            </a:r>
          </a:p>
          <a:p>
            <a:r>
              <a:t>- SQL standard: ISO/IEC 9075-2</a:t>
            </a:r>
          </a:p>
          <a:p>
            <a:r>
              <a:t>- Code 23xxx tidak terlokalisasi</a:t>
            </a:r>
          </a:p>
          <a:p>
            <a:r>
              <a:t>[Common Codes]</a:t>
            </a:r>
          </a:p>
          <a:p>
            <a:r>
              <a:t>- 23502: NOT NULL violation</a:t>
            </a:r>
          </a:p>
          <a:p>
            <a:r>
              <a:t>- 23503: FOREIGN KEY violation</a:t>
            </a:r>
          </a:p>
          <a:p>
            <a:r>
              <a:t>- 23505: UNIQUE violation</a:t>
            </a:r>
          </a:p>
          <a:p>
            <a:r>
              <a:t>- 23514: CHECK violation</a:t>
            </a:r>
          </a:p>
          <a:p>
            <a:r>
              <a:t>- 23P01: Exclusion violation</a:t>
            </a:r>
          </a:p>
          <a:p>
            <a:r>
              <a:t>[Implementation]</a:t>
            </a:r>
          </a:p>
          <a:p>
            <a:r>
              <a:t>- Code stable across locales</a:t>
            </a:r>
          </a:p>
          <a:p>
            <a:r>
              <a:t>- Error text may be localized</a:t>
            </a:r>
          </a:p>
          <a:p>
            <a:r>
              <a:t>- Always use codes, never parse text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22: Batasan Implementasi Lab 27</a:t>
            </a:r>
          </a:p>
          <a:p/>
          <a:p>
            <a:r>
              <a:t>Mental Model: This lab proves constraint behavior conceptually — not production PostgreSQL.</a:t>
            </a:r>
          </a:p>
          <a:p/>
          <a:p>
            <a:r>
              <a:t>[BATAS 1: IN-MEMORY ENGINE]</a:t>
            </a:r>
          </a:p>
          <a:p>
            <a:r>
              <a:t>- Engine menggunakan Go map dan sync.RWMutex</a:t>
            </a:r>
          </a:p>
          <a:p>
            <a:r>
              <a:t>- Bukan PostgreSQL live — tidak ada B-tree page latch</a:t>
            </a:r>
          </a:p>
          <a:p>
            <a:r>
              <a:t>- Query counter tidak ada (tidak ada query execution)</a:t>
            </a:r>
          </a:p>
          <a:p>
            <a:r>
              <a:t>[BATAS 2: LOCKING STRATEGY]</a:t>
            </a:r>
          </a:p>
          <a:p>
            <a:r>
              <a:t>- Coarse-grained table lock, bukan row-level lock</a:t>
            </a:r>
          </a:p>
          <a:p>
            <a:r>
              <a:t>- Bukan B-tree page latch atau MVCC</a:t>
            </a:r>
          </a:p>
          <a:p>
            <a:r>
              <a:t>- Trade-off: readability dan zero-dependency</a:t>
            </a:r>
          </a:p>
          <a:p>
            <a:r>
              <a:t>[BATAS 3: USE CASE]</a:t>
            </a:r>
          </a:p>
          <a:p>
            <a:r>
              <a:t>- Lab untuk pembelajaran konsep</a:t>
            </a:r>
          </a:p>
          <a:p>
            <a:r>
              <a:t>- Bukan benchmark production throughput</a:t>
            </a:r>
          </a:p>
          <a:p>
            <a:r>
              <a:t>- Verifikasi constraint behavior, bukan PostgreSQL internals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23: Prinsip Desain Inti</a:t>
            </a:r>
          </a:p>
          <a:p/>
          <a:p>
            <a:r>
              <a:t>Mental Model: Three principles: delegate to DB, defense in depth, concurrent test.</a:t>
            </a:r>
          </a:p>
          <a:p/>
          <a:p>
            <a:r>
              <a:t>[PRINSIP 1: DELEGATE TO DATABASE]</a:t>
            </a:r>
          </a:p>
          <a:p>
            <a:r>
              <a:t>- Delegasikan integrity check ke database constraint</a:t>
            </a:r>
          </a:p>
          <a:p>
            <a:r>
              <a:t>- Database constraint = single source of truth</a:t>
            </a:r>
          </a:p>
          <a:p>
            <a:r>
              <a:t>- Avoid check-then-act pattern di application layer</a:t>
            </a:r>
          </a:p>
          <a:p>
            <a:r>
              <a:t>[PRINSIP 2: DEFENSE IN DEPTH]</a:t>
            </a:r>
          </a:p>
          <a:p>
            <a:r>
              <a:t>- Application validation untuk UX (optional)</a:t>
            </a:r>
          </a:p>
          <a:p>
            <a:r>
              <a:t>- Database constraint untuk correctness (mandatory)</a:t>
            </a:r>
          </a:p>
          <a:p>
            <a:r>
              <a:t>- Jangan gantikan constraint dengan app validation</a:t>
            </a:r>
          </a:p>
          <a:p>
            <a:r>
              <a:t>[PRINSIP 3: CONCURRENT TEST]</a:t>
            </a:r>
          </a:p>
          <a:p>
            <a:r>
              <a:t>- Test konkuren eksplisit dengan go test -race</a:t>
            </a:r>
          </a:p>
          <a:p>
            <a:r>
              <a:t>- Stress test dengan goroutines untuk race detection</a:t>
            </a:r>
          </a:p>
          <a:p>
            <a:r>
              <a:t>- Sequential test tidak dapat mendeteksi race condition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24: Ringkasan Lab 27</a:t>
            </a:r>
          </a:p>
          <a:p/>
          <a:p>
            <a:r>
              <a:t>Mental Model: Database constraints provide atomic integrity enforcement — no window for race conditions.</a:t>
            </a:r>
          </a:p>
          <a:p/>
          <a:p>
            <a:r>
              <a:t>[KEY RESULTS]</a:t>
            </a:r>
          </a:p>
          <a:p>
            <a:r>
              <a:t>- 5 constraint types: NOT NULL, CHECK, UNIQUE, FOREIGN KEY, PARTIAL UNIQUE</a:t>
            </a:r>
          </a:p>
          <a:p>
            <a:r>
              <a:t>- SQLSTATE codes: 23502/23503/23505/23514/23P01</a:t>
            </a:r>
          </a:p>
          <a:p>
            <a:r>
              <a:t>- Race condition prevention via atomic constraint enforcement</a:t>
            </a:r>
          </a:p>
          <a:p>
            <a:r>
              <a:t>[MENTAL MODEL]</a:t>
            </a:r>
          </a:p>
          <a:p>
            <a:r>
              <a:t>- Database constraint eliminates check-then-act vulnerability</a:t>
            </a:r>
          </a:p>
          <a:p>
            <a:r>
              <a:t>- Two-layer defense: app for UX, DB for correctness</a:t>
            </a:r>
          </a:p>
          <a:p>
            <a:r>
              <a:t>- Partial unique index enables soft-delete email reuse</a:t>
            </a:r>
          </a:p>
          <a:p>
            <a:r>
              <a:t>[RESOURCES]</a:t>
            </a:r>
          </a:p>
          <a:p>
            <a:r>
              <a:t>- Repository: https://github.com/lukman-ss/software-engineering-lab/tree/main/labs/27-database-constraints</a:t>
            </a:r>
          </a:p>
          <a:p>
            <a:r>
              <a:t>- Commit SHA: 03a693cc41fcccbc02e6a1d03c0f0cf2c49dacff</a:t>
            </a:r>
          </a:p>
          <a:p>
            <a:r>
              <a:t>- Run tests: go test -v -race ./...</a:t>
            </a:r>
          </a:p>
          <a:p>
            <a:r>
              <a:t>- Run demo: go run ./cmd/demo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Database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4F1E8"/>
                </a:solidFill>
              </a:defRPr>
            </a:pPr>
            <a:r>
              <a:t>Memindahkan Validasi ke Level Database untuk Menjamin Integritas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087F76"/>
                </a:solidFill>
                <a:latin typeface="Courier New"/>
              </a:defRPr>
            </a:pPr>
            <a:r>
              <a:t>&gt; system_check --lab 27 --topic 'database-constraints'</a:t>
            </a:r>
            <a:br/>
            <a:r>
              <a:t>&gt; author: Lukman / lukman-ss | status: PRODUCTION VERIFIED</a:t>
            </a:r>
            <a:br/>
            <a:r>
              <a:t>&gt; commit: 03a693cc | tests: PASS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Validasi Aplikasi vs Database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Pola check-then-act rentan race condition di bawah konkurensi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Validasi aplikasi saja rentan: SELECT → cek → INSERT dapat diinterleave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 konkuren 20 goroutine: UnsafeStore menghasilkan &gt;1 record dengan email 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Perbaikan duplikat data di produksi jauh lebih mahal daripada pencegahan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KONSEP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condition terjadi saat dua transaksi membaca keadaan sama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memindahkan pengecekan ke titik atomik: saat INSERT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UNIQUE constraint menggunakan B-tree index dengan ROW EXCLUSIVE lock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STUDI KASUS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Goroutine A: scan → tidak ketemu → INSERT sukses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Goroutine B: scan → tidak ketemu → INSERT sukses (DUPLIKAT)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SafeStore delegation ke engine → hanya 1 berhasil, 19 error 23505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Database constraints eliminate the check-then-act vulnerability by merging check and write atomically.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Lima Mekanisme Constraint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Database constraint menerapkan integritas data pada level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NOT NULL (23502)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Kolom wajib: email, username, user_id tidak boleh NULL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 validation terjadi pada saat INSERT/UPDATE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Prevent integrity issues sebelum masuk ke business logic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CHECK (23514)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Predikat boolean: age &gt;= 18, status IN ('active','inactive','banned')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total_cents &gt; 0 mencegah order dengan nilai nol atau negatif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Validasi domain-specific berbasis aturan deklaratif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UNIQUE (23505)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Satu kemunculan per nilai di kolom atau kombinasi kolom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race condition read-then-write secara otomatis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B-tree index otomatis dibuat untuk performa lookup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Constraints provide declarative, ACID-guaranteed enforcement at the storage layer.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Referential Integrity &amp; Partial Uniqueness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FOREIGN KEY dan partial unique index menambah fleksibilitas desain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FOREIGN KEY (23503)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Menjamin user_id di orders merujuk ke record users yang ada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Mencegah orphan records tanpa data induk yang valid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 name tersedia di error detail untuk debugging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PARTIAL UNIQUE INDEX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 UNIQUE INDEX ... WHERE deleted_at IS NULL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Uniqueness hanya untuk data aktif (deleted_at IS NULL)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Email dapat dipakai ulang setelah soft-delete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PARTIAL INDEX UNTUK SOFT-DELETE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Active user dengan email same@example.com: hanya 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Soft-deleted user dengan email same@example.com: diperbolehkan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Active user baru dengan email same@example.com: diperbolehkan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Partial unique index enables conditional uniqueness for soft-delete 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SQLSTATE: Kode Error Standar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Class 23: Constraint Violation — stable dan tidak terlokalisasi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KODE SQLSTATE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23502: NOT NULL violation — kolom wajib kosong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23503: FOREIGN KEY violation — referensi tidak ada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23505: UNIQUE violation — duplicate key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23514: CHECK violation — nilai di luar batas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23P01: Exclusion violation — exclusion constraint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ERROR OBJECT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ConstraintError{Code, ConstraintName, TableName, Detail}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ConstraintName: nama constraint yang dilanggar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TableName: tabel yang terpengaruh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Detail: pesan error detail untuk debugging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PEMETAAN KE DOMAIN ERROR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23505 → HTTP 409 Conflict (resource exists)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23502 → HTTP 400 Bad Request (missing field)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23514 → HTTP 422 Unprocessable Entity (validation failed)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23503 → HTTP 400 Bad Request (invalid reference)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SQLSTATE codes (23xxx) are stable across locales — use codes, not error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labs/27-database-constraints/internal/dberr/errors.go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Proof: UnsafeStore vs SafeStore di Bawah Konkurensi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Perbandingan perilaku konkuren 20 goroutine dengan email sama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UNSAFE STORE (TANPA CONSTRAINT)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20 goroutine memanggil RegisterUser() dengan email 'unsafe@example.com'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Setiap goroutine melakukan SELECT → scan loop → Sleep(1ms) → INSERT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Hasil: GetUsersCount() &gt; 1 (dua atau lebih record berhasil inserted)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Dua goroutine dapat membaca count=0 secara bersamaan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SAFE STORE (DENGAN CONSTRAINT)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20 goroutine memanggil RegisterUser() dengan email 'safe@example.com'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23505 menolak 19 goroutine secara atomik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Hasil: GetUsersCount() = 1 (hanya 1 goroutine berhasil)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Exactly 1 success + 19 SQLSTATE 23505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CONCLUSION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Without constraint: race condition terjadi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With UNIQUE constraint: exactly one winner, N-1 failures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mengeliminasi check-then-act window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Without atomic constraint enforcement, read-then-write patterns fail under concurrency.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Engine Simulator: In-Memory PostgreSQL Semantics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Simulator Go merepresentasikan semantik PostgreSQL tanpa Docker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KOMPONEN ENGINE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Engine: central state store dengan sync.RWMutex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users: map[int64]User, orders: map[int64]Order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InsertUser(): NOT NULL → CHECK → UNIQUE → Generate ID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InsertOrder(): NOT NULL → CHECK → FOREIGN KEY → Generate 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COARSE-GRAINED LOCKING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e.mu.Lock() menahan untuk seluruh operasi insert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Critical section atomik: cek dan tulis dalam satu 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Tidak ada interleaving antara check dan 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TRADE-OFF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Coarse-grained lock bukan B-tree page latch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Readability dan zero-dependency diprioritaskan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Semantik SQLSTATE dan concurrency pattern termodel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Engine models SQLSTATE behavior and concurrency patterns — not production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labs/27-database-constraints/internal/engine/engine.go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Constraint Check Flow: Insert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Urutan evaluasi constraint di Engine.InsertUser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URUTAN EVALUASI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 NOT NULL: email, username, age, status wajib terisi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2. CHECK: age &gt;= 18, status IN ('active','inactive','banned')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3. UNIQUE: email tidak boleh duplicate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4. Generate Primary Key dan commit ke users map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5. Update B-tree index simulasi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ATOMIC CRITICAL SECTION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e.mu.Lock() di awal operasi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Semua check dan write terjadi di dalam 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e.mu.Unlock() setelah commit berhasil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PARTIAL UNIQUE INDEX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InsertUserPartial() menerima flag usePartialIndex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Partial unique index: WHERE deleted_at IS NULL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Soft-deleted user tidak ter-index untuk uniqueness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Constraints are evaluated atomically during INSERT — no window for interleaving.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labs/27-database-constraints/internal/engine/engine.go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Contoh Pelanggaran Constraint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Kode test menunjukkan pelanggaran masing-masing constraint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NOT NULL VIOLATION (23502)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RegisterUser{Username: 'alice', Age: 25} tanpa email → error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RegisterUser{Email: 'alice@example.com', Age: 25} tanpa username → error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CreateOrder{TotalCents: 100} tanpa user_id → 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CHECK VIOLATION (23514)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User age=16 → age &lt; 18 violates CHECK constraint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User status='banned' → status tidak di ('active','inactive','banned')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Order total_cents=0 → total_cents &lt;= 0 violates CHECK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UNIQUE VIOLATION (23505)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First insert email='unique@example.com' → sukses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Second insert email='unique@example.com' → 23505 error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Concurrent insert same email → exactly 1 success, 19 failures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Each constraint type has a specific SQLSTATE code — use codes, not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Foreign Key Constraint &amp; Referential Integrity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Orders harus memiliki user yang valid di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INSERT ORDER FLOW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 NOT NULL: user_id wajib terisi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2. CHECK: total_cents &gt; 0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3. FOREIGN KEY: user_id harus ada di users map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4. Generate Primary Key dan commit ke orders 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VIOLASI FK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CreateOrder{UserID: 99999, TotalCents: 5000} → error 23503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99999 tidak ada di users map → referential integrity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Order terpisah dari user induknya (orphan record)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VALID ORDER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Insert User: id=1, email='fk@example.com'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CreateOrder{UserID: 1, TotalCents: 5000} → sukses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Order.id dan Order.UserID konsisten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Foreign key prevents orphan records — orders must reference existing users.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labs/27-database-constraints/internal/engine/engine.go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Partial Unique Index: Soft-Delete Uniqueness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Uniqueness hanya untuk record aktif (deleted_at IS NULL)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DDL INDEX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 UNIQUE INDEX users_email_partial_idx ON users(email) WHERE deleted_at IS NULL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Index hanya memuat row dengan deleted_at IS NULL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Row dengan deleted_at NOT NULL tidak ter-index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SCENARIO: EMAIL REUSE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 Insert active user: email='partial@example.com' → sukses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2. Insert duplicate active → 23505 (partially indexed)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3. Soft delete: user1.deleted_at = now()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4. Insert new active dengan email yang sama → sukses (user1 tidak ter-index)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KEY POINTS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Unique constraint: active users only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Partial index mencegah dupe aktif tanpa blokir soft-delete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User dapat di-activate ulang dengan email yang sama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Partial unique index: uniqueness only for active records, soft-deleted excluded.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labs/27-database-constraints/internal/engine/engine.go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Error Handling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Map SQLSTATE ke domain error dengan ConstraintError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CONSTRAINTERROR STRUCTURE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type ConstraintError struct {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Code           SQLState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ConstraintName string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TableName      string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  Detail         string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CONSTRUCTOR FUNCTIONS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NewNotNullViolation(table, column, constraintName)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NewUniqueViolation(table, constraintName, detail)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NewCheckViolation(table, constraintName, detail)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NewForeignKeyViolation(table, constraintName, detail)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PEMETAAN DOMAIN ERROR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23505 → 'conflict: resource with this unique attribute already exists'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23502 → 'invalid input: mandatory field is missing'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23514 → 'validation failed: value outside permissible boundary'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23503 → 'reference error: referenced entity does not exist'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Use SQLSTATE codes for error classification, not error text parsing.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labs/27-database-constraints/internal/dberr/errors.go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Store Layer: UnsafeStore vs SafeStore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Pemisahan antara validasi aplikasi dan constraint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UNSAFESTORE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RegisterUser: app-level check loop → Sleep → InsertUserUnsafe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InsertUserUnsafe bypass database constraint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Vulnerable: two goroutines dapat lolos dengan email yang sama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SAFESTORE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RegisterUser: delegate ke Engine.InsertUser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menangani race condition atomik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All-or-nothing: success or 23505 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FACTORY FUNCTIONS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NewUnsafeStore(eng)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NewSafeStore(eng)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Same engine, different constraint enforcement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UnsafeStore demonstrates the race condition, SafeStore shows constraint protection.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Test Coverage: 8 Test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Semua constraint type dan concurrency pattern teruji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BASIC CONSTRAINT TESTS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TestNotNullConstraints: 3 assertions untuk email/username/user_id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TestCheckConstraints: 3 assertions untuk age/status/total_cents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TestUniqueConstraint: duplicate email rejection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TestForeignKeyConstraint: orphan order rejection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ADVANCED TESTS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TestPartialUniqueIndex: 6 assertions untuk soft-delete pattern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TestConcurrentRegistration_Safe_EnforcesUniqueness: 20 goroutines, 1 success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TestConcurrentRegistration_Unsafe_SuffersRaceCondition: 20 goroutines, &gt;1 record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TestErrorClassification: SQLSTATE mapping verification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RACE DETECTOR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go test -race ./... → clean, no data races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TestConcurrentRegistration_Safe_*: thread-safe constraint enforcement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TestConcurrentRegistration_Unsafe_*: data race terdeteksi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 test cases cover all constraint types and concurrency edge cases.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Test Results: 8/8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go test -race ./... menghasilkan clean run tanpa race condition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TEST EXECUTION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TestNotNullConstraints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TestCheckConstraints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TestUniqueConstraint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TestForeignKeyConstraint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TestPartialUniqueIndex →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CONCURRENCY TESTS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TestConcurrentRegistration_Safe_EnforcesUniqueness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TestConcurrentRegistration_Unsafe_SuffersRaceCondition → PASS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TestErrorClassification →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SUMMARY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 test: 8 test cases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Pass rate: 100% (8/8 PASS)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detector: clean, no data races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 time: ~1.5s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8/8 test cases PASS with race detector clean — constraint enforcement verified.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labs/27-database-constraints/internal/store/store_test.go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Demo Program: Interactive Test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cmd/demo/main.go menggambarkan penggunaan Store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FEATURES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Register users dengan email dan password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Create orders dengan user reference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Stress test dengan 50 goroutines konkuren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Real-time output: successful/rejected counts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SAMPLE OUTPUT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 Goroutine: 50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Successful: 1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Rejected 23505: 49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Integrity intact: true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USAGE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go run ./cmd/demo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Interactive prompt untuk user input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Stress test mode untuk konkurensi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Demo program illustrates real-world usage of constraint-protected store.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labs/27-database-constraints/cmd/demo/main.go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Production Migration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NOT VALID + VALIDATE CONSTRAINT pattern untuk zero-downtime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NOT VALID PATTERN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ALTER TABLE orders ADD CONSTRAINT fk_user FOREIGN KEY(user_id) REFERENCES users(id) NOT VALID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 tidak divalidasi untuk existing rows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Existing rows tidak dicek — constraint hanya berlaku untuk new/updated rows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VALIDATE CONSTRAINT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ALTER TABLE orders VALIDATE CONSTRAINT fk_user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Background check: scan existing rows tanpa table 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Zero-downtime: application tetap can read/write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STEP-BY-STEP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1. Add constraint NOT VALID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2. Validate constraint (background)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3. Drop NOT VALID if desired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4. Add indexes on referencing columns untuk DELETE/UPDATE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NOT VALID + VALIDATE avoids table lock and enables incremental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labs/27-database-constraints/research/05-report.md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Keterbatasan Database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Constraints hanya untuk row-scoped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ROW-SCOPED ONLY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CHECK cannot reference other rows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CHECK cannot query external services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CHECK cannot perform cross-row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CROSS-ROW INVARIANTS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Total balance = sum of accounts — requires aggregate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At most one active subscription per customer — requires count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Solution: SERIALIZABLE isolation atau triggers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FK PERFORMANCE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Referencing columns tidak auto-indexed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DELETE/UPDATE pada referenced table mungkin full scan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Manually add index pada referencing columns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Constraints are row-scoped — cross-row invariants require different approaches.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labs/27-database-constraints/content/01-content-brief.md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Prinsip Desain: Defense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Kombinasi validasi aplikasi dan constraint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TWO-LAYER DEFENSE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Layer 1 (Aplikasi): user-friendly error messages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Layer 2 (Database): absolute correctness guarantee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Constraint database = last line of defense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COMPLEMENTARY ROLES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Application validation: UX lapis pertama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constraint: safety net untuk integrity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Duas layer bekerja bersama, bukan menggantikan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REAL-WORLD ANALOGY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Flight check-in: app checks (bag weight), security check (physical scan)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Both layers catch different types of issues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Security check = database constraint (last line)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Application for UX, database for correctness — defense in depth.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labs/27-database-constraints/content/02-master-draft.md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Kapan Gunakan Constraint Database vs App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Konteks dan trade-off masing-masing pendekatan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USE DATABASE CONSTRAINT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 integrity critical: UNIQUE, NOT NULL, CHECK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Race condition possible: concurrency workload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Single source of truth: database layer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Cross-application consistency: multi-service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USE APPLICATION VALIDATION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User-friendly error messages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Form validation on UI before submit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Performance: avoid DB round-trip untuk simple check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Complex business logic: multi-step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BEST PRACTICE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Always use database constraint untuk integrity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Use application validation untuk UX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Never rely on app validation alone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= mandatory, app = optional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Database constraint for mandatory integrity, app validation for optional UX.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SQLSTATE Standards: PostgreSQL &amp; SQLite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Class 23: Constraint Violation — stable dan portabel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SQLSTATE OVERVIEW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PostgreSQL: class 23Constraint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SQLite: class 23Constraint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SQL standard: ISO/IEC 9075-2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Code 23xxx tidak terlokalisasi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COMMON CODES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23502: NOT NULL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23503: FOREIGN KEY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23505: UNIQUE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23514: CHECK violation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23P01: Exclusion violation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IMPLEMENTATION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Code stable across locales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Error text may be localized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Always use codes, never parse 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SQLSTATE codes are stable — use codes, not error text, for classification.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labs/27-database-constraints/research/03-evidence.md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Batasan Implementasi Lab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Simulator Go vs PostgreSQL live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1: IN-MEMORY ENGINE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Engine menggunakan Go map dan sync.RWMutex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Bukan PostgreSQL live — tidak ada B-tree page latch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Query counter tidak ada (tidak ada query execution)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2: LOCKING STRATEGY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Coarse-grained table lock, bukan row-level lock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Bukan B-tree page latch atau MVCC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Trade-off: readability dan zero-dependency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BATAS 3: USE CASE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Lab untuk pembelajaran konsep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Bukan benchmark production throughput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Verifikasi constraint behavior, bukan PostgreSQL internals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This lab proves constraint behavior conceptually — not production PostgreSQL.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labs/27-database-constraints/content/01-content-brief.md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87F76"/>
                </a:solidFill>
              </a:defRPr>
            </a:pPr>
            <a:r>
              <a:t>SOFTWARE ENGINEERING LAB | LAB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2D"/>
                </a:solidFill>
              </a:defRPr>
            </a:pPr>
            <a:r>
              <a:t>Prinsip Desain Inti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606B"/>
                </a:solidFill>
              </a:defRPr>
            </a:pPr>
            <a:r>
              <a:t>Tiga prinsip untuk data integrity yang benar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1: DELEGATE TO DATABASE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Delegasikan integrity check ke database constraint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= single source of truth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Avoid check-then-act pattern di application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9178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2: DEFENSE IN DEPTH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Application validation untuk UX (optional)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Database constraint untuk correctness (mandatory)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Jangan gantikan constraint dengan app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6836" y="1920240"/>
            <a:ext cx="3393338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87F76"/>
                </a:solidFill>
              </a:defRPr>
            </a:pPr>
            <a:r>
              <a:t>PRINSIP 3: CONCURRENT TEST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Test konkuren eksplisit dengan go test -race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Stress test dengan goroutines untuk race detection</a:t>
            </a:r>
          </a:p>
          <a:p>
            <a:pPr>
              <a:defRPr sz="1200">
                <a:solidFill>
                  <a:srgbClr val="0B1B2D"/>
                </a:solidFill>
              </a:defRPr>
            </a:pPr>
            <a:r>
              <a:t>• Sequential test tidak dapat mendeteksi race condition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2191695" cy="82296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Three principles: delegate to DB, defense in depth, concurrent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labs/27-database-constraints/content/05-key-takeaways.md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35508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52606B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87F76"/>
                </a:solidFill>
              </a:defRPr>
            </a:pPr>
            <a:r>
              <a:t>SOFTWARE ENGINEERING LAB | LAB 27 RINGKASAN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Ringkasan Lab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KEY RESULTS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5 constraint types: NOT NULL, CHECK, UNIQUE, FOREIGN KEY, PARTIAL UNIQUE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SQLSTATE codes: 23502/23503/23505/23514/23P01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Race condition prevention via atomic constraint enforcement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MENTAL MODEL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Database constraint eliminates check-then-act vulnerability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Two-layer defense: app for UX, DB for correctness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Partial unique index enables soft-delete email reuse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200400" cy="3291840"/>
          </a:xfrm>
          <a:prstGeom prst="roundRect">
            <a:avLst/>
          </a:prstGeom>
          <a:solidFill>
            <a:srgbClr val="1E293B"/>
          </a:solidFill>
          <a:ln>
            <a:solidFill>
              <a:srgbClr val="087F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87F76"/>
                </a:solidFill>
              </a:defRPr>
            </a:pPr>
            <a:r>
              <a:t>RESOURCES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Repository: https://github.com/lukman-ss/software-engineering-lab/tree/main/labs/27-database-constraints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Commit SHA: 03a693cc41fcccbc02e6a1d03c0f0cf2c49dacff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Run tests: go test -v -race ./...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Run demo: go run ./cmd/demo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Database constraints provide atomic integrity enforcement — no window for race conditions.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