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Database Constraints: Benteng Terakhir Integritas Data</a:t>
            </a:r>
          </a:p>
          <a:p/>
          <a:p>
            <a:r>
              <a:t>Mental Model: Database constraints provide declarative, ACID-guaranteed enforcement that eliminates check-then-act vulnerabilities.</a:t>
            </a:r>
          </a:p>
          <a:p/>
          <a:p>
            <a:r>
              <a:t>[]</a:t>
            </a:r>
          </a:p>
          <a:p>
            <a:r>
              <a:t>- Retro Terminal Visualizing Schema Invariants, SQLSTATE Taxonomy &amp; Atomic Locks</a:t>
            </a:r>
          </a:p>
          <a:p>
            <a:r>
              <a:t>- Simulasi Relasional In-Memory dengan 50 Goroutines Konkuren dan Error Mapping di Go</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Validasi Aplikasi Runtuh di Bawah Beban Konkuren</a:t>
            </a:r>
          </a:p>
          <a:p/>
          <a:p>
            <a:r>
              <a:t>Mental Model: Application-level checks cannot bridge the race window between read and write operations under concurrency.</a:t>
            </a:r>
          </a:p>
          <a:p/>
          <a:p>
            <a:r>
              <a:t>[DAMPAK KEGAGALAN VALIDASI HANYA DI APLIKASI]</a:t>
            </a:r>
          </a:p>
          <a:p>
            <a:r>
              <a:t>- Race Condition Registrasi: Dua request membaca 'email belum ada' secara bersamaan, lalu keduanya melakukan INSERT email identik.</a:t>
            </a:r>
          </a:p>
          <a:p>
            <a:r>
              <a:t>- Deduplikasi Pasca-Fakta Mahal: Membersihkan data duplikat di produksi membutuhkan rekonsiliasi manual, migration rumit, dan downtime.</a:t>
            </a:r>
          </a:p>
          <a:p>
            <a:r>
              <a:t>- Bukan Berarti Bug Kode: Kegagalan ini bukan berarti logika if/else salah, melainkan batasan fundamental arsitektur tanpa penguncian atomik.</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Mengapa Review Manual dan Pengecekan Memori Gagal?</a:t>
            </a:r>
          </a:p>
          <a:p/>
          <a:p>
            <a:r>
              <a:t>Mental Model: Sequential testing creates an illusion of correctness that shatters under concurrent thread interleaving.</a:t>
            </a:r>
          </a:p>
          <a:p/>
          <a:p>
            <a:r>
              <a:t>[KELEMAHAN PENDEKATAN VALIDASI NAIF]</a:t>
            </a:r>
          </a:p>
          <a:p>
            <a:r>
              <a:t>- Interleaving CPU Scheduling: Jeda milidetik antara query SELECT dan INSERT dieksploitasi oleh OS scheduler untuk menyisipkan operasi lain.</a:t>
            </a:r>
          </a:p>
          <a:p>
            <a:r>
              <a:t>- Unit Test Sekuensial Menipu: Test standar tanpa konkurensi goroutine selalu pass 100%, menciptakan ilusi keamanan palsu bagi tim engineer.</a:t>
            </a:r>
          </a:p>
          <a:p>
            <a:r>
              <a:t>- Tidak Otomatis Terlindungi: Menjalankan validasi di microservice terpisah tidak otomatis menjamin keunikan tanpa koordinasi locking atomik.</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Model Mental Dua Lapis: Kolaborasi Aplikasi dan Database</a:t>
            </a:r>
          </a:p>
          <a:p/>
          <a:p>
            <a:r>
              <a:t>Mental Model: Application validation provides user-friendly guidance; database constraints provide inviolable invariant enforcement.</a:t>
            </a:r>
          </a:p>
          <a:p/>
          <a:p>
            <a:r>
              <a:t>[ARSITEKTUR PERTAHANAN DUA LAPIS]</a:t>
            </a:r>
          </a:p>
          <a:p>
            <a:r>
              <a:t>- Lapis 1: Application Validation (User Experience (UX)): Memberikan pesan error ramah, validasi format cepat, dan sanitasi input sebelum request menyentuh database.</a:t>
            </a:r>
          </a:p>
          <a:p>
            <a:r>
              <a:t>- Lapis 2: Database Constraints (Last Line of Truth): Menjamin invarian skema secara deklaratif dan atomik dengan lock internal engine saat baris data ditulis.</a:t>
            </a:r>
          </a:p>
          <a:p>
            <a:r>
              <a:t>- Jembatan: Error Mapping (SQLSTATE Taxonomy): Hanya pada jalur ini error database 23xxx diterjemahkan menjadi domain error terstruktur seperti HTTP 409 Conflict.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Urutan Evaluasi Constraint: Alur Validasi Internal Mesin</a:t>
            </a:r>
          </a:p>
          <a:p/>
          <a:p>
            <a:r>
              <a:t>Mental Model: Deterministic constraint pipelines reject violations early, guaranteeing zero partial writes upon schema conflicts.</a:t>
            </a:r>
          </a:p>
          <a:p/>
          <a:p>
            <a:r>
              <a:t>[TAHAPAN EVALUASI CONSTRAINT PADA OPERASI INSERT]</a:t>
            </a:r>
          </a:p>
          <a:p>
            <a:r>
              <a:t>- 1. NOT NULL (23502) (Column Scope): Memeriksa kekosongan nilai field wajib; gagal seketika jika kolom mandatori kosong.</a:t>
            </a:r>
          </a:p>
          <a:p>
            <a:r>
              <a:t>- 2. CHECK (23514) (Predicate Scope): Mengevaluasi ekspresi boolean pada baris (misalnya age &gt;= 18 atau status valid).</a:t>
            </a:r>
          </a:p>
          <a:p>
            <a:r>
              <a:t>- 3. UNIQUE / PARTIAL (23505) (Index Scope): Memeriksa tabrakan nilai pada B-tree index aktif di bawah proteksi lock eksklusif.</a:t>
            </a:r>
          </a:p>
          <a:p>
            <a:r>
              <a:t>- 4. FOREIGN KEY (23503) (Relation Scope): Memverifikasi keberadaan ID induk pada tabel referensi sebelum commit data.</a:t>
            </a:r>
          </a:p>
          <a:p>
            <a:r>
              <a:t>- 5. ATOMIC COMMIT (Storage Commit): Baris data dan entri index ditulis bersamaan; belum membuktikan engine multi-node di lab ini.</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Evaluasi Atomik Constraint di Bawah Mutex Lock</a:t>
            </a:r>
          </a:p>
          <a:p/>
          <a:p>
            <a:r>
              <a:t>Mental Model: Encapsulating validation and mutation within an atomic critical section eliminates check-then-act vulnerabilities.</a:t>
            </a:r>
          </a:p>
          <a:p/>
          <a:p>
            <a:r>
              <a:t>[internal/engine/engine.go]</a:t>
            </a:r>
          </a:p>
          <a:p>
            <a:r>
              <a:t>- func (e *Engine) InsertUser(u model.User, usePartial bool) (model.User, error) {</a:t>
            </a:r>
          </a:p>
          <a:p>
            <a:r>
              <a:t>-     e.mu.Lock()</a:t>
            </a:r>
          </a:p>
          <a:p>
            <a:r>
              <a:t>-     defer e.mu.Unlock()</a:t>
            </a:r>
          </a:p>
          <a:p>
            <a:r>
              <a:t>-     if u.Email == "" { return model.User{}, dberr.NewNotNullViolation("users", "email", "users_email_not_null") }</a:t>
            </a:r>
          </a:p>
          <a:p>
            <a:r>
              <a:t>-     if u.Age &lt; 18 { return model.User{}, dberr.NewCheckViolation("users", "users_age_check", "age &gt;= 18") }</a:t>
            </a:r>
          </a:p>
          <a:p>
            <a:r>
              <a:t>-     if exists := e.emailIndex[u.Email]; exists {</a:t>
            </a:r>
          </a:p>
          <a:p>
            <a:r>
              <a:t>-         return model.User{}, dberr.NewUniqueViolation("users", "users_email_key", "duplicate email")</a:t>
            </a:r>
          </a:p>
          <a:p>
            <a:r>
              <a:t>-     }</a:t>
            </a:r>
          </a:p>
          <a:p>
            <a:r>
              <a:t>-     u.ID = e.userSeq.Add(1); e.users[u.ID] = u; e.emailIndex[u.Email] = u.ID</a:t>
            </a:r>
          </a:p>
          <a:p>
            <a:r>
              <a:t>-     return u,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Kronologi Tabrakan: Dua Goroutine pada Validasi Naif</a:t>
            </a:r>
          </a:p>
          <a:p/>
          <a:p>
            <a:r>
              <a:t>Mental Model: Uncoordinated concurrent reads before unconstrained writes guarantee permanent data corruption.</a:t>
            </a:r>
          </a:p>
          <a:p/>
          <a:p>
            <a:r>
              <a:t>[FASE TERJADINYA DUPLIKASI DATA SECARA KONKUREN]</a:t>
            </a:r>
          </a:p>
          <a:p>
            <a:r>
              <a:t>- 1. Pengecekan Bersamaan: Goroutine A dan B sama-sama memindai tabel dan membaca bahwa email target belum terdaftar.</a:t>
            </a:r>
          </a:p>
          <a:p>
            <a:r>
              <a:t>- 2. Jeda Penjadwalan CPU: Keduanya memasuki jeda scheduling (time.Sleep) yang membuka race window di memori aplikasi.</a:t>
            </a:r>
          </a:p>
          <a:p>
            <a:r>
              <a:t>- 3. Penulisan Ganda Sukses: Goroutine A menulis row; Goroutine B langsung menyusul menulis row dengan email yang sama persis.</a:t>
            </a:r>
          </a:p>
          <a:p>
            <a:r>
              <a:t>- 4. Integritas Runtuh: Hanya pada jalur ini tabel memuat 2 baris dengan email sama, merusak invarian keunikan sistem.</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Matriks Taksonomi: Jenis Constraint vs Karakteristik</a:t>
            </a:r>
          </a:p>
          <a:p/>
          <a:p>
            <a:r>
              <a:t>Mental Model: Class 23 SQLSTATE error codes provide unambiguous machine-readable contracts for client error mapping.</a:t>
            </a:r>
          </a:p>
          <a:p/>
          <a:p>
            <a:r>
              <a:t>[PERBANDINGAN MEKANISME CONSTRAINT DATABASE]</a:t>
            </a:r>
          </a:p>
          <a:p>
            <a:r>
              <a:t>- Jenis Constraint | SQLSTATE | Cakupan Evaluasi | Pencegahan Kegagalan | HTTP Domain Mapping</a:t>
            </a:r>
          </a:p>
          <a:p>
            <a:r>
              <a:t>- NOT NULL | 23502 | Kolom Tunggal | Mencegah record kosong tak beridentitas | 400 Bad Request</a:t>
            </a:r>
          </a:p>
          <a:p>
            <a:r>
              <a:t>- CHECK | 23514 | Kolom / Baris | Menolak nilai di luar batas bisnis logis | 422 Unprocessable Entity</a:t>
            </a:r>
          </a:p>
          <a:p>
            <a:r>
              <a:t>- UNIQUE | 23505 | Antar Baris (Index) | Mencegah race condition registrasi ganda | 409 Conflict</a:t>
            </a:r>
          </a:p>
          <a:p>
            <a:r>
              <a:t>- FOREIGN KEY | 23503 | Lintas Tabel | Mencegah orphan record (induk tidak ada) | 400 Reference Error</a:t>
            </a:r>
          </a:p>
          <a:p>
            <a:r>
              <a:t>- PARTIAL UNIQUE | 23505 | Baris Bersyarat | Mengizinkan reuse email pasca soft-delete | 409 Conflict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Tiga Keputusan Kunci Merancang Integritas Skema</a:t>
            </a:r>
          </a:p>
          <a:p/>
          <a:p>
            <a:r>
              <a:t>Mental Model: Design schema invariants strictly at the column, table, and relational boundaries with appropriate index backing.</a:t>
            </a:r>
          </a:p>
          <a:p/>
          <a:p>
            <a:r>
              <a:t>[HIERARKI KEPUTUSAN PENEGAKAN INTEGRITAS DATA]</a:t>
            </a:r>
          </a:p>
          <a:p>
            <a:r>
              <a:t>- 1. Mandatori &amp; Predikat Baris: Terapkan NOT NULL dan CHECK pada setiap kolom yang memiliki batasan domain eksplisit.</a:t>
            </a:r>
          </a:p>
          <a:p>
            <a:r>
              <a:t>- 2. Keunikan &amp; Pola Penghapusan: Pilih UNIQUE biasa untuk entitas permanen, atau Partial Index jika sistem menerapkan soft-delete.</a:t>
            </a:r>
          </a:p>
          <a:p>
            <a:r>
              <a:t>- 3. Integritas Relasional &amp; Index: Pasang FOREIGN KEY untuk mencegah orphan row; bukan berarti cukup, kolom relasi wajib di-index manual.</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Verifikasi Eksekusi: Test Suite dan Stress Test 50 Goroutine</a:t>
            </a:r>
          </a:p>
          <a:p/>
          <a:p>
            <a:r>
              <a:t>Mental Model: Stress testing confirms exactly one writer succeeds while all concurrent competitors receive atomic constraint rejections.</a:t>
            </a:r>
          </a:p>
          <a:p/>
          <a:p>
            <a:r>
              <a:t>[TERMINAL OUTPUT: go test -v -race ./... &amp;&amp; go run ./cmd/demo]</a:t>
            </a:r>
          </a:p>
          <a:p>
            <a:r>
              <a:t>- === RUN   TestNotNullConstraints</a:t>
            </a:r>
          </a:p>
          <a:p>
            <a:r>
              <a:t>- --- PASS: TestNotNullConstraints (0.00s)</a:t>
            </a:r>
          </a:p>
          <a:p>
            <a:r>
              <a:t>- === RUN   TestCheckConstraints</a:t>
            </a:r>
          </a:p>
          <a:p>
            <a:r>
              <a:t>- --- PASS: TestCheckConstraints (0.00s)</a:t>
            </a:r>
          </a:p>
          <a:p>
            <a:r>
              <a:t>- === RUN   TestUniqueConstraint</a:t>
            </a:r>
          </a:p>
          <a:p>
            <a:r>
              <a:t>- --- PASS: TestUniqueConstraint (0.00s)</a:t>
            </a:r>
          </a:p>
          <a:p>
            <a:r>
              <a:t>- === RUN   TestForeignKeyConstraint</a:t>
            </a:r>
          </a:p>
          <a:p>
            <a:r>
              <a:t>- --- PASS: TestForeignKeyConstraint (0.00s)</a:t>
            </a:r>
          </a:p>
          <a:p>
            <a:r>
              <a:t>- === RUN   TestPartialUniqueIndex</a:t>
            </a:r>
          </a:p>
          <a:p>
            <a:r>
              <a:t>- --- PASS: TestPartialUniqueIndex (0.00s)</a:t>
            </a:r>
          </a:p>
          <a:p>
            <a:r>
              <a:t>- === RUN   TestConcurrentRegistration_Safe_EnforcesUniqueness</a:t>
            </a:r>
          </a:p>
          <a:p>
            <a:r>
              <a:t>- --- PASS: TestConcurrentRegistration_Safe_EnforcesUniqueness (0.00s)</a:t>
            </a:r>
          </a:p>
          <a:p>
            <a:r>
              <a:t>- === RUN   TestErrorClassification</a:t>
            </a:r>
          </a:p>
          <a:p>
            <a:r>
              <a:t>- --- PASS: TestErrorClassification (0.00s)</a:t>
            </a:r>
          </a:p>
          <a:p>
            <a:r>
              <a:t>- PASS: ok  labs/27-database-constraints/internal/store  1.330s (race: clean)</a:t>
            </a:r>
          </a:p>
          <a:p>
            <a:r>
              <a:t>- [DEMO] CONCURRENCY STRESS TEST: 50 GOROUTINES FOR SAME EMAIL</a:t>
            </a:r>
          </a:p>
          <a:p>
            <a:r>
              <a:t>- Results: Total=50 | Successful=1 | Rejected 23505=49 | Integrity Intact=true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Batasan Bukti Lab: Yang Dibuktikan vs Belum</a:t>
            </a:r>
          </a:p>
          <a:p/>
          <a:p>
            <a:r>
              <a:t>Mental Model: Delineate between educational memory simulations and production storage engine operational complexities.</a:t>
            </a:r>
          </a:p>
          <a:p/>
          <a:p>
            <a:r>
              <a:t>[BATAS PEMBUKTIAN SISTEM LAB 27]</a:t>
            </a:r>
          </a:p>
          <a:p>
            <a:r>
              <a:t>- YANG DIBUKTIKAN: Semantik SQLSTATE 23xxx, pencegahan race condition via atomic lock, dan siklus hidup partial index.</a:t>
            </a:r>
          </a:p>
          <a:p>
            <a:r>
              <a:t>- YANG TIDAK DIBUKTIKAN: Constraint terdistribusi multi-node, isolasi SERIALIZABLE, operator GiST, dan B-tree latch riil.</a:t>
            </a:r>
          </a:p>
          <a:p>
            <a:r>
              <a:t>- BATAS KLAIM EMPIRIS: Lab belum membuktikan teknik migrasi ALTER TABLE ADD CONSTRAINT NOT VALID pada tabel produksi raksasa.</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Kompromi Rekayasa: Constraints vs Fleksibilitas Skema</a:t>
            </a:r>
          </a:p>
          <a:p/>
          <a:p>
            <a:r>
              <a:t>Mental Model: Accept minor write latency at the storage tier to permanently eradicate catastrophic data reconciliation costs.</a:t>
            </a:r>
          </a:p>
          <a:p/>
          <a:p>
            <a:r>
              <a:t>[ANALISIS TRADE-OFF PENERAPAN DATABASE CONSTRAINTS]</a:t>
            </a:r>
          </a:p>
          <a:p>
            <a:r>
              <a:t>- Overhead Tulis (Write Cost): Setiap operasi INSERT/UPDATE wajib mengevaluasi index B-tree dan relasi FK, menambah sedikit latensi penulisan.</a:t>
            </a:r>
          </a:p>
          <a:p>
            <a:r>
              <a:t>- Friksi Migrasi Produksi: Menambah constraint pada tabel bervolume besar membutuhkan table lock eksklusif kecuali memakai pola validasi bertahap.</a:t>
            </a:r>
          </a:p>
          <a:p>
            <a:r>
              <a:t>- Tidak Otomatis Lambat: Penambahan index constraint tidak otomatis memperlambat sistem; overhead tulis terbayar lunas oleh integritas yang terjamin.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Pipeline Validasi Konkuren: Goroutine vs Mutex Lock</a:t>
            </a:r>
          </a:p>
          <a:p/>
          <a:p>
            <a:r>
              <a:t>Mental Model: Atomic serialization at the storage layer transforms concurrent race conditions into deterministic rejections.</a:t>
            </a:r>
          </a:p>
          <a:p/>
          <a:p>
            <a:r>
              <a:t>[ALUR PENANGANAN 50 REQUEST PENDAFTARAN PARALEL]</a:t>
            </a:r>
          </a:p>
          <a:p>
            <a:r>
              <a:t>- 1. 50 Goroutines Spawn (Traffic Surge): 50 worker dijalankan serentak mencoba mendaftarkan email race-target@domain.com.</a:t>
            </a:r>
          </a:p>
          <a:p>
            <a:r>
              <a:t>- 2. Mutex Lock Serialization (Atomic Critical Section): Goroutine pertama memperoleh lock eksklusif; 49 worker lainnya mengantre tertib.</a:t>
            </a:r>
          </a:p>
          <a:p>
            <a:r>
              <a:t>- 3. First Insert Success (Winner Commit): Worker 1 lolos pengecekan, mencatatkan email ke tabel dan map index, lalu melepas lock.</a:t>
            </a:r>
          </a:p>
          <a:p>
            <a:r>
              <a:t>- 4. 49 Abort SQLSTATE 23505 (Atomic Rejection): Worker 2-50 bergantian masuk lock, mendeteksi email sudah ada, dan langsung menerima error 23505.</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Transformasi: Dari UnsafeStore ke SafeStore</a:t>
            </a:r>
          </a:p>
          <a:p/>
          <a:p>
            <a:r>
              <a:t>Mental Model: Shift data integrity enforcement from vulnerable application loops to unyielding storage engine constraints.</a:t>
            </a:r>
          </a:p>
          <a:p/>
          <a:p>
            <a:r>
              <a:t>[PERBANDINGAN KETAHANAN DUA PENDEKATAN]</a:t>
            </a:r>
          </a:p>
          <a:p>
            <a:r>
              <a:t>- Sebelum: UnsafeStore (App Check): Mengandalkan for-loop di memori aplikasi; 20 goroutine menghasilkan &gt;1 user duplikat di penyimpanan.</a:t>
            </a:r>
          </a:p>
          <a:p>
            <a:r>
              <a:t>- Sesudah: SafeStore (DB Constraint): Mendelegasikan ke storage engine; 50 goroutine menghasilkan tepat 1 user dan 49 error SQLSTATE 23505.</a:t>
            </a:r>
          </a:p>
          <a:p>
            <a:r>
              <a:t>- Bukan Berarti Redundan: Mempertahankan validasi aplikasi bukan berarti pemborosan kode, melainkan filter awal bagi kenyamanan pengguna.</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Verifikasi Test: Membuktikan Kebocoran Data pada UnsafeStore</a:t>
            </a:r>
          </a:p>
          <a:p/>
          <a:p>
            <a:r>
              <a:t>Mental Model: Empirical test assertions prove that application-only checks reliably permit duplicate writes under thread competition.</a:t>
            </a:r>
          </a:p>
          <a:p/>
          <a:p>
            <a:r>
              <a:t>[internal/store/store_test.go]</a:t>
            </a:r>
          </a:p>
          <a:p>
            <a:r>
              <a:t>- func TestConcurrentRegistration_Unsafe_SuffersRaceCondition(t *testing.T) {</a:t>
            </a:r>
          </a:p>
          <a:p>
            <a:r>
              <a:t>-     eng := engine.NewEngine(); s := store.NewUnsafeStore(eng)</a:t>
            </a:r>
          </a:p>
          <a:p>
            <a:r>
              <a:t>-     goroutines := 20; var wg sync.WaitGroup; wg.Add(goroutines)</a:t>
            </a:r>
          </a:p>
          <a:p>
            <a:r>
              <a:t>-     for i := 0; i &lt; goroutines; i++ {</a:t>
            </a:r>
          </a:p>
          <a:p>
            <a:r>
              <a:t>-         go func(idx int) {</a:t>
            </a:r>
          </a:p>
          <a:p>
            <a:r>
              <a:t>-             defer wg.Done()</a:t>
            </a:r>
          </a:p>
          <a:p>
            <a:r>
              <a:t>-             _, _ = s.RegisterUser(ctx, model.User{Email: "unsafe@example.com", Username: fmt.Sprintf("u_%d", idx)})</a:t>
            </a:r>
          </a:p>
          <a:p>
            <a:r>
              <a:t>-         }(i)</a:t>
            </a:r>
          </a:p>
          <a:p>
            <a:r>
              <a:t>-     }</a:t>
            </a:r>
          </a:p>
          <a:p>
            <a:r>
              <a:t>-     wg.Wait()</a:t>
            </a:r>
          </a:p>
          <a:p>
            <a:r>
              <a:t>-     if eng.GetUsersCount() &lt;= 1 { t.Errorf("expected race condition causing &gt;1 user entries, got %d", eng.GetUsersCount())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Verifikasi Test: SafeStore Menjamin Tepat Satu Pemenang</a:t>
            </a:r>
          </a:p>
          <a:p/>
          <a:p>
            <a:r>
              <a:t>Mental Model: Database constraints deterministically ensure a single commit winner and N-1 clean rejections under high concurrency.</a:t>
            </a:r>
          </a:p>
          <a:p/>
          <a:p>
            <a:r>
              <a:t>[internal/store/store_test.go]</a:t>
            </a:r>
          </a:p>
          <a:p>
            <a:r>
              <a:t>- func TestConcurrentRegistration_Safe_EnforcesUniqueness(t *testing.T) {</a:t>
            </a:r>
          </a:p>
          <a:p>
            <a:r>
              <a:t>-     eng := engine.NewEngine(); s := store.NewSafeStore(eng)</a:t>
            </a:r>
          </a:p>
          <a:p>
            <a:r>
              <a:t>-     goroutines := 20; var wg sync.WaitGroup; wg.Add(goroutines)</a:t>
            </a:r>
          </a:p>
          <a:p>
            <a:r>
              <a:t>-     successCount, errorCount := 0, 0; var mu sync.Mutex</a:t>
            </a:r>
          </a:p>
          <a:p>
            <a:r>
              <a:t>-     for i := 0; i &lt; goroutines; i++ {</a:t>
            </a:r>
          </a:p>
          <a:p>
            <a:r>
              <a:t>-         go func(idx int) {</a:t>
            </a:r>
          </a:p>
          <a:p>
            <a:r>
              <a:t>-             defer wg.Done()</a:t>
            </a:r>
          </a:p>
          <a:p>
            <a:r>
              <a:t>-             _, err := s.RegisterUser(ctx, model.User{Email: "safe@example.com", Username: fmt.Sprintf("u_%d", idx), Age: 25, Status: "active"})</a:t>
            </a:r>
          </a:p>
          <a:p>
            <a:r>
              <a:t>-             mu.Lock(); defer mu.Unlock()</a:t>
            </a:r>
          </a:p>
          <a:p>
            <a:r>
              <a:t>-             if err == nil { successCount++ } else { errorCount++ }</a:t>
            </a:r>
          </a:p>
          <a:p>
            <a:r>
              <a:t>-         }(i)</a:t>
            </a:r>
          </a:p>
          <a:p>
            <a:r>
              <a:t>-     }</a:t>
            </a:r>
          </a:p>
          <a:p>
            <a:r>
              <a:t>-     wg.Wait()</a:t>
            </a:r>
          </a:p>
          <a:p>
            <a:r>
              <a:t>-     if successCount != 1 || errorCount != 19 || eng.GetUsersCount() != 1 { t.Fatalf("integrity violated!")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Solusi Soft-Delete: Partial Unique Index WHERE deleted_at IS NULL</a:t>
            </a:r>
          </a:p>
          <a:p/>
          <a:p>
            <a:r>
              <a:t>Mental Model: Partial indexes scope uniqueness predicates exclusively to active records, resolving soft-delete reuse dilemmas.</a:t>
            </a:r>
          </a:p>
          <a:p/>
          <a:p>
            <a:r>
              <a:t>[internal/engine/engine.go]</a:t>
            </a:r>
          </a:p>
          <a:p>
            <a:r>
              <a:t>- // PARTIAL UNIQUE: CREATE UNIQUE INDEX users_active_email_idx ON users (email) WHERE deleted_at IS NULL;</a:t>
            </a:r>
          </a:p>
          <a:p>
            <a:r>
              <a:t>- if usePartialUniqueIndex {</a:t>
            </a:r>
          </a:p>
          <a:p>
            <a:r>
              <a:t>-     if u.DeletedAt == nil {</a:t>
            </a:r>
          </a:p>
          <a:p>
            <a:r>
              <a:t>-         if existingID, exists := e.activeEmails[u.Email]; exists {</a:t>
            </a:r>
          </a:p>
          <a:p>
            <a:r>
              <a:t>-             return model.User{}, dberr.NewUniqueViolation("users", "users_active_email_idx", "duplicate active email")</a:t>
            </a:r>
          </a:p>
          <a:p>
            <a:r>
              <a:t>-         }</a:t>
            </a:r>
          </a:p>
          <a:p>
            <a:r>
              <a:t>-     }</a:t>
            </a:r>
          </a:p>
          <a:p>
            <a:r>
              <a:t>- }</a:t>
            </a:r>
          </a:p>
          <a:p>
            <a:r>
              <a:t>- // Saat soft delete: delete(e.activeEmails, u.Email) -&gt; email langsung dapat didaftarkan kembali</a:t>
            </a:r>
          </a:p>
          <a:p>
            <a:r>
              <a:t>- // Baris dengan deleted_at != nil tidak diindeks, sehingga multi-duplikat soft-delete tetap valid.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Mencegah Data Yatim Piatu dengan Foreign Key Constraint</a:t>
            </a:r>
          </a:p>
          <a:p/>
          <a:p>
            <a:r>
              <a:t>Mental Model: Foreign keys enforce relational parentage at the storage boundary, eradicating orphaned dependent records.</a:t>
            </a:r>
          </a:p>
          <a:p/>
          <a:p>
            <a:r>
              <a:t>[internal/engine/engine.go]</a:t>
            </a:r>
          </a:p>
          <a:p>
            <a:r>
              <a:t>- func (e *Engine) InsertOrder(o model.Order) (model.Order, error) {</a:t>
            </a:r>
          </a:p>
          <a:p>
            <a:r>
              <a:t>-     e.mu.Lock(); defer e.mu.Unlock()</a:t>
            </a:r>
          </a:p>
          <a:p>
            <a:r>
              <a:t>-     if o.UserID == 0 { return model.Order{}, dberr.NewNotNullViolation("orders", "user_id", "orders_user_id_not_null") }</a:t>
            </a:r>
          </a:p>
          <a:p>
            <a:r>
              <a:t>-     if o.TotalCents &lt;= 0 { return model.Order{}, dberr.NewCheckViolation("orders", "orders_total_cents_check", "total &gt; 0") }</a:t>
            </a:r>
          </a:p>
          <a:p>
            <a:r>
              <a:t>-     // FOREIGN KEY: CONSTRAINT fk_orders_user FOREIGN KEY (user_id) REFERENCES users(id)</a:t>
            </a:r>
          </a:p>
          <a:p>
            <a:r>
              <a:t>-     if _, exists := e.users[o.UserID]; !exists {</a:t>
            </a:r>
          </a:p>
          <a:p>
            <a:r>
              <a:t>-         return model.Order{}, dberr.NewForeignKeyViolation("orders", "fk_orders_user", fmt.Sprintf("key (user_id)=(%d) not present", o.UserID))</a:t>
            </a:r>
          </a:p>
          <a:p>
            <a:r>
              <a:t>-     }</a:t>
            </a:r>
          </a:p>
          <a:p>
            <a:r>
              <a:t>-     o.ID = e.orderSeq.Add(1); e.orders[o.ID] = o; return o,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Inspeksi SQLSTATE: Mengubah Error Database Menjadi Domain Error</a:t>
            </a:r>
          </a:p>
          <a:p/>
          <a:p>
            <a:r>
              <a:t>Mental Model: Inspect stable SQLSTATE codes rather than brittle localized text strings for robust application error mapping.</a:t>
            </a:r>
          </a:p>
          <a:p/>
          <a:p>
            <a:r>
              <a:t>[internal/dberr/errors.go]</a:t>
            </a:r>
          </a:p>
          <a:p>
            <a:r>
              <a:t>- func MapToDomainError(err error) error {</a:t>
            </a:r>
          </a:p>
          <a:p>
            <a:r>
              <a:t>-     var cErr *ConstraintError</a:t>
            </a:r>
          </a:p>
          <a:p>
            <a:r>
              <a:t>-     if errors.As(err, &amp;cErr) {</a:t>
            </a:r>
          </a:p>
          <a:p>
            <a:r>
              <a:t>-         switch cErr.Code {</a:t>
            </a:r>
          </a:p>
          <a:p>
            <a:r>
              <a:t>-         case SQLStateUniqueViolation: // 23505</a:t>
            </a:r>
          </a:p>
          <a:p>
            <a:r>
              <a:t>-             return fmt.Errorf("conflict: resource with this unique attribute already exists (rule: %s)", cErr.ConstraintName)</a:t>
            </a:r>
          </a:p>
          <a:p>
            <a:r>
              <a:t>-         case SQLStateNotNullViolation: // 23502</a:t>
            </a:r>
          </a:p>
          <a:p>
            <a:r>
              <a:t>-             return fmt.Errorf("invalid input: mandatory field is missing (rule: %s)", cErr.ConstraintName)</a:t>
            </a:r>
          </a:p>
          <a:p>
            <a:r>
              <a:t>-         case SQLStateCheckViolation: // 23514</a:t>
            </a:r>
          </a:p>
          <a:p>
            <a:r>
              <a:t>-             return fmt.Errorf("validation failed: value outside boundary (rule: %s)", cErr.ConstraintName)</a:t>
            </a:r>
          </a:p>
          <a:p>
            <a:r>
              <a:t>-         case SQLStateForeignKeyViolation: // 23503</a:t>
            </a:r>
          </a:p>
          <a:p>
            <a:r>
              <a:t>-             return fmt.Errorf("reference error: referenced entity does not exist (rule: %s)", cErr.ConstraintName)</a:t>
            </a:r>
          </a:p>
          <a:p>
            <a:r>
              <a:t>-         }</a:t>
            </a:r>
          </a:p>
          <a:p>
            <a:r>
              <a:t>-     }</a:t>
            </a:r>
          </a:p>
          <a:p>
            <a:r>
              <a:t>-     return err</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Checklist Penerapan Database Constraints di Produksi</a:t>
            </a:r>
          </a:p>
          <a:p/>
          <a:p>
            <a:r>
              <a:t>Mental Model: Systematically verify declarative constraints, index backing, and structured error mapping across the persistence tier.</a:t>
            </a:r>
          </a:p>
          <a:p/>
          <a:p>
            <a:r>
              <a:t>[STANDAR REKAYASA INTEGRITAS SKEMA DATABASE]</a:t>
            </a:r>
          </a:p>
          <a:p>
            <a:r>
              <a:t>- Tandai seluruh kolom mandatori dengan NOT NULL, jangan hanya mengandalkan validasi form.</a:t>
            </a:r>
          </a:p>
          <a:p>
            <a:r>
              <a:t>- Terapkan UNIQUE constraint pada atribut unik alih-alih melakukan SELECT sebelum INSERT.</a:t>
            </a:r>
          </a:p>
          <a:p>
            <a:r>
              <a:t>- Gunakan Partial Unique Index (WHERE deleted_at IS NULL) untuk entitas yang mendukung soft-delete.</a:t>
            </a:r>
          </a:p>
          <a:p>
            <a:r>
              <a:t>- Definisikan CHECK constraint untuk membatasi rentang nilai angka dan enum status kolom.</a:t>
            </a:r>
          </a:p>
          <a:p>
            <a:r>
              <a:t>- Pasang indeks eksplisit pada kolom referencing FOREIGN KEY demi mencegah full table scan saat DELETE parent.</a:t>
            </a:r>
          </a:p>
          <a:p>
            <a:r>
              <a:t>- Periksa kode SQLSTATE Class 23 (23502, 23505, 23514, 23503) pada error handler aplikasi.</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Anti-Pattern Umum dalam Menjaga Integritas Data</a:t>
            </a:r>
          </a:p>
          <a:p/>
          <a:p>
            <a:r>
              <a:t>Mental Model: Avoid application-only uniqueness checks, error string parsing, and unindexed foreign key dependencies.</a:t>
            </a:r>
          </a:p>
          <a:p/>
          <a:p>
            <a:r>
              <a:t>[POLA BERBAHAYA YANG WAJIB DIHINDARI]</a:t>
            </a:r>
          </a:p>
          <a:p>
            <a:r>
              <a:t>- Check-Then-Act di Aplikasi: Mengecek keberadaan record via SELECT di aplikasi lalu melakukan INSERT; pasti bocor di bawah beban konkuren.</a:t>
            </a:r>
          </a:p>
          <a:p>
            <a:r>
              <a:t>- Menebak String Error: Melakukan regex matching pada teks error database yang dapat berubah sewaktu-waktu akibat pembaruan versi DB.</a:t>
            </a:r>
          </a:p>
          <a:p>
            <a:r>
              <a:t>- Bukan Berarti Ter-Index: Membuat FOREIGN KEY bukan berarti kolom otomatis terindeks; ketiadaan indeks manual merusak performa query DELETE.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Reproduksi Mandiri di Mesin Lokal Menggunakan Go</a:t>
            </a:r>
          </a:p>
          <a:p/>
          <a:p>
            <a:r>
              <a:t>Mental Model: Deterministic local simulations validate distributed consistency principles without heavy infrastructure overhead.</a:t>
            </a:r>
          </a:p>
          <a:p/>
          <a:p>
            <a:r>
              <a:t>[COMMAND RUNNER (ZERO DEPENDENCIES)]</a:t>
            </a:r>
          </a:p>
          <a:p>
            <a:r>
              <a:t>- cd labs/27-database-constraints</a:t>
            </a:r>
          </a:p>
          <a:p>
            <a:r>
              <a:t>- go test -v ./...    # menjalankan 7 unit test untuk NOT NULL, CHECK, UNIQUE, FK, &amp; Partial Index</a:t>
            </a:r>
          </a:p>
          <a:p>
            <a:r>
              <a:t>- go test -race ./... # memvalidasi eksekusi konkuren bebas dari data race (PASS in 1.33s)</a:t>
            </a:r>
          </a:p>
          <a:p>
            <a:r>
              <a:t>- go run ./cmd/demo   # eksekusi demonstrasi CLI interaktif: SQLSTATE demo &amp; 50-worker stress test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Prinsip Inti: Database Adalah Benteng Terakhir Kebenaran</a:t>
            </a:r>
          </a:p>
          <a:p/>
          <a:p>
            <a:r>
              <a:t>Mental Model: Applications are ephemeral; persisted data is durable. Enforce invariant truth at the storage tier.</a:t>
            </a:r>
          </a:p>
          <a:p/>
          <a:p>
            <a:r>
              <a:t>[TIGA PILAR INTEGRITAS DATA ARSITEKTUR MODERN]</a:t>
            </a:r>
          </a:p>
          <a:p>
            <a:r>
              <a:t>- Deklaratif di Titik Tulis: Letakkan aturan keabsahan data sedekat mungkin dengan media penyimpanan agar terlindungi secara atomik.</a:t>
            </a:r>
          </a:p>
          <a:p>
            <a:r>
              <a:t>- Pemisahan Peran yang Jelas: Aplikasi melayani kenyamanan interaksi pengguna; database constraints menjamin kebenaran absolut.</a:t>
            </a:r>
          </a:p>
          <a:p>
            <a:r>
              <a:t>- Tidak Otomatis Kebal: Memasang constraint tidak otomatis menyelesaikan aturan lintas tabel; pahami batas row-scoped versus triggers.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Jangan pernah percayakan integritas data hanya pada application code; database constraint adalah benteng terakhir kebenaran absolut.</a:t>
            </a:r>
          </a:p>
          <a:p/>
          <a:p>
            <a:r>
              <a:t>Mental Model: Database constraints serve as the final, immutable bastion of data correctness across evolving system architectures.</a:t>
            </a:r>
          </a:p>
          <a:p/>
          <a:p>
            <a:r>
              <a:t>[MODUL IMPLEMENTASI]</a:t>
            </a:r>
          </a:p>
          <a:p>
            <a:r>
              <a:t>- internal/engine/engine.go • internal/store/store.go</a:t>
            </a:r>
          </a:p>
          <a:p>
            <a:r>
              <a:t>- internal/dberr/errors.go • internal/model/model.go</a:t>
            </a:r>
          </a:p>
          <a:p>
            <a:r>
              <a:t>- cmd/demo/main.go • internal/store/store_test.go</a:t>
            </a:r>
          </a:p>
          <a:p>
            <a:r>
              <a:t>[VERIFIKASI &amp; STATUS]</a:t>
            </a:r>
          </a:p>
          <a:p>
            <a:r>
              <a:t>- Commit: c317c1d • Status: APPROVED</a:t>
            </a:r>
          </a:p>
          <a:p>
            <a:r>
              <a:t>- Test passing: 8 test scenarios (NotNull, Check, Unique, FK, PartialIndex, ConcurrencySafe, ConcurrencyUnsafe, ErrorClassification)</a:t>
            </a:r>
          </a:p>
          <a:p>
            <a:r>
              <a:t>- Race detector: Clean (go test -race ./... PASS in 1.330s)</a:t>
            </a:r>
          </a:p>
          <a:p>
            <a:r>
              <a:t>- Zero external dependencies: 100% Go standard library.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27</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Database Constraints: Benteng Terakhir Integritas Data</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Mencegah Race Condition, Menjaga Invarian Skema, dan Menolak Duplikasi Atomik di Go</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Validasi Aplikasi Runtuh di Bawah Beban Konkuren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Pola check-then-act di memori aplikasi membuka jendela tabrakan data duplikat.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DAMPAK KEGAGALAN VALIDASI HANYA DI APLIKASI</a:t>
            </a:r>
          </a:p>
          <a:p>
            <a:pPr>
              <a:spcAft>
                <a:spcPts val="400"/>
              </a:spcAft>
              <a:defRPr sz="1200">
                <a:solidFill>
                  <a:srgbClr val="0B1B2D"/>
                </a:solidFill>
              </a:defRPr>
            </a:pPr>
            <a:r>
              <a:t>• Race Condition Registrasi: Dua request membaca 'email belum ada' secara bersamaan, lalu keduanya melakukan INSERT email identik.</a:t>
            </a:r>
          </a:p>
          <a:p>
            <a:pPr>
              <a:spcAft>
                <a:spcPts val="400"/>
              </a:spcAft>
              <a:defRPr sz="1200">
                <a:solidFill>
                  <a:srgbClr val="0B1B2D"/>
                </a:solidFill>
              </a:defRPr>
            </a:pPr>
            <a:r>
              <a:t>• Deduplikasi Pasca-Fakta Mahal: Membersihkan data duplikat di produksi membutuhkan rekonsiliasi manual, migration rumit, dan downtime.</a:t>
            </a:r>
          </a:p>
          <a:p>
            <a:pPr>
              <a:spcAft>
                <a:spcPts val="400"/>
              </a:spcAft>
              <a:defRPr sz="1200">
                <a:solidFill>
                  <a:srgbClr val="0B1B2D"/>
                </a:solidFill>
              </a:defRPr>
            </a:pPr>
            <a:r>
              <a:t>• Bukan Berarti Bug Kode: Kegagalan ini bukan berarti logika if/else salah, melainkan batasan fundamental arsitektur tanpa penguncian atomik.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Pola check-then-act yang memeriksa ketersediaan data via SELECT sebelum melakukan INSERT selalu tampak berhasil pada pengujian sekuensial. Namun di bawah beban konkuren, dua thread membaca kondisi yang sama sebelum salah satunya menulis. Kegagalan ini bukan berarti kode if-check rusak, melainkan akibat ketiadaan isolasi atomik pada titik penyimpanan.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Application-level checks cannot bridge the race window between read and write operations under concurrency.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content/02-master-draft.md:3-24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Mengapa Review Manual dan Pengecekan Memori Gagal?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Pemeriksaan memori tanpa proteksi engine database tidak mampu menahan beban paralel.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KELEMAHAN PENDEKATAN VALIDASI NAIF</a:t>
            </a:r>
          </a:p>
          <a:p>
            <a:pPr>
              <a:spcAft>
                <a:spcPts val="400"/>
              </a:spcAft>
              <a:defRPr sz="1200">
                <a:solidFill>
                  <a:srgbClr val="0B1B2D"/>
                </a:solidFill>
              </a:defRPr>
            </a:pPr>
            <a:r>
              <a:t>• Interleaving CPU Scheduling: Jeda milidetik antara query SELECT dan INSERT dieksploitasi oleh OS scheduler untuk menyisipkan operasi lain.</a:t>
            </a:r>
          </a:p>
          <a:p>
            <a:pPr>
              <a:spcAft>
                <a:spcPts val="400"/>
              </a:spcAft>
              <a:defRPr sz="1200">
                <a:solidFill>
                  <a:srgbClr val="0B1B2D"/>
                </a:solidFill>
              </a:defRPr>
            </a:pPr>
            <a:r>
              <a:t>• Unit Test Sekuensial Menipu: Test standar tanpa konkurensi goroutine selalu pass 100%, menciptakan ilusi keamanan palsu bagi tim engineer.</a:t>
            </a:r>
          </a:p>
          <a:p>
            <a:pPr>
              <a:spcAft>
                <a:spcPts val="400"/>
              </a:spcAft>
              <a:defRPr sz="1200">
                <a:solidFill>
                  <a:srgbClr val="0B1B2D"/>
                </a:solidFill>
              </a:defRPr>
            </a:pPr>
            <a:r>
              <a:t>• Tidak Otomatis Terlindungi: Menjalankan validasi di microservice terpisah tidak otomatis menjamin keunikan tanpa koordinasi locking atomik.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Review manual sering melewatkan celah integritas karena kode validasi tampak sangat rapi dan logis di editor. Unit test sekuensial selalu memberikan status hijau karena tidak ada kompetisi thread. Menjalankan validasi di lapisan aplikasi tidak otomatis melindungi sistem jika engine penyimpanan tidak menegakkan kunci eksklusif pada saat penulisan.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Sequential testing creates an illusion of correctness that shatters under concurrent thread interleaving.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content/02-master-draft.md:15-37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Model Mental Dua Lapis: Kolaborasi Aplikasi dan Database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Memisahkan peran kenyamanan pengguna (UX) dari jaminan kebenaran data mutlak.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ARSITEKTUR PERTAHANAN DUA LAPIS</a:t>
            </a:r>
          </a:p>
          <a:p>
            <a:pPr>
              <a:spcAft>
                <a:spcPts val="400"/>
              </a:spcAft>
              <a:defRPr sz="1200">
                <a:solidFill>
                  <a:srgbClr val="0B1B2D"/>
                </a:solidFill>
              </a:defRPr>
            </a:pPr>
            <a:r>
              <a:t>• Lapis 1: Application Validation (User Experience (UX)): Memberikan pesan error ramah, validasi format cepat, dan sanitasi input sebelum request menyentuh database.</a:t>
            </a:r>
          </a:p>
          <a:p>
            <a:pPr>
              <a:spcAft>
                <a:spcPts val="400"/>
              </a:spcAft>
              <a:defRPr sz="1200">
                <a:solidFill>
                  <a:srgbClr val="0B1B2D"/>
                </a:solidFill>
              </a:defRPr>
            </a:pPr>
            <a:r>
              <a:t>• Lapis 2: Database Constraints (Last Line of Truth): Menjamin invarian skema secara deklaratif dan atomik dengan lock internal engine saat baris data ditulis.</a:t>
            </a:r>
          </a:p>
          <a:p>
            <a:pPr>
              <a:spcAft>
                <a:spcPts val="400"/>
              </a:spcAft>
              <a:defRPr sz="1200">
                <a:solidFill>
                  <a:srgbClr val="0B1B2D"/>
                </a:solidFill>
              </a:defRPr>
            </a:pPr>
            <a:r>
              <a:t>• Jembatan: Error Mapping (SQLSTATE Taxonomy): Hanya pada jalur ini error database 23xxx diterjemahkan menjadi domain error terstruktur seperti HTTP 409 Conflict.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Arsitektur modern membagi tanggung jawab menjadi dua lapis: aplikasi melayani keramahan pesan pengguna, sedangkan database menjaga kebenaran data absolut. Validasi aplikasi menyaring input yang salah format dengan cepat. Hanya pada jalur ini, ketika terjadi tabrakan konkuren, database constraint menolak pelanggaran secara atomik dan mengembalikan kode SQLSTATE terstandar.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Application validation provides user-friendly guidance; database constraints provide inviolable invariant enforcement.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content/02-master-draft.md:25-37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Urutan Evaluasi Constraint: Alur Validasi Internal Mesin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Bagaimana storage engine memproses aturan skema secara berurutan sebelum commit baris.</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TAHAPAN EVALUASI CONSTRAINT PADA OPERASI INSERT</a:t>
            </a:r>
          </a:p>
          <a:p>
            <a:pPr>
              <a:spcAft>
                <a:spcPts val="400"/>
              </a:spcAft>
              <a:defRPr sz="1200">
                <a:solidFill>
                  <a:srgbClr val="0B1B2D"/>
                </a:solidFill>
              </a:defRPr>
            </a:pPr>
            <a:r>
              <a:t>• 1. NOT NULL (23502) (Column Scope): Memeriksa kekosongan nilai field wajib; gagal seketika jika kolom mandatori kosong.</a:t>
            </a:r>
          </a:p>
          <a:p>
            <a:pPr>
              <a:spcAft>
                <a:spcPts val="400"/>
              </a:spcAft>
              <a:defRPr sz="1200">
                <a:solidFill>
                  <a:srgbClr val="0B1B2D"/>
                </a:solidFill>
              </a:defRPr>
            </a:pPr>
            <a:r>
              <a:t>• 2. CHECK (23514) (Predicate Scope): Mengevaluasi ekspresi boolean pada baris (misalnya age &gt;= 18 atau status valid).</a:t>
            </a:r>
          </a:p>
          <a:p>
            <a:pPr>
              <a:spcAft>
                <a:spcPts val="400"/>
              </a:spcAft>
              <a:defRPr sz="1200">
                <a:solidFill>
                  <a:srgbClr val="0B1B2D"/>
                </a:solidFill>
              </a:defRPr>
            </a:pPr>
            <a:r>
              <a:t>• 3. UNIQUE / PARTIAL (23505) (Index Scope): Memeriksa tabrakan nilai pada B-tree index aktif di bawah proteksi lock eksklusif.</a:t>
            </a:r>
          </a:p>
          <a:p>
            <a:pPr>
              <a:spcAft>
                <a:spcPts val="400"/>
              </a:spcAft>
              <a:defRPr sz="1200">
                <a:solidFill>
                  <a:srgbClr val="0B1B2D"/>
                </a:solidFill>
              </a:defRPr>
            </a:pPr>
            <a:r>
              <a:t>• 4. FOREIGN KEY (23503) (Relation Scope): Memverifikasi keberadaan ID induk pada tabel referensi sebelum commit data.</a:t>
            </a:r>
          </a:p>
          <a:p>
            <a:pPr>
              <a:spcAft>
                <a:spcPts val="400"/>
              </a:spcAft>
              <a:defRPr sz="1200">
                <a:solidFill>
                  <a:srgbClr val="0B1B2D"/>
                </a:solidFill>
              </a:defRPr>
            </a:pPr>
            <a:r>
              <a:t>• 5. ATOMIC COMMIT (Storage Commit): Baris data dan entri index ditulis bersamaan; belum membuktikan engine multi-node di lab ini.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Storage engine mengevaluasi batasan data dalam urutan deterministik: NOT NULL diperiksa lebih dulu, disusul ekspresi boolean CHECK, lalu penelusuran UNIQUE index, dan terakhir FOREIGN KEY. Jika salah satu tahap gagal, operasi dibatalkan seketika tanpa ada baris data atau indeks yang tertulis. Lab ini memodelkan alur sekuensial tersebut secara atomik di dalam satu critical section.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Deterministic constraint pipelines reject violations early, guaranteeing zero partial writes upon schema conflicts.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content/04-diagrams.md:69-95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Evaluasi Atomik Constraint di Bawah Mutex Lock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Memastikan tidak ada jeda antara pemeriksaan aturan dan penulisan baris data.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(e *Engine) InsertUser(u model.User, usePartial bool) (model.User, error) {</a:t>
            </a:r>
            <a:br/>
            <a:r>
              <a:t>    e.mu.Lock()</a:t>
            </a:r>
            <a:br/>
            <a:r>
              <a:t>    defer e.mu.Unlock()</a:t>
            </a:r>
            <a:br/>
            <a:r>
              <a:t>    if u.Email == "" { return model.User{}, dberr.NewNotNullViolation("users", "email", "users_email_not_null") }</a:t>
            </a:r>
            <a:br/>
            <a:r>
              <a:t>    if u.Age &lt; 18 { return model.User{}, dberr.NewCheckViolation("users", "users_age_check", "age &gt;= 18") }</a:t>
            </a:r>
            <a:br/>
            <a:r>
              <a:t>    if exists := e.emailIndex[u.Email]; exists {</a:t>
            </a:r>
            <a:br/>
            <a:r>
              <a:t>        return model.User{}, dberr.NewUniqueViolation("users", "users_email_key", "duplicate email")</a:t>
            </a:r>
            <a:br/>
            <a:r>
              <a:t>    }</a:t>
            </a:r>
            <a:br/>
            <a:r>
              <a:t>    u.ID = e.userSeq.Add(1); e.users[u.ID] = u; e.emailIndex[u.Email] = u.ID</a:t>
            </a:r>
            <a:br/>
            <a:r>
              <a:t>    return u,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Metode InsertUser menjalankan seluruh pengecekan di dalam satu blok mutex lock yang merepresentasikan ROW EXCLUSIVE lock pada PostgreSQL. Mengunci seluruh proses bukan berarti implementasi ini memakai latch halaman B-tree yang kompleks, melainkan memodelkan jaminan atomisitas agar tidak ada goroutine lain yang dapat menyisipkan email serupa.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Encapsulating validation and mutation within an atomic critical section eliminates check-then-act vulnerabilities.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internal/engine/engine.go:45-99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Kronologi Tabrakan: Dua Goroutine pada Validasi Naif</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Langkah demi langkah runtuhnya integritas data pada UnsafeStore tanpa constraint.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FASE TERJADINYA DUPLIKASI DATA SECARA KONKUREN</a:t>
            </a:r>
          </a:p>
          <a:p>
            <a:pPr>
              <a:spcAft>
                <a:spcPts val="400"/>
              </a:spcAft>
              <a:defRPr sz="1200">
                <a:solidFill>
                  <a:srgbClr val="0B1B2D"/>
                </a:solidFill>
              </a:defRPr>
            </a:pPr>
            <a:r>
              <a:t>• 1. Pengecekan Bersamaan: Goroutine A dan B sama-sama memindai tabel dan membaca bahwa email target belum terdaftar.</a:t>
            </a:r>
          </a:p>
          <a:p>
            <a:pPr>
              <a:spcAft>
                <a:spcPts val="400"/>
              </a:spcAft>
              <a:defRPr sz="1200">
                <a:solidFill>
                  <a:srgbClr val="0B1B2D"/>
                </a:solidFill>
              </a:defRPr>
            </a:pPr>
            <a:r>
              <a:t>• 2. Jeda Penjadwalan CPU: Keduanya memasuki jeda scheduling (time.Sleep) yang membuka race window di memori aplikasi.</a:t>
            </a:r>
          </a:p>
          <a:p>
            <a:pPr>
              <a:spcAft>
                <a:spcPts val="400"/>
              </a:spcAft>
              <a:defRPr sz="1200">
                <a:solidFill>
                  <a:srgbClr val="0B1B2D"/>
                </a:solidFill>
              </a:defRPr>
            </a:pPr>
            <a:r>
              <a:t>• 3. Penulisan Ganda Sukses: Goroutine A menulis row; Goroutine B langsung menyusul menulis row dengan email yang sama persis.</a:t>
            </a:r>
          </a:p>
          <a:p>
            <a:pPr>
              <a:spcAft>
                <a:spcPts val="400"/>
              </a:spcAft>
              <a:defRPr sz="1200">
                <a:solidFill>
                  <a:srgbClr val="0B1B2D"/>
                </a:solidFill>
              </a:defRPr>
            </a:pPr>
            <a:r>
              <a:t>• 4. Integritas Runtuh: Hanya pada jalur ini tabel memuat 2 baris dengan email sama, merusak invarian keunikan sistem.</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Ketika dua goroutine mengeksekusi UnsafeStore.RegisterUser secara paralel, keduanya sama-sama menemukan bahwa email belum terdaftar di database. Jeda scheduling CPU mengekspos race window sehingga kedua proses sama-sama melanjutkan ke langkah INSERT. Hanya pada jalur ini duplikasi data berhasil lolos ke penyimpanan, membuktikan bahwa pengecekan memori tanpa constraint tidak berdaya.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Uncoordinated concurrent reads before unconstrained writes guarantee permanent data corruption.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content/04-diagrams.md:19-40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Taksonomi: Jenis Constraint vs Karakteristik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Membedakan cakupan validasi, kode SQLSTATE standar, dan mitigasi arsitektur.</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024128"/>
                <a:gridCol w="1024128"/>
                <a:gridCol w="1024128"/>
                <a:gridCol w="1024128"/>
                <a:gridCol w="1024128"/>
              </a:tblGrid>
              <a:tr h="457200">
                <a:tc>
                  <a:txBody>
                    <a:bodyPr/>
                    <a:lstStyle/>
                    <a:p>
                      <a:pPr>
                        <a:defRPr b="1" sz="1100">
                          <a:solidFill>
                            <a:srgbClr val="FFFFFF"/>
                          </a:solidFill>
                        </a:defRPr>
                      </a:pPr>
                      <a:r>
                        <a:t>Jenis Constraint</a:t>
                      </a:r>
                    </a:p>
                  </a:txBody>
                  <a:tcPr>
                    <a:solidFill>
                      <a:srgbClr val="0B1B2D"/>
                    </a:solidFill>
                  </a:tcPr>
                </a:tc>
                <a:tc>
                  <a:txBody>
                    <a:bodyPr/>
                    <a:lstStyle/>
                    <a:p>
                      <a:pPr>
                        <a:defRPr b="1" sz="1100">
                          <a:solidFill>
                            <a:srgbClr val="FFFFFF"/>
                          </a:solidFill>
                        </a:defRPr>
                      </a:pPr>
                      <a:r>
                        <a:t>SQLSTATE</a:t>
                      </a:r>
                    </a:p>
                  </a:txBody>
                  <a:tcPr>
                    <a:solidFill>
                      <a:srgbClr val="0B1B2D"/>
                    </a:solidFill>
                  </a:tcPr>
                </a:tc>
                <a:tc>
                  <a:txBody>
                    <a:bodyPr/>
                    <a:lstStyle/>
                    <a:p>
                      <a:pPr>
                        <a:defRPr b="1" sz="1100">
                          <a:solidFill>
                            <a:srgbClr val="FFFFFF"/>
                          </a:solidFill>
                        </a:defRPr>
                      </a:pPr>
                      <a:r>
                        <a:t>Cakupan Evaluasi</a:t>
                      </a:r>
                    </a:p>
                  </a:txBody>
                  <a:tcPr>
                    <a:solidFill>
                      <a:srgbClr val="0B1B2D"/>
                    </a:solidFill>
                  </a:tcPr>
                </a:tc>
                <a:tc>
                  <a:txBody>
                    <a:bodyPr/>
                    <a:lstStyle/>
                    <a:p>
                      <a:pPr>
                        <a:defRPr b="1" sz="1100">
                          <a:solidFill>
                            <a:srgbClr val="FFFFFF"/>
                          </a:solidFill>
                        </a:defRPr>
                      </a:pPr>
                      <a:r>
                        <a:t>Pencegahan Kegagalan</a:t>
                      </a:r>
                    </a:p>
                  </a:txBody>
                  <a:tcPr>
                    <a:solidFill>
                      <a:srgbClr val="0B1B2D"/>
                    </a:solidFill>
                  </a:tcPr>
                </a:tc>
                <a:tc>
                  <a:txBody>
                    <a:bodyPr/>
                    <a:lstStyle/>
                    <a:p>
                      <a:pPr>
                        <a:defRPr b="1" sz="1100">
                          <a:solidFill>
                            <a:srgbClr val="FFFFFF"/>
                          </a:solidFill>
                        </a:defRPr>
                      </a:pPr>
                      <a:r>
                        <a:t>HTTP Domain Mapping</a:t>
                      </a:r>
                    </a:p>
                  </a:txBody>
                  <a:tcPr>
                    <a:solidFill>
                      <a:srgbClr val="0B1B2D"/>
                    </a:solidFill>
                  </a:tcPr>
                </a:tc>
              </a:tr>
              <a:tr h="457200">
                <a:tc>
                  <a:txBody>
                    <a:bodyPr/>
                    <a:lstStyle/>
                    <a:p>
                      <a:pPr>
                        <a:defRPr sz="1000">
                          <a:solidFill>
                            <a:srgbClr val="0B1B2D"/>
                          </a:solidFill>
                        </a:defRPr>
                      </a:pPr>
                      <a:r>
                        <a:t>NOT NULL</a:t>
                      </a:r>
                    </a:p>
                  </a:txBody>
                  <a:tcPr>
                    <a:solidFill>
                      <a:srgbClr val="FFFFFF"/>
                    </a:solidFill>
                  </a:tcPr>
                </a:tc>
                <a:tc>
                  <a:txBody>
                    <a:bodyPr/>
                    <a:lstStyle/>
                    <a:p>
                      <a:pPr>
                        <a:defRPr sz="1000">
                          <a:solidFill>
                            <a:srgbClr val="0B1B2D"/>
                          </a:solidFill>
                        </a:defRPr>
                      </a:pPr>
                      <a:r>
                        <a:t>23502</a:t>
                      </a:r>
                    </a:p>
                  </a:txBody>
                  <a:tcPr>
                    <a:solidFill>
                      <a:srgbClr val="FFFFFF"/>
                    </a:solidFill>
                  </a:tcPr>
                </a:tc>
                <a:tc>
                  <a:txBody>
                    <a:bodyPr/>
                    <a:lstStyle/>
                    <a:p>
                      <a:pPr>
                        <a:defRPr sz="1000">
                          <a:solidFill>
                            <a:srgbClr val="0B1B2D"/>
                          </a:solidFill>
                        </a:defRPr>
                      </a:pPr>
                      <a:r>
                        <a:t>Kolom Tunggal</a:t>
                      </a:r>
                    </a:p>
                  </a:txBody>
                  <a:tcPr>
                    <a:solidFill>
                      <a:srgbClr val="FFFFFF"/>
                    </a:solidFill>
                  </a:tcPr>
                </a:tc>
                <a:tc>
                  <a:txBody>
                    <a:bodyPr/>
                    <a:lstStyle/>
                    <a:p>
                      <a:pPr>
                        <a:defRPr sz="1000">
                          <a:solidFill>
                            <a:srgbClr val="0B1B2D"/>
                          </a:solidFill>
                        </a:defRPr>
                      </a:pPr>
                      <a:r>
                        <a:t>Mencegah record kosong tak beridentitas</a:t>
                      </a:r>
                    </a:p>
                  </a:txBody>
                  <a:tcPr>
                    <a:solidFill>
                      <a:srgbClr val="FFFFFF"/>
                    </a:solidFill>
                  </a:tcPr>
                </a:tc>
                <a:tc>
                  <a:txBody>
                    <a:bodyPr/>
                    <a:lstStyle/>
                    <a:p>
                      <a:pPr>
                        <a:defRPr sz="1000">
                          <a:solidFill>
                            <a:srgbClr val="0B1B2D"/>
                          </a:solidFill>
                        </a:defRPr>
                      </a:pPr>
                      <a:r>
                        <a:t>400 Bad Request</a:t>
                      </a:r>
                    </a:p>
                  </a:txBody>
                  <a:tcPr>
                    <a:solidFill>
                      <a:srgbClr val="FFFFFF"/>
                    </a:solidFill>
                  </a:tcPr>
                </a:tc>
              </a:tr>
              <a:tr h="457200">
                <a:tc>
                  <a:txBody>
                    <a:bodyPr/>
                    <a:lstStyle/>
                    <a:p>
                      <a:pPr>
                        <a:defRPr sz="1000">
                          <a:solidFill>
                            <a:srgbClr val="0B1B2D"/>
                          </a:solidFill>
                        </a:defRPr>
                      </a:pPr>
                      <a:r>
                        <a:t>CHECK</a:t>
                      </a:r>
                    </a:p>
                  </a:txBody>
                  <a:tcPr>
                    <a:solidFill>
                      <a:srgbClr val="FFFFFF"/>
                    </a:solidFill>
                  </a:tcPr>
                </a:tc>
                <a:tc>
                  <a:txBody>
                    <a:bodyPr/>
                    <a:lstStyle/>
                    <a:p>
                      <a:pPr>
                        <a:defRPr sz="1000">
                          <a:solidFill>
                            <a:srgbClr val="0B1B2D"/>
                          </a:solidFill>
                        </a:defRPr>
                      </a:pPr>
                      <a:r>
                        <a:t>23514</a:t>
                      </a:r>
                    </a:p>
                  </a:txBody>
                  <a:tcPr>
                    <a:solidFill>
                      <a:srgbClr val="FFFFFF"/>
                    </a:solidFill>
                  </a:tcPr>
                </a:tc>
                <a:tc>
                  <a:txBody>
                    <a:bodyPr/>
                    <a:lstStyle/>
                    <a:p>
                      <a:pPr>
                        <a:defRPr sz="1000">
                          <a:solidFill>
                            <a:srgbClr val="0B1B2D"/>
                          </a:solidFill>
                        </a:defRPr>
                      </a:pPr>
                      <a:r>
                        <a:t>Kolom / Baris</a:t>
                      </a:r>
                    </a:p>
                  </a:txBody>
                  <a:tcPr>
                    <a:solidFill>
                      <a:srgbClr val="FFFFFF"/>
                    </a:solidFill>
                  </a:tcPr>
                </a:tc>
                <a:tc>
                  <a:txBody>
                    <a:bodyPr/>
                    <a:lstStyle/>
                    <a:p>
                      <a:pPr>
                        <a:defRPr sz="1000">
                          <a:solidFill>
                            <a:srgbClr val="0B1B2D"/>
                          </a:solidFill>
                        </a:defRPr>
                      </a:pPr>
                      <a:r>
                        <a:t>Menolak nilai di luar batas bisnis logis</a:t>
                      </a:r>
                    </a:p>
                  </a:txBody>
                  <a:tcPr>
                    <a:solidFill>
                      <a:srgbClr val="FFFFFF"/>
                    </a:solidFill>
                  </a:tcPr>
                </a:tc>
                <a:tc>
                  <a:txBody>
                    <a:bodyPr/>
                    <a:lstStyle/>
                    <a:p>
                      <a:pPr>
                        <a:defRPr sz="1000">
                          <a:solidFill>
                            <a:srgbClr val="0B1B2D"/>
                          </a:solidFill>
                        </a:defRPr>
                      </a:pPr>
                      <a:r>
                        <a:t>422 Unprocessable Entity</a:t>
                      </a:r>
                    </a:p>
                  </a:txBody>
                  <a:tcPr>
                    <a:solidFill>
                      <a:srgbClr val="FFFFFF"/>
                    </a:solidFill>
                  </a:tcPr>
                </a:tc>
              </a:tr>
              <a:tr h="457200">
                <a:tc>
                  <a:txBody>
                    <a:bodyPr/>
                    <a:lstStyle/>
                    <a:p>
                      <a:pPr>
                        <a:defRPr sz="1000">
                          <a:solidFill>
                            <a:srgbClr val="0B1B2D"/>
                          </a:solidFill>
                        </a:defRPr>
                      </a:pPr>
                      <a:r>
                        <a:t>UNIQUE</a:t>
                      </a:r>
                    </a:p>
                  </a:txBody>
                  <a:tcPr>
                    <a:solidFill>
                      <a:srgbClr val="FFFFFF"/>
                    </a:solidFill>
                  </a:tcPr>
                </a:tc>
                <a:tc>
                  <a:txBody>
                    <a:bodyPr/>
                    <a:lstStyle/>
                    <a:p>
                      <a:pPr>
                        <a:defRPr sz="1000">
                          <a:solidFill>
                            <a:srgbClr val="0B1B2D"/>
                          </a:solidFill>
                        </a:defRPr>
                      </a:pPr>
                      <a:r>
                        <a:t>23505</a:t>
                      </a:r>
                    </a:p>
                  </a:txBody>
                  <a:tcPr>
                    <a:solidFill>
                      <a:srgbClr val="FFFFFF"/>
                    </a:solidFill>
                  </a:tcPr>
                </a:tc>
                <a:tc>
                  <a:txBody>
                    <a:bodyPr/>
                    <a:lstStyle/>
                    <a:p>
                      <a:pPr>
                        <a:defRPr sz="1000">
                          <a:solidFill>
                            <a:srgbClr val="0B1B2D"/>
                          </a:solidFill>
                        </a:defRPr>
                      </a:pPr>
                      <a:r>
                        <a:t>Antar Baris (Index)</a:t>
                      </a:r>
                    </a:p>
                  </a:txBody>
                  <a:tcPr>
                    <a:solidFill>
                      <a:srgbClr val="FFFFFF"/>
                    </a:solidFill>
                  </a:tcPr>
                </a:tc>
                <a:tc>
                  <a:txBody>
                    <a:bodyPr/>
                    <a:lstStyle/>
                    <a:p>
                      <a:pPr>
                        <a:defRPr sz="1000">
                          <a:solidFill>
                            <a:srgbClr val="0B1B2D"/>
                          </a:solidFill>
                        </a:defRPr>
                      </a:pPr>
                      <a:r>
                        <a:t>Mencegah race condition registrasi ganda</a:t>
                      </a:r>
                    </a:p>
                  </a:txBody>
                  <a:tcPr>
                    <a:solidFill>
                      <a:srgbClr val="FFFFFF"/>
                    </a:solidFill>
                  </a:tcPr>
                </a:tc>
                <a:tc>
                  <a:txBody>
                    <a:bodyPr/>
                    <a:lstStyle/>
                    <a:p>
                      <a:pPr>
                        <a:defRPr sz="1000">
                          <a:solidFill>
                            <a:srgbClr val="0B1B2D"/>
                          </a:solidFill>
                        </a:defRPr>
                      </a:pPr>
                      <a:r>
                        <a:t>409 Conflict</a:t>
                      </a:r>
                    </a:p>
                  </a:txBody>
                  <a:tcPr>
                    <a:solidFill>
                      <a:srgbClr val="FFFFFF"/>
                    </a:solidFill>
                  </a:tcPr>
                </a:tc>
              </a:tr>
              <a:tr h="457200">
                <a:tc>
                  <a:txBody>
                    <a:bodyPr/>
                    <a:lstStyle/>
                    <a:p>
                      <a:pPr>
                        <a:defRPr sz="1000">
                          <a:solidFill>
                            <a:srgbClr val="0B1B2D"/>
                          </a:solidFill>
                        </a:defRPr>
                      </a:pPr>
                      <a:r>
                        <a:t>FOREIGN KEY</a:t>
                      </a:r>
                    </a:p>
                  </a:txBody>
                  <a:tcPr>
                    <a:solidFill>
                      <a:srgbClr val="FFFFFF"/>
                    </a:solidFill>
                  </a:tcPr>
                </a:tc>
                <a:tc>
                  <a:txBody>
                    <a:bodyPr/>
                    <a:lstStyle/>
                    <a:p>
                      <a:pPr>
                        <a:defRPr sz="1000">
                          <a:solidFill>
                            <a:srgbClr val="0B1B2D"/>
                          </a:solidFill>
                        </a:defRPr>
                      </a:pPr>
                      <a:r>
                        <a:t>23503</a:t>
                      </a:r>
                    </a:p>
                  </a:txBody>
                  <a:tcPr>
                    <a:solidFill>
                      <a:srgbClr val="FFFFFF"/>
                    </a:solidFill>
                  </a:tcPr>
                </a:tc>
                <a:tc>
                  <a:txBody>
                    <a:bodyPr/>
                    <a:lstStyle/>
                    <a:p>
                      <a:pPr>
                        <a:defRPr sz="1000">
                          <a:solidFill>
                            <a:srgbClr val="0B1B2D"/>
                          </a:solidFill>
                        </a:defRPr>
                      </a:pPr>
                      <a:r>
                        <a:t>Lintas Tabel</a:t>
                      </a:r>
                    </a:p>
                  </a:txBody>
                  <a:tcPr>
                    <a:solidFill>
                      <a:srgbClr val="FFFFFF"/>
                    </a:solidFill>
                  </a:tcPr>
                </a:tc>
                <a:tc>
                  <a:txBody>
                    <a:bodyPr/>
                    <a:lstStyle/>
                    <a:p>
                      <a:pPr>
                        <a:defRPr sz="1000">
                          <a:solidFill>
                            <a:srgbClr val="0B1B2D"/>
                          </a:solidFill>
                        </a:defRPr>
                      </a:pPr>
                      <a:r>
                        <a:t>Mencegah orphan record (induk tidak ada)</a:t>
                      </a:r>
                    </a:p>
                  </a:txBody>
                  <a:tcPr>
                    <a:solidFill>
                      <a:srgbClr val="FFFFFF"/>
                    </a:solidFill>
                  </a:tcPr>
                </a:tc>
                <a:tc>
                  <a:txBody>
                    <a:bodyPr/>
                    <a:lstStyle/>
                    <a:p>
                      <a:pPr>
                        <a:defRPr sz="1000">
                          <a:solidFill>
                            <a:srgbClr val="0B1B2D"/>
                          </a:solidFill>
                        </a:defRPr>
                      </a:pPr>
                      <a:r>
                        <a:t>400 Reference Error</a:t>
                      </a:r>
                    </a:p>
                  </a:txBody>
                  <a:tcPr>
                    <a:solidFill>
                      <a:srgbClr val="FFFFFF"/>
                    </a:solidFill>
                  </a:tcPr>
                </a:tc>
              </a:tr>
              <a:tr h="457200">
                <a:tc>
                  <a:txBody>
                    <a:bodyPr/>
                    <a:lstStyle/>
                    <a:p>
                      <a:pPr>
                        <a:defRPr sz="1000">
                          <a:solidFill>
                            <a:srgbClr val="0B1B2D"/>
                          </a:solidFill>
                        </a:defRPr>
                      </a:pPr>
                      <a:r>
                        <a:t>PARTIAL UNIQUE</a:t>
                      </a:r>
                    </a:p>
                  </a:txBody>
                  <a:tcPr>
                    <a:solidFill>
                      <a:srgbClr val="FFFFFF"/>
                    </a:solidFill>
                  </a:tcPr>
                </a:tc>
                <a:tc>
                  <a:txBody>
                    <a:bodyPr/>
                    <a:lstStyle/>
                    <a:p>
                      <a:pPr>
                        <a:defRPr sz="1000">
                          <a:solidFill>
                            <a:srgbClr val="0B1B2D"/>
                          </a:solidFill>
                        </a:defRPr>
                      </a:pPr>
                      <a:r>
                        <a:t>23505</a:t>
                      </a:r>
                    </a:p>
                  </a:txBody>
                  <a:tcPr>
                    <a:solidFill>
                      <a:srgbClr val="FFFFFF"/>
                    </a:solidFill>
                  </a:tcPr>
                </a:tc>
                <a:tc>
                  <a:txBody>
                    <a:bodyPr/>
                    <a:lstStyle/>
                    <a:p>
                      <a:pPr>
                        <a:defRPr sz="1000">
                          <a:solidFill>
                            <a:srgbClr val="0B1B2D"/>
                          </a:solidFill>
                        </a:defRPr>
                      </a:pPr>
                      <a:r>
                        <a:t>Baris Bersyarat</a:t>
                      </a:r>
                    </a:p>
                  </a:txBody>
                  <a:tcPr>
                    <a:solidFill>
                      <a:srgbClr val="FFFFFF"/>
                    </a:solidFill>
                  </a:tcPr>
                </a:tc>
                <a:tc>
                  <a:txBody>
                    <a:bodyPr/>
                    <a:lstStyle/>
                    <a:p>
                      <a:pPr>
                        <a:defRPr sz="1000">
                          <a:solidFill>
                            <a:srgbClr val="0B1B2D"/>
                          </a:solidFill>
                        </a:defRPr>
                      </a:pPr>
                      <a:r>
                        <a:t>Mengizinkan reuse email pasca soft-delete</a:t>
                      </a:r>
                    </a:p>
                  </a:txBody>
                  <a:tcPr>
                    <a:solidFill>
                      <a:srgbClr val="FFFFFF"/>
                    </a:solidFill>
                  </a:tcPr>
                </a:tc>
                <a:tc>
                  <a:txBody>
                    <a:bodyPr/>
                    <a:lstStyle/>
                    <a:p>
                      <a:pPr>
                        <a:defRPr sz="1000">
                          <a:solidFill>
                            <a:srgbClr val="0B1B2D"/>
                          </a:solidFill>
                        </a:defRPr>
                      </a:pPr>
                      <a:r>
                        <a:t>409 Conflict</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ini memetakan lima mekanisme constraint yang diuji di dalam lab beserta kode SQLSTATE kelas 23 standar PostgreSQL. Masing-masing mekanisme menangani dimensi integritas yang berbeda, mulai dari kelengkapan kolom hingga relasi lintas tabel. Menginspeksi kode SQLSTATE memungkinkan backend memetakan kegagalan teknis menjadi status HTTP yang semantik bagi klien.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Class 23 SQLSTATE error codes provide unambiguous machine-readable contracts for client error mapping.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internal/dberr/errors.go:8-99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Keputusan Kunci Merancang Integritas Skema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Panduan memilih mekanisme penegakan data yang tepat pada arsitektur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HIERARKI KEPUTUSAN PENEGAKAN INTEGRITAS DATA</a:t>
            </a:r>
          </a:p>
          <a:p>
            <a:pPr>
              <a:spcAft>
                <a:spcPts val="400"/>
              </a:spcAft>
              <a:defRPr sz="1200">
                <a:solidFill>
                  <a:srgbClr val="0B1B2D"/>
                </a:solidFill>
              </a:defRPr>
            </a:pPr>
            <a:r>
              <a:t>• 1. Mandatori &amp; Predikat Baris: Terapkan NOT NULL dan CHECK pada setiap kolom yang memiliki batasan domain eksplisit.</a:t>
            </a:r>
          </a:p>
          <a:p>
            <a:pPr>
              <a:spcAft>
                <a:spcPts val="400"/>
              </a:spcAft>
              <a:defRPr sz="1200">
                <a:solidFill>
                  <a:srgbClr val="0B1B2D"/>
                </a:solidFill>
              </a:defRPr>
            </a:pPr>
            <a:r>
              <a:t>• 2. Keunikan &amp; Pola Penghapusan: Pilih UNIQUE biasa untuk entitas permanen, atau Partial Index jika sistem menerapkan soft-delete.</a:t>
            </a:r>
          </a:p>
          <a:p>
            <a:pPr>
              <a:spcAft>
                <a:spcPts val="400"/>
              </a:spcAft>
              <a:defRPr sz="1200">
                <a:solidFill>
                  <a:srgbClr val="0B1B2D"/>
                </a:solidFill>
              </a:defRPr>
            </a:pPr>
            <a:r>
              <a:t>• 3. Integritas Relasional &amp; Index: Pasang FOREIGN KEY untuk mencegah orphan row; bukan berarti cukup, kolom relasi wajib di-index manual.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Desain skema yang tangguh dimulai dari mendefinisikan kolom wajib dengan NOT NULL dan batasan nilai dengan CHECK. Ketika mengelola entitas unik yang mendukung soft-delete, gunakan partial unique index agar email lama dapat didaftarkan kembali. Memasang foreign key bukan berarti pekerjaan selesai; kolom referensi tetap wajib dibuatkan indeks terpisah agar performa query tetap optimal.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Design schema invariants strictly at the column, table, and relational boundaries with appropriate index backing.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content/02-master-draft.md:175-195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Eksekusi: Test Suite dan Stress Test 50 Goroutine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Output terminal membuktikan penolakan atomik SQLSTATE 23505 dan kelulusan race detector.</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RUN   TestNotNullConstraints</a:t>
            </a:r>
            <a:br/>
            <a:r>
              <a:t>--- PASS: TestNotNullConstraints (0.00s)</a:t>
            </a:r>
            <a:br/>
            <a:r>
              <a:t>=== RUN   TestCheckConstraints</a:t>
            </a:r>
            <a:br/>
            <a:r>
              <a:t>--- PASS: TestCheckConstraints (0.00s)</a:t>
            </a:r>
            <a:br/>
            <a:r>
              <a:t>=== RUN   TestUniqueConstraint</a:t>
            </a:r>
            <a:br/>
            <a:r>
              <a:t>--- PASS: TestUniqueConstraint (0.00s)</a:t>
            </a:r>
            <a:br/>
            <a:r>
              <a:t>=== RUN   TestForeignKeyConstraint</a:t>
            </a:r>
            <a:br/>
            <a:r>
              <a:t>--- PASS: TestForeignKeyConstraint (0.00s)</a:t>
            </a:r>
            <a:br/>
            <a:r>
              <a:t>=== RUN   TestPartialUniqueIndex</a:t>
            </a:r>
            <a:br/>
            <a:r>
              <a:t>--- PASS: TestPartialUniqueIndex (0.00s)</a:t>
            </a:r>
            <a:br/>
            <a:r>
              <a:t>=== RUN   TestConcurrentRegistration_Safe_EnforcesUniqueness</a:t>
            </a:r>
            <a:br/>
            <a:r>
              <a:t>--- PASS: TestConcurrentRegistration_Safe_EnforcesUniqueness (0.00s)</a:t>
            </a:r>
            <a:br/>
            <a:r>
              <a:t>=== RUN   TestErrorClassification</a:t>
            </a:r>
            <a:br/>
            <a:r>
              <a:t>--- PASS: TestErrorClassification (0.00s)</a:t>
            </a:r>
            <a:br/>
            <a:r>
              <a:t>PASS: ok  labs/27-database-constraints/internal/store  1.330s (race: clean)</a:t>
            </a:r>
            <a:br/>
            <a:r>
              <a:t>[DEMO] CONCURRENCY STRESS TEST: 50 GOROUTINES FOR SAME EMAIL</a:t>
            </a:r>
            <a:br/>
            <a:r>
              <a:t>Results: Total=50 | Successful=1 | Rejected 23505=49 | Integrity Intact=true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Bukti eksekusi menunjukkan seluruh skenario pengujian lolos bersih tanpa peringatan dari Go race detector. Pada stress test demo dengan 50 goroutine yang menyerang email yang sama persis, storage engine berhasil meloloskan tepat 1 registrasi dan menolak 49 request lainnya dengan error 23505. Hal ini mengonfirmasi integritas data terjaga 100% di bawah beban paralel tinggi.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Stress testing confirms exactly one writer succeeds while all concurrent competitors receive atomic constraint rejections.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engineering/03-execution-result.md:14-83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Batasan Bukti Lab: Yang Dibuktikan vs Belum</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Menegaskan ruang lingkup simulasi in-memory terhadap fitur engine database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BATAS PEMBUKTIAN SISTEM LAB 27</a:t>
            </a:r>
          </a:p>
          <a:p>
            <a:pPr>
              <a:spcAft>
                <a:spcPts val="400"/>
              </a:spcAft>
              <a:defRPr sz="1200">
                <a:solidFill>
                  <a:srgbClr val="0B1B2D"/>
                </a:solidFill>
              </a:defRPr>
            </a:pPr>
            <a:r>
              <a:t>• YANG DIBUKTIKAN: Semantik SQLSTATE 23xxx, pencegahan race condition via atomic lock, dan siklus hidup partial index.</a:t>
            </a:r>
          </a:p>
          <a:p>
            <a:pPr>
              <a:spcAft>
                <a:spcPts val="400"/>
              </a:spcAft>
              <a:defRPr sz="1200">
                <a:solidFill>
                  <a:srgbClr val="0B1B2D"/>
                </a:solidFill>
              </a:defRPr>
            </a:pPr>
            <a:r>
              <a:t>• YANG TIDAK DIBUKTIKAN: Constraint terdistribusi multi-node, isolasi SERIALIZABLE, operator GiST, dan B-tree latch riil.</a:t>
            </a:r>
          </a:p>
          <a:p>
            <a:pPr>
              <a:spcAft>
                <a:spcPts val="400"/>
              </a:spcAft>
              <a:defRPr sz="1200">
                <a:solidFill>
                  <a:srgbClr val="0B1B2D"/>
                </a:solidFill>
              </a:defRPr>
            </a:pPr>
            <a:r>
              <a:t>• BATAS KLAIM EMPIRIS: Lab belum membuktikan teknik migrasi ALTER TABLE ADD CONSTRAINT NOT VALID pada tabel produksi raksasa.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membuktikan semantik SQLSTATE, keefektifan atomic locking, dan mekanisme partial index menggunakan simulator in-memory Go murni. Pengujian ini belum membuktikan constraint pada database terdistribusi multi-node atau penggunaan operator eksklusi GiST. Batasan klaim ini penting agar engineer tidak menyamakan simulator lab dengan benchmark engine produksi penuh.</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Delineate between educational memory simulations and production storage engine operational complexities.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content/02-master-draft.md:167-175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Kompromi Rekayasa: Constraints vs Fleksibilitas Skema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Menimbang biaya operasional dan performa di balik perlindungan integritas absolut.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ANALISIS TRADE-OFF PENERAPAN DATABASE CONSTRAINTS</a:t>
            </a:r>
          </a:p>
          <a:p>
            <a:pPr>
              <a:spcAft>
                <a:spcPts val="400"/>
              </a:spcAft>
              <a:defRPr sz="1200">
                <a:solidFill>
                  <a:srgbClr val="0B1B2D"/>
                </a:solidFill>
              </a:defRPr>
            </a:pPr>
            <a:r>
              <a:t>• Overhead Tulis (Write Cost): Setiap operasi INSERT/UPDATE wajib mengevaluasi index B-tree dan relasi FK, menambah sedikit latensi penulisan.</a:t>
            </a:r>
          </a:p>
          <a:p>
            <a:pPr>
              <a:spcAft>
                <a:spcPts val="400"/>
              </a:spcAft>
              <a:defRPr sz="1200">
                <a:solidFill>
                  <a:srgbClr val="0B1B2D"/>
                </a:solidFill>
              </a:defRPr>
            </a:pPr>
            <a:r>
              <a:t>• Friksi Migrasi Produksi: Menambah constraint pada tabel bervolume besar membutuhkan table lock eksklusif kecuali memakai pola validasi bertahap.</a:t>
            </a:r>
          </a:p>
          <a:p>
            <a:pPr>
              <a:spcAft>
                <a:spcPts val="400"/>
              </a:spcAft>
              <a:defRPr sz="1200">
                <a:solidFill>
                  <a:srgbClr val="0B1B2D"/>
                </a:solidFill>
              </a:defRPr>
            </a:pPr>
            <a:r>
              <a:t>• Tidak Otomatis Lambat: Penambahan index constraint tidak otomatis memperlambat sistem; overhead tulis terbayar lunas oleh integritas yang terjamin.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Menerapkan database constraints menambahkan sedikit biaya komputasi pada saat INSERT karena engine harus memeriksa B-tree index dan tabel induk. Selain itu, menambahkan constraint pada tabel miliaran baris di produksi memerlukan strategi khusus agar tidak mengunci tabel terlalu lama. Namun, overhead tersebut tidak otomatis memperlambat sistem jika dibandingkan biaya besar rekonsiliasi data rusak.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Accept minor write latency at the storage tier to permanently eradicate catastrophic data reconciliation costs.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content/02-master-draft.md:175-186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Pipeline Validasi Konkuren: Goroutine vs Mutex Lock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Bagaimana 50 goroutine bersaing memperebutkan satu slot pendaftaran email unik.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ALUR PENANGANAN 50 REQUEST PENDAFTARAN PARALEL</a:t>
            </a:r>
          </a:p>
          <a:p>
            <a:pPr>
              <a:spcAft>
                <a:spcPts val="400"/>
              </a:spcAft>
              <a:defRPr sz="1200">
                <a:solidFill>
                  <a:srgbClr val="0B1B2D"/>
                </a:solidFill>
              </a:defRPr>
            </a:pPr>
            <a:r>
              <a:t>• 1. 50 Goroutines Spawn (Traffic Surge): 50 worker dijalankan serentak mencoba mendaftarkan email race-target@domain.com.</a:t>
            </a:r>
          </a:p>
          <a:p>
            <a:pPr>
              <a:spcAft>
                <a:spcPts val="400"/>
              </a:spcAft>
              <a:defRPr sz="1200">
                <a:solidFill>
                  <a:srgbClr val="0B1B2D"/>
                </a:solidFill>
              </a:defRPr>
            </a:pPr>
            <a:r>
              <a:t>• 2. Mutex Lock Serialization (Atomic Critical Section): Goroutine pertama memperoleh lock eksklusif; 49 worker lainnya mengantre tertib.</a:t>
            </a:r>
          </a:p>
          <a:p>
            <a:pPr>
              <a:spcAft>
                <a:spcPts val="400"/>
              </a:spcAft>
              <a:defRPr sz="1200">
                <a:solidFill>
                  <a:srgbClr val="0B1B2D"/>
                </a:solidFill>
              </a:defRPr>
            </a:pPr>
            <a:r>
              <a:t>• 3. First Insert Success (Winner Commit): Worker 1 lolos pengecekan, mencatatkan email ke tabel dan map index, lalu melepas lock.</a:t>
            </a:r>
          </a:p>
          <a:p>
            <a:pPr>
              <a:spcAft>
                <a:spcPts val="400"/>
              </a:spcAft>
              <a:defRPr sz="1200">
                <a:solidFill>
                  <a:srgbClr val="0B1B2D"/>
                </a:solidFill>
              </a:defRPr>
            </a:pPr>
            <a:r>
              <a:t>• 4. 49 Abort SQLSTATE 23505 (Atomic Rejection): Worker 2-50 bergantian masuk lock, mendeteksi email sudah ada, dan langsung menerima error 23505.</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Diagram ini memvisualisasikan penanganan 50 goroutine konkuren yang mencoba menulis email yang sama persis. Antrean mutex memaksa eksekusi berjalan serial pada saat penulisan, sehingga goroutine pemenang pertama berhasil mendaftarkan data. Seluruh goroutine berikutnya secara deterministik ditolak oleh pemeriksaan indeks unik, membuktikan bahwa isolasi atomik memotong habis celah race condition.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Atomic serialization at the storage layer transforms concurrent race conditions into deterministic rejections.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cmd/demo/main.go:59-83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Transformasi: Dari UnsafeStore ke SafeStore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Perbedaan nyata antara validasi manual di aplikasi versus deklarasi constraint database.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PERBANDINGAN KETAHANAN DUA PENDEKATAN</a:t>
            </a:r>
          </a:p>
          <a:p>
            <a:pPr>
              <a:spcAft>
                <a:spcPts val="400"/>
              </a:spcAft>
              <a:defRPr sz="1200">
                <a:solidFill>
                  <a:srgbClr val="0B1B2D"/>
                </a:solidFill>
              </a:defRPr>
            </a:pPr>
            <a:r>
              <a:t>• Sebelum: UnsafeStore (App Check): Mengandalkan for-loop di memori aplikasi; 20 goroutine menghasilkan &gt;1 user duplikat di penyimpanan.</a:t>
            </a:r>
          </a:p>
          <a:p>
            <a:pPr>
              <a:spcAft>
                <a:spcPts val="400"/>
              </a:spcAft>
              <a:defRPr sz="1200">
                <a:solidFill>
                  <a:srgbClr val="0B1B2D"/>
                </a:solidFill>
              </a:defRPr>
            </a:pPr>
            <a:r>
              <a:t>• Sesudah: SafeStore (DB Constraint): Mendelegasikan ke storage engine; 50 goroutine menghasilkan tepat 1 user dan 49 error SQLSTATE 23505.</a:t>
            </a:r>
          </a:p>
          <a:p>
            <a:pPr>
              <a:spcAft>
                <a:spcPts val="400"/>
              </a:spcAft>
              <a:defRPr sz="1200">
                <a:solidFill>
                  <a:srgbClr val="0B1B2D"/>
                </a:solidFill>
              </a:defRPr>
            </a:pPr>
            <a:r>
              <a:t>• Bukan Berarti Redundan: Mempertahankan validasi aplikasi bukan berarti pemborosan kode, melainkan filter awal bagi kenyamanan pengguna.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Sebelum menerapkan database constraints, UnsafeStore mengandalkan pemindaian memori yang mudah ditembus oleh 20 goroutine konkuren hingga menghasilkan baris duplikat. Setelah beralih ke SafeStore, delegasi ke engine database menjamin tepat satu pemenang dari 50 request paralel. Mempertahankan validasi aplikasi di depan bukan berarti redundan, melainkan jembatan penting untuk menyajikan pesan error yang informatif.</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Shift data integrity enforcement from vulnerable application loops to unyielding storage engine constraints.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content/02-master-draft.md:141-151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Membuktikan Kebocoran Data pada UnsafeStore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Pengujian membuktikan bahwa pengecekan di memori gagal menahan 20 goroutine.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TestConcurrentRegistration_Unsafe_SuffersRaceCondition(t *testing.T) {</a:t>
            </a:r>
            <a:br/>
            <a:r>
              <a:t>    eng := engine.NewEngine(); s := store.NewUnsafeStore(eng)</a:t>
            </a:r>
            <a:br/>
            <a:r>
              <a:t>    goroutines := 20; var wg sync.WaitGroup; wg.Add(goroutines)</a:t>
            </a:r>
            <a:br/>
            <a:r>
              <a:t>    for i := 0; i &lt; goroutines; i++ {</a:t>
            </a:r>
            <a:br/>
            <a:r>
              <a:t>        go func(idx int) {</a:t>
            </a:r>
            <a:br/>
            <a:r>
              <a:t>            defer wg.Done()</a:t>
            </a:r>
            <a:br/>
            <a:r>
              <a:t>            _, _ = s.RegisterUser(ctx, model.User{Email: "unsafe@example.com", Username: fmt.Sprintf("u_%d", idx)})</a:t>
            </a:r>
            <a:br/>
            <a:r>
              <a:t>        }(i)</a:t>
            </a:r>
            <a:br/>
            <a:r>
              <a:t>    }</a:t>
            </a:r>
            <a:br/>
            <a:r>
              <a:t>    wg.Wait()</a:t>
            </a:r>
            <a:br/>
            <a:r>
              <a:t>    if eng.GetUsersCount() &lt;= 1 { t.Errorf("expected race condition causing &gt;1 user entries, got %d", eng.GetUsersCount())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Unit test ini membuktikan secara empiris bahwa pendekatan validasi di aplikasi gagal total di bawah konkurensi. Dua puluh goroutine yang mendaftarkan email yang sama menghasilkan lebih dari satu entri di tabel data. Kegagalan ini cakupannya mengikuti test lab, mengonfirmasi secara faktual bahwa sistem tanpa constraint penyimpanan pasti mengalami korupsi data saat menerima lonjakan request.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Empirical test assertions prove that application-only checks reliably permit duplicate writes under thread competition.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internal/store/store_test.go:210-239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SafeStore Menjamin Tepat Satu Pemenang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20 goroutine paralel menghasilkan tepat 1 keberhasilan dan 19 penolakan atomik.</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TestConcurrentRegistration_Safe_EnforcesUniqueness(t *testing.T) {</a:t>
            </a:r>
            <a:br/>
            <a:r>
              <a:t>    eng := engine.NewEngine(); s := store.NewSafeStore(eng)</a:t>
            </a:r>
            <a:br/>
            <a:r>
              <a:t>    goroutines := 20; var wg sync.WaitGroup; wg.Add(goroutines)</a:t>
            </a:r>
            <a:br/>
            <a:r>
              <a:t>    successCount, errorCount := 0, 0; var mu sync.Mutex</a:t>
            </a:r>
            <a:br/>
            <a:r>
              <a:t>    for i := 0; i &lt; goroutines; i++ {</a:t>
            </a:r>
            <a:br/>
            <a:r>
              <a:t>        go func(idx int) {</a:t>
            </a:r>
            <a:br/>
            <a:r>
              <a:t>            defer wg.Done()</a:t>
            </a:r>
            <a:br/>
            <a:r>
              <a:t>            _, err := s.RegisterUser(ctx, model.User{Email: "safe@example.com", Username: fmt.Sprintf("u_%d", idx), Age: 25, Status: "active"})</a:t>
            </a:r>
            <a:br/>
            <a:r>
              <a:t>            mu.Lock(); defer mu.Unlock()</a:t>
            </a:r>
            <a:br/>
            <a:r>
              <a:t>            if err == nil { successCount++ } else { errorCount++ }</a:t>
            </a:r>
            <a:br/>
            <a:r>
              <a:t>        }(i)</a:t>
            </a:r>
            <a:br/>
            <a:r>
              <a:t>    }</a:t>
            </a:r>
            <a:br/>
            <a:r>
              <a:t>    wg.Wait()</a:t>
            </a:r>
            <a:br/>
            <a:r>
              <a:t>    if successCount != 1 || errorCount != 19 || eng.GetUsersCount() != 1 { t.Fatalf("integrity violated!")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ini membuktikan ketangguhan SafeStore yang mengandalkan constraint engine. Dari 20 goroutine yang dijalankan serentak, tepat satu pendaftaran yang berhasil ditulis ke penyimpanan, sementara 19 goroutine lainnya menerima penolakan. Hanya pada jalur ini integritas tabel tetap terjaga pada angka tepat 1 baris, membuktikan keampuhan proteksi level database.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Database constraints deterministically ensure a single commit winner and N-1 clean rejections under high concurrency.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internal/store/store_test.go:162-208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Solusi Soft-Delete: Partial Unique Index WHERE deleted_at IS NULL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Mengizinkan daur ulang email lama tanpa mengorbankan keunikan data pengguna aktif.</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PARTIAL UNIQUE: CREATE UNIQUE INDEX users_active_email_idx ON users (email) WHERE deleted_at IS NULL;</a:t>
            </a:r>
            <a:br/>
            <a:r>
              <a:t>if usePartialUniqueIndex {</a:t>
            </a:r>
            <a:br/>
            <a:r>
              <a:t>    if u.DeletedAt == nil {</a:t>
            </a:r>
            <a:br/>
            <a:r>
              <a:t>        if existingID, exists := e.activeEmails[u.Email]; exists {</a:t>
            </a:r>
            <a:br/>
            <a:r>
              <a:t>            return model.User{}, dberr.NewUniqueViolation("users", "users_active_email_idx", "duplicate active email")</a:t>
            </a:r>
            <a:br/>
            <a:r>
              <a:t>        }</a:t>
            </a:r>
            <a:br/>
            <a:r>
              <a:t>    }</a:t>
            </a:r>
            <a:br/>
            <a:r>
              <a:t>}</a:t>
            </a:r>
            <a:br/>
            <a:r>
              <a:t>// Saat soft delete: delete(e.activeEmails, u.Email) -&gt; email langsung dapat didaftarkan kembali</a:t>
            </a:r>
            <a:br/>
            <a:r>
              <a:t>// Baris dengan deleted_at != nil tidak diindeks, sehingga multi-duplikat soft-delete tetap valid.</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Penerapan UNIQUE biasa pada tabel dengan soft-delete menimbulkan masalah: email pengguna yang sudah dihapus tidak akan pernah bisa didaftarkan kembali. Dengan Partial Unique Index bersyarat WHERE deleted_at IS NULL, hanya akun aktif yang diperiksa keunikannya. Pengguna yang sudah soft-delete dikeluarkan dari indeks, sehingga email yang sama dapat dipakai ulang oleh pendaftar baru.</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Partial indexes scope uniqueness predicates exclusively to active records, resolving soft-delete reuse dilemmas.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internal/engine/engine.go:71-77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Mencegah Data Yatim Piatu dengan Foreign Key Constraint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Memastikan pesanan baru tidak dapat dibuat untuk pengguna yang tidak terdaftar.</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(e *Engine) InsertOrder(o model.Order) (model.Order, error) {</a:t>
            </a:r>
            <a:br/>
            <a:r>
              <a:t>    e.mu.Lock(); defer e.mu.Unlock()</a:t>
            </a:r>
            <a:br/>
            <a:r>
              <a:t>    if o.UserID == 0 { return model.Order{}, dberr.NewNotNullViolation("orders", "user_id", "orders_user_id_not_null") }</a:t>
            </a:r>
            <a:br/>
            <a:r>
              <a:t>    if o.TotalCents &lt;= 0 { return model.Order{}, dberr.NewCheckViolation("orders", "orders_total_cents_check", "total &gt; 0") }</a:t>
            </a:r>
            <a:br/>
            <a:r>
              <a:t>    // FOREIGN KEY: CONSTRAINT fk_orders_user FOREIGN KEY (user_id) REFERENCES users(id)</a:t>
            </a:r>
            <a:br/>
            <a:r>
              <a:t>    if _, exists := e.users[o.UserID]; !exists {</a:t>
            </a:r>
            <a:br/>
            <a:r>
              <a:t>        return model.Order{}, dberr.NewForeignKeyViolation("orders", "fk_orders_user", fmt.Sprintf("key (user_id)=(%d) not present", o.UserID))</a:t>
            </a:r>
            <a:br/>
            <a:r>
              <a:t>    }</a:t>
            </a:r>
            <a:br/>
            <a:r>
              <a:t>    o.ID = e.orderSeq.Add(1); e.orders[o.ID] = o; return o,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Fungsi InsertOrder mengevaluasi tiga batasan secara berurutan: NOT NULL pada UserID, CHECK pada TotalCents, dan verifikasi relasional FOREIGN KEY. Jika UserID bernilai 99999 yang tidak tercatat di tabel users, sistem mengembalikan SQLSTATE 23503. Mekanisme ini mencegah terciptanya order yatim piatu yang dapat merusak rekonsiliasi keuangan sistem.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Foreign keys enforce relational parentage at the storage boundary, eradicating orphaned dependent records.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internal/engine/engine.go:122-148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Inspeksi SQLSTATE: Mengubah Error Database Menjadi Domain Error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Hindari parsing teks error yang rapuh; periksa kode SQLSTATE Class 23 yang stabil.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MapToDomainError(err error) error {</a:t>
            </a:r>
            <a:br/>
            <a:r>
              <a:t>    var cErr *ConstraintError</a:t>
            </a:r>
            <a:br/>
            <a:r>
              <a:t>    if errors.As(err, &amp;cErr) {</a:t>
            </a:r>
            <a:br/>
            <a:r>
              <a:t>        switch cErr.Code {</a:t>
            </a:r>
            <a:br/>
            <a:r>
              <a:t>        case SQLStateUniqueViolation: // 23505</a:t>
            </a:r>
            <a:br/>
            <a:r>
              <a:t>            return fmt.Errorf("conflict: resource with this unique attribute already exists (rule: %s)", cErr.ConstraintName)</a:t>
            </a:r>
            <a:br/>
            <a:r>
              <a:t>        case SQLStateNotNullViolation: // 23502</a:t>
            </a:r>
            <a:br/>
            <a:r>
              <a:t>            return fmt.Errorf("invalid input: mandatory field is missing (rule: %s)", cErr.ConstraintName)</a:t>
            </a:r>
            <a:br/>
            <a:r>
              <a:t>        case SQLStateCheckViolation: // 23514</a:t>
            </a:r>
            <a:br/>
            <a:r>
              <a:t>            return fmt.Errorf("validation failed: value outside boundary (rule: %s)", cErr.ConstraintName)</a:t>
            </a:r>
            <a:br/>
            <a:r>
              <a:t>        case SQLStateForeignKeyViolation: // 23503</a:t>
            </a:r>
            <a:br/>
            <a:r>
              <a:t>            return fmt.Errorf("reference error: referenced entity does not exist (rule: %s)", cErr.ConstraintName)</a:t>
            </a:r>
            <a:br/>
            <a:r>
              <a:t>        }</a:t>
            </a:r>
            <a:br/>
            <a:r>
              <a:t>    }</a:t>
            </a:r>
            <a:br/>
            <a:r>
              <a:t>    return err</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Banyak pengembang melakukan parsing string error seperti duplicate key yang sangat rapuh terhadap pergantian bahasa basis data. Kode SQLSTATE Class 23 bersifat universal dan terstandarisasi. Menggunakan MapToDomainError memungkinkan aplikasi mengubah kode mesin menjadi pesan domain yang bersih tanpa mengekspos struktur internal database ke publik.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Inspect stable SQLSTATE codes rather than brittle localized text strings for robust application error mapping.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internal/dberr/errors.go:83-100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Penerapan Database Constraints di Produksi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Langkah-langkah rekayasa wajib untuk menjamin integritas data sebelum deployment.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STANDAR REKAYASA INTEGRITAS SKEMA DATABASE</a:t>
            </a:r>
          </a:p>
          <a:p>
            <a:pPr>
              <a:spcAft>
                <a:spcPts val="400"/>
              </a:spcAft>
              <a:defRPr sz="1200">
                <a:solidFill>
                  <a:srgbClr val="0B1B2D"/>
                </a:solidFill>
              </a:defRPr>
            </a:pPr>
            <a:r>
              <a:t>• Tandai seluruh kolom mandatori dengan NOT NULL, jangan hanya mengandalkan validasi form.</a:t>
            </a:r>
          </a:p>
          <a:p>
            <a:pPr>
              <a:spcAft>
                <a:spcPts val="400"/>
              </a:spcAft>
              <a:defRPr sz="1200">
                <a:solidFill>
                  <a:srgbClr val="0B1B2D"/>
                </a:solidFill>
              </a:defRPr>
            </a:pPr>
            <a:r>
              <a:t>• Terapkan UNIQUE constraint pada atribut unik alih-alih melakukan SELECT sebelum INSERT.</a:t>
            </a:r>
          </a:p>
          <a:p>
            <a:pPr>
              <a:spcAft>
                <a:spcPts val="400"/>
              </a:spcAft>
              <a:defRPr sz="1200">
                <a:solidFill>
                  <a:srgbClr val="0B1B2D"/>
                </a:solidFill>
              </a:defRPr>
            </a:pPr>
            <a:r>
              <a:t>• Gunakan Partial Unique Index (WHERE deleted_at IS NULL) untuk entitas yang mendukung soft-delete.</a:t>
            </a:r>
          </a:p>
          <a:p>
            <a:pPr>
              <a:spcAft>
                <a:spcPts val="400"/>
              </a:spcAft>
              <a:defRPr sz="1200">
                <a:solidFill>
                  <a:srgbClr val="0B1B2D"/>
                </a:solidFill>
              </a:defRPr>
            </a:pPr>
            <a:r>
              <a:t>• Definisikan CHECK constraint untuk membatasi rentang nilai angka dan enum status kolom.</a:t>
            </a:r>
          </a:p>
          <a:p>
            <a:pPr>
              <a:spcAft>
                <a:spcPts val="400"/>
              </a:spcAft>
              <a:defRPr sz="1200">
                <a:solidFill>
                  <a:srgbClr val="0B1B2D"/>
                </a:solidFill>
              </a:defRPr>
            </a:pPr>
            <a:r>
              <a:t>• Pasang indeks eksplisit pada kolom referencing FOREIGN KEY demi mencegah full table scan saat DELETE parent.</a:t>
            </a:r>
          </a:p>
          <a:p>
            <a:pPr>
              <a:spcAft>
                <a:spcPts val="400"/>
              </a:spcAft>
              <a:defRPr sz="1200">
                <a:solidFill>
                  <a:srgbClr val="0B1B2D"/>
                </a:solidFill>
              </a:defRPr>
            </a:pPr>
            <a:r>
              <a:t>• Periksa kode SQLSTATE Class 23 (23502, 23505, 23514, 23503) pada error handler aplikasi.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Checklist ini merangkum langkah-langkah praktis sebelum merilis skema ke produksi: penetapan NOT NULL pada kolom wajib, penerapan UNIQUE untuk proteksi race condition, pemanfaatan partial index untuk soft-delete, pemasangan CHECK untuk validasi baris, penambahan indeks pada foreign key, serta inspeksi SQLSTATE pada layer error handling.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Systematically verify declarative constraints, index backing, and structured error mapping across the persistence tier.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content/02-master-draft.md:204-215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Anti-Pattern Umum dalam Menjaga Integritas Data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Kesalahan desain arsitektur yang sering merusak konsistensi data di sistem backend.</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POLA BERBAHAYA YANG WAJIB DIHINDARI</a:t>
            </a:r>
          </a:p>
          <a:p>
            <a:pPr>
              <a:spcAft>
                <a:spcPts val="400"/>
              </a:spcAft>
              <a:defRPr sz="1200">
                <a:solidFill>
                  <a:srgbClr val="0B1B2D"/>
                </a:solidFill>
              </a:defRPr>
            </a:pPr>
            <a:r>
              <a:t>• Check-Then-Act di Aplikasi: Mengecek keberadaan record via SELECT di aplikasi lalu melakukan INSERT; pasti bocor di bawah beban konkuren.</a:t>
            </a:r>
          </a:p>
          <a:p>
            <a:pPr>
              <a:spcAft>
                <a:spcPts val="400"/>
              </a:spcAft>
              <a:defRPr sz="1200">
                <a:solidFill>
                  <a:srgbClr val="0B1B2D"/>
                </a:solidFill>
              </a:defRPr>
            </a:pPr>
            <a:r>
              <a:t>• Menebak String Error: Melakukan regex matching pada teks error database yang dapat berubah sewaktu-waktu akibat pembaruan versi DB.</a:t>
            </a:r>
          </a:p>
          <a:p>
            <a:pPr>
              <a:spcAft>
                <a:spcPts val="400"/>
              </a:spcAft>
              <a:defRPr sz="1200">
                <a:solidFill>
                  <a:srgbClr val="0B1B2D"/>
                </a:solidFill>
              </a:defRPr>
            </a:pPr>
            <a:r>
              <a:t>• Bukan Berarti Ter-Index: Membuat FOREIGN KEY bukan berarti kolom otomatis terindeks; ketiadaan indeks manual merusak performa query DELETE.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Anti-pattern paling fatal adalah merasa aman dengan pola SELECT sebelum INSERT pada aplikasi. Kesalahan lainnya mencakup parsing teks error alih-alih membaca SQLSTATE, serta berasumsi bahwa foreign key secara otomatis membuatkan indeks pada kolom anak. Mengabaikan aspek ini bukan berarti sistem rusak hari ini, melainkan menanam bom waktu performa di masa depan.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Avoid application-only uniqueness checks, error string parsing, and unindexed foreign key dependencies.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content/02-master-draft.md:186-195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Reproduksi Mandiri di Mesin Lokal Menggunakan Go</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Jalankan seluruh pengujian constraint, race condition, dan demo 50 worker tanpa dependensi eksternal.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cd labs/27-database-constraints</a:t>
            </a:r>
            <a:br/>
            <a:r>
              <a:t>go test -v ./...    # menjalankan 7 unit test untuk NOT NULL, CHECK, UNIQUE, FK, &amp; Partial Index</a:t>
            </a:r>
            <a:br/>
            <a:r>
              <a:t>go test -race ./... # memvalidasi eksekusi konkuren bebas dari data race (PASS in 1.33s)</a:t>
            </a:r>
            <a:br/>
            <a:r>
              <a:t>go run ./cmd/demo   # eksekusi demonstrasi CLI interaktif: SQLSTATE demo &amp; 50-worker stress test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Seluruh pengujian lab dibangun murni menggunakan Go standard library tanpa perlu mengunduh package eksternal atau menjalankan Docker. Eksperimen lokal ini membuktikan seluruh semantik penegakan constraint secara deterministik, namun sistem produksi masih perlu mengonfigurasi strategi migrasi bertahap seperti ADD CONSTRAINT NOT VALID.</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Deterministic local simulations validate distributed consistency principles without heavy infrastructure overhead.</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README.md:1-25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Prinsip Inti: Database Adalah Benteng Terakhir Kebenaran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Aplikasi boleh berganti dan berkembang, namun integritas data harus abadi.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TIGA PILAR INTEGRITAS DATA ARSITEKTUR MODERN</a:t>
            </a:r>
          </a:p>
          <a:p>
            <a:pPr>
              <a:spcAft>
                <a:spcPts val="400"/>
              </a:spcAft>
              <a:defRPr sz="1200">
                <a:solidFill>
                  <a:srgbClr val="0B1B2D"/>
                </a:solidFill>
              </a:defRPr>
            </a:pPr>
            <a:r>
              <a:t>• Deklaratif di Titik Tulis: Letakkan aturan keabsahan data sedekat mungkin dengan media penyimpanan agar terlindungi secara atomik.</a:t>
            </a:r>
          </a:p>
          <a:p>
            <a:pPr>
              <a:spcAft>
                <a:spcPts val="400"/>
              </a:spcAft>
              <a:defRPr sz="1200">
                <a:solidFill>
                  <a:srgbClr val="0B1B2D"/>
                </a:solidFill>
              </a:defRPr>
            </a:pPr>
            <a:r>
              <a:t>• Pemisahan Peran yang Jelas: Aplikasi melayani kenyamanan interaksi pengguna; database constraints menjamin kebenaran absolut.</a:t>
            </a:r>
          </a:p>
          <a:p>
            <a:pPr>
              <a:spcAft>
                <a:spcPts val="400"/>
              </a:spcAft>
              <a:defRPr sz="1200">
                <a:solidFill>
                  <a:srgbClr val="0B1B2D"/>
                </a:solidFill>
              </a:defRPr>
            </a:pPr>
            <a:r>
              <a:t>• Tidak Otomatis Kebal: Memasang constraint tidak otomatis menyelesaikan aturan lintas tabel; pahami batas row-scoped versus triggers.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Aplikasi backend akan terus ditulis ulang, microservices akan terus bertambah, namun data di database akan bertahan melampaui siklus hidup kode tersebut. Menyerahkan integritas data hanya pada kode aplikasi adalah perjudian berisiko tinggi. Database constraints memastikan bahwa apa pun bug yang terjadi di lapisan aplikasi, integritas data penyimpanan tidak akan pernah ternoda.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Applications are ephemeral; persisted data is durable. Enforce invariant truth at the storage tier.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content/05-key-takeaways.md:1-20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27</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Jangan pernah percayakan integritas data hanya pada application code; database constraint adalah benteng terakhir kebenaran absolut.</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Database constraints serve as the final, immutable bastion of data correctness across evolving system architectures.</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27 - Database Constraints: Benteng Terakhir Integritas Data</a:t>
            </a:r>
          </a:p>
          <a:p>
            <a:pPr>
              <a:defRPr sz="1200">
                <a:solidFill>
                  <a:srgbClr val="CBD5E1"/>
                </a:solidFill>
              </a:defRPr>
            </a:pPr>
            <a:r>
              <a:t>https://github.com/lukman-ss/software-engineering-lab/tree/main/labs/27-database-constraints</a:t>
            </a:r>
          </a:p>
          <a:p>
            <a:br/>
            <a:pPr>
              <a:defRPr sz="1100" b="1">
                <a:solidFill>
                  <a:srgbClr val="20C997"/>
                </a:solidFill>
              </a:defRPr>
            </a:pPr>
            <a:r>
              <a:t>REPOSITORY</a:t>
            </a:r>
          </a:p>
          <a:p>
            <a:pPr>
              <a:defRPr sz="1100">
                <a:solidFill>
                  <a:srgbClr val="FFFFFF"/>
                </a:solidFill>
                <a:latin typeface="Courier New"/>
              </a:defRPr>
            </a:pPr>
            <a:r>
              <a:t>github.com/lukman-ss/software-engineering-lab/tree/main/labs/27-database-constraints</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c317c1d</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Database Constraints • Data Integrity • Concurrency • SQLSTATE • Partial Index • Go</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