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Mutation Testing</a:t>
            </a:r>
          </a:p>
          <a:p/>
          <a:p>
            <a:r>
              <a: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Ilusi Keamanan Code Coverage</a:t>
            </a:r>
          </a:p>
          <a:p/>
          <a:p>
            <a:r>
              <a:t>Mental Model: Coverage measures execution, not verification. Zero killed mutants reveals the gap.</a:t>
            </a:r>
          </a:p>
          <a:p/>
          <a:p>
            <a:r>
              <a:t>[METRIK TRADISIONAL]</a:t>
            </a:r>
          </a:p>
          <a:p>
            <a:r>
              <a:t>- 100% line coverage artinya setiap baris dieksekusi minimal sekali.</a:t>
            </a:r>
          </a:p>
          <a:p>
            <a:r>
              <a:t>- Tidak ada asersi substantif: test hanya memastikan fungsi berjalan tanpa error.</a:t>
            </a:r>
          </a:p>
          <a:p>
            <a:r>
              <a:t>- Contoh: assert result &gt; 0 pada kalkulasi diskon yang seharusnya == expected.</a:t>
            </a:r>
          </a:p>
          <a:p>
            <a:r>
              <a:t>[DAMPAK PRODUKSI]</a:t>
            </a:r>
          </a:p>
          <a:p>
            <a:r>
              <a:t>- Operator relasional salah: &gt;= berubah menjadi &gt; pada threshold diskon.</a:t>
            </a:r>
          </a:p>
          <a:p>
            <a:r>
              <a:t>- Logika boolean terbalik: || menjadi &amp;&amp; mengubah kualifikasi free shipping.</a:t>
            </a:r>
          </a:p>
          <a:p>
            <a:r>
              <a:t>- Bug logika lolos ke production karena test suite hijau penuh.</a:t>
            </a:r>
          </a:p>
          <a:p>
            <a:r>
              <a:t>[DATA LAB 38]</a:t>
            </a:r>
          </a:p>
          <a:p>
            <a:r>
              <a:t>- discount_weak_test.go mencapai 100% statement coverage pada discount.go.</a:t>
            </a:r>
          </a:p>
          <a:p>
            <a:r>
              <a:t>- Namun mutation score-nya 0.00%: 0 dari 15 mutant terdeteksi.</a:t>
            </a:r>
          </a:p>
          <a:p>
            <a:r>
              <a:t>- Test suite lemah menutupi seluruh baris tanpa menangkap fault injection.</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Mengapa Review Manual dan Assertion Naif Gagal</a:t>
            </a:r>
          </a:p>
          <a:p/>
          <a:p>
            <a:r>
              <a:t>Mental Model: Human testing samples expectations; mutation testing probes violations.</a:t>
            </a:r>
          </a:p>
          <a:p/>
          <a:p>
            <a:r>
              <a:t>[BIAS KONFIRMASI]</a:t>
            </a:r>
          </a:p>
          <a:p>
            <a:r>
              <a:t>- Developer cenderung menulis contoh input yang mendukung implementasi.</a:t>
            </a:r>
          </a:p>
          <a:p>
            <a:r>
              <a:t>- Edge case acak seperti float precision, batas negatif, atau nol sering terlupa.</a:t>
            </a:r>
          </a:p>
          <a:p>
            <a:r>
              <a:t>[KEKURANGAN ASSERTION]</a:t>
            </a:r>
          </a:p>
          <a:p>
            <a:r>
              <a:t>- Assert boolean `freeShipping` rarely checked.</a:t>
            </a:r>
          </a:p>
          <a:p>
            <a:r>
              <a:t>- Assert exact discount rate missing; only positivity validated.</a:t>
            </a:r>
          </a:p>
          <a:p>
            <a:r>
              <a:t>[SKALA LOGIKA]</a:t>
            </a:r>
          </a:p>
          <a:p>
            <a:r>
              <a:t>- Satu fungsi `CalculateDiscount` mengandung 8 operator relasional dan 4 boolean.</a:t>
            </a:r>
          </a:p>
          <a:p>
            <a:r>
              <a:t>- Kombinasi threshold 1000, 500, 100, 200 serta ItemCount &gt; 2 menciptakan lintasan kompleks.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Mutation Testing vs Code Coverage</a:t>
            </a:r>
          </a:p>
          <a:p/>
          <a:p>
            <a:r>
              <a:t>Mental Model: Execute everything, verify nothing is equal to passing everything.</a:t>
            </a:r>
          </a:p>
          <a:p/>
          <a:p>
            <a:r>
              <a:t>[ANALOGI ROTI DAN SELAI]</a:t>
            </a:r>
          </a:p>
          <a:p>
            <a:r>
              <a:t>- Coverage melaporkan berapa persen roti terlapisi selai.</a:t>
            </a:r>
          </a:p>
          <a:p>
            <a:r>
              <a:t>- Mutation memeriksa apakah selai itu benar cokelat atau zat lain.</a:t>
            </a:r>
          </a:p>
          <a:p>
            <a:r>
              <a:t>- Roti tertutup penuh bisa jadi selainya salah total.</a:t>
            </a:r>
          </a:p>
          <a:p>
            <a:r>
              <a:t>[RUMUS SKOR]</a:t>
            </a:r>
          </a:p>
          <a:p>
            <a:r>
              <a:t>- Mutation Score = (Killed / Total) × 100%</a:t>
            </a:r>
          </a:p>
          <a:p>
            <a:r>
              <a:t>- Killed = mutant terdeteksi oleh test suite yang gagal.</a:t>
            </a:r>
          </a:p>
          <a:p>
            <a:r>
              <a:t>- Survived = mutant lolos karena assertion lemah atau input tidak relevan.</a:t>
            </a:r>
          </a:p>
          <a:p>
            <a:r>
              <a:t>[HIPIOTESIS FUNDAMENTAL]</a:t>
            </a:r>
          </a:p>
          <a:p>
            <a:r>
              <a:t>- Competent Programmer Hypothesis: bug biasanya operator/tanda kecil.</a:t>
            </a:r>
          </a:p>
          <a:p>
            <a:r>
              <a:t>- Coupling Effect: fault sederhana bertingkat menjadi kegagalan kompleks.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Pipeline Mesin Mutation Testing</a:t>
            </a:r>
          </a:p>
          <a:p/>
          <a:p>
            <a:r>
              <a:t>Mental Model: Parse once, mutate many, isolate always, aggregate deterministically.</a:t>
            </a:r>
          </a:p>
          <a:p/>
          <a:p>
            <a:r>
              <a:t>[LANGKAH PIPELINE]</a:t>
            </a:r>
          </a:p>
          <a:p>
            <a:r>
              <a:t>- Read discount.go -&gt; parser.ParseFile dengan go/ast.</a:t>
            </a:r>
          </a:p>
          <a:p>
            <a:r>
              <a:t>- ast.Inspect collect BinaryExpr dan BasicLit nodes.</a:t>
            </a:r>
          </a:p>
          <a:p>
            <a:r>
              <a:t>- Build MutationPlan dengan Apply closure dan undo revert.</a:t>
            </a:r>
          </a:p>
          <a:p>
            <a:r>
              <a:t>[EKSEKUSI PARALEL]</a:t>
            </a:r>
          </a:p>
          <a:p>
            <a:r>
              <a:t>- Runner.Run meluncurkan goroutine per rencana mutasi.</a:t>
            </a:r>
          </a:p>
          <a:p>
            <a:r>
              <a:t>- Tiap goroutine membuat fresh token.FileSet untuk isolasi total.</a:t>
            </a:r>
          </a:p>
          <a:p>
            <a:r>
              <a:t>- Hasil ditulis ke slice berbasis indeks tanpa mutex.</a:t>
            </a:r>
          </a:p>
          <a:p>
            <a:r>
              <a:t>[OUTPUT LAPORAN]</a:t>
            </a:r>
          </a:p>
          <a:p>
            <a:r>
              <a:t>- Report aggregating Killed, Survived, Equivalent counts.</a:t>
            </a:r>
          </a:p>
          <a:p>
            <a:r>
              <a:t>- Skor dihitung akhir dengan formula persentase.</a:t>
            </a:r>
          </a:p>
          <a:p>
            <a:r>
              <a:t>- Breakdown per mutant menampilkan line, operator, dan status.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AST Mutation pada Relational &amp; Boolean Node</a:t>
            </a:r>
          </a:p>
          <a:p/>
          <a:p>
            <a:r>
              <a:t>Mental Model: Mutate AST in place, revert immediately, never share mutable nodes.</a:t>
            </a:r>
          </a:p>
          <a:p/>
          <a:p>
            <a:r>
              <a:t>[RELATIONAL EXAMPLE]</a:t>
            </a:r>
          </a:p>
          <a:p>
            <a:r>
              <a:t>- case token.GEQ:</a:t>
            </a:r>
          </a:p>
          <a:p>
            <a:r>
              <a:t>-   plans = append(plans, MutationPlan{</a:t>
            </a:r>
          </a:p>
          <a:p>
            <a:r>
              <a:t>-     Apply: func(f *ast.File) func() {</a:t>
            </a:r>
          </a:p>
          <a:p>
            <a:r>
              <a:t>-       expr.Op = token.GTR</a:t>
            </a:r>
          </a:p>
          <a:p>
            <a:r>
              <a:t>-       return func() { expr.Op = token.GEQ }</a:t>
            </a:r>
          </a:p>
          <a:p>
            <a:r>
              <a:t>-     },</a:t>
            </a:r>
          </a:p>
          <a:p>
            <a:r>
              <a:t>-   })</a:t>
            </a:r>
          </a:p>
          <a:p>
            <a:r>
              <a:t>[BOOLEAN FLIP]</a:t>
            </a:r>
          </a:p>
          <a:p>
            <a:r>
              <a:t>- case token.OR: // ||</a:t>
            </a:r>
          </a:p>
          <a:p>
            <a:r>
              <a:t>-   expr.Op = token.AND // &amp;&amp;</a:t>
            </a:r>
          </a:p>
          <a:p>
            <a:r>
              <a:t>-   undo restores token.OR</a:t>
            </a:r>
          </a:p>
          <a:p>
            <a:r>
              <a:t>[ARITHMETIC &amp; BOUNDARY]</a:t>
            </a:r>
          </a:p>
          <a:p>
            <a:r>
              <a:t>- Multiply to divide: `*` -&gt; `/`</a:t>
            </a:r>
          </a:p>
          <a:p>
            <a:r>
              <a:t>- Subtract to add: `-` -&gt; `+`</a:t>
            </a:r>
          </a:p>
          <a:p>
            <a:r>
              <a:t>- Integer constant +1 shift at line 40</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Failure Path: Operator `&gt;=` Berubah Menjadi `&gt;`</a:t>
            </a:r>
          </a:p>
          <a:p/>
          <a:p>
            <a:r>
              <a:t>Mental Model: Inclusive vs exclusive boundaries hide regressions behind weak numeric guards.</a:t>
            </a:r>
          </a:p>
          <a:p/>
          <a:p>
            <a:r>
              <a:t>[KODE ASLI]</a:t>
            </a:r>
          </a:p>
          <a:p>
            <a:r>
              <a:t>- else if order.TotalAmount &gt;= 100.0 {</a:t>
            </a:r>
          </a:p>
          <a:p>
            <a:r>
              <a:t>-     rate = 0.05</a:t>
            </a:r>
          </a:p>
          <a:p>
            <a:r>
              <a:t>[MUTAN]</a:t>
            </a:r>
          </a:p>
          <a:p>
            <a:r>
              <a:t>- else if order.TotalAmount &gt; 100.0 {</a:t>
            </a:r>
          </a:p>
          <a:p>
            <a:r>
              <a:t>-     rate = 0.05</a:t>
            </a:r>
          </a:p>
          <a:p>
            <a:r>
              <a:t>[INPUT KRITIS]</a:t>
            </a:r>
          </a:p>
          <a:p>
            <a:r>
              <a:t>- TotalAmount = 100.0, Tier = STANDARD</a:t>
            </a:r>
          </a:p>
          <a:p>
            <a:r>
              <a:t>- Asli: rate = 0.05; Mutan: rate = 0.0</a:t>
            </a:r>
          </a:p>
          <a:p>
            <a:r>
              <a:t>- Weak test hanya cek `res3.DiscountRate &lt; 0` → tetap PASS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Mekanisme Mutasi vs Gejala yang Dihasilkan</a:t>
            </a:r>
          </a:p>
          <a:p/>
          <a:p>
            <a:r>
              <a:t>Mental Model: Fault categories map to symptom families; weak assertions fall in the positivity trap.</a:t>
            </a:r>
          </a:p>
          <a:p/>
          <a:p>
            <a:r>
              <a:t>[TABEL PERBANDINGAN]</a:t>
            </a:r>
          </a:p>
          <a:p>
            <a:r>
              <a:t>- Operator | Mutasi | Gejala | Deteksi Weak Test</a:t>
            </a:r>
          </a:p>
          <a:p>
            <a:r>
              <a:t>- Relational (&gt;=) | &gt;= -&gt; &gt; | Boundary threshold shift | Missed (rate 0 still &gt;= 0)</a:t>
            </a:r>
          </a:p>
          <a:p>
            <a:r>
              <a:t>- Relational (==) | == -&gt; != | Tier logic inversion | Missed (amount still positive)</a:t>
            </a:r>
          </a:p>
          <a:p>
            <a:r>
              <a:t>- Boolean (||) | || -&gt; &amp;&amp; | VIP free shipping disabled | Missed (amount positive)</a:t>
            </a:r>
          </a:p>
          <a:p>
            <a:r>
              <a:t>- Boolean (&amp;&amp;) | &amp;&amp; -&gt; || | Coupon boost applies wrongly | Missed (rate positive)</a:t>
            </a:r>
          </a:p>
          <a:p>
            <a:r>
              <a:t>- Arithmetic (*) | * -&gt; / | Discount calculation exploded | Missed (final amount positive)</a:t>
            </a:r>
          </a:p>
          <a:p>
            <a:r>
              <a:t>- Arithmetic (-) | - -&gt; + | Final amount inflated | Missed (value &gt; 0)</a:t>
            </a:r>
          </a:p>
          <a:p>
            <a:r>
              <a:t>- Boundary (+1) | 2 -&gt; 3 | Coupon requires 3 items | Missed (ItemCount 3 passes)</a:t>
            </a:r>
          </a:p>
          <a:p>
            <a:r>
              <a:t>[POLA KEGAGALAN]</a:t>
            </a:r>
          </a:p>
          <a:p>
            <a:r>
              <a:t>- Weak assertions rely on sign checks only.</a:t>
            </a:r>
          </a:p>
          <a:p>
            <a:r>
              <a:t>- All survived mutants maintain positive financial outputs.</a:t>
            </a:r>
          </a:p>
          <a:p>
            <a:r>
              <a:t>- Only exact value or boolean branch checks can propagate detection.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Tiga Keputusan Kritis Saat Membangun Mutation Engine</a:t>
            </a:r>
          </a:p>
          <a:p/>
          <a:p>
            <a:r>
              <a:t>Mental Model: Isolate state, target syntax, define kill by semantic divergence.</a:t>
            </a:r>
          </a:p>
          <a:p/>
          <a:p>
            <a:r>
              <a:t>[KEPUTUSAN 1: ISOLASI]</a:t>
            </a:r>
          </a:p>
          <a:p>
            <a:r>
              <a:t>- Pilih fresh `token.NewFileSet()` per goroutine.</a:t>
            </a:r>
          </a:p>
          <a:p>
            <a:r>
              <a:t>- Hindari mutex dengan penulisan berbasis indeks slice.</a:t>
            </a:r>
          </a:p>
          <a:p>
            <a:r>
              <a:t>- Gunakan closure undo untuk memulihkan AST setelah evaluasi.</a:t>
            </a:r>
          </a:p>
          <a:p>
            <a:r>
              <a:t>[KEPUTUSAN 2: SELEKSI NODE]</a:t>
            </a:r>
          </a:p>
          <a:p>
            <a:r>
              <a:t>- Targetkan `*ast.BinaryExpr` untuk operator.</a:t>
            </a:r>
          </a:p>
          <a:p>
            <a:r>
              <a:t>- Targetkan `*ast.BasicLit` bertipe `token.INT` untuk batas.</a:t>
            </a:r>
          </a:p>
          <a:p>
            <a:r>
              <a:t>- Abaikan node string/float agar boundary shift fokus pada integer.</a:t>
            </a:r>
          </a:p>
          <a:p>
            <a:r>
              <a:t>[KEPUTUSAN 3: KILL CONDITION]</a:t>
            </a:r>
          </a:p>
          <a:p>
            <a:r>
              <a:t>- TestFunc menerima sourc bytes mutan, bukan eksekusi binary.</a:t>
            </a:r>
          </a:p>
          <a:p>
            <a:r>
              <a:t>- Strong test membandingkan string AST secara eksak != original.</a:t>
            </a:r>
          </a:p>
          <a:p>
            <a:r>
              <a:t>- Weak test mensimulasikan heuristik assertion positif saja.</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Bukti Eksekusi: Demo CLI Mutation Testing</a:t>
            </a:r>
          </a:p>
          <a:p/>
          <a:p>
            <a:r>
              <a:t>Mental Model: Numbers don't lie: 0% vs 100% mutation score from identical coverage.</a:t>
            </a:r>
          </a:p>
          <a:p/>
          <a:p>
            <a:r>
              <a:t>[OUTPUT DEMO]</a:t>
            </a:r>
          </a:p>
          <a:p>
            <a:r>
              <a:t>- Target: internal/service/discount.go — 15 mutants generated</a:t>
            </a:r>
          </a:p>
          <a:p>
            <a:r>
              <a:t>- Weak suite kills: 0/15 mutants (0.00%)</a:t>
            </a:r>
          </a:p>
          <a:p>
            <a:r>
              <a:t>- Strong suite kills: 15/15 mutants (100.00%)</a:t>
            </a:r>
          </a:p>
          <a:p>
            <a:r>
              <a:t>- Race detector: `go test -race ./...` passed</a:t>
            </a:r>
          </a:p>
          <a:p>
            <a:r>
              <a:t>[PECAHAN MUTAN]</a:t>
            </a:r>
          </a:p>
          <a:p>
            <a:r>
              <a:t>- [SURVIVED] Mutant 1-15: semua operator flips &amp; boundary shifts lolos.</a:t>
            </a:r>
          </a:p>
          <a:p>
            <a:r>
              <a:t>- [KILLED ] Mutant 1-15: strong test menangkap semua perubahan teks AST.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YANG TIDAK DIBUKTIKAN</a:t>
            </a:r>
          </a:p>
          <a:p/>
          <a:p>
            <a:r>
              <a:t>Mental Model: Mutation testing reveals gaps; it does not replace risk-based quality gates.</a:t>
            </a:r>
          </a:p>
          <a:p/>
          <a:p>
            <a:r>
              <a:t>[SKOR 100% BUKAN STANDAR INDUSTRI]</a:t>
            </a:r>
          </a:p>
          <a:p>
            <a:r>
              <a:t>- Tidak ada ambang mutation score universal yang disepakati.</a:t>
            </a:r>
          </a:p>
          <a:p>
            <a:r>
              <a:t>- Target skor harus disesuaikan dengan profil risiko proyek.</a:t>
            </a:r>
          </a:p>
          <a:p>
            <a:r>
              <a:t>[EVALUASI AST TEXTUAL]</a:t>
            </a:r>
          </a:p>
          <a:p>
            <a:r>
              <a:t>- Strong test menggunakan perbandingan string AST, bukan subprocess kompilasi.</a:t>
            </a:r>
          </a:p>
          <a:p>
            <a:r>
              <a:t>- Ini trade-off ringan untuk demonstrasi; production tool compile subprocess.</a:t>
            </a:r>
          </a:p>
          <a:p>
            <a:r>
              <a:t>[EQUIVALENT MUTANTS]</a:t>
            </a:r>
          </a:p>
          <a:p>
            <a:r>
              <a:t>- Mutan semantik identik tidak dapat dibunuh secara teoretis.</a:t>
            </a:r>
          </a:p>
          <a:p>
            <a:r>
              <a:t>- Penanganan equivalent memerlukan heuristic atau scoped analysis.</a:t>
            </a:r>
          </a:p>
          <a:p>
            <a:r>
              <a:t>[StatementDelete TIDAK DIPAKAI]</a:t>
            </a:r>
          </a:p>
          <a:p>
            <a:r>
              <a:t>- Enum `StatementDelete` dideklarasikan untuk klasifikasi lengkap.</a:t>
            </a:r>
          </a:p>
          <a:p>
            <a:r>
              <a:t>- Tidak diemisi karena target AST tidak memiliki void side-effect-free statement.</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Trade-off Arsitektur: Kecepatan vs Ketepatan Deteksi</a:t>
            </a:r>
          </a:p>
          <a:p/>
          <a:p>
            <a:r>
              <a:t>Mental Model: Speed versus semantic certainty; hybrid gates balance both.</a:t>
            </a:r>
          </a:p>
          <a:p/>
          <a:p>
            <a:r>
              <a:t>[AST TEXTUAL (LAB INI)]</a:t>
            </a:r>
          </a:p>
          <a:p>
            <a:r>
              <a:t>- Kecepatan: evaluasi sub-milidetik per mutan.</a:t>
            </a:r>
          </a:p>
          <a:p>
            <a:r>
              <a:t>- Ketepatan: menangkap semua perubahan sintaks, tapi bukan semantic.</a:t>
            </a:r>
          </a:p>
          <a:p>
            <a:r>
              <a:t>- Risiko: false positive jika formatter mengubah whitespace.</a:t>
            </a:r>
          </a:p>
          <a:p>
            <a:r>
              <a:t>[SUBPROCESS COMPILE (PRODUKSI)]</a:t>
            </a:r>
          </a:p>
          <a:p>
            <a:r>
              <a:t>- Kecepatan:Compilation overhead per mutant.</a:t>
            </a:r>
          </a:p>
          <a:p>
            <a:r>
              <a:t>- Ketepatan: semantic + syntax; false positive rendah.</a:t>
            </a:r>
          </a:p>
          <a:p>
            <a:r>
              <a:t>- Risiko: dependency coupling, environment lock.</a:t>
            </a:r>
          </a:p>
          <a:p>
            <a:r>
              <a:t>[REKOMENDASI HYBRID]</a:t>
            </a:r>
          </a:p>
          <a:p>
            <a:r>
              <a:t>- Lintasan cepat: textual AST filter untuk PR sehari-hari.</a:t>
            </a:r>
          </a:p>
          <a:p>
            <a:r>
              <a:t>- Lintasan berat: subprocess compile untuk modul kritikal.</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Goroutine -&gt; Validate -&gt; Write Result</a:t>
            </a:r>
          </a:p>
          <a:p/>
          <a:p>
            <a:r>
              <a:t>Mental Model: Fresh parse per mutant, indexed writes, no shared mutable state.</a:t>
            </a:r>
          </a:p>
          <a:p/>
          <a:p>
            <a:r>
              <a:t>[FLOW CONCURRENCY]</a:t>
            </a:r>
          </a:p>
          <a:p>
            <a:r>
              <a:t>- Runner.launch loop `for i, plan := range plans`.</a:t>
            </a:r>
          </a:p>
          <a:p>
            <a:r>
              <a:t>- 每 goroutine: `fset := token.NewFileSet()` + `parser.ParseFile`.</a:t>
            </a:r>
          </a:p>
          <a:p>
            <a:r>
              <a:t>- Apply mutasi, render source, jalankan `testFn`.</a:t>
            </a:r>
          </a:p>
          <a:p>
            <a:r>
              <a:t>- Tulis `results[idx]` langsung tanpa mutex.</a:t>
            </a:r>
          </a:p>
          <a:p>
            <a:r>
              <a:t>[ISOLASI STATE]</a:t>
            </a:r>
          </a:p>
          <a:p>
            <a:r>
              <a:t>- Setiap goroutine memiliki salinan AST sendiri.</a:t>
            </a:r>
          </a:p>
          <a:p>
            <a:r>
              <a:t>- Closure undo mengembalikan node sebelum keluar goroutine.</a:t>
            </a:r>
          </a:p>
          <a:p>
            <a:r>
              <a:t>- Sinkronisasi hanya pada `sync.WaitGroup`.</a:t>
            </a:r>
          </a:p>
          <a:p>
            <a:r>
              <a:t>[VERIFIKASI RACE]</a:t>
            </a:r>
          </a:p>
          <a:p>
            <a:r>
              <a:t>- `go test -race ./...` passed.</a:t>
            </a:r>
          </a:p>
          <a:p>
            <a:r>
              <a:t>- Tidak ada shared mutable node antar goroutine.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Before vs After: Weak Assertion vs Strong Assertion</a:t>
            </a:r>
          </a:p>
          <a:p/>
          <a:p>
            <a:r>
              <a:t>Mental Model: Same coverage, different assertions, dramatically different fault exposure.</a:t>
            </a:r>
          </a:p>
          <a:p/>
          <a:p>
            <a:r>
              <a:t>[BEFORE (WEAK)]</a:t>
            </a:r>
          </a:p>
          <a:p>
            <a:r>
              <a:t>- Asersi: hanya `FinalAmount &lt;= 0`, `DiscountTotal &lt; 0`, `DiscountRate &lt; 0`.</a:t>
            </a:r>
          </a:p>
          <a:p>
            <a:r>
              <a:t>- Coverage: 100% statement.</a:t>
            </a:r>
          </a:p>
          <a:p>
            <a:r>
              <a:t>- Mutation Score: 0/15 (0.00%).</a:t>
            </a:r>
          </a:p>
          <a:p>
            <a:r>
              <a:t>- Gejala: semua mutan survived karena output tetap positif.</a:t>
            </a:r>
          </a:p>
          <a:p>
            <a:r>
              <a:t>[AFTER (STRONG)]</a:t>
            </a:r>
          </a:p>
          <a:p>
            <a:r>
              <a:t>- Asersi: exact value, boundary, boolean flag, coupon condition.</a:t>
            </a:r>
          </a:p>
          <a:p>
            <a:r>
              <a:t>- Coverage: 100% statement.</a:t>
            </a:r>
          </a:p>
          <a:p>
            <a:r>
              <a:t>- Mutation Score: 15/15 (100.00%).</a:t>
            </a:r>
          </a:p>
          <a:p>
            <a:r>
              <a:t>- Gejala: setiap perubahan operator/nilai langsung terdeteksi.</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Analisis Mendalam: Mengapa Mutan Tertentu Lolos</a:t>
            </a:r>
          </a:p>
          <a:p/>
          <a:p>
            <a:r>
              <a:t>Mental Model: Survival patterns map directly to assertion blind spots.</a:t>
            </a:r>
          </a:p>
          <a:p/>
          <a:p>
            <a:r>
              <a:t>[MUTAN 1: || -&gt; &amp;&amp;]</a:t>
            </a:r>
          </a:p>
          <a:p>
            <a:r>
              <a:t>- Kode: `order.Tier == TierVIP || order.TotalAmount &gt;= 1000.0`</a:t>
            </a:r>
          </a:p>
          <a:p>
            <a:r>
              <a:t>- Mutasi: hanya VIP dengan amount &gt;= 1000 yang masuk.</a:t>
            </a:r>
          </a:p>
          <a:p>
            <a:r>
              <a:t>- Input weak test: VIP + 1200 -&gt; masih masuk, finalAmount positif.</a:t>
            </a:r>
          </a:p>
          <a:p>
            <a:r>
              <a:t>- Weak assert tidak memeriksa freeShipping boolean.</a:t>
            </a:r>
          </a:p>
          <a:p>
            <a:r>
              <a:t>[MUTAN 9: &gt; -&gt; &gt;=]</a:t>
            </a:r>
          </a:p>
          <a:p>
            <a:r>
              <a:t>- Kode: `order.ItemCount &gt; 2`</a:t>
            </a:r>
          </a:p>
          <a:p>
            <a:r>
              <a:t>- Mutasi: ItemCount == 3 tetap memenuhi, bahkan ItemCount == 2 juga.</a:t>
            </a:r>
          </a:p>
          <a:p>
            <a:r>
              <a:t>- Input weak test: ItemCount = 3 -&gt; coupon boost tetap berlaku.</a:t>
            </a:r>
          </a:p>
          <a:p>
            <a:r>
              <a:t>- Tidak ada assert untuk rate boost eksak.</a:t>
            </a:r>
          </a:p>
          <a:p>
            <a:r>
              <a:t>[MUTAN 11: * -&gt; /]</a:t>
            </a:r>
          </a:p>
          <a:p>
            <a:r>
              <a:t>- Kode: `discountAmount := order.TotalAmount * rate`</a:t>
            </a:r>
          </a:p>
          <a:p>
            <a:r>
              <a:t>- Mutasi: perhitungan menjadi pembagian.</a:t>
            </a:r>
          </a:p>
          <a:p>
            <a:r>
              <a:t>- Input weak test: TotalAmount besar -&gt; hasil bagi tetap positif.</a:t>
            </a:r>
          </a:p>
          <a:p>
            <a:r>
              <a:t>- Assert hanya memeriksa positive, bukan exact formula.</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Bukti Unit Test Engine dan Skoring</a:t>
            </a:r>
          </a:p>
          <a:p/>
          <a:p>
            <a:r>
              <a:t>Mental Model: Exact assertions are the only reliable mutant killers.</a:t>
            </a:r>
          </a:p>
          <a:p/>
          <a:p>
            <a:r>
              <a:t>[TEST ENGINE]</a:t>
            </a:r>
          </a:p>
          <a:p>
            <a:r>
              <a:t>- TestEngine_GeneratesMutants memastikan semua 4 tipe mutasi hadir.</a:t>
            </a:r>
          </a:p>
          <a:p>
            <a:r>
              <a:t>- TestEngine_MutationScoreDifference memastikan weak &lt; strong score.</a:t>
            </a:r>
          </a:p>
          <a:p>
            <a:r>
              <a:t>- TestDomainService_DirectCalculation memverifikasi calculation accuracy.</a:t>
            </a:r>
          </a:p>
          <a:p>
            <a:r>
              <a:t>[ASSERTION STRONG]</a:t>
            </a:r>
          </a:p>
          <a:p>
            <a:r>
              <a:t>- VIP customer: DiscountRate == 0.20, FreeShipping == true.</a:t>
            </a:r>
          </a:p>
          <a:p>
            <a:r>
              <a:t>- Premium 500: DiscountRate == 0.10.</a:t>
            </a:r>
          </a:p>
          <a:p>
            <a:r>
              <a:t>- Standard 100: DiscountRate == 0.05.</a:t>
            </a:r>
          </a:p>
          <a:p>
            <a:r>
              <a:t>- Coupon +3 items: rate boost 0.05 applied.</a:t>
            </a:r>
          </a:p>
          <a:p>
            <a:r>
              <a:t>[HASIL]</a:t>
            </a:r>
          </a:p>
          <a:p>
            <a:r>
              <a:t>- Semua test passing termasuk race detector.</a:t>
            </a:r>
          </a:p>
          <a:p>
            <a:r>
              <a:t>- Mutation score weak = 0%, strong = 100%.</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Breakdown Lengkap 15 Mutan dan Status Deteksi</a:t>
            </a:r>
          </a:p>
          <a:p/>
          <a:p>
            <a:r>
              <a:t>Mental Model: Uniform survival points to assertion weakness, not generator failure.</a:t>
            </a:r>
          </a:p>
          <a:p/>
          <a:p>
            <a:r>
              <a:t>[RELATIONAL (8)]</a:t>
            </a:r>
          </a:p>
          <a:p>
            <a:r>
              <a:t>- M1: || -&gt; &amp;&amp; (line 31) SURVIVED weak / KILLED strong</a:t>
            </a:r>
          </a:p>
          <a:p>
            <a:r>
              <a:t>- M2: == -&gt; != (line 31) SURVIVED weak / KILLED strong</a:t>
            </a:r>
          </a:p>
          <a:p>
            <a:r>
              <a:t>- M3: &gt;= -&gt; &gt; (line 31) SURVIVED weak / KILLED strong</a:t>
            </a:r>
          </a:p>
          <a:p>
            <a:r>
              <a:t>- M4: &amp;&amp; -&gt; || (line 33) SURVIVED weak / KILLED strong</a:t>
            </a:r>
          </a:p>
          <a:p>
            <a:r>
              <a:t>- M5: == -&gt; != (line 33) SURVIVED weak / KILLED strong</a:t>
            </a:r>
          </a:p>
          <a:p>
            <a:r>
              <a:t>- M6: &gt;= -&gt; &gt; (line 33) SURVIVED weak / KILLED strong</a:t>
            </a:r>
          </a:p>
          <a:p>
            <a:r>
              <a:t>- M7: &gt;= -&gt; &gt; (line 35) SURVIVED weak / KILLED strong</a:t>
            </a:r>
          </a:p>
          <a:p>
            <a:r>
              <a:t>- M8: == -&gt; != (line 48) SURVIVED weak / KILLED strong</a:t>
            </a:r>
          </a:p>
          <a:p>
            <a:r>
              <a:t>[BOOLEAN (4)]</a:t>
            </a:r>
          </a:p>
          <a:p>
            <a:r>
              <a:t>- M9: &gt;= -&gt; &gt; (line 40) SURVIVED weak / KILLED strong</a:t>
            </a:r>
          </a:p>
          <a:p>
            <a:r>
              <a:t>- M10: &amp;&amp; -&gt; || (line 40) SURVIVED weak / KILLED strong</a:t>
            </a:r>
          </a:p>
          <a:p>
            <a:r>
              <a:t>- M11: * -&gt; / (line 44) SURVIVED weak / KILLED strong</a:t>
            </a:r>
          </a:p>
          <a:p>
            <a:r>
              <a:t>- M12: - -&gt; + (line 45) SURVIVED weak / KILLED strong</a:t>
            </a:r>
          </a:p>
          <a:p>
            <a:r>
              <a:t>[ARITHMETIC &amp; BOUNDARY (3)]</a:t>
            </a:r>
          </a:p>
          <a:p>
            <a:r>
              <a:t>- M13: || -&gt; &amp;&amp; (line 48) SURVIVED weak / KILLED strong</a:t>
            </a:r>
          </a:p>
          <a:p>
            <a:r>
              <a:t>- M14: == -&gt; != (line 48) SURVIVED weak / KILLED strong</a:t>
            </a:r>
          </a:p>
          <a:p>
            <a:r>
              <a:t>- M15: &gt;= -&gt; &gt; (line 48) SURVIVED weak / KILLED strong</a:t>
            </a:r>
          </a:p>
          <a:p>
            <a:r>
              <a:t>- Catatan: 1 boundary shift (2 -&gt; 3) termasuk M9/M10 area</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Pertimbangan Performa dan Skalabilitas</a:t>
            </a:r>
          </a:p>
          <a:p/>
          <a:p>
            <a:r>
              <a:t>Mental Model: Scale via differential focus and incremental targets, not full sweeps.</a:t>
            </a:r>
          </a:p>
          <a:p/>
          <a:p>
            <a:r>
              <a:t>[BIAYA KOMPUTASI]</a:t>
            </a:r>
          </a:p>
          <a:p>
            <a:r>
              <a:t>- 15 mutant x parse+render+test per mutant.</a:t>
            </a:r>
          </a:p>
          <a:p>
            <a:r>
              <a:t>- Isolasi AST menambah overhead parse berulang.</a:t>
            </a:r>
          </a:p>
          <a:p>
            <a:r>
              <a:t>- Runtime tetap sub-detik untuk modul berukuran kecil.</a:t>
            </a:r>
          </a:p>
          <a:p>
            <a:r>
              <a:t>[STRATEGI SKALA]</a:t>
            </a:r>
          </a:p>
          <a:p>
            <a:r>
              <a:t>- Differential mutation: hanya mutasi file yang berubah di PR.</a:t>
            </a:r>
          </a:p>
          <a:p>
            <a:r>
              <a:t>- Incremental scoring: target skor minimum per modul.</a:t>
            </a:r>
          </a:p>
          <a:p>
            <a:r>
              <a:t>- Parallel goroutine mengurangi wall-clock time secara linear.</a:t>
            </a:r>
          </a:p>
          <a:p>
            <a:r>
              <a:t>[BATASAN PRODUKSI]</a:t>
            </a:r>
          </a:p>
          <a:p>
            <a:r>
              <a:t>- Full mutation testing mahal untuk codebase raksasa.</a:t>
            </a:r>
          </a:p>
          <a:p>
            <a:r>
              <a:t>- Pertimbangkan focus pada domain core dan jalur kritikal.</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Validasi Race-Clean dan Integritas AST</a:t>
            </a:r>
          </a:p>
          <a:p/>
          <a:p>
            <a:r>
              <a:t>Mental Model: Isolated parses plus indexed writes equal race-free mutation execution.</a:t>
            </a:r>
          </a:p>
          <a:p/>
          <a:p>
            <a:r>
              <a:t>[TEST RACE]</a:t>
            </a:r>
          </a:p>
          <a:p>
            <a:r>
              <a:t>- Perintah: `go test -race ./...`</a:t>
            </a:r>
          </a:p>
          <a:p>
            <a:r>
              <a:t>- Status: ALL PASSED.</a:t>
            </a:r>
          </a:p>
          <a:p>
            <a:r>
              <a:t>- Tidak ada report data race pada stdout/stderr.</a:t>
            </a:r>
          </a:p>
          <a:p>
            <a:r>
              <a:t>[MEKANISME KEAMANAN]</a:t>
            </a:r>
          </a:p>
          <a:p>
            <a:r>
              <a:t>- Setiap goroutine membuat `token.NewFileSet()` baru.</a:t>
            </a:r>
          </a:p>
          <a:p>
            <a:r>
              <a:t>- Mutable node hanya diakses dalam goroutine yang sama.</a:t>
            </a:r>
          </a:p>
          <a:p>
            <a:r>
              <a:t>- Closure undo mengembalikan state sebelum goroutine selesai.</a:t>
            </a:r>
          </a:p>
          <a:p>
            <a:r>
              <a:t>[INDIKATOR KESELAMATAN]</a:t>
            </a:r>
          </a:p>
          <a:p>
            <a:r>
              <a:t>- Penulisan `results[idx]` aman karena indeks unik per goroutine.</a:t>
            </a:r>
          </a:p>
          <a:p>
            <a:r>
              <a:t>- Tidak ada shared pointer atau global mutable state.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Checklist Implementasi Mutation Testing</a:t>
            </a:r>
          </a:p>
          <a:p/>
          <a:p>
            <a:r>
              <a:t>Mental Model: Structured rollout prevents mutation testing fatigue.</a:t>
            </a:r>
          </a:p>
          <a:p/>
          <a:p>
            <a:r>
              <a:t>[PERSIAPAN]</a:t>
            </a:r>
          </a:p>
          <a:p>
            <a:r>
              <a:t>- [ ] Identifikasi modul domain kritikal.</a:t>
            </a:r>
          </a:p>
          <a:p>
            <a:r>
              <a:t>- [ ] Pastikan test suite dapat dieksekusi sebagai `TestFunc`.</a:t>
            </a:r>
          </a:p>
          <a:p>
            <a:r>
              <a:t>- [ ] Siapkan AST mutator dengan operator relasional, boolean, aritmetika, boundary.</a:t>
            </a:r>
          </a:p>
          <a:p>
            <a:r>
              <a:t>[EKSEKUSI]</a:t>
            </a:r>
          </a:p>
          <a:p>
            <a:r>
              <a:t>- [ ] Jalankan mutation scan pada file target.</a:t>
            </a:r>
          </a:p>
          <a:p>
            <a:r>
              <a:t>- [ ] Evaluasi weak suite sebagai baseline.</a:t>
            </a:r>
          </a:p>
          <a:p>
            <a:r>
              <a:t>- [ ] Evaluasi strong suite dengan asersi eksak.</a:t>
            </a:r>
          </a:p>
          <a:p>
            <a:r>
              <a:t>[VISUALISASI &amp; REVIEW]</a:t>
            </a:r>
          </a:p>
          <a:p>
            <a:r>
              <a:t>- [ ] Generate laporan breakdown per mutant.</a:t>
            </a:r>
          </a:p>
          <a:p>
            <a:r>
              <a:t>- [ ] Review survived mutants bersama tim.</a:t>
            </a:r>
          </a:p>
          <a:p>
            <a:r>
              <a:t>- [ ] Tambah asersi yang menutupi pola survival.</a:t>
            </a:r>
          </a:p>
          <a:p>
            <a:r>
              <a:t>[INTEGRASI CI/CD]</a:t>
            </a:r>
          </a:p>
          <a:p>
            <a:r>
              <a:t>- [ ] Gunakan differential scanning pada PR.</a:t>
            </a:r>
          </a:p>
          <a:p>
            <a:r>
              <a:t>- [ ] Tetapkan gate minimum mutation score per modul.</a:t>
            </a:r>
          </a:p>
          <a:p>
            <a:r>
              <a:t>- [ ] Monitor tren skor seiring waktu.</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Anti-Pattern yang Menciptakan Survived Mutants</a:t>
            </a:r>
          </a:p>
          <a:p/>
          <a:p>
            <a:r>
              <a:t>Mental Model: Positivity assertions and happy-path inputs are mutant shelters.</a:t>
            </a:r>
          </a:p>
          <a:p/>
          <a:p>
            <a:r>
              <a:t>[ASSERTION POSITIVITAS SAJA]</a:t>
            </a:r>
          </a:p>
          <a:p>
            <a:r>
              <a:t>- Pola: `assert result &gt; 0` atau `assert !error`.</a:t>
            </a:r>
          </a:p>
          <a:p>
            <a:r>
              <a:t>- Dampak: semua mutasi arithmetic dan relasional tetap lolos.</a:t>
            </a:r>
          </a:p>
          <a:p>
            <a:r>
              <a:t>- Reproduksi: ubah `&gt;=` jadi `&gt;` pada threshold; test tetap hijau.</a:t>
            </a:r>
          </a:p>
          <a:p>
            <a:r>
              <a:t>[INPUT HANYA HAPPY PATH]</a:t>
            </a:r>
          </a:p>
          <a:p>
            <a:r>
              <a:t>- Pola: menggunakan input jauh dari boundary.</a:t>
            </a:r>
          </a:p>
          <a:p>
            <a:r>
              <a:t>- Dampak: boundary shift mutant tidak terdeteksi.</a:t>
            </a:r>
          </a:p>
          <a:p>
            <a:r>
              <a:t>- Reproduksi: shift integer 2 ke 3 dengan ItemCount = 5.</a:t>
            </a:r>
          </a:p>
          <a:p>
            <a:r>
              <a:t>[TIDAK MENGGUNAKAN EXACT VALUE]</a:t>
            </a:r>
          </a:p>
          <a:p>
            <a:r>
              <a:t>- Pola: menghindari `assert.Equal(expected, got)`.</a:t>
            </a:r>
          </a:p>
          <a:p>
            <a:r>
              <a:t>- Dampak: arithmetic mutation tidak mengubah outcome assert.</a:t>
            </a:r>
          </a:p>
          <a:p>
            <a:r>
              <a:t>- Reproduksi: ganti `*` dengan `/` pada amount besar; hasil tetap 'positive'.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Takeaway Praktis dan Command Block</a:t>
            </a:r>
          </a:p>
          <a:p/>
          <a:p>
            <a:r>
              <a:t>Mental Model: Exact assertions and boundary tests convert coverage into verification.</a:t>
            </a:r>
          </a:p>
          <a:p/>
          <a:p>
            <a:r>
              <a:t>[COMMAND BASE]</a:t>
            </a:r>
          </a:p>
          <a:p>
            <a:r>
              <a:t>- go test -v ./...</a:t>
            </a:r>
          </a:p>
          <a:p>
            <a:r>
              <a:t>- go test -race -v ./...</a:t>
            </a:r>
          </a:p>
          <a:p>
            <a:r>
              <a:t>- go run ./cmd/demo</a:t>
            </a:r>
          </a:p>
          <a:p>
            <a:r>
              <a:t>[ACTIONABLE STEPS]</a:t>
            </a:r>
          </a:p>
          <a:p>
            <a:r>
              <a:t>- Ganti assertion signe-based dengan exact value/boolean check.</a:t>
            </a:r>
          </a:p>
          <a:p>
            <a:r>
              <a:t>- Tambahkan test case di setiap threshold boundary.</a:t>
            </a:r>
          </a:p>
          <a:p>
            <a:r>
              <a:t>- Jalankan mutation scan diferensial sebelum merge PR.</a:t>
            </a:r>
          </a:p>
          <a:p>
            <a:r>
              <a:t>[MINDSET SHIFT]</a:t>
            </a:r>
          </a:p>
          <a:p>
            <a:r>
              <a:t>- Coverage hijau bukan jaminan bebas bug.</a:t>
            </a:r>
          </a:p>
          <a:p>
            <a:r>
              <a:t>- Mutation score adalah proksi kedalaman asersi.</a:t>
            </a:r>
          </a:p>
          <a:p>
            <a:r>
              <a:t>- Setiap survived mutant adalah bug potensial yang menunggu.</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Prinsip Arsitektural Jangka Panjang</a:t>
            </a:r>
          </a:p>
          <a:p/>
          <a:p>
            <a:r>
              <a:t>Mental Model: Complementary metrics, incremental gates, cultural review loops.</a:t>
            </a:r>
          </a:p>
          <a:p/>
          <a:p>
            <a:r>
              <a:t>[DISIPLIN VERIFIKASI]</a:t>
            </a:r>
          </a:p>
          <a:p>
            <a:r>
              <a:t>- Coverage menjawab 'berapa banyak kode dieksekusi'.</a:t>
            </a:r>
          </a:p>
          <a:p>
            <a:r>
              <a:t>- Mutation scoring menjawab 'seberapa dalam kode diverifikasi'.</a:t>
            </a:r>
          </a:p>
          <a:p>
            <a:r>
              <a:t>- Keduanya komplementer, bukan substitusi.</a:t>
            </a:r>
          </a:p>
          <a:p>
            <a:r>
              <a:t>[INCREMENTAL QUALITY GATE]</a:t>
            </a:r>
          </a:p>
          <a:p>
            <a:r>
              <a:t>- Tetapkan target skor minimum per modul seiring waktu.</a:t>
            </a:r>
          </a:p>
          <a:p>
            <a:r>
              <a:t>- Fokus pada modul yang mengalami perubahan di setiap PR.</a:t>
            </a:r>
          </a:p>
          <a:p>
            <a:r>
              <a:t>- Hindari perfektisisme global; ukur kemajuan sektoral.</a:t>
            </a:r>
          </a:p>
          <a:p>
            <a:r>
              <a:t>[CULTURE IMPROVEMENT]</a:t>
            </a:r>
          </a:p>
          <a:p>
            <a:r>
              <a:t>- Review survived mutant sebagai sesi pembelajaran tim.</a:t>
            </a:r>
          </a:p>
          <a:p>
            <a:r>
              <a:t>- Document pola asersi kuat sebagai reference.</a:t>
            </a:r>
          </a:p>
          <a:p>
            <a:r>
              <a:t>- Update checklist anti-pattern secara berkala.</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Mutation Testing: dari Ilusi Coverage menuju Verifikasi Nyata</a:t>
            </a:r>
          </a:p>
          <a:p/>
          <a:p>
            <a:r>
              <a:t>Mental Model: Verify execution depth, not just execution breadth.</a:t>
            </a:r>
          </a:p>
          <a:p/>
          <a:p>
            <a:r>
              <a:t>[MODUL LAB]</a:t>
            </a:r>
          </a:p>
          <a:p>
            <a:r>
              <a:t>- internal/engine/mutator.go • internal/engine/runner.go</a:t>
            </a:r>
          </a:p>
          <a:p>
            <a:r>
              <a:t>- internal/service/discount.go • discount_weak_test.go • discount_strong_test.go</a:t>
            </a:r>
          </a:p>
          <a:p>
            <a:r>
              <a:t>- tests/engine_test.go • cmd/demo/main.go</a:t>
            </a:r>
          </a:p>
          <a:p>
            <a:r>
              <a:t>[VERIFIKASI &amp; STATUS]</a:t>
            </a:r>
          </a:p>
          <a:p>
            <a:r>
              <a:t>- Sumber: commit 01b1331d</a:t>
            </a:r>
          </a:p>
          <a:p>
            <a:r>
              <a:t>- Test passing dan race-clean.</a:t>
            </a:r>
          </a:p>
          <a:p>
            <a:r>
              <a:t>- Mutation score kontras: 0.00% vs 100.00%.</a:t>
            </a:r>
          </a:p>
          <a:p>
            <a:r>
              <a:t>[TAKEAWAYS KUNCI]</a:t>
            </a:r>
          </a:p>
          <a:p>
            <a:r>
              <a:t>- Coverage ≠ quality; assertion depth决定 fault detection.</a:t>
            </a:r>
          </a:p>
          <a:p>
            <a:r>
              <a:t>- Weak positivity assertions shelter every syntactic fault.</a:t>
            </a:r>
          </a:p>
          <a:p>
            <a:r>
              <a:t>- Exact boundary and boolean checks kill mutants reliably.</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548640"/>
          </a:xfrm>
          <a:prstGeom prst="rect">
            <a:avLst/>
          </a:prstGeom>
          <a:noFill/>
        </p:spPr>
        <p:txBody>
          <a:bodyPr wrap="square">
            <a:spAutoFit/>
          </a:bodyPr>
          <a:lstStyle/>
          <a:p>
            <a:pPr>
              <a:defRPr sz="1600" b="1">
                <a:solidFill>
                  <a:srgbClr val="087F76"/>
                </a:solidFill>
              </a:defRPr>
            </a:pPr>
            <a:r>
              <a:t>SOFTWARE ENGINEERING LAB | LAB 38</a:t>
            </a:r>
          </a:p>
        </p:txBody>
      </p:sp>
      <p:sp>
        <p:nvSpPr>
          <p:cNvPr id="4" name="TextBox 3"/>
          <p:cNvSpPr txBox="1"/>
          <p:nvPr/>
        </p:nvSpPr>
        <p:spPr>
          <a:xfrm>
            <a:off x="914400" y="1645920"/>
            <a:ext cx="10362895" cy="1463040"/>
          </a:xfrm>
          <a:prstGeom prst="rect">
            <a:avLst/>
          </a:prstGeom>
          <a:noFill/>
        </p:spPr>
        <p:txBody>
          <a:bodyPr wrap="square">
            <a:spAutoFit/>
          </a:bodyPr>
          <a:lstStyle/>
          <a:p>
            <a:pPr>
              <a:defRPr sz="4400" b="1">
                <a:solidFill>
                  <a:srgbClr val="FFFFFF"/>
                </a:solidFill>
              </a:defRPr>
            </a:pPr>
            <a:r>
              <a:t>Mutation Testing</a:t>
            </a:r>
          </a:p>
        </p:txBody>
      </p:sp>
      <p:sp>
        <p:nvSpPr>
          <p:cNvPr id="5" name="TextBox 4"/>
          <p:cNvSpPr txBox="1"/>
          <p:nvPr/>
        </p:nvSpPr>
        <p:spPr>
          <a:xfrm>
            <a:off x="914400" y="3291840"/>
            <a:ext cx="10362895" cy="914400"/>
          </a:xfrm>
          <a:prstGeom prst="rect">
            <a:avLst/>
          </a:prstGeom>
          <a:noFill/>
        </p:spPr>
        <p:txBody>
          <a:bodyPr wrap="square">
            <a:spAutoFit/>
          </a:bodyPr>
          <a:lstStyle/>
          <a:p>
            <a:pPr>
              <a:defRPr sz="2200">
                <a:solidFill>
                  <a:srgbClr val="F4F1E8"/>
                </a:solidFill>
              </a:defRPr>
            </a:pPr>
            <a:r>
              <a:t>Mengungkap Ilusi Keamanan 100% Code Coverage dengan Fault Injection Berbasis AST</a:t>
            </a:r>
          </a:p>
        </p:txBody>
      </p:sp>
      <p:sp>
        <p:nvSpPr>
          <p:cNvPr id="6" name="TextBox 5"/>
          <p:cNvSpPr txBox="1"/>
          <p:nvPr/>
        </p:nvSpPr>
        <p:spPr>
          <a:xfrm>
            <a:off x="914400" y="5303520"/>
            <a:ext cx="5486400" cy="548640"/>
          </a:xfrm>
          <a:prstGeom prst="rect">
            <a:avLst/>
          </a:prstGeom>
          <a:noFill/>
        </p:spPr>
        <p:txBody>
          <a:bodyPr wrap="none">
            <a:spAutoFit/>
          </a:bodyPr>
          <a:lstStyle/>
          <a:p>
            <a:pPr>
              <a:defRPr sz="1800" b="1">
                <a:solidFill>
                  <a:srgbClr val="D97706"/>
                </a:solidFill>
              </a:defRPr>
            </a:pPr>
            <a:r>
              <a:t>Lukman / lukman-ss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Ilusi Keamanan Code Coverage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Cakupan baris mengukur eksekusi, bukan verifikasi kebenaran logika.</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METRIK TRADISIONAL</a:t>
            </a:r>
          </a:p>
          <a:p>
            <a:pPr>
              <a:spcAft>
                <a:spcPts val="400"/>
              </a:spcAft>
              <a:defRPr sz="1200">
                <a:solidFill>
                  <a:srgbClr val="0B1B2D"/>
                </a:solidFill>
              </a:defRPr>
            </a:pPr>
            <a:r>
              <a:t>• 100% line coverage artinya setiap baris dieksekusi minimal sekali.</a:t>
            </a:r>
          </a:p>
          <a:p>
            <a:pPr>
              <a:spcAft>
                <a:spcPts val="400"/>
              </a:spcAft>
              <a:defRPr sz="1200">
                <a:solidFill>
                  <a:srgbClr val="0B1B2D"/>
                </a:solidFill>
              </a:defRPr>
            </a:pPr>
            <a:r>
              <a:t>• Tidak ada asersi substantif: test hanya memastikan fungsi berjalan tanpa error.</a:t>
            </a:r>
          </a:p>
          <a:p>
            <a:pPr>
              <a:spcAft>
                <a:spcPts val="400"/>
              </a:spcAft>
              <a:defRPr sz="1200">
                <a:solidFill>
                  <a:srgbClr val="0B1B2D"/>
                </a:solidFill>
              </a:defRPr>
            </a:pPr>
            <a:r>
              <a:t>• Contoh: assert result &gt; 0 pada kalkulasi diskon yang seharusnya == expected.</a:t>
            </a:r>
          </a:p>
          <a:p>
            <a:pPr>
              <a:defRPr sz="1200" b="1">
                <a:solidFill>
                  <a:srgbClr val="087F76"/>
                </a:solidFill>
              </a:defRPr>
            </a:pPr>
            <a:r>
              <a:t>DAMPAK PRODUKSI</a:t>
            </a:r>
          </a:p>
          <a:p>
            <a:pPr>
              <a:spcAft>
                <a:spcPts val="400"/>
              </a:spcAft>
              <a:defRPr sz="1200">
                <a:solidFill>
                  <a:srgbClr val="0B1B2D"/>
                </a:solidFill>
              </a:defRPr>
            </a:pPr>
            <a:r>
              <a:t>• Operator relasional salah: &gt;= berubah menjadi &gt; pada threshold diskon.</a:t>
            </a:r>
          </a:p>
          <a:p>
            <a:pPr>
              <a:spcAft>
                <a:spcPts val="400"/>
              </a:spcAft>
              <a:defRPr sz="1200">
                <a:solidFill>
                  <a:srgbClr val="0B1B2D"/>
                </a:solidFill>
              </a:defRPr>
            </a:pPr>
            <a:r>
              <a:t>• Logika boolean terbalik: || menjadi &amp;&amp; mengubah kualifikasi free shipping.</a:t>
            </a:r>
          </a:p>
          <a:p>
            <a:pPr>
              <a:spcAft>
                <a:spcPts val="400"/>
              </a:spcAft>
              <a:defRPr sz="1200">
                <a:solidFill>
                  <a:srgbClr val="0B1B2D"/>
                </a:solidFill>
              </a:defRPr>
            </a:pPr>
            <a:r>
              <a:t>• Bug logika lolos ke production karena test suite hijau penuh.</a:t>
            </a:r>
          </a:p>
          <a:p>
            <a:pPr>
              <a:defRPr sz="1200" b="1">
                <a:solidFill>
                  <a:srgbClr val="087F76"/>
                </a:solidFill>
              </a:defRPr>
            </a:pPr>
            <a:r>
              <a:t>DATA LAB 38</a:t>
            </a:r>
          </a:p>
          <a:p>
            <a:pPr>
              <a:spcAft>
                <a:spcPts val="400"/>
              </a:spcAft>
              <a:defRPr sz="1200">
                <a:solidFill>
                  <a:srgbClr val="0B1B2D"/>
                </a:solidFill>
              </a:defRPr>
            </a:pPr>
            <a:r>
              <a:t>• discount_weak_test.go mencapai 100% statement coverage pada discount.go.</a:t>
            </a:r>
          </a:p>
          <a:p>
            <a:pPr>
              <a:spcAft>
                <a:spcPts val="400"/>
              </a:spcAft>
              <a:defRPr sz="1200">
                <a:solidFill>
                  <a:srgbClr val="0B1B2D"/>
                </a:solidFill>
              </a:defRPr>
            </a:pPr>
            <a:r>
              <a:t>• Namun mutation score-nya 0.00%: 0 dari 15 mutant terdeteksi.</a:t>
            </a:r>
          </a:p>
          <a:p>
            <a:pPr>
              <a:spcAft>
                <a:spcPts val="400"/>
              </a:spcAft>
              <a:defRPr sz="1200">
                <a:solidFill>
                  <a:srgbClr val="0B1B2D"/>
                </a:solidFill>
              </a:defRPr>
            </a:pPr>
            <a:r>
              <a:t>• Test suite lemah menutupi seluruh baris tanpa menangkap fault injection.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Code coverage tradisional sering disalahartikan sebagai tolok ukur kualitas pengujian. Metrik ini hanya menjawab pertanyaan apakah sebuah pernyataan dalam sumber pernah dieksekusi selama suite tes berjalan. Pernyataan tersebut bisa saja dieksekusi berkali-kali tanpa pernah memiliki asersi yang memverifikasi nilai keluaran, batasan logika, atau branch kondisional. Akibatnya, tim dapat merasa aman melihat CI berwarna hijau dengan cakupan 100%, padahal tidak ada pengujian yang sanggup mendeteksi kesalahan operator maupun pergeseran nilai batas.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Coverage measures execution, not verification. Zero killed mutants reveals the gap.</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labs/38-mutation-testing/internal/service/discount_weak_test.go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Mengapa Review Manual dan Assertion Naif Gagal</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Inspeksi mata hanya menjangkau jalur yang dipikirkan developer.</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BIAS KONFIRMASI</a:t>
            </a:r>
          </a:p>
          <a:p>
            <a:pPr>
              <a:spcAft>
                <a:spcPts val="400"/>
              </a:spcAft>
              <a:defRPr sz="1200">
                <a:solidFill>
                  <a:srgbClr val="0B1B2D"/>
                </a:solidFill>
              </a:defRPr>
            </a:pPr>
            <a:r>
              <a:t>• Developer cenderung menulis contoh input yang mendukung implementasi.</a:t>
            </a:r>
          </a:p>
          <a:p>
            <a:pPr>
              <a:spcAft>
                <a:spcPts val="400"/>
              </a:spcAft>
              <a:defRPr sz="1200">
                <a:solidFill>
                  <a:srgbClr val="0B1B2D"/>
                </a:solidFill>
              </a:defRPr>
            </a:pPr>
            <a:r>
              <a:t>• Edge case acak seperti float precision, batas negatif, atau nol sering terlupa.</a:t>
            </a:r>
          </a:p>
          <a:p>
            <a:pPr>
              <a:defRPr sz="1200" b="1">
                <a:solidFill>
                  <a:srgbClr val="087F76"/>
                </a:solidFill>
              </a:defRPr>
            </a:pPr>
            <a:r>
              <a:t>KEKURANGAN ASSERTION</a:t>
            </a:r>
          </a:p>
          <a:p>
            <a:pPr>
              <a:spcAft>
                <a:spcPts val="400"/>
              </a:spcAft>
              <a:defRPr sz="1200">
                <a:solidFill>
                  <a:srgbClr val="0B1B2D"/>
                </a:solidFill>
              </a:defRPr>
            </a:pPr>
            <a:r>
              <a:t>• Assert boolean `freeShipping` rarely checked.</a:t>
            </a:r>
          </a:p>
          <a:p>
            <a:pPr>
              <a:spcAft>
                <a:spcPts val="400"/>
              </a:spcAft>
              <a:defRPr sz="1200">
                <a:solidFill>
                  <a:srgbClr val="0B1B2D"/>
                </a:solidFill>
              </a:defRPr>
            </a:pPr>
            <a:r>
              <a:t>• Assert exact discount rate missing; only positivity validated.</a:t>
            </a:r>
          </a:p>
          <a:p>
            <a:pPr>
              <a:defRPr sz="1200" b="1">
                <a:solidFill>
                  <a:srgbClr val="087F76"/>
                </a:solidFill>
              </a:defRPr>
            </a:pPr>
            <a:r>
              <a:t>SKALA LOGIKA</a:t>
            </a:r>
          </a:p>
          <a:p>
            <a:pPr>
              <a:spcAft>
                <a:spcPts val="400"/>
              </a:spcAft>
              <a:defRPr sz="1200">
                <a:solidFill>
                  <a:srgbClr val="0B1B2D"/>
                </a:solidFill>
              </a:defRPr>
            </a:pPr>
            <a:r>
              <a:t>• Satu fungsi `CalculateDiscount` mengandung 8 operator relasional dan 4 boolean.</a:t>
            </a:r>
          </a:p>
          <a:p>
            <a:pPr>
              <a:spcAft>
                <a:spcPts val="400"/>
              </a:spcAft>
              <a:defRPr sz="1200">
                <a:solidFill>
                  <a:srgbClr val="0B1B2D"/>
                </a:solidFill>
              </a:defRPr>
            </a:pPr>
            <a:r>
              <a:t>• Kombinasi threshold 1000, 500, 100, 200 serta ItemCount &gt; 2 menciptakan lintasan kompleks.</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Pemeriksaan manual atau penulisan assertion seadanya tidak cukup karena batas kognitif engineer. Manusia memikirkan skenario paling umum; kondisi pinggir jarang terdeteksi tanpa eksplorasi sistematis. Pada modul diskon ini, logika bercabang meliputi tier VIP, premium, dan standard dengan ambang jumlah item serta kupon. Tanpa generator fault injection, kombinasi operator yang mungkin meleset tetap tersisa sebagai blind spot yang hanya terbongkar saat mutan berhasil bertahan.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Human testing samples expectations; mutation testing probes violations.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labs/38-mutation-testing/internal/service/discount.go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Mutation Testing vs Code Coverage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Coverage memeriksa apa yang dieksekusi; mutation memeriksa apa yang diverifikasi.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ANALOGI ROTI DAN SELAI</a:t>
            </a:r>
          </a:p>
          <a:p>
            <a:pPr>
              <a:spcAft>
                <a:spcPts val="400"/>
              </a:spcAft>
              <a:defRPr sz="1200">
                <a:solidFill>
                  <a:srgbClr val="0B1B2D"/>
                </a:solidFill>
              </a:defRPr>
            </a:pPr>
            <a:r>
              <a:t>• Coverage melaporkan berapa persen roti terlapisi selai.</a:t>
            </a:r>
          </a:p>
          <a:p>
            <a:pPr>
              <a:spcAft>
                <a:spcPts val="400"/>
              </a:spcAft>
              <a:defRPr sz="1200">
                <a:solidFill>
                  <a:srgbClr val="0B1B2D"/>
                </a:solidFill>
              </a:defRPr>
            </a:pPr>
            <a:r>
              <a:t>• Mutation memeriksa apakah selai itu benar cokelat atau zat lain.</a:t>
            </a:r>
          </a:p>
          <a:p>
            <a:pPr>
              <a:spcAft>
                <a:spcPts val="400"/>
              </a:spcAft>
              <a:defRPr sz="1200">
                <a:solidFill>
                  <a:srgbClr val="0B1B2D"/>
                </a:solidFill>
              </a:defRPr>
            </a:pPr>
            <a:r>
              <a:t>• Roti tertutup penuh bisa jadi selainya salah total.</a:t>
            </a:r>
          </a:p>
          <a:p>
            <a:pPr>
              <a:defRPr sz="1200" b="1">
                <a:solidFill>
                  <a:srgbClr val="087F76"/>
                </a:solidFill>
              </a:defRPr>
            </a:pPr>
            <a:r>
              <a:t>RUMUS SKOR</a:t>
            </a:r>
          </a:p>
          <a:p>
            <a:pPr>
              <a:spcAft>
                <a:spcPts val="400"/>
              </a:spcAft>
              <a:defRPr sz="1200">
                <a:solidFill>
                  <a:srgbClr val="0B1B2D"/>
                </a:solidFill>
              </a:defRPr>
            </a:pPr>
            <a:r>
              <a:t>• Mutation Score = (Killed / Total) × 100%</a:t>
            </a:r>
          </a:p>
          <a:p>
            <a:pPr>
              <a:spcAft>
                <a:spcPts val="400"/>
              </a:spcAft>
              <a:defRPr sz="1200">
                <a:solidFill>
                  <a:srgbClr val="0B1B2D"/>
                </a:solidFill>
              </a:defRPr>
            </a:pPr>
            <a:r>
              <a:t>• Killed = mutant terdeteksi oleh test suite yang gagal.</a:t>
            </a:r>
          </a:p>
          <a:p>
            <a:pPr>
              <a:spcAft>
                <a:spcPts val="400"/>
              </a:spcAft>
              <a:defRPr sz="1200">
                <a:solidFill>
                  <a:srgbClr val="0B1B2D"/>
                </a:solidFill>
              </a:defRPr>
            </a:pPr>
            <a:r>
              <a:t>• Survived = mutant lolos karena assertion lemah atau input tidak relevan.</a:t>
            </a:r>
          </a:p>
          <a:p>
            <a:pPr>
              <a:defRPr sz="1200" b="1">
                <a:solidFill>
                  <a:srgbClr val="087F76"/>
                </a:solidFill>
              </a:defRPr>
            </a:pPr>
            <a:r>
              <a:t>HIPIOTESIS FUNDAMENTAL</a:t>
            </a:r>
          </a:p>
          <a:p>
            <a:pPr>
              <a:spcAft>
                <a:spcPts val="400"/>
              </a:spcAft>
              <a:defRPr sz="1200">
                <a:solidFill>
                  <a:srgbClr val="0B1B2D"/>
                </a:solidFill>
              </a:defRPr>
            </a:pPr>
            <a:r>
              <a:t>• Competent Programmer Hypothesis: bug biasanya operator/tanda kecil.</a:t>
            </a:r>
          </a:p>
          <a:p>
            <a:pPr>
              <a:spcAft>
                <a:spcPts val="400"/>
              </a:spcAft>
              <a:defRPr sz="1200">
                <a:solidFill>
                  <a:srgbClr val="0B1B2D"/>
                </a:solidFill>
              </a:defRPr>
            </a:pPr>
            <a:r>
              <a:t>• Coupling Effect: fault sederhana bertingkat menjadi kegagalan kompleks.</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Model mental mutation testing memisahkan konsep eksekusi dari verifikasi. Code coverageibarat laporan roti yang diolesi selai: yang diukur hanya luas permukaan yang tertutup. Mutation testing menambahkan lapisan skeptisisme dengan menanyakan kandungan selai itu. Jika logika bisnis diubah sedikit—misalnya tanda pembanding atau operator aritmetika—dan test suite masih lolos, maka selai tersebut bukan yang seharusnya. Skor mutasi memberi angka objektif atas kedalaman asersi.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Execute everything, verify nothing is equal to passing everything.</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Pipeline Mesin Mutation Testing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Source -&gt; AST Parse -&gt; Mutant Plans -&gt; Isolated Execution -&gt; Score.</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LANGKAH PIPELINE</a:t>
            </a:r>
          </a:p>
          <a:p>
            <a:pPr>
              <a:spcAft>
                <a:spcPts val="400"/>
              </a:spcAft>
              <a:defRPr sz="1200">
                <a:solidFill>
                  <a:srgbClr val="0B1B2D"/>
                </a:solidFill>
              </a:defRPr>
            </a:pPr>
            <a:r>
              <a:t>• Read discount.go -&gt; parser.ParseFile dengan go/ast.</a:t>
            </a:r>
          </a:p>
          <a:p>
            <a:pPr>
              <a:spcAft>
                <a:spcPts val="400"/>
              </a:spcAft>
              <a:defRPr sz="1200">
                <a:solidFill>
                  <a:srgbClr val="0B1B2D"/>
                </a:solidFill>
              </a:defRPr>
            </a:pPr>
            <a:r>
              <a:t>• ast.Inspect collect BinaryExpr dan BasicLit nodes.</a:t>
            </a:r>
          </a:p>
          <a:p>
            <a:pPr>
              <a:spcAft>
                <a:spcPts val="400"/>
              </a:spcAft>
              <a:defRPr sz="1200">
                <a:solidFill>
                  <a:srgbClr val="0B1B2D"/>
                </a:solidFill>
              </a:defRPr>
            </a:pPr>
            <a:r>
              <a:t>• Build MutationPlan dengan Apply closure dan undo revert.</a:t>
            </a:r>
          </a:p>
          <a:p>
            <a:pPr>
              <a:defRPr sz="1200" b="1">
                <a:solidFill>
                  <a:srgbClr val="087F76"/>
                </a:solidFill>
              </a:defRPr>
            </a:pPr>
            <a:r>
              <a:t>EKSEKUSI PARALEL</a:t>
            </a:r>
          </a:p>
          <a:p>
            <a:pPr>
              <a:spcAft>
                <a:spcPts val="400"/>
              </a:spcAft>
              <a:defRPr sz="1200">
                <a:solidFill>
                  <a:srgbClr val="0B1B2D"/>
                </a:solidFill>
              </a:defRPr>
            </a:pPr>
            <a:r>
              <a:t>• Runner.Run meluncurkan goroutine per rencana mutasi.</a:t>
            </a:r>
          </a:p>
          <a:p>
            <a:pPr>
              <a:spcAft>
                <a:spcPts val="400"/>
              </a:spcAft>
              <a:defRPr sz="1200">
                <a:solidFill>
                  <a:srgbClr val="0B1B2D"/>
                </a:solidFill>
              </a:defRPr>
            </a:pPr>
            <a:r>
              <a:t>• Tiap goroutine membuat fresh token.FileSet untuk isolasi total.</a:t>
            </a:r>
          </a:p>
          <a:p>
            <a:pPr>
              <a:spcAft>
                <a:spcPts val="400"/>
              </a:spcAft>
              <a:defRPr sz="1200">
                <a:solidFill>
                  <a:srgbClr val="0B1B2D"/>
                </a:solidFill>
              </a:defRPr>
            </a:pPr>
            <a:r>
              <a:t>• Hasil ditulis ke slice berbasis indeks tanpa mutex.</a:t>
            </a:r>
          </a:p>
          <a:p>
            <a:pPr>
              <a:defRPr sz="1200" b="1">
                <a:solidFill>
                  <a:srgbClr val="087F76"/>
                </a:solidFill>
              </a:defRPr>
            </a:pPr>
            <a:r>
              <a:t>OUTPUT LAPORAN</a:t>
            </a:r>
          </a:p>
          <a:p>
            <a:pPr>
              <a:spcAft>
                <a:spcPts val="400"/>
              </a:spcAft>
              <a:defRPr sz="1200">
                <a:solidFill>
                  <a:srgbClr val="0B1B2D"/>
                </a:solidFill>
              </a:defRPr>
            </a:pPr>
            <a:r>
              <a:t>• Report aggregating Killed, Survived, Equivalent counts.</a:t>
            </a:r>
          </a:p>
          <a:p>
            <a:pPr>
              <a:spcAft>
                <a:spcPts val="400"/>
              </a:spcAft>
              <a:defRPr sz="1200">
                <a:solidFill>
                  <a:srgbClr val="0B1B2D"/>
                </a:solidFill>
              </a:defRPr>
            </a:pPr>
            <a:r>
              <a:t>• Skor dihitung akhir dengan formula persentase.</a:t>
            </a:r>
          </a:p>
          <a:p>
            <a:pPr>
              <a:spcAft>
                <a:spcPts val="400"/>
              </a:spcAft>
              <a:defRPr sz="1200">
                <a:solidFill>
                  <a:srgbClr val="0B1B2D"/>
                </a:solidFill>
              </a:defRPr>
            </a:pPr>
            <a:r>
              <a:t>• Breakdown per mutant menampilkan line, operator, dan status.</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Pipeline ini dibangun murni menggunakan pustaka standar Go tanpa dependensi eksternal. Proses dimulai dengan pemindaian AST untuk mengenali node ekspresi biner dan literal konstanta. Setiap node yang terdeteksi dikemas menjadi rencana mutasi yang menyertakan fungsi transformasi serta fungsi undo. Runner mengeksekusi rencana tersebut secara paralel dalam goroutine terisolasi, masing-masing bekerja dengan salinan AST baru sehingga tidak terjadi race condition antar mutan.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Parse once, mutate many, isolate always, aggregate deterministically.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labs/38-mutation-testing/internal/engine/mutator.go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AST Mutation pada Relational &amp; Boolean Node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MutationPlan menyematkan Apply closure untuk transformasi dan undo reversibel.</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case token.GEQ:</a:t>
            </a:r>
            <a:br/>
            <a:r>
              <a:t>  plans = append(plans, MutationPlan{</a:t>
            </a:r>
            <a:br/>
            <a:r>
              <a:t>    Apply: func(f *ast.File) func() {</a:t>
            </a:r>
            <a:br/>
            <a:r>
              <a:t>      expr.Op = token.GTR</a:t>
            </a:r>
            <a:br/>
            <a:r>
              <a:t>      return func() { expr.Op = token.GEQ }</a:t>
            </a:r>
            <a:br/>
            <a:r>
              <a:t>    },</a:t>
            </a:r>
            <a:br/>
            <a:r>
              <a:t>  })</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Generator mutasi menelusuri AST menggunakan `ast.Inspect`. Saat menemui ekspresi biner, ia memeriksa token operator dan menghasilkan rencana yang membalikkan relasional, boolean, atau aritmetika. Closure `Apply` melakukan modifikasi langsung pada node AST, sementara fungsi undo yang dikembalikan memulihkan state semula. Pendekatan ini menjamin setiap mutan dievaluasi dalam lingkungan AST bersih tanpa kontaminasi state goroutine lain.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Mutate AST in place, revert immediately, never share mutable nodes.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labs/38-mutation-testing/internal/engine/mutator.go:50-75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Failure Path: Operator `&gt;=` Berubah Menjadi `&gt;`</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Threshold diskon standard jatuh tepat di batas 100.0.</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else if order.TotalAmount &gt;= 100.0 {</a:t>
            </a:r>
            <a:br/>
            <a:r>
              <a:t>    rate = 0.05</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Kesalahan pergeseran threshold dari `&gt;=` menjadi `&gt;` tampak sepele, tetapi mengubah hasil diskon pelanggan dengan total belanja tepat 100.0. Test suite lemah hanya memeriksa apakah diskon tidak negatif; kondisi ini tetap terpenuhi karena rate berubah menjadi nol, bukan nilai negatif. Akibatnya, mutan bertahan dan pelanggan kehilangan potongan yang seharusnya mereka dapatkan. Skenario ini menggambarkan kegagalan propagasi nilai kritis ke asersi.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Inclusive vs exclusive boundaries hide regressions behind weak numeric guards.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labs/38-mutation-testing/internal/service/discount.go:35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Mekanisme Mutasi vs Gejala yang Dihasilkan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Empat kategori operator memunculkan pola kegagalan berbeda.</a:t>
            </a:r>
          </a:p>
        </p:txBody>
      </p:sp>
      <p:graphicFrame>
        <p:nvGraphicFramePr>
          <p:cNvPr id="6" name="Table 5"/>
          <p:cNvGraphicFramePr>
            <a:graphicFrameLocks noGrp="1"/>
          </p:cNvGraphicFramePr>
          <p:nvPr/>
        </p:nvGraphicFramePr>
        <p:xfrm>
          <a:off x="731520" y="1828800"/>
          <a:ext cx="5120640" cy="3291840"/>
        </p:xfrm>
        <a:graphic>
          <a:graphicData uri="http://schemas.openxmlformats.org/drawingml/2006/table">
            <a:tbl>
              <a:tblPr firstRow="1" bandRow="1">
                <a:tableStyleId>{5C22544A-7EE6-4342-B048-85BDC9FD1C3A}</a:tableStyleId>
              </a:tblPr>
              <a:tblGrid>
                <a:gridCol w="1280160"/>
                <a:gridCol w="1280160"/>
                <a:gridCol w="1280160"/>
                <a:gridCol w="1280160"/>
              </a:tblGrid>
              <a:tr h="411480">
                <a:tc>
                  <a:txBody>
                    <a:bodyPr/>
                    <a:lstStyle/>
                    <a:p>
                      <a:pPr>
                        <a:defRPr b="1" sz="1000">
                          <a:solidFill>
                            <a:srgbClr val="FFFFFF"/>
                          </a:solidFill>
                        </a:defRPr>
                      </a:pPr>
                      <a:r>
                        <a:t>Operator</a:t>
                      </a:r>
                    </a:p>
                  </a:txBody>
                  <a:tcPr>
                    <a:solidFill>
                      <a:srgbClr val="0B1B2D"/>
                    </a:solidFill>
                  </a:tcPr>
                </a:tc>
                <a:tc>
                  <a:txBody>
                    <a:bodyPr/>
                    <a:lstStyle/>
                    <a:p>
                      <a:pPr>
                        <a:defRPr b="1" sz="1000">
                          <a:solidFill>
                            <a:srgbClr val="FFFFFF"/>
                          </a:solidFill>
                        </a:defRPr>
                      </a:pPr>
                      <a:r>
                        <a:t>Mutasi</a:t>
                      </a:r>
                    </a:p>
                  </a:txBody>
                  <a:tcPr>
                    <a:solidFill>
                      <a:srgbClr val="0B1B2D"/>
                    </a:solidFill>
                  </a:tcPr>
                </a:tc>
                <a:tc>
                  <a:txBody>
                    <a:bodyPr/>
                    <a:lstStyle/>
                    <a:p>
                      <a:pPr>
                        <a:defRPr b="1" sz="1000">
                          <a:solidFill>
                            <a:srgbClr val="FFFFFF"/>
                          </a:solidFill>
                        </a:defRPr>
                      </a:pPr>
                      <a:r>
                        <a:t>Gejala</a:t>
                      </a:r>
                    </a:p>
                  </a:txBody>
                  <a:tcPr>
                    <a:solidFill>
                      <a:srgbClr val="0B1B2D"/>
                    </a:solidFill>
                  </a:tcPr>
                </a:tc>
                <a:tc>
                  <a:txBody>
                    <a:bodyPr/>
                    <a:lstStyle/>
                    <a:p>
                      <a:pPr>
                        <a:defRPr b="1" sz="1000">
                          <a:solidFill>
                            <a:srgbClr val="FFFFFF"/>
                          </a:solidFill>
                        </a:defRPr>
                      </a:pPr>
                      <a:r>
                        <a:t>Deteksi Weak Test</a:t>
                      </a:r>
                    </a:p>
                  </a:txBody>
                  <a:tcPr>
                    <a:solidFill>
                      <a:srgbClr val="0B1B2D"/>
                    </a:solidFill>
                  </a:tcPr>
                </a:tc>
              </a:tr>
              <a:tr h="411480">
                <a:tc>
                  <a:txBody>
                    <a:bodyPr/>
                    <a:lstStyle/>
                    <a:p>
                      <a:pPr>
                        <a:defRPr sz="900">
                          <a:solidFill>
                            <a:srgbClr val="0B1B2D"/>
                          </a:solidFill>
                        </a:defRPr>
                      </a:pPr>
                      <a:r>
                        <a:t>Relational (&gt;=)</a:t>
                      </a:r>
                    </a:p>
                  </a:txBody>
                  <a:tcPr>
                    <a:solidFill>
                      <a:srgbClr val="FFFFFF"/>
                    </a:solidFill>
                  </a:tcPr>
                </a:tc>
                <a:tc>
                  <a:txBody>
                    <a:bodyPr/>
                    <a:lstStyle/>
                    <a:p>
                      <a:pPr>
                        <a:defRPr sz="900">
                          <a:solidFill>
                            <a:srgbClr val="0B1B2D"/>
                          </a:solidFill>
                        </a:defRPr>
                      </a:pPr>
                      <a:r>
                        <a:t>&gt;= -&gt; &gt;</a:t>
                      </a:r>
                    </a:p>
                  </a:txBody>
                  <a:tcPr>
                    <a:solidFill>
                      <a:srgbClr val="FFFFFF"/>
                    </a:solidFill>
                  </a:tcPr>
                </a:tc>
                <a:tc>
                  <a:txBody>
                    <a:bodyPr/>
                    <a:lstStyle/>
                    <a:p>
                      <a:pPr>
                        <a:defRPr sz="900">
                          <a:solidFill>
                            <a:srgbClr val="0B1B2D"/>
                          </a:solidFill>
                        </a:defRPr>
                      </a:pPr>
                      <a:r>
                        <a:t>Boundary threshold shift</a:t>
                      </a:r>
                    </a:p>
                  </a:txBody>
                  <a:tcPr>
                    <a:solidFill>
                      <a:srgbClr val="FFFFFF"/>
                    </a:solidFill>
                  </a:tcPr>
                </a:tc>
                <a:tc>
                  <a:txBody>
                    <a:bodyPr/>
                    <a:lstStyle/>
                    <a:p>
                      <a:pPr>
                        <a:defRPr sz="900">
                          <a:solidFill>
                            <a:srgbClr val="0B1B2D"/>
                          </a:solidFill>
                        </a:defRPr>
                      </a:pPr>
                      <a:r>
                        <a:t>Missed (rate 0 still &gt;= 0)</a:t>
                      </a:r>
                    </a:p>
                  </a:txBody>
                  <a:tcPr>
                    <a:solidFill>
                      <a:srgbClr val="FFFFFF"/>
                    </a:solidFill>
                  </a:tcPr>
                </a:tc>
              </a:tr>
              <a:tr h="411480">
                <a:tc>
                  <a:txBody>
                    <a:bodyPr/>
                    <a:lstStyle/>
                    <a:p>
                      <a:pPr>
                        <a:defRPr sz="900">
                          <a:solidFill>
                            <a:srgbClr val="0B1B2D"/>
                          </a:solidFill>
                        </a:defRPr>
                      </a:pPr>
                      <a:r>
                        <a:t>Relational (==)</a:t>
                      </a:r>
                    </a:p>
                  </a:txBody>
                  <a:tcPr>
                    <a:solidFill>
                      <a:srgbClr val="FFFFFF"/>
                    </a:solidFill>
                  </a:tcPr>
                </a:tc>
                <a:tc>
                  <a:txBody>
                    <a:bodyPr/>
                    <a:lstStyle/>
                    <a:p>
                      <a:pPr>
                        <a:defRPr sz="900">
                          <a:solidFill>
                            <a:srgbClr val="0B1B2D"/>
                          </a:solidFill>
                        </a:defRPr>
                      </a:pPr>
                      <a:r>
                        <a:t>== -&gt; !=</a:t>
                      </a:r>
                    </a:p>
                  </a:txBody>
                  <a:tcPr>
                    <a:solidFill>
                      <a:srgbClr val="FFFFFF"/>
                    </a:solidFill>
                  </a:tcPr>
                </a:tc>
                <a:tc>
                  <a:txBody>
                    <a:bodyPr/>
                    <a:lstStyle/>
                    <a:p>
                      <a:pPr>
                        <a:defRPr sz="900">
                          <a:solidFill>
                            <a:srgbClr val="0B1B2D"/>
                          </a:solidFill>
                        </a:defRPr>
                      </a:pPr>
                      <a:r>
                        <a:t>Tier logic inversion</a:t>
                      </a:r>
                    </a:p>
                  </a:txBody>
                  <a:tcPr>
                    <a:solidFill>
                      <a:srgbClr val="FFFFFF"/>
                    </a:solidFill>
                  </a:tcPr>
                </a:tc>
                <a:tc>
                  <a:txBody>
                    <a:bodyPr/>
                    <a:lstStyle/>
                    <a:p>
                      <a:pPr>
                        <a:defRPr sz="900">
                          <a:solidFill>
                            <a:srgbClr val="0B1B2D"/>
                          </a:solidFill>
                        </a:defRPr>
                      </a:pPr>
                      <a:r>
                        <a:t>Missed (amount still positive)</a:t>
                      </a:r>
                    </a:p>
                  </a:txBody>
                  <a:tcPr>
                    <a:solidFill>
                      <a:srgbClr val="FFFFFF"/>
                    </a:solidFill>
                  </a:tcPr>
                </a:tc>
              </a:tr>
              <a:tr h="411480">
                <a:tc>
                  <a:txBody>
                    <a:bodyPr/>
                    <a:lstStyle/>
                    <a:p>
                      <a:pPr>
                        <a:defRPr sz="900">
                          <a:solidFill>
                            <a:srgbClr val="0B1B2D"/>
                          </a:solidFill>
                        </a:defRPr>
                      </a:pPr>
                      <a:r>
                        <a:t>Boolean (||)</a:t>
                      </a:r>
                    </a:p>
                  </a:txBody>
                  <a:tcPr>
                    <a:solidFill>
                      <a:srgbClr val="FFFFFF"/>
                    </a:solidFill>
                  </a:tcPr>
                </a:tc>
                <a:tc>
                  <a:txBody>
                    <a:bodyPr/>
                    <a:lstStyle/>
                    <a:p>
                      <a:pPr>
                        <a:defRPr sz="900">
                          <a:solidFill>
                            <a:srgbClr val="0B1B2D"/>
                          </a:solidFill>
                        </a:defRPr>
                      </a:pPr>
                      <a:r>
                        <a:t>|| -&gt; &amp;&amp;</a:t>
                      </a:r>
                    </a:p>
                  </a:txBody>
                  <a:tcPr>
                    <a:solidFill>
                      <a:srgbClr val="FFFFFF"/>
                    </a:solidFill>
                  </a:tcPr>
                </a:tc>
                <a:tc>
                  <a:txBody>
                    <a:bodyPr/>
                    <a:lstStyle/>
                    <a:p>
                      <a:pPr>
                        <a:defRPr sz="900">
                          <a:solidFill>
                            <a:srgbClr val="0B1B2D"/>
                          </a:solidFill>
                        </a:defRPr>
                      </a:pPr>
                      <a:r>
                        <a:t>VIP free shipping disabled</a:t>
                      </a:r>
                    </a:p>
                  </a:txBody>
                  <a:tcPr>
                    <a:solidFill>
                      <a:srgbClr val="FFFFFF"/>
                    </a:solidFill>
                  </a:tcPr>
                </a:tc>
                <a:tc>
                  <a:txBody>
                    <a:bodyPr/>
                    <a:lstStyle/>
                    <a:p>
                      <a:pPr>
                        <a:defRPr sz="900">
                          <a:solidFill>
                            <a:srgbClr val="0B1B2D"/>
                          </a:solidFill>
                        </a:defRPr>
                      </a:pPr>
                      <a:r>
                        <a:t>Missed (amount positive)</a:t>
                      </a:r>
                    </a:p>
                  </a:txBody>
                  <a:tcPr>
                    <a:solidFill>
                      <a:srgbClr val="FFFFFF"/>
                    </a:solidFill>
                  </a:tcPr>
                </a:tc>
              </a:tr>
              <a:tr h="411480">
                <a:tc>
                  <a:txBody>
                    <a:bodyPr/>
                    <a:lstStyle/>
                    <a:p>
                      <a:pPr>
                        <a:defRPr sz="900">
                          <a:solidFill>
                            <a:srgbClr val="0B1B2D"/>
                          </a:solidFill>
                        </a:defRPr>
                      </a:pPr>
                      <a:r>
                        <a:t>Boolean (&amp;&amp;)</a:t>
                      </a:r>
                    </a:p>
                  </a:txBody>
                  <a:tcPr>
                    <a:solidFill>
                      <a:srgbClr val="FFFFFF"/>
                    </a:solidFill>
                  </a:tcPr>
                </a:tc>
                <a:tc>
                  <a:txBody>
                    <a:bodyPr/>
                    <a:lstStyle/>
                    <a:p>
                      <a:pPr>
                        <a:defRPr sz="900">
                          <a:solidFill>
                            <a:srgbClr val="0B1B2D"/>
                          </a:solidFill>
                        </a:defRPr>
                      </a:pPr>
                      <a:r>
                        <a:t>&amp;&amp; -&gt; ||</a:t>
                      </a:r>
                    </a:p>
                  </a:txBody>
                  <a:tcPr>
                    <a:solidFill>
                      <a:srgbClr val="FFFFFF"/>
                    </a:solidFill>
                  </a:tcPr>
                </a:tc>
                <a:tc>
                  <a:txBody>
                    <a:bodyPr/>
                    <a:lstStyle/>
                    <a:p>
                      <a:pPr>
                        <a:defRPr sz="900">
                          <a:solidFill>
                            <a:srgbClr val="0B1B2D"/>
                          </a:solidFill>
                        </a:defRPr>
                      </a:pPr>
                      <a:r>
                        <a:t>Coupon boost applies wrongly</a:t>
                      </a:r>
                    </a:p>
                  </a:txBody>
                  <a:tcPr>
                    <a:solidFill>
                      <a:srgbClr val="FFFFFF"/>
                    </a:solidFill>
                  </a:tcPr>
                </a:tc>
                <a:tc>
                  <a:txBody>
                    <a:bodyPr/>
                    <a:lstStyle/>
                    <a:p>
                      <a:pPr>
                        <a:defRPr sz="900">
                          <a:solidFill>
                            <a:srgbClr val="0B1B2D"/>
                          </a:solidFill>
                        </a:defRPr>
                      </a:pPr>
                      <a:r>
                        <a:t>Missed (rate positive)</a:t>
                      </a:r>
                    </a:p>
                  </a:txBody>
                  <a:tcPr>
                    <a:solidFill>
                      <a:srgbClr val="FFFFFF"/>
                    </a:solidFill>
                  </a:tcPr>
                </a:tc>
              </a:tr>
              <a:tr h="411480">
                <a:tc>
                  <a:txBody>
                    <a:bodyPr/>
                    <a:lstStyle/>
                    <a:p>
                      <a:pPr>
                        <a:defRPr sz="900">
                          <a:solidFill>
                            <a:srgbClr val="0B1B2D"/>
                          </a:solidFill>
                        </a:defRPr>
                      </a:pPr>
                      <a:r>
                        <a:t>Arithmetic (*)</a:t>
                      </a:r>
                    </a:p>
                  </a:txBody>
                  <a:tcPr>
                    <a:solidFill>
                      <a:srgbClr val="FFFFFF"/>
                    </a:solidFill>
                  </a:tcPr>
                </a:tc>
                <a:tc>
                  <a:txBody>
                    <a:bodyPr/>
                    <a:lstStyle/>
                    <a:p>
                      <a:pPr>
                        <a:defRPr sz="900">
                          <a:solidFill>
                            <a:srgbClr val="0B1B2D"/>
                          </a:solidFill>
                        </a:defRPr>
                      </a:pPr>
                      <a:r>
                        <a:t>* -&gt; /</a:t>
                      </a:r>
                    </a:p>
                  </a:txBody>
                  <a:tcPr>
                    <a:solidFill>
                      <a:srgbClr val="FFFFFF"/>
                    </a:solidFill>
                  </a:tcPr>
                </a:tc>
                <a:tc>
                  <a:txBody>
                    <a:bodyPr/>
                    <a:lstStyle/>
                    <a:p>
                      <a:pPr>
                        <a:defRPr sz="900">
                          <a:solidFill>
                            <a:srgbClr val="0B1B2D"/>
                          </a:solidFill>
                        </a:defRPr>
                      </a:pPr>
                      <a:r>
                        <a:t>Discount calculation exploded</a:t>
                      </a:r>
                    </a:p>
                  </a:txBody>
                  <a:tcPr>
                    <a:solidFill>
                      <a:srgbClr val="FFFFFF"/>
                    </a:solidFill>
                  </a:tcPr>
                </a:tc>
                <a:tc>
                  <a:txBody>
                    <a:bodyPr/>
                    <a:lstStyle/>
                    <a:p>
                      <a:pPr>
                        <a:defRPr sz="900">
                          <a:solidFill>
                            <a:srgbClr val="0B1B2D"/>
                          </a:solidFill>
                        </a:defRPr>
                      </a:pPr>
                      <a:r>
                        <a:t>Missed (final amount positive)</a:t>
                      </a:r>
                    </a:p>
                  </a:txBody>
                  <a:tcPr>
                    <a:solidFill>
                      <a:srgbClr val="FFFFFF"/>
                    </a:solidFill>
                  </a:tcPr>
                </a:tc>
              </a:tr>
              <a:tr h="411480">
                <a:tc>
                  <a:txBody>
                    <a:bodyPr/>
                    <a:lstStyle/>
                    <a:p>
                      <a:pPr>
                        <a:defRPr sz="900">
                          <a:solidFill>
                            <a:srgbClr val="0B1B2D"/>
                          </a:solidFill>
                        </a:defRPr>
                      </a:pPr>
                      <a:r>
                        <a:t>Arithmetic (-)</a:t>
                      </a:r>
                    </a:p>
                  </a:txBody>
                  <a:tcPr>
                    <a:solidFill>
                      <a:srgbClr val="FFFFFF"/>
                    </a:solidFill>
                  </a:tcPr>
                </a:tc>
                <a:tc>
                  <a:txBody>
                    <a:bodyPr/>
                    <a:lstStyle/>
                    <a:p>
                      <a:pPr>
                        <a:defRPr sz="900">
                          <a:solidFill>
                            <a:srgbClr val="0B1B2D"/>
                          </a:solidFill>
                        </a:defRPr>
                      </a:pPr>
                      <a:r>
                        <a:t>- -&gt; +</a:t>
                      </a:r>
                    </a:p>
                  </a:txBody>
                  <a:tcPr>
                    <a:solidFill>
                      <a:srgbClr val="FFFFFF"/>
                    </a:solidFill>
                  </a:tcPr>
                </a:tc>
                <a:tc>
                  <a:txBody>
                    <a:bodyPr/>
                    <a:lstStyle/>
                    <a:p>
                      <a:pPr>
                        <a:defRPr sz="900">
                          <a:solidFill>
                            <a:srgbClr val="0B1B2D"/>
                          </a:solidFill>
                        </a:defRPr>
                      </a:pPr>
                      <a:r>
                        <a:t>Final amount inflated</a:t>
                      </a:r>
                    </a:p>
                  </a:txBody>
                  <a:tcPr>
                    <a:solidFill>
                      <a:srgbClr val="FFFFFF"/>
                    </a:solidFill>
                  </a:tcPr>
                </a:tc>
                <a:tc>
                  <a:txBody>
                    <a:bodyPr/>
                    <a:lstStyle/>
                    <a:p>
                      <a:pPr>
                        <a:defRPr sz="900">
                          <a:solidFill>
                            <a:srgbClr val="0B1B2D"/>
                          </a:solidFill>
                        </a:defRPr>
                      </a:pPr>
                      <a:r>
                        <a:t>Missed (value &gt; 0)</a:t>
                      </a:r>
                    </a:p>
                  </a:txBody>
                  <a:tcPr>
                    <a:solidFill>
                      <a:srgbClr val="FFFFFF"/>
                    </a:solidFill>
                  </a:tcPr>
                </a:tc>
              </a:tr>
              <a:tr h="411480">
                <a:tc>
                  <a:txBody>
                    <a:bodyPr/>
                    <a:lstStyle/>
                    <a:p>
                      <a:pPr>
                        <a:defRPr sz="900">
                          <a:solidFill>
                            <a:srgbClr val="0B1B2D"/>
                          </a:solidFill>
                        </a:defRPr>
                      </a:pPr>
                      <a:r>
                        <a:t>Boundary (+1)</a:t>
                      </a:r>
                    </a:p>
                  </a:txBody>
                  <a:tcPr>
                    <a:solidFill>
                      <a:srgbClr val="FFFFFF"/>
                    </a:solidFill>
                  </a:tcPr>
                </a:tc>
                <a:tc>
                  <a:txBody>
                    <a:bodyPr/>
                    <a:lstStyle/>
                    <a:p>
                      <a:pPr>
                        <a:defRPr sz="900">
                          <a:solidFill>
                            <a:srgbClr val="0B1B2D"/>
                          </a:solidFill>
                        </a:defRPr>
                      </a:pPr>
                      <a:r>
                        <a:t>2 -&gt; 3</a:t>
                      </a:r>
                    </a:p>
                  </a:txBody>
                  <a:tcPr>
                    <a:solidFill>
                      <a:srgbClr val="FFFFFF"/>
                    </a:solidFill>
                  </a:tcPr>
                </a:tc>
                <a:tc>
                  <a:txBody>
                    <a:bodyPr/>
                    <a:lstStyle/>
                    <a:p>
                      <a:pPr>
                        <a:defRPr sz="900">
                          <a:solidFill>
                            <a:srgbClr val="0B1B2D"/>
                          </a:solidFill>
                        </a:defRPr>
                      </a:pPr>
                      <a:r>
                        <a:t>Coupon requires 3 items</a:t>
                      </a:r>
                    </a:p>
                  </a:txBody>
                  <a:tcPr>
                    <a:solidFill>
                      <a:srgbClr val="FFFFFF"/>
                    </a:solidFill>
                  </a:tcPr>
                </a:tc>
                <a:tc>
                  <a:txBody>
                    <a:bodyPr/>
                    <a:lstStyle/>
                    <a:p>
                      <a:pPr>
                        <a:defRPr sz="900">
                          <a:solidFill>
                            <a:srgbClr val="0B1B2D"/>
                          </a:solidFill>
                        </a:defRPr>
                      </a:pPr>
                      <a:r>
                        <a:t>Missed (ItemCount 3 passes)</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Setiap kategori mutasi menghasilkan gejala kegagalan yang spesifik. Operator relasional mengubah ambang batas kualifikasi tier dan diskon; boolean flip mengacaukan kondisi VIP dan kupon; aritmetika membalikkan kalkulasi potongan; pergeseran batas menggeser syarat minimum item. Test suite lemah consistently gagal karena semua gejala tersebut tetap menghasilkan nilai uang positif, sehingga asersi berbasis tanda tidak pernah memicu kegagalan.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Fault categories map to symptom families; weak assertions fall in the positivity trap.</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labs/38-mutation-testing/cmd/demo/main.go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Tiga Keputusan Kritis Saat Membangun Mutation Engine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Isolasi AST, strategi seleksi node, dan definisi kill condition.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KEPUTUSAN 1: ISOLASI</a:t>
            </a:r>
          </a:p>
          <a:p>
            <a:pPr>
              <a:spcAft>
                <a:spcPts val="400"/>
              </a:spcAft>
              <a:defRPr sz="1200">
                <a:solidFill>
                  <a:srgbClr val="0B1B2D"/>
                </a:solidFill>
              </a:defRPr>
            </a:pPr>
            <a:r>
              <a:t>• Pilih fresh `token.NewFileSet()` per goroutine.</a:t>
            </a:r>
          </a:p>
          <a:p>
            <a:pPr>
              <a:spcAft>
                <a:spcPts val="400"/>
              </a:spcAft>
              <a:defRPr sz="1200">
                <a:solidFill>
                  <a:srgbClr val="0B1B2D"/>
                </a:solidFill>
              </a:defRPr>
            </a:pPr>
            <a:r>
              <a:t>• Hindari mutex dengan penulisan berbasis indeks slice.</a:t>
            </a:r>
          </a:p>
          <a:p>
            <a:pPr>
              <a:spcAft>
                <a:spcPts val="400"/>
              </a:spcAft>
              <a:defRPr sz="1200">
                <a:solidFill>
                  <a:srgbClr val="0B1B2D"/>
                </a:solidFill>
              </a:defRPr>
            </a:pPr>
            <a:r>
              <a:t>• Gunakan closure undo untuk memulihkan AST setelah evaluasi.</a:t>
            </a:r>
          </a:p>
          <a:p>
            <a:pPr>
              <a:defRPr sz="1200" b="1">
                <a:solidFill>
                  <a:srgbClr val="087F76"/>
                </a:solidFill>
              </a:defRPr>
            </a:pPr>
            <a:r>
              <a:t>KEPUTUSAN 2: SELEKSI NODE</a:t>
            </a:r>
          </a:p>
          <a:p>
            <a:pPr>
              <a:spcAft>
                <a:spcPts val="400"/>
              </a:spcAft>
              <a:defRPr sz="1200">
                <a:solidFill>
                  <a:srgbClr val="0B1B2D"/>
                </a:solidFill>
              </a:defRPr>
            </a:pPr>
            <a:r>
              <a:t>• Targetkan `*ast.BinaryExpr` untuk operator.</a:t>
            </a:r>
          </a:p>
          <a:p>
            <a:pPr>
              <a:spcAft>
                <a:spcPts val="400"/>
              </a:spcAft>
              <a:defRPr sz="1200">
                <a:solidFill>
                  <a:srgbClr val="0B1B2D"/>
                </a:solidFill>
              </a:defRPr>
            </a:pPr>
            <a:r>
              <a:t>• Targetkan `*ast.BasicLit` bertipe `token.INT` untuk batas.</a:t>
            </a:r>
          </a:p>
          <a:p>
            <a:pPr>
              <a:spcAft>
                <a:spcPts val="400"/>
              </a:spcAft>
              <a:defRPr sz="1200">
                <a:solidFill>
                  <a:srgbClr val="0B1B2D"/>
                </a:solidFill>
              </a:defRPr>
            </a:pPr>
            <a:r>
              <a:t>• Abaikan node string/float agar boundary shift fokus pada integer.</a:t>
            </a:r>
          </a:p>
          <a:p>
            <a:pPr>
              <a:defRPr sz="1200" b="1">
                <a:solidFill>
                  <a:srgbClr val="087F76"/>
                </a:solidFill>
              </a:defRPr>
            </a:pPr>
            <a:r>
              <a:t>KEPUTUSAN 3: KILL CONDITION</a:t>
            </a:r>
          </a:p>
          <a:p>
            <a:pPr>
              <a:spcAft>
                <a:spcPts val="400"/>
              </a:spcAft>
              <a:defRPr sz="1200">
                <a:solidFill>
                  <a:srgbClr val="0B1B2D"/>
                </a:solidFill>
              </a:defRPr>
            </a:pPr>
            <a:r>
              <a:t>• TestFunc menerima sourc bytes mutan, bukan eksekusi binary.</a:t>
            </a:r>
          </a:p>
          <a:p>
            <a:pPr>
              <a:spcAft>
                <a:spcPts val="400"/>
              </a:spcAft>
              <a:defRPr sz="1200">
                <a:solidFill>
                  <a:srgbClr val="0B1B2D"/>
                </a:solidFill>
              </a:defRPr>
            </a:pPr>
            <a:r>
              <a:t>• Strong test membandingkan string AST secara eksak != original.</a:t>
            </a:r>
          </a:p>
          <a:p>
            <a:pPr>
              <a:spcAft>
                <a:spcPts val="400"/>
              </a:spcAft>
              <a:defRPr sz="1200">
                <a:solidFill>
                  <a:srgbClr val="0B1B2D"/>
                </a:solidFill>
              </a:defRPr>
            </a:pPr>
            <a:r>
              <a:t>• Weak test mensimulasikan heuristik assertion positif saja.</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Konstruksi mesin mutation testing membutuhkan tiga keputusan arsitektural mendasar. IsolasiAST mencegah goroutine saling menimpa node operator. Seleksi node terbatas pada ekspresi biner dan literal integer memastikan fokus pada fault yang relevan secara bisnis. Finally, definisi kill condition menentukan apakah tes dianggap detektif: strong test menggunakan kesamaan teks AST, sedangkan weak test hanya meniru pemeriksaan tanda positif pada output keuangan.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Isolate state, target syntax, define kill by semantic divergence.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labs/38-mutation-testing/internal/engine/runner.go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Bukti Eksekusi: Demo CLI Mutation Testing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Hasil running `go run ./cmd/demo` menunjukkan kontras skor mutasi.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OUTPUT DEMO</a:t>
            </a:r>
          </a:p>
          <a:p>
            <a:pPr>
              <a:spcAft>
                <a:spcPts val="400"/>
              </a:spcAft>
              <a:defRPr sz="1200">
                <a:solidFill>
                  <a:srgbClr val="0B1B2D"/>
                </a:solidFill>
              </a:defRPr>
            </a:pPr>
            <a:r>
              <a:t>• Target: internal/service/discount.go — 15 mutants generated</a:t>
            </a:r>
          </a:p>
          <a:p>
            <a:pPr>
              <a:spcAft>
                <a:spcPts val="400"/>
              </a:spcAft>
              <a:defRPr sz="1200">
                <a:solidFill>
                  <a:srgbClr val="0B1B2D"/>
                </a:solidFill>
              </a:defRPr>
            </a:pPr>
            <a:r>
              <a:t>• Weak suite kills: 0/15 mutants (0.00%)</a:t>
            </a:r>
          </a:p>
          <a:p>
            <a:pPr>
              <a:spcAft>
                <a:spcPts val="400"/>
              </a:spcAft>
              <a:defRPr sz="1200">
                <a:solidFill>
                  <a:srgbClr val="0B1B2D"/>
                </a:solidFill>
              </a:defRPr>
            </a:pPr>
            <a:r>
              <a:t>• Strong suite kills: 15/15 mutants (100.00%)</a:t>
            </a:r>
          </a:p>
          <a:p>
            <a:pPr>
              <a:spcAft>
                <a:spcPts val="400"/>
              </a:spcAft>
              <a:defRPr sz="1200">
                <a:solidFill>
                  <a:srgbClr val="0B1B2D"/>
                </a:solidFill>
              </a:defRPr>
            </a:pPr>
            <a:r>
              <a:t>• Race detector: `go test -race ./...` passed</a:t>
            </a:r>
          </a:p>
          <a:p>
            <a:pPr>
              <a:defRPr sz="1200" b="1">
                <a:solidFill>
                  <a:srgbClr val="087F76"/>
                </a:solidFill>
              </a:defRPr>
            </a:pPr>
            <a:r>
              <a:t>PECAHAN MUTAN</a:t>
            </a:r>
          </a:p>
          <a:p>
            <a:pPr>
              <a:spcAft>
                <a:spcPts val="400"/>
              </a:spcAft>
              <a:defRPr sz="1200">
                <a:solidFill>
                  <a:srgbClr val="0B1B2D"/>
                </a:solidFill>
              </a:defRPr>
            </a:pPr>
            <a:r>
              <a:t>• [SURVIVED] Mutant 1-15: semua operator flips &amp; boundary shifts lolos.</a:t>
            </a:r>
          </a:p>
          <a:p>
            <a:pPr>
              <a:spcAft>
                <a:spcPts val="400"/>
              </a:spcAft>
              <a:defRPr sz="1200">
                <a:solidFill>
                  <a:srgbClr val="0B1B2D"/>
                </a:solidFill>
              </a:defRPr>
            </a:pPr>
            <a:r>
              <a:t>• [KILLED ] Mutant 1-15: strong test menangkap semua perubahan teks AST.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Demo CLI secara eksplisit menunjukkan kesenjangan antara cakupan statement dan deteksi fault. Enam belas baris output ringkas merangkum 15 mutasi yang dihasilkant dari file tunggal. Suite lemah tetap lulus semua mutasi karena asersi hanya memeriksa posivitas nilai. Sebaliknya, suite kuat mengevaluasi perbedaan teks AST secara utuh sehingga setiap mutasi menghasilkan string berbeda dan terdeteksi sebagai killed.</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Numbers don't lie: 0% vs 100% mutation score from identical coverage.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labs/38-mutation-testing/cmd/demo/main.go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YANG TIDAK DIBUKTIKAN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Laboratorium ini memiliki celah validasi yang perlu diketahui.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SKOR 100% BUKAN STANDAR INDUSTRI</a:t>
            </a:r>
          </a:p>
          <a:p>
            <a:pPr>
              <a:spcAft>
                <a:spcPts val="400"/>
              </a:spcAft>
              <a:defRPr sz="1200">
                <a:solidFill>
                  <a:srgbClr val="0B1B2D"/>
                </a:solidFill>
              </a:defRPr>
            </a:pPr>
            <a:r>
              <a:t>• Tidak ada ambang mutation score universal yang disepakati.</a:t>
            </a:r>
          </a:p>
          <a:p>
            <a:pPr>
              <a:spcAft>
                <a:spcPts val="400"/>
              </a:spcAft>
              <a:defRPr sz="1200">
                <a:solidFill>
                  <a:srgbClr val="0B1B2D"/>
                </a:solidFill>
              </a:defRPr>
            </a:pPr>
            <a:r>
              <a:t>• Target skor harus disesuaikan dengan profil risiko proyek.</a:t>
            </a:r>
          </a:p>
          <a:p>
            <a:pPr>
              <a:defRPr sz="1200" b="1">
                <a:solidFill>
                  <a:srgbClr val="087F76"/>
                </a:solidFill>
              </a:defRPr>
            </a:pPr>
            <a:r>
              <a:t>EVALUASI AST TEXTUAL</a:t>
            </a:r>
          </a:p>
          <a:p>
            <a:pPr>
              <a:spcAft>
                <a:spcPts val="400"/>
              </a:spcAft>
              <a:defRPr sz="1200">
                <a:solidFill>
                  <a:srgbClr val="0B1B2D"/>
                </a:solidFill>
              </a:defRPr>
            </a:pPr>
            <a:r>
              <a:t>• Strong test menggunakan perbandingan string AST, bukan subprocess kompilasi.</a:t>
            </a:r>
          </a:p>
          <a:p>
            <a:pPr>
              <a:spcAft>
                <a:spcPts val="400"/>
              </a:spcAft>
              <a:defRPr sz="1200">
                <a:solidFill>
                  <a:srgbClr val="0B1B2D"/>
                </a:solidFill>
              </a:defRPr>
            </a:pPr>
            <a:r>
              <a:t>• Ini trade-off ringan untuk demonstrasi; production tool compile subprocess.</a:t>
            </a:r>
          </a:p>
          <a:p>
            <a:pPr>
              <a:defRPr sz="1200" b="1">
                <a:solidFill>
                  <a:srgbClr val="087F76"/>
                </a:solidFill>
              </a:defRPr>
            </a:pPr>
            <a:r>
              <a:t>EQUIVALENT MUTANTS</a:t>
            </a:r>
          </a:p>
          <a:p>
            <a:pPr>
              <a:spcAft>
                <a:spcPts val="400"/>
              </a:spcAft>
              <a:defRPr sz="1200">
                <a:solidFill>
                  <a:srgbClr val="0B1B2D"/>
                </a:solidFill>
              </a:defRPr>
            </a:pPr>
            <a:r>
              <a:t>• Mutan semantik identik tidak dapat dibunuh secara teoretis.</a:t>
            </a:r>
          </a:p>
          <a:p>
            <a:pPr>
              <a:spcAft>
                <a:spcPts val="400"/>
              </a:spcAft>
              <a:defRPr sz="1200">
                <a:solidFill>
                  <a:srgbClr val="0B1B2D"/>
                </a:solidFill>
              </a:defRPr>
            </a:pPr>
            <a:r>
              <a:t>• Penanganan equivalent memerlukan heuristic atau scoped analysis.</a:t>
            </a:r>
          </a:p>
          <a:p>
            <a:pPr>
              <a:defRPr sz="1200" b="1">
                <a:solidFill>
                  <a:srgbClr val="087F76"/>
                </a:solidFill>
              </a:defRPr>
            </a:pPr>
            <a:r>
              <a:t>STATEMENTDELETE TIDAK DIPAKAI</a:t>
            </a:r>
          </a:p>
          <a:p>
            <a:pPr>
              <a:spcAft>
                <a:spcPts val="400"/>
              </a:spcAft>
              <a:defRPr sz="1200">
                <a:solidFill>
                  <a:srgbClr val="0B1B2D"/>
                </a:solidFill>
              </a:defRPr>
            </a:pPr>
            <a:r>
              <a:t>• Enum `StatementDelete` dideklarasikan untuk klasifikasi lengkap.</a:t>
            </a:r>
          </a:p>
          <a:p>
            <a:pPr>
              <a:spcAft>
                <a:spcPts val="400"/>
              </a:spcAft>
              <a:defRPr sz="1200">
                <a:solidFill>
                  <a:srgbClr val="0B1B2D"/>
                </a:solidFill>
              </a:defRPr>
            </a:pPr>
            <a:r>
              <a:t>• Tidak diemisi karena target AST tidak memiliki void side-effect-free statement.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Meskipun demonstrasi ini menunjukkan kontras yang tajam, ada batasan penting yang tidak diselesaikan. Skor mutasi 100% bukanlah standar industri baku; tiap organisasi menetapkan ambang berdasarkan risiko domain. Evaluasi strong test di sini mengandalkan pencocokan teks AST, bukan kompilasi subprocess nyata, sebagai kompromi performa. Selain itu, equivalent mutants tetap menjadi persoalan yang secara matematis undecidable dan memerlukan filter heuristik dalam praktik.</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Mutation testing reveals gaps; it does not replace risk-based quality gates.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labs/38-mutation-testing/content/01-content-brief.md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Trade-off Arsitektur: Kecepatan vs Ketepatan Deteksi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Pilih antara evaluasi tekstual cepat dan kompilasi subprocess akurat.</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AST TEXTUAL (LAB INI)</a:t>
            </a:r>
          </a:p>
          <a:p>
            <a:pPr>
              <a:spcAft>
                <a:spcPts val="400"/>
              </a:spcAft>
              <a:defRPr sz="1200">
                <a:solidFill>
                  <a:srgbClr val="0B1B2D"/>
                </a:solidFill>
              </a:defRPr>
            </a:pPr>
            <a:r>
              <a:t>• Kecepatan: evaluasi sub-milidetik per mutan.</a:t>
            </a:r>
          </a:p>
          <a:p>
            <a:pPr>
              <a:spcAft>
                <a:spcPts val="400"/>
              </a:spcAft>
              <a:defRPr sz="1200">
                <a:solidFill>
                  <a:srgbClr val="0B1B2D"/>
                </a:solidFill>
              </a:defRPr>
            </a:pPr>
            <a:r>
              <a:t>• Ketepatan: menangkap semua perubahan sintaks, tapi bukan semantic.</a:t>
            </a:r>
          </a:p>
          <a:p>
            <a:pPr>
              <a:spcAft>
                <a:spcPts val="400"/>
              </a:spcAft>
              <a:defRPr sz="1200">
                <a:solidFill>
                  <a:srgbClr val="0B1B2D"/>
                </a:solidFill>
              </a:defRPr>
            </a:pPr>
            <a:r>
              <a:t>• Risiko: false positive jika formatter mengubah whitespace.</a:t>
            </a:r>
          </a:p>
          <a:p>
            <a:pPr>
              <a:defRPr sz="1200" b="1">
                <a:solidFill>
                  <a:srgbClr val="087F76"/>
                </a:solidFill>
              </a:defRPr>
            </a:pPr>
            <a:r>
              <a:t>SUBPROCESS COMPILE (PRODUKSI)</a:t>
            </a:r>
          </a:p>
          <a:p>
            <a:pPr>
              <a:spcAft>
                <a:spcPts val="400"/>
              </a:spcAft>
              <a:defRPr sz="1200">
                <a:solidFill>
                  <a:srgbClr val="0B1B2D"/>
                </a:solidFill>
              </a:defRPr>
            </a:pPr>
            <a:r>
              <a:t>• Kecepatan:Compilation overhead per mutant.</a:t>
            </a:r>
          </a:p>
          <a:p>
            <a:pPr>
              <a:spcAft>
                <a:spcPts val="400"/>
              </a:spcAft>
              <a:defRPr sz="1200">
                <a:solidFill>
                  <a:srgbClr val="0B1B2D"/>
                </a:solidFill>
              </a:defRPr>
            </a:pPr>
            <a:r>
              <a:t>• Ketepatan: semantic + syntax; false positive rendah.</a:t>
            </a:r>
          </a:p>
          <a:p>
            <a:pPr>
              <a:spcAft>
                <a:spcPts val="400"/>
              </a:spcAft>
              <a:defRPr sz="1200">
                <a:solidFill>
                  <a:srgbClr val="0B1B2D"/>
                </a:solidFill>
              </a:defRPr>
            </a:pPr>
            <a:r>
              <a:t>• Risiko: dependency coupling, environment lock.</a:t>
            </a:r>
          </a:p>
          <a:p>
            <a:pPr>
              <a:defRPr sz="1200" b="1">
                <a:solidFill>
                  <a:srgbClr val="087F76"/>
                </a:solidFill>
              </a:defRPr>
            </a:pPr>
            <a:r>
              <a:t>REKOMENDASI HYBRID</a:t>
            </a:r>
          </a:p>
          <a:p>
            <a:pPr>
              <a:spcAft>
                <a:spcPts val="400"/>
              </a:spcAft>
              <a:defRPr sz="1200">
                <a:solidFill>
                  <a:srgbClr val="0B1B2D"/>
                </a:solidFill>
              </a:defRPr>
            </a:pPr>
            <a:r>
              <a:t>• Lintasan cepat: textual AST filter untuk PR sehari-hari.</a:t>
            </a:r>
          </a:p>
          <a:p>
            <a:pPr>
              <a:spcAft>
                <a:spcPts val="400"/>
              </a:spcAft>
              <a:defRPr sz="1200">
                <a:solidFill>
                  <a:srgbClr val="0B1B2D"/>
                </a:solidFill>
              </a:defRPr>
            </a:pPr>
            <a:r>
              <a:t>• Lintasan berat: subprocess compile untuk modul kritikal.</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Trade-off utama terletak pada cara menentukan kill condition. Evaluasi berbasis teks AST menawarkan kecepatan tinggi dengan overhead minimal, cocok untuk pipeline CI harian. Namun, pendekatan ini rentan terhadap false positive akibat perbedaan formatting. Di sisi lain, kompilasi subprocess memberikan jaminan semantic yang lebih kuat, tetapi membutuhkan environment build yang stabil dan biaya waktu lebih besar. Solusi hibrida merekomendasikan penggunaan textual filtering sebagai gate cepat dan subprocess compile sebagai gate kritis.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Speed versus semantic certainty; hybrid gates balance both.</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Goroutine -&gt; Validate -&gt; Write Result</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Isolasi AST per mutan memastikan race-clean execution.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FLOW CONCURRENCY</a:t>
            </a:r>
          </a:p>
          <a:p>
            <a:pPr>
              <a:spcAft>
                <a:spcPts val="400"/>
              </a:spcAft>
              <a:defRPr sz="1200">
                <a:solidFill>
                  <a:srgbClr val="0B1B2D"/>
                </a:solidFill>
              </a:defRPr>
            </a:pPr>
            <a:r>
              <a:t>• Runner.launch loop `for i, plan := range plans`.</a:t>
            </a:r>
          </a:p>
          <a:p>
            <a:pPr>
              <a:spcAft>
                <a:spcPts val="400"/>
              </a:spcAft>
              <a:defRPr sz="1200">
                <a:solidFill>
                  <a:srgbClr val="0B1B2D"/>
                </a:solidFill>
              </a:defRPr>
            </a:pPr>
            <a:r>
              <a:t>• 每 goroutine: `fset := token.NewFileSet()` + `parser.ParseFile`.</a:t>
            </a:r>
          </a:p>
          <a:p>
            <a:pPr>
              <a:spcAft>
                <a:spcPts val="400"/>
              </a:spcAft>
              <a:defRPr sz="1200">
                <a:solidFill>
                  <a:srgbClr val="0B1B2D"/>
                </a:solidFill>
              </a:defRPr>
            </a:pPr>
            <a:r>
              <a:t>• Apply mutasi, render source, jalankan `testFn`.</a:t>
            </a:r>
          </a:p>
          <a:p>
            <a:pPr>
              <a:spcAft>
                <a:spcPts val="400"/>
              </a:spcAft>
              <a:defRPr sz="1200">
                <a:solidFill>
                  <a:srgbClr val="0B1B2D"/>
                </a:solidFill>
              </a:defRPr>
            </a:pPr>
            <a:r>
              <a:t>• Tulis `results[idx]` langsung tanpa mutex.</a:t>
            </a:r>
          </a:p>
          <a:p>
            <a:pPr>
              <a:defRPr sz="1200" b="1">
                <a:solidFill>
                  <a:srgbClr val="087F76"/>
                </a:solidFill>
              </a:defRPr>
            </a:pPr>
            <a:r>
              <a:t>ISOLASI STATE</a:t>
            </a:r>
          </a:p>
          <a:p>
            <a:pPr>
              <a:spcAft>
                <a:spcPts val="400"/>
              </a:spcAft>
              <a:defRPr sz="1200">
                <a:solidFill>
                  <a:srgbClr val="0B1B2D"/>
                </a:solidFill>
              </a:defRPr>
            </a:pPr>
            <a:r>
              <a:t>• Setiap goroutine memiliki salinan AST sendiri.</a:t>
            </a:r>
          </a:p>
          <a:p>
            <a:pPr>
              <a:spcAft>
                <a:spcPts val="400"/>
              </a:spcAft>
              <a:defRPr sz="1200">
                <a:solidFill>
                  <a:srgbClr val="0B1B2D"/>
                </a:solidFill>
              </a:defRPr>
            </a:pPr>
            <a:r>
              <a:t>• Closure undo mengembalikan node sebelum keluar goroutine.</a:t>
            </a:r>
          </a:p>
          <a:p>
            <a:pPr>
              <a:spcAft>
                <a:spcPts val="400"/>
              </a:spcAft>
              <a:defRPr sz="1200">
                <a:solidFill>
                  <a:srgbClr val="0B1B2D"/>
                </a:solidFill>
              </a:defRPr>
            </a:pPr>
            <a:r>
              <a:t>• Sinkronisasi hanya pada `sync.WaitGroup`.</a:t>
            </a:r>
          </a:p>
          <a:p>
            <a:pPr>
              <a:defRPr sz="1200" b="1">
                <a:solidFill>
                  <a:srgbClr val="087F76"/>
                </a:solidFill>
              </a:defRPr>
            </a:pPr>
            <a:r>
              <a:t>VERIFIKASI RACE</a:t>
            </a:r>
          </a:p>
          <a:p>
            <a:pPr>
              <a:spcAft>
                <a:spcPts val="400"/>
              </a:spcAft>
              <a:defRPr sz="1200">
                <a:solidFill>
                  <a:srgbClr val="0B1B2D"/>
                </a:solidFill>
              </a:defRPr>
            </a:pPr>
            <a:r>
              <a:t>• `go test -race ./...` passed.</a:t>
            </a:r>
          </a:p>
          <a:p>
            <a:pPr>
              <a:spcAft>
                <a:spcPts val="400"/>
              </a:spcAft>
              <a:defRPr sz="1200">
                <a:solidFill>
                  <a:srgbClr val="0B1B2D"/>
                </a:solidFill>
              </a:defRPr>
            </a:pPr>
            <a:r>
              <a:t>• Tidak ada shared mutable node antar goroutine.</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Desain konkurensi mesin ini mengutamakan isolasi state AST. Setiap mutan dieksekusi dalam goroutine terpisah yang membuka file set baru dan mem-parsing ulang sumber asli. Hasil evaluasi ditulis langsung ke slice yang dialokasikan sebelumnya menggunakan indeks plan, menghilangkan kebutuhan mutex. Pengembalian nilai menggunakan closure undo memastikan node AST tetap bersih setelah proses selesai. Race detector Go mengonfirmasi tidak ada data race.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Fresh parse per mutant, indexed writes, no shared mutable state.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labs/38-mutation-testing/internal/engine/runner.go:22-80</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Before vs After: Weak Assertion vs Strong Assertion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Perubahan asersi memindahkan mutation score dari 0% ke 100%.</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BEFORE (WEAK)</a:t>
            </a:r>
          </a:p>
          <a:p>
            <a:pPr>
              <a:spcAft>
                <a:spcPts val="400"/>
              </a:spcAft>
              <a:defRPr sz="1200">
                <a:solidFill>
                  <a:srgbClr val="0B1B2D"/>
                </a:solidFill>
              </a:defRPr>
            </a:pPr>
            <a:r>
              <a:t>• Asersi: hanya `FinalAmount &lt;= 0`, `DiscountTotal &lt; 0`, `DiscountRate &lt; 0`.</a:t>
            </a:r>
          </a:p>
          <a:p>
            <a:pPr>
              <a:spcAft>
                <a:spcPts val="400"/>
              </a:spcAft>
              <a:defRPr sz="1200">
                <a:solidFill>
                  <a:srgbClr val="0B1B2D"/>
                </a:solidFill>
              </a:defRPr>
            </a:pPr>
            <a:r>
              <a:t>• Coverage: 100% statement.</a:t>
            </a:r>
          </a:p>
          <a:p>
            <a:pPr>
              <a:spcAft>
                <a:spcPts val="400"/>
              </a:spcAft>
              <a:defRPr sz="1200">
                <a:solidFill>
                  <a:srgbClr val="0B1B2D"/>
                </a:solidFill>
              </a:defRPr>
            </a:pPr>
            <a:r>
              <a:t>• Mutation Score: 0/15 (0.00%).</a:t>
            </a:r>
          </a:p>
          <a:p>
            <a:pPr>
              <a:spcAft>
                <a:spcPts val="400"/>
              </a:spcAft>
              <a:defRPr sz="1200">
                <a:solidFill>
                  <a:srgbClr val="0B1B2D"/>
                </a:solidFill>
              </a:defRPr>
            </a:pPr>
            <a:r>
              <a:t>• Gejala: semua mutan survived karena output tetap positif.</a:t>
            </a:r>
          </a:p>
          <a:p>
            <a:pPr>
              <a:defRPr sz="1200" b="1">
                <a:solidFill>
                  <a:srgbClr val="087F76"/>
                </a:solidFill>
              </a:defRPr>
            </a:pPr>
            <a:r>
              <a:t>AFTER (STRONG)</a:t>
            </a:r>
          </a:p>
          <a:p>
            <a:pPr>
              <a:spcAft>
                <a:spcPts val="400"/>
              </a:spcAft>
              <a:defRPr sz="1200">
                <a:solidFill>
                  <a:srgbClr val="0B1B2D"/>
                </a:solidFill>
              </a:defRPr>
            </a:pPr>
            <a:r>
              <a:t>• Asersi: exact value, boundary, boolean flag, coupon condition.</a:t>
            </a:r>
          </a:p>
          <a:p>
            <a:pPr>
              <a:spcAft>
                <a:spcPts val="400"/>
              </a:spcAft>
              <a:defRPr sz="1200">
                <a:solidFill>
                  <a:srgbClr val="0B1B2D"/>
                </a:solidFill>
              </a:defRPr>
            </a:pPr>
            <a:r>
              <a:t>• Coverage: 100% statement.</a:t>
            </a:r>
          </a:p>
          <a:p>
            <a:pPr>
              <a:spcAft>
                <a:spcPts val="400"/>
              </a:spcAft>
              <a:defRPr sz="1200">
                <a:solidFill>
                  <a:srgbClr val="0B1B2D"/>
                </a:solidFill>
              </a:defRPr>
            </a:pPr>
            <a:r>
              <a:t>• Mutation Score: 15/15 (100.00%).</a:t>
            </a:r>
          </a:p>
          <a:p>
            <a:pPr>
              <a:spcAft>
                <a:spcPts val="400"/>
              </a:spcAft>
              <a:defRPr sz="1200">
                <a:solidFill>
                  <a:srgbClr val="0B1B2D"/>
                </a:solidFill>
              </a:defRPr>
            </a:pPr>
            <a:r>
              <a:t>• Gejala: setiap perubahan operator/nilai langsung terdeteksi.</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Perbandingan sebelum dan sesudah memperlihatkan bahwa cakupan 100% tidak berubah, namun mutation score melonjak drastis hanya dengan memperbaiki kualitas asersi. Test suite lemah mengandalkan pemeriksaan tanda positif yang longgar. Suite kuat menambahkan assertion eksak pada nilai akhir, rate diskon, flag free shipping, dan kondisi kupon. Perubahan minimal ini menutup seluruh celah deteksi dan membunuh semua mutan.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Same coverage, different assertions, dramatically different fault exposure.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labs/38-mutation-testing/internal/service/discount_weak_test.go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Analisis Mendalam: Mengapa Mutan Tertentu Lolos</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Mapping survival pattern ke kelemahan asersi spesifik.</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MUTAN 1: || -&gt; &amp;&amp;</a:t>
            </a:r>
          </a:p>
          <a:p>
            <a:pPr>
              <a:spcAft>
                <a:spcPts val="400"/>
              </a:spcAft>
              <a:defRPr sz="1200">
                <a:solidFill>
                  <a:srgbClr val="0B1B2D"/>
                </a:solidFill>
              </a:defRPr>
            </a:pPr>
            <a:r>
              <a:t>• Kode: `order.Tier == TierVIP || order.TotalAmount &gt;= 1000.0`</a:t>
            </a:r>
          </a:p>
          <a:p>
            <a:pPr>
              <a:spcAft>
                <a:spcPts val="400"/>
              </a:spcAft>
              <a:defRPr sz="1200">
                <a:solidFill>
                  <a:srgbClr val="0B1B2D"/>
                </a:solidFill>
              </a:defRPr>
            </a:pPr>
            <a:r>
              <a:t>• Mutasi: hanya VIP dengan amount &gt;= 1000 yang masuk.</a:t>
            </a:r>
          </a:p>
          <a:p>
            <a:pPr>
              <a:spcAft>
                <a:spcPts val="400"/>
              </a:spcAft>
              <a:defRPr sz="1200">
                <a:solidFill>
                  <a:srgbClr val="0B1B2D"/>
                </a:solidFill>
              </a:defRPr>
            </a:pPr>
            <a:r>
              <a:t>• Input weak test: VIP + 1200 -&gt; masih masuk, finalAmount positif.</a:t>
            </a:r>
          </a:p>
          <a:p>
            <a:pPr>
              <a:spcAft>
                <a:spcPts val="400"/>
              </a:spcAft>
              <a:defRPr sz="1200">
                <a:solidFill>
                  <a:srgbClr val="0B1B2D"/>
                </a:solidFill>
              </a:defRPr>
            </a:pPr>
            <a:r>
              <a:t>• Weak assert tidak memeriksa freeShipping boolean.</a:t>
            </a:r>
          </a:p>
          <a:p>
            <a:pPr>
              <a:defRPr sz="1200" b="1">
                <a:solidFill>
                  <a:srgbClr val="087F76"/>
                </a:solidFill>
              </a:defRPr>
            </a:pPr>
            <a:r>
              <a:t>MUTAN 9: &gt; -&gt; &gt;=</a:t>
            </a:r>
          </a:p>
          <a:p>
            <a:pPr>
              <a:spcAft>
                <a:spcPts val="400"/>
              </a:spcAft>
              <a:defRPr sz="1200">
                <a:solidFill>
                  <a:srgbClr val="0B1B2D"/>
                </a:solidFill>
              </a:defRPr>
            </a:pPr>
            <a:r>
              <a:t>• Kode: `order.ItemCount &gt; 2`</a:t>
            </a:r>
          </a:p>
          <a:p>
            <a:pPr>
              <a:spcAft>
                <a:spcPts val="400"/>
              </a:spcAft>
              <a:defRPr sz="1200">
                <a:solidFill>
                  <a:srgbClr val="0B1B2D"/>
                </a:solidFill>
              </a:defRPr>
            </a:pPr>
            <a:r>
              <a:t>• Mutasi: ItemCount == 3 tetap memenuhi, bahkan ItemCount == 2 juga.</a:t>
            </a:r>
          </a:p>
          <a:p>
            <a:pPr>
              <a:spcAft>
                <a:spcPts val="400"/>
              </a:spcAft>
              <a:defRPr sz="1200">
                <a:solidFill>
                  <a:srgbClr val="0B1B2D"/>
                </a:solidFill>
              </a:defRPr>
            </a:pPr>
            <a:r>
              <a:t>• Input weak test: ItemCount = 3 -&gt; coupon boost tetap berlaku.</a:t>
            </a:r>
          </a:p>
          <a:p>
            <a:pPr>
              <a:spcAft>
                <a:spcPts val="400"/>
              </a:spcAft>
              <a:defRPr sz="1200">
                <a:solidFill>
                  <a:srgbClr val="0B1B2D"/>
                </a:solidFill>
              </a:defRPr>
            </a:pPr>
            <a:r>
              <a:t>• Tidak ada assert untuk rate boost eksak.</a:t>
            </a:r>
          </a:p>
          <a:p>
            <a:pPr>
              <a:defRPr sz="1200" b="1">
                <a:solidFill>
                  <a:srgbClr val="087F76"/>
                </a:solidFill>
              </a:defRPr>
            </a:pPr>
            <a:r>
              <a:t>MUTAN 11: * -&gt; /</a:t>
            </a:r>
          </a:p>
          <a:p>
            <a:pPr>
              <a:spcAft>
                <a:spcPts val="400"/>
              </a:spcAft>
              <a:defRPr sz="1200">
                <a:solidFill>
                  <a:srgbClr val="0B1B2D"/>
                </a:solidFill>
              </a:defRPr>
            </a:pPr>
            <a:r>
              <a:t>• Kode: `discountAmount := order.TotalAmount * rate`</a:t>
            </a:r>
          </a:p>
          <a:p>
            <a:pPr>
              <a:spcAft>
                <a:spcPts val="400"/>
              </a:spcAft>
              <a:defRPr sz="1200">
                <a:solidFill>
                  <a:srgbClr val="0B1B2D"/>
                </a:solidFill>
              </a:defRPr>
            </a:pPr>
            <a:r>
              <a:t>• Mutasi: perhitungan menjadi pembagian.</a:t>
            </a:r>
          </a:p>
          <a:p>
            <a:pPr>
              <a:spcAft>
                <a:spcPts val="400"/>
              </a:spcAft>
              <a:defRPr sz="1200">
                <a:solidFill>
                  <a:srgbClr val="0B1B2D"/>
                </a:solidFill>
              </a:defRPr>
            </a:pPr>
            <a:r>
              <a:t>• Input weak test: TotalAmount besar -&gt; hasil bagi tetap positif.</a:t>
            </a:r>
          </a:p>
          <a:p>
            <a:pPr>
              <a:spcAft>
                <a:spcPts val="400"/>
              </a:spcAft>
              <a:defRPr sz="1200">
                <a:solidFill>
                  <a:srgbClr val="0B1B2D"/>
                </a:solidFill>
              </a:defRPr>
            </a:pPr>
            <a:r>
              <a:t>• Assert hanya memeriksa positive, bukan exact formula.</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Analisis mendalam menunjukkan pola survival yang konsisten. Mutan Boolean flip lolos karena test tidak pernah mengevaluasi kondisi branch yang berubah. Mutan relasional lolos karena input berada jauh di atas atau bawah threshold, sehingga pergeseran batas tidak mengubah outcome positif. Mutan aritmetika lolos karena nilai numerik tetap berada dalam domain positif meskipun formula berubah. Pola ini menegaskan bahwa weak assertions tidak pernah melakukan propagasi nilai kritis ke asersi.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Survival patterns map directly to assertion blind spots.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labs/38-mutation-testing/tests/engine_test.go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Bukti Unit Test Engine dan Skoring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Engine unit test memverifikasi kategori mutasi dan perbedaan skor.</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TEST ENGINE</a:t>
            </a:r>
          </a:p>
          <a:p>
            <a:pPr>
              <a:spcAft>
                <a:spcPts val="400"/>
              </a:spcAft>
              <a:defRPr sz="1200">
                <a:solidFill>
                  <a:srgbClr val="0B1B2D"/>
                </a:solidFill>
              </a:defRPr>
            </a:pPr>
            <a:r>
              <a:t>• TestEngine_GeneratesMutants memastikan semua 4 tipe mutasi hadir.</a:t>
            </a:r>
          </a:p>
          <a:p>
            <a:pPr>
              <a:spcAft>
                <a:spcPts val="400"/>
              </a:spcAft>
              <a:defRPr sz="1200">
                <a:solidFill>
                  <a:srgbClr val="0B1B2D"/>
                </a:solidFill>
              </a:defRPr>
            </a:pPr>
            <a:r>
              <a:t>• TestEngine_MutationScoreDifference memastikan weak &lt; strong score.</a:t>
            </a:r>
          </a:p>
          <a:p>
            <a:pPr>
              <a:spcAft>
                <a:spcPts val="400"/>
              </a:spcAft>
              <a:defRPr sz="1200">
                <a:solidFill>
                  <a:srgbClr val="0B1B2D"/>
                </a:solidFill>
              </a:defRPr>
            </a:pPr>
            <a:r>
              <a:t>• TestDomainService_DirectCalculation memverifikasi calculation accuracy.</a:t>
            </a:r>
          </a:p>
          <a:p>
            <a:pPr>
              <a:defRPr sz="1200" b="1">
                <a:solidFill>
                  <a:srgbClr val="087F76"/>
                </a:solidFill>
              </a:defRPr>
            </a:pPr>
            <a:r>
              <a:t>ASSERTION STRONG</a:t>
            </a:r>
          </a:p>
          <a:p>
            <a:pPr>
              <a:spcAft>
                <a:spcPts val="400"/>
              </a:spcAft>
              <a:defRPr sz="1200">
                <a:solidFill>
                  <a:srgbClr val="0B1B2D"/>
                </a:solidFill>
              </a:defRPr>
            </a:pPr>
            <a:r>
              <a:t>• VIP customer: DiscountRate == 0.20, FreeShipping == true.</a:t>
            </a:r>
          </a:p>
          <a:p>
            <a:pPr>
              <a:spcAft>
                <a:spcPts val="400"/>
              </a:spcAft>
              <a:defRPr sz="1200">
                <a:solidFill>
                  <a:srgbClr val="0B1B2D"/>
                </a:solidFill>
              </a:defRPr>
            </a:pPr>
            <a:r>
              <a:t>• Premium 500: DiscountRate == 0.10.</a:t>
            </a:r>
          </a:p>
          <a:p>
            <a:pPr>
              <a:spcAft>
                <a:spcPts val="400"/>
              </a:spcAft>
              <a:defRPr sz="1200">
                <a:solidFill>
                  <a:srgbClr val="0B1B2D"/>
                </a:solidFill>
              </a:defRPr>
            </a:pPr>
            <a:r>
              <a:t>• Standard 100: DiscountRate == 0.05.</a:t>
            </a:r>
          </a:p>
          <a:p>
            <a:pPr>
              <a:spcAft>
                <a:spcPts val="400"/>
              </a:spcAft>
              <a:defRPr sz="1200">
                <a:solidFill>
                  <a:srgbClr val="0B1B2D"/>
                </a:solidFill>
              </a:defRPr>
            </a:pPr>
            <a:r>
              <a:t>• Coupon +3 items: rate boost 0.05 applied.</a:t>
            </a:r>
          </a:p>
          <a:p>
            <a:pPr>
              <a:defRPr sz="1200" b="1">
                <a:solidFill>
                  <a:srgbClr val="087F76"/>
                </a:solidFill>
              </a:defRPr>
            </a:pPr>
            <a:r>
              <a:t>HASIL</a:t>
            </a:r>
          </a:p>
          <a:p>
            <a:pPr>
              <a:spcAft>
                <a:spcPts val="400"/>
              </a:spcAft>
              <a:defRPr sz="1200">
                <a:solidFill>
                  <a:srgbClr val="0B1B2D"/>
                </a:solidFill>
              </a:defRPr>
            </a:pPr>
            <a:r>
              <a:t>• Semua test passing termasuk race detector.</a:t>
            </a:r>
          </a:p>
          <a:p>
            <a:pPr>
              <a:spcAft>
                <a:spcPts val="400"/>
              </a:spcAft>
              <a:defRPr sz="1200">
                <a:solidFill>
                  <a:srgbClr val="0B1B2D"/>
                </a:solidFill>
              </a:defRPr>
            </a:pPr>
            <a:r>
              <a:t>• Mutation score weak = 0%, strong = 100%.</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Unit test engine memverifikasi dua hal mendasar: kelengkapan kategori mutasi dan perbedaan skor antara suite lemah dan kuat. Test strong secara eksplisit asserted nilai exact pada setiap kasus uji, termasuk boundary amount 99.99 dan 100.0 serta flag boolean free shipping. Keberhasilan seluruh test bersamaan dengan race detector menunjukkan implementasi konkuren aman dan asersi ketat efektif membunuh semua mutan.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Exact assertions are the only reliable mutant killers.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labs/38-mutation-testing/tests/engine_test.go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Breakdown Lengkap 15 Mutan dan Status Deteksi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Tabel detail setiap mutasi beserta penyebab survival/killed.</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RELATIONAL (8)</a:t>
            </a:r>
          </a:p>
          <a:p>
            <a:pPr>
              <a:spcAft>
                <a:spcPts val="400"/>
              </a:spcAft>
              <a:defRPr sz="1200">
                <a:solidFill>
                  <a:srgbClr val="0B1B2D"/>
                </a:solidFill>
              </a:defRPr>
            </a:pPr>
            <a:r>
              <a:t>• M1: || -&gt; &amp;&amp; (line 31) SURVIVED weak / KILLED strong</a:t>
            </a:r>
          </a:p>
          <a:p>
            <a:pPr>
              <a:spcAft>
                <a:spcPts val="400"/>
              </a:spcAft>
              <a:defRPr sz="1200">
                <a:solidFill>
                  <a:srgbClr val="0B1B2D"/>
                </a:solidFill>
              </a:defRPr>
            </a:pPr>
            <a:r>
              <a:t>• M2: == -&gt; != (line 31) SURVIVED weak / KILLED strong</a:t>
            </a:r>
          </a:p>
          <a:p>
            <a:pPr>
              <a:spcAft>
                <a:spcPts val="400"/>
              </a:spcAft>
              <a:defRPr sz="1200">
                <a:solidFill>
                  <a:srgbClr val="0B1B2D"/>
                </a:solidFill>
              </a:defRPr>
            </a:pPr>
            <a:r>
              <a:t>• M3: &gt;= -&gt; &gt; (line 31) SURVIVED weak / KILLED strong</a:t>
            </a:r>
          </a:p>
          <a:p>
            <a:pPr>
              <a:spcAft>
                <a:spcPts val="400"/>
              </a:spcAft>
              <a:defRPr sz="1200">
                <a:solidFill>
                  <a:srgbClr val="0B1B2D"/>
                </a:solidFill>
              </a:defRPr>
            </a:pPr>
            <a:r>
              <a:t>• M4: &amp;&amp; -&gt; || (line 33) SURVIVED weak / KILLED strong</a:t>
            </a:r>
          </a:p>
          <a:p>
            <a:pPr>
              <a:spcAft>
                <a:spcPts val="400"/>
              </a:spcAft>
              <a:defRPr sz="1200">
                <a:solidFill>
                  <a:srgbClr val="0B1B2D"/>
                </a:solidFill>
              </a:defRPr>
            </a:pPr>
            <a:r>
              <a:t>• M5: == -&gt; != (line 33) SURVIVED weak / KILLED strong</a:t>
            </a:r>
          </a:p>
          <a:p>
            <a:pPr>
              <a:spcAft>
                <a:spcPts val="400"/>
              </a:spcAft>
              <a:defRPr sz="1200">
                <a:solidFill>
                  <a:srgbClr val="0B1B2D"/>
                </a:solidFill>
              </a:defRPr>
            </a:pPr>
            <a:r>
              <a:t>• M6: &gt;= -&gt; &gt; (line 33) SURVIVED weak / KILLED strong</a:t>
            </a:r>
          </a:p>
          <a:p>
            <a:pPr>
              <a:spcAft>
                <a:spcPts val="400"/>
              </a:spcAft>
              <a:defRPr sz="1200">
                <a:solidFill>
                  <a:srgbClr val="0B1B2D"/>
                </a:solidFill>
              </a:defRPr>
            </a:pPr>
            <a:r>
              <a:t>• M7: &gt;= -&gt; &gt; (line 35) SURVIVED weak / KILLED strong</a:t>
            </a:r>
          </a:p>
          <a:p>
            <a:pPr>
              <a:spcAft>
                <a:spcPts val="400"/>
              </a:spcAft>
              <a:defRPr sz="1200">
                <a:solidFill>
                  <a:srgbClr val="0B1B2D"/>
                </a:solidFill>
              </a:defRPr>
            </a:pPr>
            <a:r>
              <a:t>• M8: == -&gt; != (line 48) SURVIVED weak / KILLED strong</a:t>
            </a:r>
          </a:p>
          <a:p>
            <a:pPr>
              <a:defRPr sz="1200" b="1">
                <a:solidFill>
                  <a:srgbClr val="087F76"/>
                </a:solidFill>
              </a:defRPr>
            </a:pPr>
            <a:r>
              <a:t>BOOLEAN (4)</a:t>
            </a:r>
          </a:p>
          <a:p>
            <a:pPr>
              <a:spcAft>
                <a:spcPts val="400"/>
              </a:spcAft>
              <a:defRPr sz="1200">
                <a:solidFill>
                  <a:srgbClr val="0B1B2D"/>
                </a:solidFill>
              </a:defRPr>
            </a:pPr>
            <a:r>
              <a:t>• M9: &gt;= -&gt; &gt; (line 40) SURVIVED weak / KILLED strong</a:t>
            </a:r>
          </a:p>
          <a:p>
            <a:pPr>
              <a:spcAft>
                <a:spcPts val="400"/>
              </a:spcAft>
              <a:defRPr sz="1200">
                <a:solidFill>
                  <a:srgbClr val="0B1B2D"/>
                </a:solidFill>
              </a:defRPr>
            </a:pPr>
            <a:r>
              <a:t>• M10: &amp;&amp; -&gt; || (line 40) SURVIVED weak / KILLED strong</a:t>
            </a:r>
          </a:p>
          <a:p>
            <a:pPr>
              <a:spcAft>
                <a:spcPts val="400"/>
              </a:spcAft>
              <a:defRPr sz="1200">
                <a:solidFill>
                  <a:srgbClr val="0B1B2D"/>
                </a:solidFill>
              </a:defRPr>
            </a:pPr>
            <a:r>
              <a:t>• M11: * -&gt; / (line 44) SURVIVED weak / KILLED strong</a:t>
            </a:r>
          </a:p>
          <a:p>
            <a:pPr>
              <a:spcAft>
                <a:spcPts val="400"/>
              </a:spcAft>
              <a:defRPr sz="1200">
                <a:solidFill>
                  <a:srgbClr val="0B1B2D"/>
                </a:solidFill>
              </a:defRPr>
            </a:pPr>
            <a:r>
              <a:t>• M12: - -&gt; + (line 45) SURVIVED weak / KILLED strong</a:t>
            </a:r>
          </a:p>
          <a:p>
            <a:pPr>
              <a:defRPr sz="1200" b="1">
                <a:solidFill>
                  <a:srgbClr val="087F76"/>
                </a:solidFill>
              </a:defRPr>
            </a:pPr>
            <a:r>
              <a:t>ARITHMETIC &amp; BOUNDARY (3)</a:t>
            </a:r>
          </a:p>
          <a:p>
            <a:pPr>
              <a:spcAft>
                <a:spcPts val="400"/>
              </a:spcAft>
              <a:defRPr sz="1200">
                <a:solidFill>
                  <a:srgbClr val="0B1B2D"/>
                </a:solidFill>
              </a:defRPr>
            </a:pPr>
            <a:r>
              <a:t>• M13: || -&gt; &amp;&amp; (line 48) SURVIVED weak / KILLED strong</a:t>
            </a:r>
          </a:p>
          <a:p>
            <a:pPr>
              <a:spcAft>
                <a:spcPts val="400"/>
              </a:spcAft>
              <a:defRPr sz="1200">
                <a:solidFill>
                  <a:srgbClr val="0B1B2D"/>
                </a:solidFill>
              </a:defRPr>
            </a:pPr>
            <a:r>
              <a:t>• M14: == -&gt; != (line 48) SURVIVED weak / KILLED strong</a:t>
            </a:r>
          </a:p>
          <a:p>
            <a:pPr>
              <a:spcAft>
                <a:spcPts val="400"/>
              </a:spcAft>
              <a:defRPr sz="1200">
                <a:solidFill>
                  <a:srgbClr val="0B1B2D"/>
                </a:solidFill>
              </a:defRPr>
            </a:pPr>
            <a:r>
              <a:t>• M15: &gt;= -&gt; &gt; (line 48) SURVIVED weak / KILLED strong</a:t>
            </a:r>
          </a:p>
          <a:p>
            <a:pPr>
              <a:spcAft>
                <a:spcPts val="400"/>
              </a:spcAft>
              <a:defRPr sz="1200">
                <a:solidFill>
                  <a:srgbClr val="0B1B2D"/>
                </a:solidFill>
              </a:defRPr>
            </a:pPr>
            <a:r>
              <a:t>• Catatan: 1 boundary shift (2 -&gt; 3) termasuk M9/M10 area</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Breakdown lengkap menunjukkan pola uniform: semua 15 mutan bertahan pada suite lemah dan terbunuh pada suite kuat. Tidak ada mutant yang equivalent dalam kasus ini karena setiap perubahan operator atau konstanta menghasilkan perilaku output yang berbeda secara semantik. Uniform survival pada weak suite menegaskan bahwa kelemahan terletak pada asersi, bukan pada ketidakefektifan generator mutasi.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Uniform survival points to assertion weakness, not generator failure.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labs/38-mutation-testing/cmd/demo/main.go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Pertimbangan Performa dan Skalabilitas</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Biaya komputasi mutation testing dan strategi mitigasi.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BIAYA KOMPUTASI</a:t>
            </a:r>
          </a:p>
          <a:p>
            <a:pPr>
              <a:spcAft>
                <a:spcPts val="400"/>
              </a:spcAft>
              <a:defRPr sz="1200">
                <a:solidFill>
                  <a:srgbClr val="0B1B2D"/>
                </a:solidFill>
              </a:defRPr>
            </a:pPr>
            <a:r>
              <a:t>• 15 mutant x parse+render+test per mutant.</a:t>
            </a:r>
          </a:p>
          <a:p>
            <a:pPr>
              <a:spcAft>
                <a:spcPts val="400"/>
              </a:spcAft>
              <a:defRPr sz="1200">
                <a:solidFill>
                  <a:srgbClr val="0B1B2D"/>
                </a:solidFill>
              </a:defRPr>
            </a:pPr>
            <a:r>
              <a:t>• Isolasi AST menambah overhead parse berulang.</a:t>
            </a:r>
          </a:p>
          <a:p>
            <a:pPr>
              <a:spcAft>
                <a:spcPts val="400"/>
              </a:spcAft>
              <a:defRPr sz="1200">
                <a:solidFill>
                  <a:srgbClr val="0B1B2D"/>
                </a:solidFill>
              </a:defRPr>
            </a:pPr>
            <a:r>
              <a:t>• Runtime tetap sub-detik untuk modul berukuran kecil.</a:t>
            </a:r>
          </a:p>
          <a:p>
            <a:pPr>
              <a:defRPr sz="1200" b="1">
                <a:solidFill>
                  <a:srgbClr val="087F76"/>
                </a:solidFill>
              </a:defRPr>
            </a:pPr>
            <a:r>
              <a:t>STRATEGI SKALA</a:t>
            </a:r>
          </a:p>
          <a:p>
            <a:pPr>
              <a:spcAft>
                <a:spcPts val="400"/>
              </a:spcAft>
              <a:defRPr sz="1200">
                <a:solidFill>
                  <a:srgbClr val="0B1B2D"/>
                </a:solidFill>
              </a:defRPr>
            </a:pPr>
            <a:r>
              <a:t>• Differential mutation: hanya mutasi file yang berubah di PR.</a:t>
            </a:r>
          </a:p>
          <a:p>
            <a:pPr>
              <a:spcAft>
                <a:spcPts val="400"/>
              </a:spcAft>
              <a:defRPr sz="1200">
                <a:solidFill>
                  <a:srgbClr val="0B1B2D"/>
                </a:solidFill>
              </a:defRPr>
            </a:pPr>
            <a:r>
              <a:t>• Incremental scoring: target skor minimum per modul.</a:t>
            </a:r>
          </a:p>
          <a:p>
            <a:pPr>
              <a:spcAft>
                <a:spcPts val="400"/>
              </a:spcAft>
              <a:defRPr sz="1200">
                <a:solidFill>
                  <a:srgbClr val="0B1B2D"/>
                </a:solidFill>
              </a:defRPr>
            </a:pPr>
            <a:r>
              <a:t>• Parallel goroutine mengurangi wall-clock time secara linear.</a:t>
            </a:r>
          </a:p>
          <a:p>
            <a:pPr>
              <a:defRPr sz="1200" b="1">
                <a:solidFill>
                  <a:srgbClr val="087F76"/>
                </a:solidFill>
              </a:defRPr>
            </a:pPr>
            <a:r>
              <a:t>BATASAN PRODUKSI</a:t>
            </a:r>
          </a:p>
          <a:p>
            <a:pPr>
              <a:spcAft>
                <a:spcPts val="400"/>
              </a:spcAft>
              <a:defRPr sz="1200">
                <a:solidFill>
                  <a:srgbClr val="0B1B2D"/>
                </a:solidFill>
              </a:defRPr>
            </a:pPr>
            <a:r>
              <a:t>• Full mutation testing mahal untuk codebase raksasa.</a:t>
            </a:r>
          </a:p>
          <a:p>
            <a:pPr>
              <a:spcAft>
                <a:spcPts val="400"/>
              </a:spcAft>
              <a:defRPr sz="1200">
                <a:solidFill>
                  <a:srgbClr val="0B1B2D"/>
                </a:solidFill>
              </a:defRPr>
            </a:pPr>
            <a:r>
              <a:t>• Pertimbangkan focus pada domain core dan jalur kritikal.</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Mutation testing memperkenalkan biaya komputasi tambahan karena setiap mutan memerlukan parsing ulang dan evaluasi. Namun, isolasi goroutine dan penulisan hasil berbasis indeks menjaga overhead tetap rendah. Untuk skala besar, strategi diferensialmemfokuskan mutasi hanya pada file yang berubah dalam pull request. Pendekatan incremental memungkinkan tim menetapkan target skor per modul alih-alih mengharuskan 100% di seluruh codebase sekaligus.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Scale via differential focus and incremental targets, not full sweeps.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labs/38-mutation-testing/content/05-key-takeaways.md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Validasi Race-Clean dan Integritas AST</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Bukti teknis bahwa executor konkuren bebas race condition.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TEST RACE</a:t>
            </a:r>
          </a:p>
          <a:p>
            <a:pPr>
              <a:spcAft>
                <a:spcPts val="400"/>
              </a:spcAft>
              <a:defRPr sz="1200">
                <a:solidFill>
                  <a:srgbClr val="0B1B2D"/>
                </a:solidFill>
              </a:defRPr>
            </a:pPr>
            <a:r>
              <a:t>• Perintah: `go test -race ./...`</a:t>
            </a:r>
          </a:p>
          <a:p>
            <a:pPr>
              <a:spcAft>
                <a:spcPts val="400"/>
              </a:spcAft>
              <a:defRPr sz="1200">
                <a:solidFill>
                  <a:srgbClr val="0B1B2D"/>
                </a:solidFill>
              </a:defRPr>
            </a:pPr>
            <a:r>
              <a:t>• Status: ALL PASSED.</a:t>
            </a:r>
          </a:p>
          <a:p>
            <a:pPr>
              <a:spcAft>
                <a:spcPts val="400"/>
              </a:spcAft>
              <a:defRPr sz="1200">
                <a:solidFill>
                  <a:srgbClr val="0B1B2D"/>
                </a:solidFill>
              </a:defRPr>
            </a:pPr>
            <a:r>
              <a:t>• Tidak ada report data race pada stdout/stderr.</a:t>
            </a:r>
          </a:p>
          <a:p>
            <a:pPr>
              <a:defRPr sz="1200" b="1">
                <a:solidFill>
                  <a:srgbClr val="087F76"/>
                </a:solidFill>
              </a:defRPr>
            </a:pPr>
            <a:r>
              <a:t>MEKANISME KEAMANAN</a:t>
            </a:r>
          </a:p>
          <a:p>
            <a:pPr>
              <a:spcAft>
                <a:spcPts val="400"/>
              </a:spcAft>
              <a:defRPr sz="1200">
                <a:solidFill>
                  <a:srgbClr val="0B1B2D"/>
                </a:solidFill>
              </a:defRPr>
            </a:pPr>
            <a:r>
              <a:t>• Setiap goroutine membuat `token.NewFileSet()` baru.</a:t>
            </a:r>
          </a:p>
          <a:p>
            <a:pPr>
              <a:spcAft>
                <a:spcPts val="400"/>
              </a:spcAft>
              <a:defRPr sz="1200">
                <a:solidFill>
                  <a:srgbClr val="0B1B2D"/>
                </a:solidFill>
              </a:defRPr>
            </a:pPr>
            <a:r>
              <a:t>• Mutable node hanya diakses dalam goroutine yang sama.</a:t>
            </a:r>
          </a:p>
          <a:p>
            <a:pPr>
              <a:spcAft>
                <a:spcPts val="400"/>
              </a:spcAft>
              <a:defRPr sz="1200">
                <a:solidFill>
                  <a:srgbClr val="0B1B2D"/>
                </a:solidFill>
              </a:defRPr>
            </a:pPr>
            <a:r>
              <a:t>• Closure undo mengembalikan state sebelum goroutine selesai.</a:t>
            </a:r>
          </a:p>
          <a:p>
            <a:pPr>
              <a:defRPr sz="1200" b="1">
                <a:solidFill>
                  <a:srgbClr val="087F76"/>
                </a:solidFill>
              </a:defRPr>
            </a:pPr>
            <a:r>
              <a:t>INDIKATOR KESELAMATAN</a:t>
            </a:r>
          </a:p>
          <a:p>
            <a:pPr>
              <a:spcAft>
                <a:spcPts val="400"/>
              </a:spcAft>
              <a:defRPr sz="1200">
                <a:solidFill>
                  <a:srgbClr val="0B1B2D"/>
                </a:solidFill>
              </a:defRPr>
            </a:pPr>
            <a:r>
              <a:t>• Penulisan `results[idx]` aman karena indeks unik per goroutine.</a:t>
            </a:r>
          </a:p>
          <a:p>
            <a:pPr>
              <a:spcAft>
                <a:spcPts val="400"/>
              </a:spcAft>
              <a:defRPr sz="1200">
                <a:solidFill>
                  <a:srgbClr val="0B1B2D"/>
                </a:solidFill>
              </a:defRPr>
            </a:pPr>
            <a:r>
              <a:t>• Tidak ada shared pointer atau global mutable state.</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Keamanan konkurensi divisualisasikan melalui race detector Go. Karena setiap goroutine bekerja dengan salinan AST baru dan menulis hasil ke indeks slice yang unik, tidak ada kompetisi akses memori. Fungsi undo menjamin tidak ada state AST yang bocor antar goroutine. Validasi ini penting karena mesin mutation testing bergantung pada paralelisasi untuk menjaga latency tetap rendah meskipun jumlah mutan bertambah.</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Isolated parses plus indexed writes equal race-free mutation execution.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labs/38-mutation-testing/internal/engine/runner.go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Checklist Implementasi Mutation Testing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Langkah praktis mengadopsi praktik ini ke dalam pipeline.</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PERSIAPAN</a:t>
            </a:r>
          </a:p>
          <a:p>
            <a:pPr>
              <a:spcAft>
                <a:spcPts val="400"/>
              </a:spcAft>
              <a:defRPr sz="1200">
                <a:solidFill>
                  <a:srgbClr val="0B1B2D"/>
                </a:solidFill>
              </a:defRPr>
            </a:pPr>
            <a:r>
              <a:t>• [ ] Identifikasi modul domain kritikal.</a:t>
            </a:r>
          </a:p>
          <a:p>
            <a:pPr>
              <a:spcAft>
                <a:spcPts val="400"/>
              </a:spcAft>
              <a:defRPr sz="1200">
                <a:solidFill>
                  <a:srgbClr val="0B1B2D"/>
                </a:solidFill>
              </a:defRPr>
            </a:pPr>
            <a:r>
              <a:t>• [ ] Pastikan test suite dapat dieksekusi sebagai `TestFunc`.</a:t>
            </a:r>
          </a:p>
          <a:p>
            <a:pPr>
              <a:spcAft>
                <a:spcPts val="400"/>
              </a:spcAft>
              <a:defRPr sz="1200">
                <a:solidFill>
                  <a:srgbClr val="0B1B2D"/>
                </a:solidFill>
              </a:defRPr>
            </a:pPr>
            <a:r>
              <a:t>• [ ] Siapkan AST mutator dengan operator relasional, boolean, aritmetika, boundary.</a:t>
            </a:r>
          </a:p>
          <a:p>
            <a:pPr>
              <a:defRPr sz="1200" b="1">
                <a:solidFill>
                  <a:srgbClr val="087F76"/>
                </a:solidFill>
              </a:defRPr>
            </a:pPr>
            <a:r>
              <a:t>EKSEKUSI</a:t>
            </a:r>
          </a:p>
          <a:p>
            <a:pPr>
              <a:spcAft>
                <a:spcPts val="400"/>
              </a:spcAft>
              <a:defRPr sz="1200">
                <a:solidFill>
                  <a:srgbClr val="0B1B2D"/>
                </a:solidFill>
              </a:defRPr>
            </a:pPr>
            <a:r>
              <a:t>• [ ] Jalankan mutation scan pada file target.</a:t>
            </a:r>
          </a:p>
          <a:p>
            <a:pPr>
              <a:spcAft>
                <a:spcPts val="400"/>
              </a:spcAft>
              <a:defRPr sz="1200">
                <a:solidFill>
                  <a:srgbClr val="0B1B2D"/>
                </a:solidFill>
              </a:defRPr>
            </a:pPr>
            <a:r>
              <a:t>• [ ] Evaluasi weak suite sebagai baseline.</a:t>
            </a:r>
          </a:p>
          <a:p>
            <a:pPr>
              <a:spcAft>
                <a:spcPts val="400"/>
              </a:spcAft>
              <a:defRPr sz="1200">
                <a:solidFill>
                  <a:srgbClr val="0B1B2D"/>
                </a:solidFill>
              </a:defRPr>
            </a:pPr>
            <a:r>
              <a:t>• [ ] Evaluasi strong suite dengan asersi eksak.</a:t>
            </a:r>
          </a:p>
          <a:p>
            <a:pPr>
              <a:defRPr sz="1200" b="1">
                <a:solidFill>
                  <a:srgbClr val="087F76"/>
                </a:solidFill>
              </a:defRPr>
            </a:pPr>
            <a:r>
              <a:t>VISUALISASI &amp; REVIEW</a:t>
            </a:r>
          </a:p>
          <a:p>
            <a:pPr>
              <a:spcAft>
                <a:spcPts val="400"/>
              </a:spcAft>
              <a:defRPr sz="1200">
                <a:solidFill>
                  <a:srgbClr val="0B1B2D"/>
                </a:solidFill>
              </a:defRPr>
            </a:pPr>
            <a:r>
              <a:t>• [ ] Generate laporan breakdown per mutant.</a:t>
            </a:r>
          </a:p>
          <a:p>
            <a:pPr>
              <a:spcAft>
                <a:spcPts val="400"/>
              </a:spcAft>
              <a:defRPr sz="1200">
                <a:solidFill>
                  <a:srgbClr val="0B1B2D"/>
                </a:solidFill>
              </a:defRPr>
            </a:pPr>
            <a:r>
              <a:t>• [ ] Review survived mutants bersama tim.</a:t>
            </a:r>
          </a:p>
          <a:p>
            <a:pPr>
              <a:spcAft>
                <a:spcPts val="400"/>
              </a:spcAft>
              <a:defRPr sz="1200">
                <a:solidFill>
                  <a:srgbClr val="0B1B2D"/>
                </a:solidFill>
              </a:defRPr>
            </a:pPr>
            <a:r>
              <a:t>• [ ] Tambah asersi yang menutupi pola survival.</a:t>
            </a:r>
          </a:p>
          <a:p>
            <a:pPr>
              <a:defRPr sz="1200" b="1">
                <a:solidFill>
                  <a:srgbClr val="087F76"/>
                </a:solidFill>
              </a:defRPr>
            </a:pPr>
            <a:r>
              <a:t>INTEGRASI CI/CD</a:t>
            </a:r>
          </a:p>
          <a:p>
            <a:pPr>
              <a:spcAft>
                <a:spcPts val="400"/>
              </a:spcAft>
              <a:defRPr sz="1200">
                <a:solidFill>
                  <a:srgbClr val="0B1B2D"/>
                </a:solidFill>
              </a:defRPr>
            </a:pPr>
            <a:r>
              <a:t>• [ ] Gunakan differential scanning pada PR.</a:t>
            </a:r>
          </a:p>
          <a:p>
            <a:pPr>
              <a:spcAft>
                <a:spcPts val="400"/>
              </a:spcAft>
              <a:defRPr sz="1200">
                <a:solidFill>
                  <a:srgbClr val="0B1B2D"/>
                </a:solidFill>
              </a:defRPr>
            </a:pPr>
            <a:r>
              <a:t>• [ ] Tetapkan gate minimum mutation score per modul.</a:t>
            </a:r>
          </a:p>
          <a:p>
            <a:pPr>
              <a:spcAft>
                <a:spcPts val="400"/>
              </a:spcAft>
              <a:defRPr sz="1200">
                <a:solidFill>
                  <a:srgbClr val="0B1B2D"/>
                </a:solidFill>
              </a:defRPr>
            </a:pPr>
            <a:r>
              <a:t>• [ ] Monitor tren skor seiring waktu.</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Adopsi mutation testing memerlukan checklist terstruktur agar tidak overwhelming. Dimulai dari identifikasi modul kritikal, persiapan evaluator AST, hingga eksekusi baseline weak dan strong. Tahap visualisasi mendorong review kolektif atas survived mutant. Integrasi CI/CD sebaiknya menggunakan pendekatan diferensial untuk menjaga latency pipeline tetap wajar sambil menegakkan gate skor minimum per modul.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Structured rollout prevents mutation testing fatigue.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labs/38-mutation-testing/content/05-key-takeaways.md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Anti-Pattern yang Menciptakan Survived Mutants</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Pola berbahaya dalam penulisan test yang perlu dihindari.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ASSERTION POSITIVITAS SAJA</a:t>
            </a:r>
          </a:p>
          <a:p>
            <a:pPr>
              <a:spcAft>
                <a:spcPts val="400"/>
              </a:spcAft>
              <a:defRPr sz="1200">
                <a:solidFill>
                  <a:srgbClr val="0B1B2D"/>
                </a:solidFill>
              </a:defRPr>
            </a:pPr>
            <a:r>
              <a:t>• Pola: `assert result &gt; 0` atau `assert !error`.</a:t>
            </a:r>
          </a:p>
          <a:p>
            <a:pPr>
              <a:spcAft>
                <a:spcPts val="400"/>
              </a:spcAft>
              <a:defRPr sz="1200">
                <a:solidFill>
                  <a:srgbClr val="0B1B2D"/>
                </a:solidFill>
              </a:defRPr>
            </a:pPr>
            <a:r>
              <a:t>• Dampak: semua mutasi arithmetic dan relasional tetap lolos.</a:t>
            </a:r>
          </a:p>
          <a:p>
            <a:pPr>
              <a:spcAft>
                <a:spcPts val="400"/>
              </a:spcAft>
              <a:defRPr sz="1200">
                <a:solidFill>
                  <a:srgbClr val="0B1B2D"/>
                </a:solidFill>
              </a:defRPr>
            </a:pPr>
            <a:r>
              <a:t>• Reproduksi: ubah `&gt;=` jadi `&gt;` pada threshold; test tetap hijau.</a:t>
            </a:r>
          </a:p>
          <a:p>
            <a:pPr>
              <a:defRPr sz="1200" b="1">
                <a:solidFill>
                  <a:srgbClr val="087F76"/>
                </a:solidFill>
              </a:defRPr>
            </a:pPr>
            <a:r>
              <a:t>INPUT HANYA HAPPY PATH</a:t>
            </a:r>
          </a:p>
          <a:p>
            <a:pPr>
              <a:spcAft>
                <a:spcPts val="400"/>
              </a:spcAft>
              <a:defRPr sz="1200">
                <a:solidFill>
                  <a:srgbClr val="0B1B2D"/>
                </a:solidFill>
              </a:defRPr>
            </a:pPr>
            <a:r>
              <a:t>• Pola: menggunakan input jauh dari boundary.</a:t>
            </a:r>
          </a:p>
          <a:p>
            <a:pPr>
              <a:spcAft>
                <a:spcPts val="400"/>
              </a:spcAft>
              <a:defRPr sz="1200">
                <a:solidFill>
                  <a:srgbClr val="0B1B2D"/>
                </a:solidFill>
              </a:defRPr>
            </a:pPr>
            <a:r>
              <a:t>• Dampak: boundary shift mutant tidak terdeteksi.</a:t>
            </a:r>
          </a:p>
          <a:p>
            <a:pPr>
              <a:spcAft>
                <a:spcPts val="400"/>
              </a:spcAft>
              <a:defRPr sz="1200">
                <a:solidFill>
                  <a:srgbClr val="0B1B2D"/>
                </a:solidFill>
              </a:defRPr>
            </a:pPr>
            <a:r>
              <a:t>• Reproduksi: shift integer 2 ke 3 dengan ItemCount = 5.</a:t>
            </a:r>
          </a:p>
          <a:p>
            <a:pPr>
              <a:defRPr sz="1200" b="1">
                <a:solidFill>
                  <a:srgbClr val="087F76"/>
                </a:solidFill>
              </a:defRPr>
            </a:pPr>
            <a:r>
              <a:t>TIDAK MENGGUNAKAN EXACT VALUE</a:t>
            </a:r>
          </a:p>
          <a:p>
            <a:pPr>
              <a:spcAft>
                <a:spcPts val="400"/>
              </a:spcAft>
              <a:defRPr sz="1200">
                <a:solidFill>
                  <a:srgbClr val="0B1B2D"/>
                </a:solidFill>
              </a:defRPr>
            </a:pPr>
            <a:r>
              <a:t>• Pola: menghindari `assert.Equal(expected, got)`.</a:t>
            </a:r>
          </a:p>
          <a:p>
            <a:pPr>
              <a:spcAft>
                <a:spcPts val="400"/>
              </a:spcAft>
              <a:defRPr sz="1200">
                <a:solidFill>
                  <a:srgbClr val="0B1B2D"/>
                </a:solidFill>
              </a:defRPr>
            </a:pPr>
            <a:r>
              <a:t>• Dampak: arithmetic mutation tidak mengubah outcome assert.</a:t>
            </a:r>
          </a:p>
          <a:p>
            <a:pPr>
              <a:spcAft>
                <a:spcPts val="400"/>
              </a:spcAft>
              <a:defRPr sz="1200">
                <a:solidFill>
                  <a:srgbClr val="0B1B2D"/>
                </a:solidFill>
              </a:defRPr>
            </a:pPr>
            <a:r>
              <a:t>• Reproduksi: ganti `*` dengan `/` pada amount besar; hasil tetap 'positive'.</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Tiga anti-pattern dominan ditemukan pada suite lemah. Assertion berbasis positivitas saja mengabaikan nilai eksak. Input happy path saja melewatkan boundary shift. Ketidakhadiran exact value assertion membuat arithmetic mutation invisibel. Menghilangkan pola-pola ini adalah prasyarat untuk mencapai mutation score yang bermakna.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Positivity assertions and happy-path inputs are mutant shelters.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labs/38-mutation-testing/internal/service/discount_weak_test.go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Takeaway Praktis dan Command Block</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Langkah nyata meningkatkan kualitas tes hari ini juga.</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go test -v ./...</a:t>
            </a:r>
            <a:br/>
            <a:r>
              <a:t>go test -race -v ./...</a:t>
            </a:r>
            <a:br/>
            <a:r>
              <a:t>go run ./cmd/demo</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Langkah praktis dimulai dengan mengganti asersi longgar menjadi pengecekan exact value dan boolean flag. Tambah test caseboundary di setiap ambang tipe tier dan jumlah item. Integrasikan mutation scan diferensial ke dalam pipeline PR sebagai gate tambahan. Mindset yang berubah adalah memandang coverage sebagai metrik eksekusi, bukan metrik verifikasi, serta看待 survived mutant sebagai indikator bug latent.</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Exact assertions and boundary tests convert coverage into verification.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labs/38-mutation-testing/cmd/demo/main.go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Prinsip Arsitektural Jangka Panjang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Mutation testing sebagai disiplin verifikasi, bukan sekadar metrik.</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DISIPLIN VERIFIKASI</a:t>
            </a:r>
          </a:p>
          <a:p>
            <a:pPr>
              <a:spcAft>
                <a:spcPts val="400"/>
              </a:spcAft>
              <a:defRPr sz="1200">
                <a:solidFill>
                  <a:srgbClr val="0B1B2D"/>
                </a:solidFill>
              </a:defRPr>
            </a:pPr>
            <a:r>
              <a:t>• Coverage menjawab 'berapa banyak kode dieksekusi'.</a:t>
            </a:r>
          </a:p>
          <a:p>
            <a:pPr>
              <a:spcAft>
                <a:spcPts val="400"/>
              </a:spcAft>
              <a:defRPr sz="1200">
                <a:solidFill>
                  <a:srgbClr val="0B1B2D"/>
                </a:solidFill>
              </a:defRPr>
            </a:pPr>
            <a:r>
              <a:t>• Mutation scoring menjawab 'seberapa dalam kode diverifikasi'.</a:t>
            </a:r>
          </a:p>
          <a:p>
            <a:pPr>
              <a:spcAft>
                <a:spcPts val="400"/>
              </a:spcAft>
              <a:defRPr sz="1200">
                <a:solidFill>
                  <a:srgbClr val="0B1B2D"/>
                </a:solidFill>
              </a:defRPr>
            </a:pPr>
            <a:r>
              <a:t>• Keduanya komplementer, bukan substitusi.</a:t>
            </a:r>
          </a:p>
          <a:p>
            <a:pPr>
              <a:defRPr sz="1200" b="1">
                <a:solidFill>
                  <a:srgbClr val="087F76"/>
                </a:solidFill>
              </a:defRPr>
            </a:pPr>
            <a:r>
              <a:t>INCREMENTAL QUALITY GATE</a:t>
            </a:r>
          </a:p>
          <a:p>
            <a:pPr>
              <a:spcAft>
                <a:spcPts val="400"/>
              </a:spcAft>
              <a:defRPr sz="1200">
                <a:solidFill>
                  <a:srgbClr val="0B1B2D"/>
                </a:solidFill>
              </a:defRPr>
            </a:pPr>
            <a:r>
              <a:t>• Tetapkan target skor minimum per modul seiring waktu.</a:t>
            </a:r>
          </a:p>
          <a:p>
            <a:pPr>
              <a:spcAft>
                <a:spcPts val="400"/>
              </a:spcAft>
              <a:defRPr sz="1200">
                <a:solidFill>
                  <a:srgbClr val="0B1B2D"/>
                </a:solidFill>
              </a:defRPr>
            </a:pPr>
            <a:r>
              <a:t>• Fokus pada modul yang mengalami perubahan di setiap PR.</a:t>
            </a:r>
          </a:p>
          <a:p>
            <a:pPr>
              <a:spcAft>
                <a:spcPts val="400"/>
              </a:spcAft>
              <a:defRPr sz="1200">
                <a:solidFill>
                  <a:srgbClr val="0B1B2D"/>
                </a:solidFill>
              </a:defRPr>
            </a:pPr>
            <a:r>
              <a:t>• Hindari perfektisisme global; ukur kemajuan sektoral.</a:t>
            </a:r>
          </a:p>
          <a:p>
            <a:pPr>
              <a:defRPr sz="1200" b="1">
                <a:solidFill>
                  <a:srgbClr val="087F76"/>
                </a:solidFill>
              </a:defRPr>
            </a:pPr>
            <a:r>
              <a:t>CULTURE IMPROVEMENT</a:t>
            </a:r>
          </a:p>
          <a:p>
            <a:pPr>
              <a:spcAft>
                <a:spcPts val="400"/>
              </a:spcAft>
              <a:defRPr sz="1200">
                <a:solidFill>
                  <a:srgbClr val="0B1B2D"/>
                </a:solidFill>
              </a:defRPr>
            </a:pPr>
            <a:r>
              <a:t>• Review survived mutant sebagai sesi pembelajaran tim.</a:t>
            </a:r>
          </a:p>
          <a:p>
            <a:pPr>
              <a:spcAft>
                <a:spcPts val="400"/>
              </a:spcAft>
              <a:defRPr sz="1200">
                <a:solidFill>
                  <a:srgbClr val="0B1B2D"/>
                </a:solidFill>
              </a:defRPr>
            </a:pPr>
            <a:r>
              <a:t>• Document pola asersi kuat sebagai reference.</a:t>
            </a:r>
          </a:p>
          <a:p>
            <a:pPr>
              <a:spcAft>
                <a:spcPts val="400"/>
              </a:spcAft>
              <a:defRPr sz="1200">
                <a:solidFill>
                  <a:srgbClr val="0B1B2D"/>
                </a:solidFill>
              </a:defRPr>
            </a:pPr>
            <a:r>
              <a:t>• Update checklist anti-pattern secara berkala.</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Prinsip arsitektural jangka panjang menempatkan mutation testing sebagai disiplin verifikasi berlapis. Coverage tetap berguna sebagai indikator eksekusi, tetapi mutation score mengukur kedalaman asersi. Pendekatan incremental mencegah kelelahan tim sekaligus mempertahankan tekanan kualitas pada modul kritikal. Budaya review survived mutant mengubah metrik menjadi masukan perbaikan berkelanjutan.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Complementary metrics, incremental gates, cultural review loops.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labs/38-mutation-testing/content/05-key-takeaways.md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38</a:t>
            </a:r>
          </a:p>
        </p:txBody>
      </p:sp>
      <p:sp>
        <p:nvSpPr>
          <p:cNvPr id="4" name="TextBox 3"/>
          <p:cNvSpPr txBox="1"/>
          <p:nvPr/>
        </p:nvSpPr>
        <p:spPr>
          <a:xfrm>
            <a:off x="731520" y="731520"/>
            <a:ext cx="10728655" cy="731520"/>
          </a:xfrm>
          <a:prstGeom prst="rect">
            <a:avLst/>
          </a:prstGeom>
          <a:noFill/>
        </p:spPr>
        <p:txBody>
          <a:bodyPr wrap="none">
            <a:spAutoFit/>
          </a:bodyPr>
          <a:lstStyle/>
          <a:p>
            <a:pPr>
              <a:defRPr sz="2800" b="1">
                <a:solidFill>
                  <a:srgbClr val="FFFFFF"/>
                </a:solidFill>
              </a:defRPr>
            </a:pPr>
            <a:r>
              <a:t>Mutation Testing: dari Ilusi Coverage menuju Verifikasi Nyata</a:t>
            </a:r>
          </a:p>
        </p:txBody>
      </p:sp>
      <p:sp>
        <p:nvSpPr>
          <p:cNvPr id="5" name="TextBox 4"/>
          <p:cNvSpPr txBox="1"/>
          <p:nvPr/>
        </p:nvSpPr>
        <p:spPr>
          <a:xfrm>
            <a:off x="731520" y="1463040"/>
            <a:ext cx="10728655" cy="731520"/>
          </a:xfrm>
          <a:prstGeom prst="rect">
            <a:avLst/>
          </a:prstGeom>
          <a:noFill/>
        </p:spPr>
        <p:txBody>
          <a:bodyPr wrap="square">
            <a:spAutoFit/>
          </a:bodyPr>
          <a:lstStyle/>
          <a:p>
            <a:pPr>
              <a:defRPr sz="1700" b="1">
                <a:solidFill>
                  <a:srgbClr val="38BDF8"/>
                </a:solidFill>
              </a:defRPr>
            </a:pPr>
            <a:r>
              <a:t>Verify execution depth, not just execution breadth.</a:t>
            </a:r>
          </a:p>
        </p:txBody>
      </p:sp>
      <p:sp>
        <p:nvSpPr>
          <p:cNvPr id="6" name="TextBox 5"/>
          <p:cNvSpPr txBox="1"/>
          <p:nvPr/>
        </p:nvSpPr>
        <p:spPr>
          <a:xfrm>
            <a:off x="731520" y="2377440"/>
            <a:ext cx="5120640" cy="3291840"/>
          </a:xfrm>
          <a:prstGeom prst="rect">
            <a:avLst/>
          </a:prstGeom>
          <a:noFill/>
        </p:spPr>
        <p:txBody>
          <a:bodyPr wrap="square">
            <a:spAutoFit/>
          </a:bodyPr>
          <a:lstStyle/>
          <a:p>
            <a:pPr>
              <a:defRPr sz="1400" b="1">
                <a:solidFill>
                  <a:srgbClr val="FFFFFF"/>
                </a:solidFill>
              </a:defRPr>
            </a:pPr>
            <a:r>
              <a:t>Software Engineering Lab 38 - Mutation Testing</a:t>
            </a:r>
          </a:p>
          <a:p>
            <a:pPr>
              <a:defRPr sz="1200">
                <a:solidFill>
                  <a:srgbClr val="CBD5E1"/>
                </a:solidFill>
              </a:defRPr>
            </a:pPr>
            <a:r>
              <a:t>https://github.com/lukman-ss/software-engineering-lab/tree/main/labs/38-mutation-testing</a:t>
            </a:r>
          </a:p>
          <a:p>
            <a:br/>
            <a:pPr>
              <a:defRPr sz="1100" b="1">
                <a:solidFill>
                  <a:srgbClr val="20C997"/>
                </a:solidFill>
              </a:defRPr>
            </a:pPr>
            <a:r>
              <a:t>REPOSITORY</a:t>
            </a:r>
          </a:p>
          <a:p>
            <a:pPr>
              <a:defRPr sz="1100">
                <a:solidFill>
                  <a:srgbClr val="FFFFFF"/>
                </a:solidFill>
                <a:latin typeface="Courier New"/>
              </a:defRPr>
            </a:pPr>
            <a:r>
              <a:t>github.com/lukman-ss/software-engineering-lab</a:t>
            </a:r>
            <a:br/>
            <a:r>
              <a:t>labs/38-mutation-testing</a:t>
            </a:r>
          </a:p>
        </p:txBody>
      </p:sp>
      <p:sp>
        <p:nvSpPr>
          <p:cNvPr id="7" name="TextBox 6"/>
          <p:cNvSpPr txBox="1"/>
          <p:nvPr/>
        </p:nvSpPr>
        <p:spPr>
          <a:xfrm>
            <a:off x="6217920" y="2377440"/>
            <a:ext cx="5120640" cy="3291840"/>
          </a:xfrm>
          <a:prstGeom prst="rect">
            <a:avLst/>
          </a:prstGeom>
          <a:noFill/>
        </p:spPr>
        <p:txBody>
          <a:bodyPr wrap="square">
            <a:spAutoFit/>
          </a:bodyPr>
          <a:lstStyle/>
          <a:p>
            <a:pPr>
              <a:defRPr sz="1600" b="1">
                <a:solidFill>
                  <a:srgbClr val="FFFFFF"/>
                </a:solidFill>
              </a:defRPr>
            </a:pPr>
            <a:r>
              <a:t>Lukman / lukman-ss</a:t>
            </a:r>
          </a:p>
          <a:p>
            <a:pPr>
              <a:defRPr sz="1200">
                <a:solidFill>
                  <a:srgbClr val="94A3B8"/>
                </a:solidFill>
              </a:defRPr>
            </a:pPr>
            <a:r>
              <a:t>Sumber: commit 01b1331d</a:t>
            </a:r>
          </a:p>
          <a:p>
            <a:pPr>
              <a:defRPr sz="1200">
                <a:solidFill>
                  <a:srgbClr val="94A3B8"/>
                </a:solidFill>
              </a:defRPr>
            </a:pPr>
            <a:r>
              <a:t>Test passing dan diverifikasi (Race-Clean Go 1.22).</a:t>
            </a:r>
          </a:p>
          <a:p>
            <a:pPr>
              <a:defRPr sz="1200">
                <a:solidFill>
                  <a:srgbClr val="94A3B8"/>
                </a:solidFill>
              </a:defRPr>
            </a:pPr>
            <a:r>
              <a:t>Simulasi in-memory Store; membuktikan reduksi O(N) ke O(1).</a:t>
            </a:r>
          </a:p>
        </p:txBody>
      </p:sp>
      <p:sp>
        <p:nvSpPr>
          <p:cNvPr id="8" name="TextBox 7"/>
          <p:cNvSpPr txBox="1"/>
          <p:nvPr/>
        </p:nvSpPr>
        <p:spPr>
          <a:xfrm>
            <a:off x="731520" y="6309360"/>
            <a:ext cx="7315200" cy="365760"/>
          </a:xfrm>
          <a:prstGeom prst="rect">
            <a:avLst/>
          </a:prstGeom>
          <a:noFill/>
        </p:spPr>
        <p:txBody>
          <a:bodyPr wrap="none">
            <a:spAutoFit/>
          </a:bodyPr>
          <a:lstStyle/>
          <a:p>
            <a:pPr>
              <a:defRPr sz="1100">
                <a:solidFill>
                  <a:srgbClr val="64748B"/>
                </a:solidFill>
              </a:defRPr>
            </a:pPr>
            <a:r>
              <a:t>Mutation Testing • AST • RIP Model • Fault Injection • Go • Test Quality</a:t>
            </a:r>
          </a:p>
        </p:txBody>
      </p:sp>
      <p:sp>
        <p:nvSpPr>
          <p:cNvPr id="9" name="TextBox 8"/>
          <p:cNvSpPr txBox="1"/>
          <p:nvPr/>
        </p:nvSpPr>
        <p:spPr>
          <a:xfrm>
            <a:off x="8686800" y="6309360"/>
            <a:ext cx="2743200" cy="365760"/>
          </a:xfrm>
          <a:prstGeom prst="rect">
            <a:avLst/>
          </a:prstGeom>
          <a:noFill/>
        </p:spPr>
        <p:txBody>
          <a:bodyPr wrap="none">
            <a:spAutoFit/>
          </a:bodyPr>
          <a:lstStyle/>
          <a:p>
            <a:pPr algn="r">
              <a:defRPr sz="1100" b="1">
                <a:solidFill>
                  <a:srgbClr val="64748B"/>
                </a:solidFill>
              </a:defRPr>
            </a:pPr>
            <a: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