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01 / 24: Cover Lab 18 - Deadlock Simulation &amp; Prevention. Penulis: Lukman / lukman-ss.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02 / 24: Masalah Deadlock. Inti mental model: Deadlock is a circular dependency. Sumber: README.md.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03 / 24: Dampak Sistemik. Latensi, aborted transactions, pemborosan CPU.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04 / 24: Siklus Circular Wait. Coffman conditions: hold and wait + circular wait.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05 / 24: Wait-For Graph dan Deadlock Monitor pada DBMS relasional.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06 / 24: Pemilihan Deadlock Victim dan error return.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07 / 24: Arsitektur internal model akun di internal/bank/account.go.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08 / 24: Kode model Account dan implementasi Lock(ctx).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09 / 24: TransferNaive dan bahaya bidirectional concurrent load.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 / 24: Prinsip deterministik lock ordering.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11 / 24: Kode TransferOrdered di 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12 / 24: Konsep Application-Level Retry.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13 / 24: Kode TransferWithRetry.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14 / 24: Verifikasi TestDeadlockOccurrence.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15 / 24: Verifikasi TestLockOrderingPreventsDeadlock.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16 / 24: Verifikasi TestRetryRecoversDeadlock.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17 / 24: Verifikasi TestTransactionDurationImpact.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18 / 24: Matriks komparasi Lock Ordering vs Retry.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19 / 24: Panduan Produksi: Universal Ordering dan Batch 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20 / 24: Transaksi singkat dan pemisahan Network I/O.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21 / 24: Retry backoff dengan jitter dan idempotensi.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22 / 24: Anti-patterns deadlock pada produksi.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23 / 24: Checklist rilis rekayasa perangkat lunak sistem konkuren.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24 / 24: Penutup Lab 18 - Deadlock Simulation &amp; Prevention. Repositori &amp; Kredit Penulis.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ab-18-deadlock-cover-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18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Masalah: Deadlock pada Sistem Konkuren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Kondisi saling menunggu tanpa akhir saat dua proses memperebutkan shared resources.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MOTIVASI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Ketika dua transaksi mengakses entitas yang sama dengan urutan berlawanan, masing-masing menahan kunci yang dibutuhkan pihak lain. Transaksi membeku selamanya (deadly embrace) tanpa campur tangan eksternal.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BATAS LAB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Lab membuktikan simulasi channel Go standar berbatas context timeout. Tidak mengimplementasikan Wait-For Graph internal storage engine dan menggunakan backoff tetap 2ms untuk kebutuhan test deterministik.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Deadlock is a circular dependency. The database aborts one transaction as a victim.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README.md • internal/bank/account.go                                                                                          02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18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Mengapa Ini Krusial: Dampak Sistemik Deadlock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Deadlock bukan anomali teoritis, melainkan risiko nyata di sistem throughput tinggi.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DAMPAK OPERASIONAL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Koneksi database pool tertahan, latensi p99 meroket, dan transaksi pengguna dibatalkan paksa. Kegagalan penanganan di aplikasi menyebabkan lonjakan HTTP 500 error ke pengguna akhir.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AKAR MASALAH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Banyak pengembang menganggap deadlock sebagai bug database engine, padahal mayoritas penyebabnya adalah ketiadaan koordinasi urutan akses data di lapisan aplikasi.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Unordered data access at the application layer is the primary catalyst for database deadlocks.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content/02-master-draft.md                                                                                          03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18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Mental Model: Siklus Tunggu (Circular Wait)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Kondisi ke-4 Coffman: siklus tertutup dependensi kepemilikan sumber daya.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TRANSAKSI 1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Memegang lock pada Akun A, lalu mencoba mengakuisisi lock pada Akun B. Proses terblokir menunggu Akun B dibebaskan oleh Transaksi 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TRANSAKSI 2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Memegang lock pada Akun B, lalu mencoba mengakuisisi lock pada Akun A. Proses terblokir menunggu Akun A dibebaskan oleh Transaksi 1.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Circular wait transforms isolated locks into an unbreakable systemic freeze.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content/02-master-draft.md                                                                                          04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18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Database Engine: Wait-For Graph &amp; Deadlock Monitor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Cara mesin database relasional mendeteksi siklus dependensi antar transaksi.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WAIT-FOR GRAPH (WFG)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Database engine memelihara directed graph di memori. Node merepresentasikan transaksi, dan edge merepresentasikan hubungan tunggu (Tx1 -&gt; Tx2).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DEADLOCK MONITOR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Thread latar belakang berjalan periodik memeriksa siklus tertutup pada WFG. Jika siklus ditemukan, database mendeklarasikan status deadlock.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Relational databases identify deadlock by traversing cycle paths in the in-memory Wait-For Graph.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research/05-report.md                                                                                          05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18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Deadlock Victim: Eksekusi Rollback Sepihak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Pemutusan siklus tunggu secara paksa oleh mesin basis data.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KRITERIA VICTIM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Database memilih transaksi yang paling murah untuk di-rollback (misalnya transaksi dengan log mutasi paling sedikit) atau berbasis konfigurasi prioritas.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KONSEKUENSI ABORT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Semua lock yang dipegang korban dilepas seketika, status di-rollback, dan error spesifik dikembalikan ke client (PostgreSQL 40P01, MSSQL 1205).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The database forcefully breaks circular wait by terminating the least costly transaction.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research/05-report.md                                                                                          06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18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Arsitektur Simulasi Lab: In-Memory Mutex &amp; Context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Memodelkan row lock dan deadlock detection di Go tanpa dependensi luar.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BUFFERED CHANNEL (MUTEX)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Setiap akun memiliki channel struct bernilai 1. Akuisisi lock mengambil token dari channel; pelepasan lock mengembalikan token ke channel.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CONTEXT DEADLINE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Jika token lock tidak tersedia sebelum context deadline tercapai, Lock mengembalikan ErrDeadlock, merepresentasikan aksi abort oleh deadlock monitor.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Channel selects with context timeouts elegantly model non-blocking lock acquisition and victim aborts.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internal/bank/account.go                                                                                          07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18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Model Akun: internal/bank/account.go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Struktur data murni dengan penguncian berbatas waktu context.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STRUKTUR DATA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type Account struct {</a:t>
            </a:r>
            <a:br/>
            <a:r>
              <a:t>  ID string</a:t>
            </a:r>
            <a:br/>
            <a:r>
              <a:t>  Balance int</a:t>
            </a:r>
            <a:br/>
            <a:r>
              <a:t>  ch chan struct{}</a:t>
            </a:r>
            <a:br/>
            <a:r>
              <a:t>}</a:t>
            </a:r>
            <a:br/>
            <a:r>
              <a:t>Channel berkapasitas 1 slot menjamin mutual exclusion.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AKUISISI LOCK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select {</a:t>
            </a:r>
            <a:br/>
            <a:r>
              <a:t>case &lt;-a.ch: return nil</a:t>
            </a:r>
            <a:br/>
            <a:r>
              <a:t>case &lt;-ctx.Done(): return ErrDeadlock</a:t>
            </a:r>
            <a:br/>
            <a:r>
              <a:t>}</a:t>
            </a:r>
            <a:br/>
            <a:r>
              <a:t>Timeout secara deterministik mengindikasikan transaksi korban.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Explicit context timeouts prevent goroutines from hanging indefinitely during lock contention.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internal/bank/account.go                                                                                          08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18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Pendekatan Naif: Pemicu Deadlock (TransferNaive)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Akuisisi lock mengikuti urutan parameter caller tanpa koordinasi global.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POLA PENGUNCIAN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Fungsi TransferNaive mengunci akun from terlebih dahulu, menahan lock selama durasi transaksi (delay), kemudian mencoba mengunci akun 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SKENARIO GAGAL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Goroutine 1: Transfer(A -&gt; B)</a:t>
            </a:r>
            <a:br/>
            <a:r>
              <a:t>Goroutine 2: Transfer(B -&gt; A)</a:t>
            </a:r>
            <a:br/>
            <a:r>
              <a:t>Keduanya menahan lock pertama dan saling menunggu lock kedua hingga context timeout.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Parameter-order locking inherently risks circular wait under bidirectional concurrent 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internal/transfer/transfer.go                                                                                          09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18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Pencegahan Deterministik: Lock Ordering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Mengeliminasi kondisi circular wait dengan mengurutkan penguncian sumber daya.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PRINSIP KERJA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Setiap transaksi membandingkan ID akun dan selalu mengunci akun dengan identifier lebih kecil terlebih dahulu (acc1.ID &lt; acc2.ID), apapun arah transfernya.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HASIL MATEMATIS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Karena urutan penguncian monotonik global, circular wait mustahil terbentuk. Transaksi kedua tertahan di gerbang pertama, mengantre secara tertib.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Lock ordering eliminates the circular wait condition by enforcing global monotonic acquisition.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internal/transfer/transfer.go                                                                                          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18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Implementasi: TransferOrdered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Pengurutan leksikografis ID sebelum akuisisi kunci pertama.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KODE PENGURUTAN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first, second := acc1, acc2</a:t>
            </a:r>
            <a:br/>
            <a:r>
              <a:t>if acc1.ID &gt; acc2.ID {</a:t>
            </a:r>
            <a:br/>
            <a:r>
              <a:t>  first, second = acc2, acc1</a:t>
            </a:r>
            <a:br/>
            <a:r>
              <a:t>}</a:t>
            </a:r>
            <a:br/>
            <a:r>
              <a:t>Sumber daya selalu diurutkan sebelum baris penguncian pertama.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EKSEKUSI AMAN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first.Lock(ctx) lalu second.Lock(ctx).</a:t>
            </a:r>
            <a:br/>
            <a:r>
              <a:t>Kedua transfer bersaing memperebutkan lock pertama yang sama. Pemenang menyelesaikan mutasi tanpa risiko siklus.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Sorting lock targets before acquisition converts deadlock conflicts into sequential queueing.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internal/transfer/transfer.go                                                                                          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18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Pemulihan Otomatis: Application-Level Retry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Menangani transaksi korban yang dibatalkan oleh database engine.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KEBUTUHAN RETRY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Pada query dinamis kompleks, lock ordering global tidak selalu dapat dipaksakan. Aplikasi harus menangkap error deadlock dan melakukan eksekusi ulang.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STRATEGI BACKOFF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Memberikan jeda waktu singkat sebelum retry memberi kesempatan bagi transaksi pemenang untuk menyelesaikan commit dan melepas kuncinya.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Application retry is mandatory to ensure resilient recovery when deadlock victims are aborted.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internal/transfer/transfer.go                                                                                          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18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Implementasi: TransferWithRetry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Membungkus transfer naif dengan perulangan berbatas waktu context.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LOGIKA RETRY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for i := 0; i &lt; maxRetries; i++ {</a:t>
            </a:r>
            <a:br/>
            <a:r>
              <a:t>  attemptCtx, cancel := context.WithTimeout(ctx, 10*time.Millisecond)</a:t>
            </a:r>
            <a:br/>
            <a:r>
              <a:t>  err := TransferNaive(attemptCtx, ...)</a:t>
            </a:r>
            <a:br/>
            <a:r>
              <a:t>  cancel()</a:t>
            </a:r>
            <a:br/>
            <a:r>
              <a:t>  if err == nil { return nil }</a:t>
            </a:r>
            <a:br/>
            <a: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PENANGANAN ERROR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Hanya mengulang jika error berupa ErrDeadlock atau DeadlineExceeded. Error validasi domain diteruskan langsung ke pemanggil tanpa retry sia-sia.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Transparent retries absorb transient deadlock errors without escalating failures to users.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internal/transfer/transfer.go                                                                                          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18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Verifikasi Uji 1: Deadlock Terjadi pada Pola Naif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TestDeadlockOccurrence membuktikan pembentukan circular wait.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SETUP PENGUJIAN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Dua goroutine menjalankan TransferNaive bolak-balik (A ke B, dan B ke A) secara konkuren dengan durasi delay 10ms dan context timeout 20ms.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BUKTI ASSERTION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Test memverifikasi bahwa minimal satu transaksi mengembalikan ErrDeadlock (deadlock victim), membuktikan hipotesis kegagalan naif.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Concurrent bidirectional transfers naively executed inevitably produce deadlock victims.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tests/transfer_test.go                                                                                          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18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Verifikasi Uji 2: Lock Ordering Mencegah Deadlock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TestLockOrderingPreventsDeadlock membuktikan efektivitas pengurutan.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SETUP PENGUJIAN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Dua goroutine menjalankan TransferOrdered bolak-balik (A ke B, dan B ke A) secara simultan pada kondisi konkurensi dan durasi yang sama.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BUKTI ASSERTION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Kedua goroutine selesai dengan err == nil. Saldo total kedua akun tetap utuh dan konsisten tanpa ada kegagalan transaksi.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Strict lock ordering guarantees zero deadlocks regardless of transaction concurrency levels.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tests/transfer_test.go                                                                                          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18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Verifikasi Uji 3: Pemulihan Lewat Application Retry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TestRetryRecoversDeadlock memverifikasi ketahanan pemulihan transaksi.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SETUP PENGUJIAN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Transfer naif dua arah dibungkus TransferWithRetry dengan batas maxRetries = 10 dan delay transaksi 10ms.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BUKTI ASSERTION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Meskipun tabrakan lock awal terjadi, transaksi korban berhasil pulih pada percobaan berikutnya. Kedua transfer berhasil 100%.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Application retries recover aborted transactions, ensuring eventual transactional consistency.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tests/transfer_test.go                                                                                          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18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Verifikasi Uji 4: Dampak Durasi Transaksi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TestTransactionDurationImpact membuktikan korelasi durasi terhadap deadlock.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KOMPARASI METRIK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Menguji 20 pasang transfer konkuren pada durasi transaksi panjang (5ms) dibandingkan durasi instan (0ms).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BUKTI EMPIRIS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Frekuensi deadlock pada transaksi panjang terbukti lebih tinggi (longDeadlocks &gt;= shortDeadlocks) karena jendela kompetisi terbuka lebih lama.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Holding locks longer widens the contention window and exponentially raises deadlock probability.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tests/transfer_test.go                                                                                          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18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Pencegahan vs Pemulihan: Matriks Strategi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Membandingkan karakteristik operasional Lock Ordering dan Retry.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LOCK ORDERING (PENCEGAHAN)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Kelebihan: 0% deadlock, latensi terprediksi, hemat CPU.</a:t>
            </a:r>
            <a:br/>
            <a:r>
              <a:t>Kekurangan: Menuntut disiplin kode global; sulit pada query ad-hoc kompleks.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RETRY (PEMULIHAN)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Kelebihan: Resilien terhadap kegagalan tak terduga; mudah dipasang.</a:t>
            </a:r>
            <a:br/>
            <a:r>
              <a:t>Kekurangan: Membebani database saat load tinggi; butuh idempotensi ketat.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Prevent deadlocks architecturally with ordering; absorb edge-case anomalies with retries.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content/02-master-draft.md                                                                                          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18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Panduan Produksi 1: Universal Ordering &amp; Batch SQL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Aturan pengurutan harus konsisten di seluruh penjuru sistem.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KONSISTENSI GLOBAL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Mengurutkan ID pada endpoint pembayaran tidak berguna bila cron job rekonsiliasi mengakses tabel tanpa pengurutan. Urutan harus seragam.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BATCH MUTASI SQL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Pada operasi multi-baris (UPDATE / SELECT FOR UPDATE), selalu tambahkan ORDER BY id ASC sebelum melakukan klausa penguncian.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A single unsorted query path compromises the deadlock safety of the entire system.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content/02-master-draft.md                                                                                          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18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Panduan Produksi 2: Transaksi Singkat &amp; Nol I/O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Meminimalkan waktu penahanan kunci eksklusif di database.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HINDARI NETWORK I/O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Jangan pernah memanggil HTTP API eksternal (payment gateway, notifikasi) di dalam blok transaksi database yang sedang menahan lock baris.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PERSIAPKAN DATA AWAL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Validasi parameter, siapkan payload, dan hitung bisnis rule di memori sebelum membuka blok transaksi `BEGIN ... COMMIT`.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Keep database transactions strictly in-memory and ephemeral to shrink lock windows.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content/02-master-draft.md                                                                                          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18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Panduan Produksi 3: Backoff Jitter &amp; Idempotensi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Mencegah fenomena retry storm dan eksekusi ganda pada sistem produksi.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EXPONENTIAL + JITTER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Gunakan backoff eksponensial dengan acakan jitter pada produksi alih-alih fixed backoff, agar ribuan transaksi korban tidak retry bersamaan.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IDEMPOTENSI MUTLAK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Pastikan blok transaksi yang diulang aman dieksekusi berkali-kali tanpa menghasilkan mutasi saldo ganda atau riwayat duplikat.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Combine exponential jittered backoff with strict idempotency to safely execute retries at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content/02-master-draft.md                                                                                          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18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Kesalahan Umum Arsitektur (Anti-Patterns)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Pola implementasi yang kerap memicu deadlock di lingkungan produksi.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TRANSAKSI GEMUK (FAT TX)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Menggabungkan logging, audit trail, notifikasi email, dan transfer dana dalam satu transaksi besar yang menahan lock puluhan detik.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PENGABAIAN ERROR KORBAN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Membiarkan error deadlock lolos ke controller API dan diterjemahkan sebagai unhandled 500 error tanpa mekanisme retry otomatis.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Fat transactions and unhandled victim errors turn manageable concurrency into system outages.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content/02-master-draft.md                                                                                          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200">
                <a:solidFill>
                  <a:srgbClr val="087F76"/>
                </a:solidFill>
              </a:defRPr>
            </a:pPr>
            <a:r>
              <a:t>SOFTWARE ENGINEERING LAB                                                                              LAB 18</a:t>
            </a:r>
          </a:p>
          <a:p>
            <a:pPr>
              <a:defRPr b="1" sz="2600">
                <a:solidFill>
                  <a:srgbClr val="0B1B2D"/>
                </a:solidFill>
              </a:defRPr>
            </a:pPr>
            <a:r>
              <a:t>Checklist Rilis Rekayasa Sistem Konkuren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Daftar periksa sebelum merilis fitur mutasi multi-sumber daya ke produksi.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PENCEGAHAN &amp; DESAIN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[ ] Seluruh akses baris terurut monotonik (ORDER BY id ASC)</a:t>
            </a:r>
            <a:br/>
            <a:r>
              <a:t>[ ] Nol panggilan HTTP / RPC di dalam blok transaksi aktif</a:t>
            </a:r>
            <a:br/>
            <a:r>
              <a:t>[ ] Durasi transaksi seminimal mungkin (&lt; 20ms)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2011680"/>
            <a:ext cx="512064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300">
                <a:solidFill>
                  <a:srgbClr val="087F76"/>
                </a:solidFill>
              </a:defRPr>
            </a:pPr>
            <a:r>
              <a:t>PEMULIHAN &amp; OPERASIONAL</a:t>
            </a:r>
          </a:p>
          <a:p>
            <a:pPr>
              <a:defRPr sz="1300">
                <a:solidFill>
                  <a:srgbClr val="0B1B2D"/>
                </a:solidFill>
              </a:defRPr>
            </a:pPr>
            <a:r>
              <a:t>[ ] Handler error menangkap kode deadlock spesifik database</a:t>
            </a:r>
            <a:br/>
            <a:r>
              <a:t>[ ] Logika retry menggunakan backoff eksponensial + jitter</a:t>
            </a:r>
            <a:br/>
            <a:r>
              <a:t>[ ] Batas maksimum retry ditetapkan (3-5 kali)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303520"/>
            <a:ext cx="10698480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Verify monotonic lock ordering and resilient retry handling before deploying concurrent mutations.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18096"/>
                </a:solidFill>
              </a:defRPr>
            </a:pPr>
            <a:r>
              <a:t>content/02-master-draft.md                                                                                          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5EEAD4"/>
                </a:solidFill>
              </a:defRPr>
            </a:pPr>
            <a:r>
              <a:t>SOFTWARE ENGINEERING LAB | LAB 18</a:t>
            </a:r>
          </a:p>
          <a:p>
            <a:pPr>
              <a:defRPr b="1" sz="2800">
                <a:solidFill>
                  <a:srgbClr val="FFFFFF"/>
                </a:solidFill>
              </a:defRPr>
            </a:pPr>
            <a:r>
              <a:t>Urutkan Penguncian, Pulihkan Korban Transaksi.</a:t>
            </a:r>
          </a:p>
          <a:p>
            <a:pPr>
              <a:defRPr b="1" sz="1800">
                <a:solidFill>
                  <a:srgbClr val="5EEAD4"/>
                </a:solidFill>
              </a:defRPr>
            </a:pPr>
            <a:r>
              <a:t>Break circular wait with monotonic lock ordering. Recover aborted victims with application retries.</a:t>
            </a:r>
          </a:p>
          <a:p>
            <a:br/>
            <a:pPr>
              <a:defRPr sz="1500">
                <a:solidFill>
                  <a:srgbClr val="E2E8F0"/>
                </a:solidFill>
              </a:defRPr>
            </a:pPr>
            <a:r>
              <a:t>Software Engineering Lab 18 — Deadlock Simulation &amp; Prevention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internal/bank/account.go • internal/transfer/transfer.go • tests/transfer_test.go • cmd/demo/main.go</a:t>
            </a:r>
          </a:p>
          <a:p>
            <a:br/>
            <a:pPr>
              <a:defRPr sz="1300">
                <a:solidFill>
                  <a:srgbClr val="CBD5E1"/>
                </a:solidFill>
              </a:defRPr>
            </a:pPr>
            <a:r>
              <a:t>REPOSITORY: github.com/lukman-ss/software-engineering-lab/tree/main/labs/18-deadlock</a:t>
            </a:r>
          </a:p>
          <a:p>
            <a:pPr>
              <a:defRPr b="1" sz="1800">
                <a:solidFill>
                  <a:srgbClr val="F6AD55"/>
                </a:solidFill>
              </a:defRPr>
            </a:pPr>
            <a:r>
              <a:t>Lukman / lukman-ss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Verified Go 1.22 (Race-Clean) • 4/4 Tests PASS • commit 6649acb946725e993e78f99ec47833a5498cc870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