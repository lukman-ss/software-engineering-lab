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Deadlock di Sistem Konkuren</a:t>
            </a:r>
          </a:p>
          <a:p/>
          <a:p>
            <a:r>
              <a:t>Mental Model: Deadlock is an inescapable circular wait resolved only by external engine aborts or strict lock ordering.</a:t>
            </a:r>
          </a:p>
          <a:p/>
          <a:p>
            <a:r>
              <a:t>[]</a:t>
            </a:r>
          </a:p>
          <a:p>
            <a:r>
              <a:t>- Retro Terminal Visualizing Wait-For Graph, Lock Ordering &amp; Abort Mechanics</a:t>
            </a:r>
          </a:p>
          <a:p>
            <a:r>
              <a:t>- Simulasi Konkurensi Mutasi Saldo Bank dengan Goroutines dan Context Timeout di Go</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Lonjakan Transaksi Konkuren Memicu Kemacetan Sistemik</a:t>
            </a:r>
          </a:p>
          <a:p/>
          <a:p>
            <a:r>
              <a:t>Mental Model: Uncoordinated concurrent resource locks inevitably produce circular dependencies under sustained traffic.</a:t>
            </a:r>
          </a:p>
          <a:p/>
          <a:p>
            <a:r>
              <a:t>[DAMPAK DEADLOCK PADA SISTEM TRANSAKSIONAL]</a:t>
            </a:r>
          </a:p>
          <a:p>
            <a:r>
              <a:t>- Peningkatan Latensi: Transaksi tertahan tanpa batas waktu hingga mekanisme deteksi siklus basis data terpicu.</a:t>
            </a:r>
          </a:p>
          <a:p>
            <a:r>
              <a:t>- Gugurnya Transaksi: Database membatalkan satu transaksi sepihak; klien menerima galat pembatalan mendadak.</a:t>
            </a:r>
          </a:p>
          <a:p>
            <a:r>
              <a:t>- Bukan Berarti Rusak: Deadlock bukan berarti basis data rusak, melainkan akibat pola urutan akuisisi lock aplikasi yang acak.</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Review Kode Manual Gagal Menangkap Siklus Tunggu Konkuren</a:t>
            </a:r>
          </a:p>
          <a:p/>
          <a:p>
            <a:r>
              <a:t>Mental Model: Sequential testing cannot reveal non-deterministic timing windows in concurrent resource acquisition.</a:t>
            </a:r>
          </a:p>
          <a:p/>
          <a:p>
            <a:r>
              <a:t>[KELEMAHAN PENDEKATAN NAIF PENGUJIAN]</a:t>
            </a:r>
          </a:p>
          <a:p>
            <a:r>
              <a:t>- Interleaving Gaib: Jadwal eksekusi thread bergantung pada thread scheduler runtime dan OS, sulit direproduksi lokal.</a:t>
            </a:r>
          </a:p>
          <a:p>
            <a:r>
              <a:t>- Unit Test Tunggal Lolos: Pengujian fungsional sekuensial selalu berhasil karena kompetisi sumber daya tidak pernah terpicu.</a:t>
            </a:r>
          </a:p>
          <a:p>
            <a:r>
              <a:t>- Tidak Otomatis Aman: Membungkus transaksi dengan blok ACID tidak otomatis aman dari kebuntuan bila urutan query berbeda.</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Anatomi Siklus Tunggu: Deadly Embrace Dua Transaksi</a:t>
            </a:r>
          </a:p>
          <a:p/>
          <a:p>
            <a:r>
              <a:t>Mental Model: A closed circular dependency graph locks all participants until an external entity terminates one node.</a:t>
            </a:r>
          </a:p>
          <a:p/>
          <a:p>
            <a:r>
              <a:t>[EMPAT TAHAP TERBENTUKNYA CIRCULAR WAIT]</a:t>
            </a:r>
          </a:p>
          <a:p>
            <a:r>
              <a:t>- 1. Mutual Exclusion (Row Exclusive): Satu entitas data akun hanya dapat dikunci dan dimutasi oleh satu transaksi pada satu waktu.</a:t>
            </a:r>
          </a:p>
          <a:p>
            <a:r>
              <a:t>- 2. Hold and Wait (Lock Retained): Transaksi 1 memegang Lock Akun A sambil menunggu pelepasan Lock Akun B dari pihak lain.</a:t>
            </a:r>
          </a:p>
          <a:p>
            <a:r>
              <a:t>- 3. No Preemption (Voluntary Release): Kunci data tidak dapat direbut paksa; hanya dilepas ketika commit atau rollback terjadi.</a:t>
            </a:r>
          </a:p>
          <a:p>
            <a:r>
              <a:t>- 4. Circular Wait (Deadly Embrace): Hanya pada jalur ini transaksi saling mengunci dan terhenti permanen tanpa intervensi luar.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Alur Deteksi Mesin Basis Data: Dari Wait-For Graph ke Abort</a:t>
            </a:r>
          </a:p>
          <a:p/>
          <a:p>
            <a:r>
              <a:t>Mental Model: Periodic background graph analysis identifies cyclic dependencies and evicts minimal-cost victim transactions.</a:t>
            </a:r>
          </a:p>
          <a:p/>
          <a:p>
            <a:r>
              <a:t>[TAHAPAN PENANGANAN DEADLOCK INTERNAL DATABASE]</a:t>
            </a:r>
          </a:p>
          <a:p>
            <a:r>
              <a:t>- 1. Lock Contention (Wait Queue): Transaksi meminta lock pada baris data sibuk dan dimasukkan ke dalam antrean tunggu.</a:t>
            </a:r>
          </a:p>
          <a:p>
            <a:r>
              <a:t>- 2. Timeout Trigger (deadlock_timeout): Setelah ambang waktu terlewati (default PG 1s), thread monitor pengecekan siklus dijalankan.</a:t>
            </a:r>
          </a:p>
          <a:p>
            <a:r>
              <a:t>- 3. Cycle Detection (Wait-For Graph): Algoritma DFS memeriksa graf dependensi transaksi untuk menemukan siklus tertutup.</a:t>
            </a:r>
          </a:p>
          <a:p>
            <a:r>
              <a:t>- 4. Victim Selection (Engine Abort): Mesin membatalkan transaksi korban; belum membuktikan algoritma cost-based di luar lab.</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Pola Penguncian Naif yang Menimbulkan Deadlock</a:t>
            </a:r>
          </a:p>
          <a:p/>
          <a:p>
            <a:r>
              <a:t>Mental Model: Binding lock acquisition order directly to call arguments creates bidirectional lock acquisition hazards.</a:t>
            </a:r>
          </a:p>
          <a:p/>
          <a:p>
            <a:r>
              <a:t>[internal/transfer/transfer.go]</a:t>
            </a:r>
          </a:p>
          <a:p>
            <a:r>
              <a:t>- func TransferNaive(ctx context.Context, from, to *bank.Account, amount int, delay time.Duration) error {</a:t>
            </a:r>
          </a:p>
          <a:p>
            <a:r>
              <a:t>-     if err := from.Lock(ctx); err != nil { return err }</a:t>
            </a:r>
          </a:p>
          <a:p>
            <a:r>
              <a:t>-     defer from.Unlock()</a:t>
            </a:r>
          </a:p>
          <a:p>
            <a:r>
              <a:t>-     time.Sleep(delay) // simulasi durasi transaksi internal</a:t>
            </a:r>
          </a:p>
          <a:p>
            <a:r>
              <a:t>-     if err := to.Lock(ctx); err != nil { return err }</a:t>
            </a:r>
          </a:p>
          <a:p>
            <a:r>
              <a:t>-     defer to.Unlock()</a:t>
            </a:r>
          </a:p>
          <a:p>
            <a:r>
              <a:t>-     from.Balance -= amount</a:t>
            </a:r>
          </a:p>
          <a:p>
            <a:r>
              <a:t>-     to.Balance += amount</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Kronologi Tabrakan: Goroutine A vs Goroutine B</a:t>
            </a:r>
          </a:p>
          <a:p/>
          <a:p>
            <a:r>
              <a:t>Mental Model: Simultaneous cross-resource acquisition without preemption leads to an unresolvable terminal deadlock.</a:t>
            </a:r>
          </a:p>
          <a:p/>
          <a:p>
            <a:r>
              <a:t>[FASE KEGAGALAN TRANSAKSI SILANG]</a:t>
            </a:r>
          </a:p>
          <a:p>
            <a:r>
              <a:t>- Langkah 1: Akuisisi Parsial: Goroutine 1 berhasil mengunci Akun A; Goroutine 2 bersamaan mengunci Akun B.</a:t>
            </a:r>
          </a:p>
          <a:p>
            <a:r>
              <a:t>- Langkah 2: Saling Menunggu: Goroutine 1 mencoba mengunci Akun B (sibuk); Goroutine 2 mencoba mengunci Akun A (sibuk).</a:t>
            </a:r>
          </a:p>
          <a:p>
            <a:r>
              <a:t>- Langkah 3: Kebuntuan Mutlak: Kedua goroutine terblokir; tidak ada yang dapat melanjutkan atau melepas lock secara sukarela.</a:t>
            </a:r>
          </a:p>
          <a:p>
            <a:r>
              <a:t>- Langkah 4: Terminasi Paksa: Hanya pada jalur ini context timeout memutus rantai dan mengembalikan galat ErrDeadlock.</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Matriks Diagnostik: Fenomena Penguncian di Database</a:t>
            </a:r>
          </a:p>
          <a:p/>
          <a:p>
            <a:r>
              <a:t>Mental Model: Distinguish linear queuing delays from cyclic deadlock dependencies requiring automatic abort intervention.</a:t>
            </a:r>
          </a:p>
          <a:p/>
          <a:p>
            <a:r>
              <a:t>[KARAKTERISTIK GANGGUAN PENGUNCIAN SISTEM]</a:t>
            </a:r>
          </a:p>
          <a:p>
            <a:r>
              <a:t>- Dimensi Masalah | Normal Lock Contention | Lock Timeout | Deadlock (Circular Wait)</a:t>
            </a:r>
          </a:p>
          <a:p>
            <a:r>
              <a:t>- Kondisi Dependensi | Antrean linear satu arah | Tunggu melebihi ambang batas | Siklus tertutup saling sandera (A-&gt;B-&gt;A)</a:t>
            </a:r>
          </a:p>
          <a:p>
            <a:r>
              <a:t>- Penyelesaian Mesin | Menunggu lock dilepas | Transaksi pemohon dibatalkan | Satu transaksi dikorbankan via rollback</a:t>
            </a:r>
          </a:p>
          <a:p>
            <a:r>
              <a:t>- Kode Galat Umum | Tidak ada galat (hanya antre) | MySQL 1205 (wait timeout) | PG 40P01 / MySQL 1213 / SQLServer 1205</a:t>
            </a:r>
          </a:p>
          <a:p>
            <a:r>
              <a:t>- Akar Masalah | Beban transaksi tinggi | Transaksi lambat / long-running | Pola urutan akuisisi lock tidak konsisten</a:t>
            </a:r>
          </a:p>
          <a:p>
            <a:r>
              <a:t>- Solusi Arsitektural | Indexing &amp; isolasi lebih rendah | Perpendek durasi transaksi | Lock Ordering konsisten &amp; Retry Pattern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Tiga Lapisan Pertahanan Menghadapi Deadlock</a:t>
            </a:r>
          </a:p>
          <a:p/>
          <a:p>
            <a:r>
              <a:t>Mental Model: Prevent cycles deterministically via lock ordering, minimize lock duration, and recover residual aborts via retries.</a:t>
            </a:r>
          </a:p>
          <a:p/>
          <a:p>
            <a:r>
              <a:t>[STRATEGI PENANGANAN DEADLOCK BERTAHAP]</a:t>
            </a:r>
          </a:p>
          <a:p>
            <a:r>
              <a:t>- 1. Lock Ordering: Urutkan seluruh resource berdasarkan ID sebelum akuisisi kunci; memutus circular wait secara matematis.</a:t>
            </a:r>
          </a:p>
          <a:p>
            <a:r>
              <a:t>- 2. Perpendek Transaksi: Keluarkan panggilan jaringan pihak ketiga dan kalkulasi berat dari dalam blok transaksi SQL.</a:t>
            </a:r>
          </a:p>
          <a:p>
            <a:r>
              <a:t>- 3. Application Retry: Tangkap kode galat deadlock; bukan berarti pasrah, melainkan pulihkan transaksi via backoff.</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Eksekusi Test Suite dan Demo cmd/demo Lolos Bersih</a:t>
            </a:r>
          </a:p>
          <a:p/>
          <a:p>
            <a:r>
              <a:t>Mental Model: Executable test proof confirms deterministic reproduction, mathematical prevention, and transparent recovery.</a:t>
            </a:r>
          </a:p>
          <a:p/>
          <a:p>
            <a:r>
              <a:t>[TERMINAL OUTPUT: go test -v -race ./... &amp;&amp; go run ./cmd/demo]</a:t>
            </a:r>
          </a:p>
          <a:p>
            <a:r>
              <a:t>- === RUN   TestDeadlockOccurrence</a:t>
            </a:r>
          </a:p>
          <a:p>
            <a:r>
              <a:t>- --- PASS: TestDeadlockOccurrence (0.02s) [victim identified]</a:t>
            </a:r>
          </a:p>
          <a:p>
            <a:r>
              <a:t>- === RUN   TestLockOrderingPreventsDeadlock</a:t>
            </a:r>
          </a:p>
          <a:p>
            <a:r>
              <a:t>- --- PASS: TestLockOrderingPreventsDeadlock (0.01s) [balances consistent]</a:t>
            </a:r>
          </a:p>
          <a:p>
            <a:r>
              <a:t>- === RUN   TestRetryRecoversDeadlock</a:t>
            </a:r>
          </a:p>
          <a:p>
            <a:r>
              <a:t>- --- PASS: TestRetryRecoversDeadlock (0.02s) [both transfers complete]</a:t>
            </a:r>
          </a:p>
          <a:p>
            <a:r>
              <a:t>- === RUN   TestTransactionDurationImpact</a:t>
            </a:r>
          </a:p>
          <a:p>
            <a:r>
              <a:t>- --- PASS: TestTransactionDurationImpact (0.05s) [long &gt;= short]</a:t>
            </a:r>
          </a:p>
          <a:p>
            <a:r>
              <a:t>- PASS: ok  labs/18-deadlock/tests  1.715s (race detector: clean)</a:t>
            </a:r>
          </a:p>
          <a:p>
            <a:r>
              <a:t>- 1. Simulating Naive Concurrent Transfers -&gt; deadlock victim detected</a:t>
            </a:r>
          </a:p>
          <a:p>
            <a:r>
              <a:t>- 2. Simulating Lock Ordered Transfers    -&gt; ACC-1=1100, ACC-2=900 (success)</a:t>
            </a:r>
          </a:p>
          <a:p>
            <a:r>
              <a:t>- 3. Simulating Retry Mechanism           -&gt; Final Balances: ACC-1=1100, ACC-2=900</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Batasan Bukti Lab: Yang Dibuktikan vs Belum</a:t>
            </a:r>
          </a:p>
          <a:p/>
          <a:p>
            <a:r>
              <a:t>Mental Model: Strictly separate application-level synchronization models from relational storage engine locking internals.</a:t>
            </a:r>
          </a:p>
          <a:p/>
          <a:p>
            <a:r>
              <a:t>[BATAS PEMBUKTIAN SISTEM LAB 18]</a:t>
            </a:r>
          </a:p>
          <a:p>
            <a:r>
              <a:t>- YANG DIBUKTIKAN: Reproduksi circular wait, keampuhan pengurutan ID kunci, dan pemulihan saldo via retry loop.</a:t>
            </a:r>
          </a:p>
          <a:p>
            <a:r>
              <a:t>- YANG TIDAK DIBUKTIKAN: Mesin graph parser WFG riil, multi-table foreign key cascades, dan gap locking di database.</a:t>
            </a:r>
          </a:p>
          <a:p>
            <a:r>
              <a:t>- BATAS KLAIM EMPIRIS: Lab belum membuktikan ketahanan sistem pada skala 50.000 TPS dengan distribusi kunci acak.</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Kompromi Rekayasa: Lock Ordering vs Application Retry</a:t>
            </a:r>
          </a:p>
          <a:p/>
          <a:p>
            <a:r>
              <a:t>Mental Model: Choose between upfront developmental discipline via ordering or operational compute overhead via retries.</a:t>
            </a:r>
          </a:p>
          <a:p/>
          <a:p>
            <a:r>
              <a:t>[ANALISIS PERBANDINGAN TRADE-OFF]</a:t>
            </a:r>
          </a:p>
          <a:p>
            <a:r>
              <a:t>- Lock Ordering: Disiplin Kode: Bebas deadlock sepenuhnya, namun mewajibkan kesepakatan urutan global di seluruh tim pengembang.</a:t>
            </a:r>
          </a:p>
          <a:p>
            <a:r>
              <a:t>- Retry: Beban Komputasi: Mudah dipasang di wrapper, namun memboroskan CPU dan I/O jika terjadi abort berulang-ulang.</a:t>
            </a:r>
          </a:p>
          <a:p>
            <a:r>
              <a:t>- Tidak Otomatis Cepat: Menambah retry tidak otomatis meningkatkan throughput bila contention pada satu baris data terlalu pekat.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Model Sinkronisasi Akun Berbasis Channel dan Timeout</a:t>
            </a:r>
          </a:p>
          <a:p/>
          <a:p>
            <a:r>
              <a:t>Mental Model: Channel token acquisition coupled with context cancellation models interruptible resource acquisition.</a:t>
            </a:r>
          </a:p>
          <a:p/>
          <a:p>
            <a:r>
              <a:t>[internal/bank/account.go]</a:t>
            </a:r>
          </a:p>
          <a:p>
            <a:r>
              <a:t>- type Account struct {</a:t>
            </a:r>
          </a:p>
          <a:p>
            <a:r>
              <a:t>-     ID      string</a:t>
            </a:r>
          </a:p>
          <a:p>
            <a:r>
              <a:t>-     Balance int</a:t>
            </a:r>
          </a:p>
          <a:p>
            <a:r>
              <a:t>-     ch      chan struct{} // channel buffer 1 sebagai token lock</a:t>
            </a:r>
          </a:p>
          <a:p>
            <a:r>
              <a:t>- }</a:t>
            </a:r>
          </a:p>
          <a:p>
            <a:r>
              <a:t>- func (a *Account) Lock(ctx context.Context) error {</a:t>
            </a:r>
          </a:p>
          <a:p>
            <a:r>
              <a:t>-     select {</a:t>
            </a:r>
          </a:p>
          <a:p>
            <a:r>
              <a:t>-     case &lt;-a.ch: return nil</a:t>
            </a:r>
          </a:p>
          <a:p>
            <a:r>
              <a:t>-     case &lt;-ctx.Done(): return ErrDeadlock // representasi deadlock abort</a:t>
            </a:r>
          </a:p>
          <a:p>
            <a:r>
              <a: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Transformasi: Dari Tabrakan Acak ke Eksekusi Teratur</a:t>
            </a:r>
          </a:p>
          <a:p/>
          <a:p>
            <a:r>
              <a:t>Mental Model: Convert circular blocking hazards into deterministic linear queues via strict lexical key sorting.</a:t>
            </a:r>
          </a:p>
          <a:p/>
          <a:p>
            <a:r>
              <a:t>[KOMPARASI KONDISI SISTEM TRANSAKSI]</a:t>
            </a:r>
          </a:p>
          <a:p>
            <a:r>
              <a:t>- Sebelum: Urutan Dinamis: Kunci diambil mengikuti urutan parameter fungsi; transfer dua arah saling menjebak dalam circular wait.</a:t>
            </a:r>
          </a:p>
          <a:p>
            <a:r>
              <a:t>- Sesudah: Leksikografis: ID akun diurutkan secara konsisten; kedua proses antre secara teratur pada lock pertama yang sama.</a:t>
            </a:r>
          </a:p>
          <a:p>
            <a:r>
              <a:t>- Bukan Berarti Lambat: Mengantre pada satu kunci bukan berarti menurunkan throughput; sistem terhindar dari biaya rollback.</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Pencegahan Deterministik: Pengurutan Kunci Berdasarkan ID</a:t>
            </a:r>
          </a:p>
          <a:p/>
          <a:p>
            <a:r>
              <a:t>Mental Model: Global monotonic resource acquisition eliminates cycles across all concurrent transaction paths.</a:t>
            </a:r>
          </a:p>
          <a:p/>
          <a:p>
            <a:r>
              <a:t>[internal/transfer/transfer.go]</a:t>
            </a:r>
          </a:p>
          <a:p>
            <a:r>
              <a:t>- func TransferOrdered(ctx context.Context, acc1, acc2 *bank.Account, amount int, delay time.Duration) error {</a:t>
            </a:r>
          </a:p>
          <a:p>
            <a:r>
              <a:t>-     first, second := acc1, acc2</a:t>
            </a:r>
          </a:p>
          <a:p>
            <a:r>
              <a:t>-     if acc1.ID &gt; acc2.ID { first, second = acc2, acc1 }</a:t>
            </a:r>
          </a:p>
          <a:p>
            <a:r>
              <a:t>-     if err := first.Lock(ctx); err != nil { return err }</a:t>
            </a:r>
          </a:p>
          <a:p>
            <a:r>
              <a:t>-     defer first.Unlock()</a:t>
            </a:r>
          </a:p>
          <a:p>
            <a:r>
              <a:t>-     time.Sleep(delay)</a:t>
            </a:r>
          </a:p>
          <a:p>
            <a:r>
              <a:t>-     if err := second.Lock(ctx); err != nil { return err }</a:t>
            </a:r>
          </a:p>
          <a:p>
            <a:r>
              <a:t>-     defer second.Unlock()</a:t>
            </a:r>
          </a:p>
          <a:p>
            <a:r>
              <a:t>-     acc1.Balance -= amount; acc2.Balance += amount</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Verifikasi Test: Membuktikan Terjadinya Deadlock Victim</a:t>
            </a:r>
          </a:p>
          <a:p/>
          <a:p>
            <a:r>
              <a:t>Mental Model: Reproducing deadlocks requires synchronized contention windows where resources are held during secondary requests.</a:t>
            </a:r>
          </a:p>
          <a:p/>
          <a:p>
            <a:r>
              <a:t>[tests/transfer_test.go]</a:t>
            </a:r>
          </a:p>
          <a:p>
            <a:r>
              <a:t>- func TestDeadlockOccurrence(t *testing.T) {</a:t>
            </a:r>
          </a:p>
          <a:p>
            <a:r>
              <a:t>-     // Goroutine 1 mentransfer A -&gt; B (delay 10ms, timeout 20ms)</a:t>
            </a:r>
          </a:p>
          <a:p>
            <a:r>
              <a:t>-     go func() { errs[0] = transfer.TransferNaive(ctx1, accA, accB, 10, 10*time.Millisecond) }()</a:t>
            </a:r>
          </a:p>
          <a:p>
            <a:r>
              <a:t>-     // Goroutine 2 bersamaan mentransfer B -&gt; A (delay 10ms, timeout 20ms)</a:t>
            </a:r>
          </a:p>
          <a:p>
            <a:r>
              <a:t>-     go func() { errs[1] = transfer.TransferNaive(ctx2, accB, accA, 10, 10*time.Millisecond) }()</a:t>
            </a:r>
          </a:p>
          <a:p>
            <a:r>
              <a:t>-     wg.Wait()</a:t>
            </a:r>
          </a:p>
          <a:p>
            <a:r>
              <a:t>-     hasDeadlock := (errs[0] == bank.ErrDeadlock) || (errs[1] == bank.ErrDeadlock)</a:t>
            </a:r>
          </a:p>
          <a:p>
            <a:r>
              <a:t>-     if !hasDeadlock { t.Fatalf("expected at least one deadlock victim")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Verifikasi Test: Lock Ordering Menuntaskan Semua Transaksi</a:t>
            </a:r>
          </a:p>
          <a:p/>
          <a:p>
            <a:r>
              <a:t>Mental Model: Enforcing a single acquisition order linearizes resource contention, preserving full transaction integrity.</a:t>
            </a:r>
          </a:p>
          <a:p/>
          <a:p>
            <a:r>
              <a:t>[tests/transfer_test.go]</a:t>
            </a:r>
          </a:p>
          <a:p>
            <a:r>
              <a:t>- func TestLockOrderingPreventsDeadlock(t *testing.T) {</a:t>
            </a:r>
          </a:p>
          <a:p>
            <a:r>
              <a:t>-     go func() { errs[0] = transfer.TransferOrdered(ctx1, accA, accB, 10, 5*time.Millisecond) }()</a:t>
            </a:r>
          </a:p>
          <a:p>
            <a:r>
              <a:t>-     go func() { errs[1] = transfer.TransferOrdered(ctx2, accB, accA, 10, 5*time.Millisecond) }()</a:t>
            </a:r>
          </a:p>
          <a:p>
            <a:r>
              <a:t>-     wg.Wait()</a:t>
            </a:r>
          </a:p>
          <a:p>
            <a:r>
              <a:t>-     if errs[0] != nil || errs[1] != nil { t.Fatalf("expected both to succeed") }</a:t>
            </a:r>
          </a:p>
          <a:p>
            <a:r>
              <a:t>-     if accA.Balance != 100 || accB.Balance != 100 {</a:t>
            </a:r>
          </a:p>
          <a:p>
            <a:r>
              <a:t>-         t.Fatalf("unexpected balance: A=%d, B=%d", accA.Balance, accB.Balance)</a:t>
            </a:r>
          </a:p>
          <a:p>
            <a:r>
              <a: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Pemulihan Transparan: Penanganan Abort dengan Retry</a:t>
            </a:r>
          </a:p>
          <a:p/>
          <a:p>
            <a:r>
              <a:t>Mental Model: Catch transient concurrency aborts and replay idempotent transactions following brief backoff intervals.</a:t>
            </a:r>
          </a:p>
          <a:p/>
          <a:p>
            <a:r>
              <a:t>[internal/transfer/transfer.go]</a:t>
            </a:r>
          </a:p>
          <a:p>
            <a:r>
              <a:t>- func TransferWithRetry(ctx context.Context, from, to *bank.Account, amount int, delay time.Duration, maxRetries int) error {</a:t>
            </a:r>
          </a:p>
          <a:p>
            <a:r>
              <a:t>-     for i := 0; i &lt; maxRetries; i++ {</a:t>
            </a:r>
          </a:p>
          <a:p>
            <a:r>
              <a:t>-         attemptCtx, cancel := context.WithTimeout(ctx, 10*time.Millisecond)</a:t>
            </a:r>
          </a:p>
          <a:p>
            <a:r>
              <a:t>-         err := TransferNaive(attemptCtx, from, to, amount, delay)</a:t>
            </a:r>
          </a:p>
          <a:p>
            <a:r>
              <a:t>-         cancel()</a:t>
            </a:r>
          </a:p>
          <a:p>
            <a:r>
              <a:t>-         if err == nil { return nil }</a:t>
            </a:r>
          </a:p>
          <a:p>
            <a:r>
              <a:t>-         if err != bank.ErrDeadlock &amp;&amp; err != context.DeadlineExceeded { return err }</a:t>
            </a:r>
          </a:p>
          <a:p>
            <a:r>
              <a:t>-         time.Sleep(2 * time.Millisecond) // backoff sebelum mencoba kembali</a:t>
            </a:r>
          </a:p>
          <a:p>
            <a:r>
              <a:t>-     }</a:t>
            </a:r>
          </a:p>
          <a:p>
            <a:r>
              <a:t>-     return bank.ErrDeadlock</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Dampak Durasi: Transaksi Panjang Memperbesar Risiko</a:t>
            </a:r>
          </a:p>
          <a:p/>
          <a:p>
            <a:r>
              <a:t>Mental Model: Deadlock probability scales proportionally with the duration locks are held open by active transactions.</a:t>
            </a:r>
          </a:p>
          <a:p/>
          <a:p>
            <a:r>
              <a:t>[tests/transfer_test.go]</a:t>
            </a:r>
          </a:p>
          <a:p>
            <a:r>
              <a:t>- func TestTransactionDurationImpact(t *testing.T) {</a:t>
            </a:r>
          </a:p>
          <a:p>
            <a:r>
              <a:t>-     longDeadlocks := countDeadlocks(5*time.Millisecond, 10)</a:t>
            </a:r>
          </a:p>
          <a:p>
            <a:r>
              <a:t>-     shortDeadlocks := countDeadlocks(0, 10)</a:t>
            </a:r>
          </a:p>
          <a:p>
            <a:r>
              <a:t>-     if longDeadlocks &lt; shortDeadlocks {</a:t>
            </a:r>
          </a:p>
          <a:p>
            <a:r>
              <a:t>-         t.Fatalf("expected long duration to have &gt;= deadlocks: long=%d, short=%d",</a:t>
            </a:r>
          </a:p>
          <a:p>
            <a:r>
              <a:t>-                  longDeadlocks, shortDeadlocks)</a:t>
            </a:r>
          </a:p>
          <a:p>
            <a:r>
              <a: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Checklist Proteksi Deadlock di Lingkungan Produksi</a:t>
            </a:r>
          </a:p>
          <a:p/>
          <a:p>
            <a:r>
              <a:t>Mental Model: Enforce strict operational criteria to design, isolate, and recover concurrent database transactions.</a:t>
            </a:r>
          </a:p>
          <a:p/>
          <a:p>
            <a:r>
              <a:t>[STANDAR REKAYASA KONEKSI BASIS DATA]</a:t>
            </a:r>
          </a:p>
          <a:p>
            <a:r>
              <a:t>- Terapkan Lock Ordering seragam pada seluruh mutasi multi-tabel di seluruh repositori.</a:t>
            </a:r>
          </a:p>
          <a:p>
            <a:r>
              <a:t>- Lakukan ORDER BY primary_key ASC sebelum query UPDATE batch atau SELECT FOR UPDATE.</a:t>
            </a:r>
          </a:p>
          <a:p>
            <a:r>
              <a:t>- Keluarkan panggilan HTTP eksternal dan komputasi berat dari dalam transaksi database.</a:t>
            </a:r>
          </a:p>
          <a:p>
            <a:r>
              <a:t>- Tangkap kode galat deadlock vendor (Postgres 40P01, MySQL 1213, SQL Server 1205).</a:t>
            </a:r>
          </a:p>
          <a:p>
            <a:r>
              <a:t>- Terapkan exponential backoff dengan randomized jitter pada lapisan retry aplikasi.</a:t>
            </a:r>
          </a:p>
          <a:p>
            <a:r>
              <a:t>- Pastikan seluruh operasi yang di-retry bersifat idempotent untuk mencegah mutasi ganda.</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Anti-Pattern Umum dalam Penanganan Transaksi</a:t>
            </a:r>
          </a:p>
          <a:p/>
          <a:p>
            <a:r>
              <a:t>Mental Model: Avoid external I/O within transaction boundaries and never retry non-idempotent business operations.</a:t>
            </a:r>
          </a:p>
          <a:p/>
          <a:p>
            <a:r>
              <a:t>[POLA BERBAHAYA YANG HARUS DIHINDARI]</a:t>
            </a:r>
          </a:p>
          <a:p>
            <a:r>
              <a:t>- I/O Eksternal di Transaksi: Memanggil API pihak ketiga atau menunggu I/O disk saat koneksi database masih memegang row lock.</a:t>
            </a:r>
          </a:p>
          <a:p>
            <a:r>
              <a:t>- Batch Update Acak: Mengupdate ratusan baris data dari array memori tanpa mengurutkan ID terlebih dahulu.</a:t>
            </a:r>
          </a:p>
          <a:p>
            <a:r>
              <a:t>- Bukan Berarti Aman: Memasang retry tanpa idempotensi bukan berarti aman, melainkan memicu mutasi saldo ganda.</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Reproduksi Mandiri di Mesin Lokal Menggunakan Go</a:t>
            </a:r>
          </a:p>
          <a:p/>
          <a:p>
            <a:r>
              <a:t>Mental Model: Zero-dependency concurrency simulations provide fast, deterministic validation of distributed failure modes.</a:t>
            </a:r>
          </a:p>
          <a:p/>
          <a:p>
            <a:r>
              <a:t>[COMMAND RUNNER (ZERO DEPENDENCIES)]</a:t>
            </a:r>
          </a:p>
          <a:p>
            <a:r>
              <a:t>- cd labs/18-deadlock</a:t>
            </a:r>
          </a:p>
          <a:p>
            <a:r>
              <a:t>- go test -v ./...    # verifikasi 4 pengujian deadlock, ordering, retry &amp; durasi</a:t>
            </a:r>
          </a:p>
          <a:p>
            <a:r>
              <a:t>- go test -race ./... # pembuktian sinkronisasi konkuren bebas data race</a:t>
            </a:r>
          </a:p>
          <a:p>
            <a:r>
              <a:t>- go run ./cmd/demo   # eksekusi demonstrasi CLI interaktif skenario 1, 2, dan 3</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Prinsip Inti: Deadlock adalah Keniscayaan Konkurensi</a:t>
            </a:r>
          </a:p>
          <a:p/>
          <a:p>
            <a:r>
              <a:t>Mental Model: Design for deterministic lock ordering upfront, minimize critical sections, and treat abort recovery as standard operating procedure.</a:t>
            </a:r>
          </a:p>
          <a:p/>
          <a:p>
            <a:r>
              <a:t>[TIGA PILAR KETAHANAN KONKURENSI SISTEM]</a:t>
            </a:r>
          </a:p>
          <a:p>
            <a:r>
              <a:t>- Disiplin Urutan Global: Jadikan pengurutan kunci sebagai standar baku query di seluruh lapisan arsitektur microservices.</a:t>
            </a:r>
          </a:p>
          <a:p>
            <a:r>
              <a:t>- Keringkasan Transaksi: Pangkas waktu hidup transaksi seminimal mungkin; lock hanya saat mutasi siap dieksekusi.</a:t>
            </a:r>
          </a:p>
          <a:p>
            <a:r>
              <a:t>- Toleransi Transparan: Rancang aplikasi agar tidak otomatis panik saat menerima abort; pulihkan via retry transparan.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Deadlock bukan kegagalan basis data, melainkan alarm bahwa aplikasi Anda mengunci sumber daya secara acak.</a:t>
            </a:r>
          </a:p>
          <a:p/>
          <a:p>
            <a:r>
              <a:t>Mental Model: Deadlocks are structural alarms indicating uncoordinated concurrent resource access patterns.</a:t>
            </a:r>
          </a:p>
          <a:p/>
          <a:p>
            <a:r>
              <a:t>[MODUL IMPLEMENTASI]</a:t>
            </a:r>
          </a:p>
          <a:p>
            <a:r>
              <a:t>- internal/bank/account.go • internal/transfer/transfer.go</a:t>
            </a:r>
          </a:p>
          <a:p>
            <a:r>
              <a:t>- cmd/demo/main.go • tests/transfer_test.go</a:t>
            </a:r>
          </a:p>
          <a:p>
            <a:r>
              <a:t>- engineering/01-design.md • content/02-master-draft.md</a:t>
            </a:r>
          </a:p>
          <a:p>
            <a:r>
              <a:t>[VERIFIKASI &amp; STATUS]</a:t>
            </a:r>
          </a:p>
          <a:p>
            <a:r>
              <a:t>- Commit: e76d13f • Status: APPROVED</a:t>
            </a:r>
          </a:p>
          <a:p>
            <a:r>
              <a:t>- Test passing: 4 test suites (DeadlockOccurrence, LockOrdering, RetryRecovery, DurationImpact)</a:t>
            </a:r>
          </a:p>
          <a:p>
            <a:r>
              <a:t>- Race detector: Clean (go test -race ./... PASS in 1.715s)</a:t>
            </a:r>
          </a:p>
          <a:p>
            <a:r>
              <a:t>- Zero external dependencies: 100% Go standard library.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18</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Deadlock di Sistem Konkuren</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Mekanisme Siklus Tunggu, Penanganan Database, dan Strategi Aplikasi di Go</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Lonjakan Transaksi Konkuren Memicu Kemacetan Sistemik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Ketika dua proses mengunci data yang sama dengan urutan berlawanan, sistem terhenti total.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DAMPAK DEADLOCK PADA SISTEM TRANSAKSIONAL</a:t>
            </a:r>
          </a:p>
          <a:p>
            <a:pPr>
              <a:spcAft>
                <a:spcPts val="400"/>
              </a:spcAft>
              <a:defRPr sz="1200">
                <a:solidFill>
                  <a:srgbClr val="0B1B2D"/>
                </a:solidFill>
              </a:defRPr>
            </a:pPr>
            <a:r>
              <a:t>• Peningkatan Latensi: Transaksi tertahan tanpa batas waktu hingga mekanisme deteksi siklus basis data terpicu.</a:t>
            </a:r>
          </a:p>
          <a:p>
            <a:pPr>
              <a:spcAft>
                <a:spcPts val="400"/>
              </a:spcAft>
              <a:defRPr sz="1200">
                <a:solidFill>
                  <a:srgbClr val="0B1B2D"/>
                </a:solidFill>
              </a:defRPr>
            </a:pPr>
            <a:r>
              <a:t>• Gugurnya Transaksi: Database membatalkan satu transaksi sepihak; klien menerima galat pembatalan mendadak.</a:t>
            </a:r>
          </a:p>
          <a:p>
            <a:pPr>
              <a:spcAft>
                <a:spcPts val="400"/>
              </a:spcAft>
              <a:defRPr sz="1200">
                <a:solidFill>
                  <a:srgbClr val="0B1B2D"/>
                </a:solidFill>
              </a:defRPr>
            </a:pPr>
            <a:r>
              <a:t>• Bukan Berarti Rusak: Deadlock bukan berarti basis data rusak, melainkan akibat pola urutan akuisisi lock aplikasi yang acak.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Ketika volume transaksi tinggi mengakses baris data secara bersamaan, urutan akses yang tidak teratur memicu kebuntuan fatal. Munculnya galat pembatalan transaksi bukan berarti database mengalami kerusakan internal, melainkan sinyal bahwa lapisan aplikasi membiarkan pola penguncian saling silang.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Uncoordinated concurrent resource locks inevitably produce circular dependencies under sustained traffic.</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content/02-master-draft.md:3-16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Review Kode Manual Gagal Menangkap Siklus Tunggu Konkuren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Mengandalkan insting tanpa standarisasi urutan lock membiarkan celah deadlock lolos ke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KELEMAHAN PENDEKATAN NAIF PENGUJIAN</a:t>
            </a:r>
          </a:p>
          <a:p>
            <a:pPr>
              <a:spcAft>
                <a:spcPts val="400"/>
              </a:spcAft>
              <a:defRPr sz="1200">
                <a:solidFill>
                  <a:srgbClr val="0B1B2D"/>
                </a:solidFill>
              </a:defRPr>
            </a:pPr>
            <a:r>
              <a:t>• Interleaving Gaib: Jadwal eksekusi thread bergantung pada thread scheduler runtime dan OS, sulit direproduksi lokal.</a:t>
            </a:r>
          </a:p>
          <a:p>
            <a:pPr>
              <a:spcAft>
                <a:spcPts val="400"/>
              </a:spcAft>
              <a:defRPr sz="1200">
                <a:solidFill>
                  <a:srgbClr val="0B1B2D"/>
                </a:solidFill>
              </a:defRPr>
            </a:pPr>
            <a:r>
              <a:t>• Unit Test Tunggal Lolos: Pengujian fungsional sekuensial selalu berhasil karena kompetisi sumber daya tidak pernah terpicu.</a:t>
            </a:r>
          </a:p>
          <a:p>
            <a:pPr>
              <a:spcAft>
                <a:spcPts val="400"/>
              </a:spcAft>
              <a:defRPr sz="1200">
                <a:solidFill>
                  <a:srgbClr val="0B1B2D"/>
                </a:solidFill>
              </a:defRPr>
            </a:pPr>
            <a:r>
              <a:t>• Tidak Otomatis Aman: Membungkus transaksi dengan blok ACID tidak otomatis aman dari kebuntuan bila urutan query berbeda.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Review manual dan unit test sekuensial tidak mampu mereproduksi deadlock karena eksekusi konkuren bergantung pada timing scheduler CPU. Menjalankan query di dalam transaksi ACID tidak otomatis melindungi sistem dari deadlock jika dua alur bisnis mengunci entitas dalam urutan berlawanan.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Sequential testing cannot reveal non-deterministic timing windows in concurrent resource acquisition.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content/02-master-draft.md:17-33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Siklus Tunggu: Deadly Embrace Dua Transaksi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Empat syarat Coffman terpenuhi secara simultan hingga membentuk dependensi melingkar.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EMPAT TAHAP TERBENTUKNYA CIRCULAR WAIT</a:t>
            </a:r>
          </a:p>
          <a:p>
            <a:pPr>
              <a:spcAft>
                <a:spcPts val="400"/>
              </a:spcAft>
              <a:defRPr sz="1200">
                <a:solidFill>
                  <a:srgbClr val="0B1B2D"/>
                </a:solidFill>
              </a:defRPr>
            </a:pPr>
            <a:r>
              <a:t>• 1. Mutual Exclusion (Row Exclusive): Satu entitas data akun hanya dapat dikunci dan dimutasi oleh satu transaksi pada satu waktu.</a:t>
            </a:r>
          </a:p>
          <a:p>
            <a:pPr>
              <a:spcAft>
                <a:spcPts val="400"/>
              </a:spcAft>
              <a:defRPr sz="1200">
                <a:solidFill>
                  <a:srgbClr val="0B1B2D"/>
                </a:solidFill>
              </a:defRPr>
            </a:pPr>
            <a:r>
              <a:t>• 2. Hold and Wait (Lock Retained): Transaksi 1 memegang Lock Akun A sambil menunggu pelepasan Lock Akun B dari pihak lain.</a:t>
            </a:r>
          </a:p>
          <a:p>
            <a:pPr>
              <a:spcAft>
                <a:spcPts val="400"/>
              </a:spcAft>
              <a:defRPr sz="1200">
                <a:solidFill>
                  <a:srgbClr val="0B1B2D"/>
                </a:solidFill>
              </a:defRPr>
            </a:pPr>
            <a:r>
              <a:t>• 3. No Preemption (Voluntary Release): Kunci data tidak dapat direbut paksa; hanya dilepas ketika commit atau rollback terjadi.</a:t>
            </a:r>
          </a:p>
          <a:p>
            <a:pPr>
              <a:spcAft>
                <a:spcPts val="400"/>
              </a:spcAft>
              <a:defRPr sz="1200">
                <a:solidFill>
                  <a:srgbClr val="0B1B2D"/>
                </a:solidFill>
              </a:defRPr>
            </a:pPr>
            <a:r>
              <a:t>• 4. Circular Wait (Deadly Embrace): Hanya pada jalur ini transaksi saling mengunci dan terhenti permanen tanpa intervensi luar.</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Deadlock terjadi ketika empat syarat Coffman hadir bersamaan: eksklusivitas, menahan lock lama, tanpa perebutan paksa, dan siklus tunggu melingkar. Hanya pada jalur ini kondisi saling sandera terkunci permanen, menuntut adanya intervensi eksternal seperti pembatalan paksa oleh database engine.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closed circular dependency graph locks all participants until an external entity terminates one node.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content/02-master-draft.md:17-42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Alur Deteksi Mesin Basis Data: Dari Wait-For Graph ke Abort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Bagaimana database engine mendeteksi siklus dan memilih satu transaksi sebagai korban.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TAHAPAN PENANGANAN DEADLOCK INTERNAL DATABASE</a:t>
            </a:r>
          </a:p>
          <a:p>
            <a:pPr>
              <a:spcAft>
                <a:spcPts val="400"/>
              </a:spcAft>
              <a:defRPr sz="1200">
                <a:solidFill>
                  <a:srgbClr val="0B1B2D"/>
                </a:solidFill>
              </a:defRPr>
            </a:pPr>
            <a:r>
              <a:t>• 1. Lock Contention (Wait Queue): Transaksi meminta lock pada baris data sibuk dan dimasukkan ke dalam antrean tunggu.</a:t>
            </a:r>
          </a:p>
          <a:p>
            <a:pPr>
              <a:spcAft>
                <a:spcPts val="400"/>
              </a:spcAft>
              <a:defRPr sz="1200">
                <a:solidFill>
                  <a:srgbClr val="0B1B2D"/>
                </a:solidFill>
              </a:defRPr>
            </a:pPr>
            <a:r>
              <a:t>• 2. Timeout Trigger (deadlock_timeout): Setelah ambang waktu terlewati (default PG 1s), thread monitor pengecekan siklus dijalankan.</a:t>
            </a:r>
          </a:p>
          <a:p>
            <a:pPr>
              <a:spcAft>
                <a:spcPts val="400"/>
              </a:spcAft>
              <a:defRPr sz="1200">
                <a:solidFill>
                  <a:srgbClr val="0B1B2D"/>
                </a:solidFill>
              </a:defRPr>
            </a:pPr>
            <a:r>
              <a:t>• 3. Cycle Detection (Wait-For Graph): Algoritma DFS memeriksa graf dependensi transaksi untuk menemukan siklus tertutup.</a:t>
            </a:r>
          </a:p>
          <a:p>
            <a:pPr>
              <a:spcAft>
                <a:spcPts val="400"/>
              </a:spcAft>
              <a:defRPr sz="1200">
                <a:solidFill>
                  <a:srgbClr val="0B1B2D"/>
                </a:solidFill>
              </a:defRPr>
            </a:pPr>
            <a:r>
              <a:t>• 4. Victim Selection (Engine Abort): Mesin membatalkan transaksi korban; belum membuktikan algoritma cost-based di luar lab.</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Basis data tidak memeriksa deadlock secara terus-menerus demi menghemat CPU, melainkan menunggu jeda timeout tertentu sebelum menelusuri Wait-For Graph. Simulasi lab membatalkan transaksi via context timeout, tetapi belum membuktikan algoritma pemilihan korban berbasis biaya modifikasi terkecil seperti MySQL InnoDB.</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Periodic background graph analysis identifies cyclic dependencies and evicts minimal-cost victim transactions.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content/02-master-draft.md:53-70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Pola Penguncian Naif yang Menimbulkan Deadlock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Mengakuisisi lock sesuai urutan input membiarkan arah transaksi saling bertubrukan.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TransferNaive(ctx context.Context, from, to *bank.Account, amount int, delay time.Duration) error {</a:t>
            </a:r>
            <a:br/>
            <a:r>
              <a:t>    if err := from.Lock(ctx); err != nil { return err }</a:t>
            </a:r>
            <a:br/>
            <a:r>
              <a:t>    defer from.Unlock()</a:t>
            </a:r>
            <a:br/>
            <a:r>
              <a:t>    time.Sleep(delay) // simulasi durasi transaksi internal</a:t>
            </a:r>
            <a:br/>
            <a:r>
              <a:t>    if err := to.Lock(ctx); err != nil { return err }</a:t>
            </a:r>
            <a:br/>
            <a:r>
              <a:t>    defer to.Unlock()</a:t>
            </a:r>
            <a:br/>
            <a:r>
              <a:t>    from.Balance -= amount</a:t>
            </a:r>
            <a:br/>
            <a:r>
              <a:t>    to.Balance += amount</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Fungsi TransferNaive mengunci akun pengirim lalu akun penerima sesuai urutan parameter pemanggilan. Menambahkan jeda waktu eksekusi bukan berarti memperlambat kode secara sengaja, melainkan memodelkan latensi query nyata yang membuka celah tabrakan bagi transaksi berlawanan arah.</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Binding lock acquisition order directly to call arguments creates bidirectional lock acquisition hazards.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internal/transfer/transfer.go:9-26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Kronologi Tabrakan: Goroutine A vs Goroutine B</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Langkah demi langkah runtuhnya sistem akibat dua transaksi saling menyandera kunci.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FASE KEGAGALAN TRANSAKSI SILANG</a:t>
            </a:r>
          </a:p>
          <a:p>
            <a:pPr>
              <a:spcAft>
                <a:spcPts val="400"/>
              </a:spcAft>
              <a:defRPr sz="1200">
                <a:solidFill>
                  <a:srgbClr val="0B1B2D"/>
                </a:solidFill>
              </a:defRPr>
            </a:pPr>
            <a:r>
              <a:t>• Langkah 1: Akuisisi Parsial: Goroutine 1 berhasil mengunci Akun A; Goroutine 2 bersamaan mengunci Akun B.</a:t>
            </a:r>
          </a:p>
          <a:p>
            <a:pPr>
              <a:spcAft>
                <a:spcPts val="400"/>
              </a:spcAft>
              <a:defRPr sz="1200">
                <a:solidFill>
                  <a:srgbClr val="0B1B2D"/>
                </a:solidFill>
              </a:defRPr>
            </a:pPr>
            <a:r>
              <a:t>• Langkah 2: Saling Menunggu: Goroutine 1 mencoba mengunci Akun B (sibuk); Goroutine 2 mencoba mengunci Akun A (sibuk).</a:t>
            </a:r>
          </a:p>
          <a:p>
            <a:pPr>
              <a:spcAft>
                <a:spcPts val="400"/>
              </a:spcAft>
              <a:defRPr sz="1200">
                <a:solidFill>
                  <a:srgbClr val="0B1B2D"/>
                </a:solidFill>
              </a:defRPr>
            </a:pPr>
            <a:r>
              <a:t>• Langkah 3: Kebuntuan Mutlak: Kedua goroutine terblokir; tidak ada yang dapat melanjutkan atau melepas lock secara sukarela.</a:t>
            </a:r>
          </a:p>
          <a:p>
            <a:pPr>
              <a:spcAft>
                <a:spcPts val="400"/>
              </a:spcAft>
              <a:defRPr sz="1200">
                <a:solidFill>
                  <a:srgbClr val="0B1B2D"/>
                </a:solidFill>
              </a:defRPr>
            </a:pPr>
            <a:r>
              <a:t>• Langkah 4: Terminasi Paksa: Hanya pada jalur ini context timeout memutus rantai dan mengembalikan galat ErrDeadlock.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Ketika dua transfer berjalan simultan dengan arah berlawanan, masing-masing berhasil mendapatkan kunci pertama namun gagal memperoleh kunci kedua. Hanya pada jalur ini kebuntuan absolut terjadi, memaksa timer pembatalan mengorbankan salah satu transaksi agar yang lain dapat selesai.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Simultaneous cross-resource acquisition without preemption leads to an unresolvable terminal deadlock.</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content/04-diagrams.md:8-27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Diagnostik: Fenomena Penguncian di Database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Membedakan karakteristik teknis deadlock, lock timeout, dan lock contention biasa.</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Dimensi Masalah</a:t>
                      </a:r>
                    </a:p>
                  </a:txBody>
                  <a:tcPr>
                    <a:solidFill>
                      <a:srgbClr val="0B1B2D"/>
                    </a:solidFill>
                  </a:tcPr>
                </a:tc>
                <a:tc>
                  <a:txBody>
                    <a:bodyPr/>
                    <a:lstStyle/>
                    <a:p>
                      <a:pPr>
                        <a:defRPr b="1" sz="1100">
                          <a:solidFill>
                            <a:srgbClr val="FFFFFF"/>
                          </a:solidFill>
                        </a:defRPr>
                      </a:pPr>
                      <a:r>
                        <a:t>Normal Lock Contention</a:t>
                      </a:r>
                    </a:p>
                  </a:txBody>
                  <a:tcPr>
                    <a:solidFill>
                      <a:srgbClr val="0B1B2D"/>
                    </a:solidFill>
                  </a:tcPr>
                </a:tc>
                <a:tc>
                  <a:txBody>
                    <a:bodyPr/>
                    <a:lstStyle/>
                    <a:p>
                      <a:pPr>
                        <a:defRPr b="1" sz="1100">
                          <a:solidFill>
                            <a:srgbClr val="FFFFFF"/>
                          </a:solidFill>
                        </a:defRPr>
                      </a:pPr>
                      <a:r>
                        <a:t>Lock Timeout</a:t>
                      </a:r>
                    </a:p>
                  </a:txBody>
                  <a:tcPr>
                    <a:solidFill>
                      <a:srgbClr val="0B1B2D"/>
                    </a:solidFill>
                  </a:tcPr>
                </a:tc>
                <a:tc>
                  <a:txBody>
                    <a:bodyPr/>
                    <a:lstStyle/>
                    <a:p>
                      <a:pPr>
                        <a:defRPr b="1" sz="1100">
                          <a:solidFill>
                            <a:srgbClr val="FFFFFF"/>
                          </a:solidFill>
                        </a:defRPr>
                      </a:pPr>
                      <a:r>
                        <a:t>Deadlock (Circular Wait)</a:t>
                      </a:r>
                    </a:p>
                  </a:txBody>
                  <a:tcPr>
                    <a:solidFill>
                      <a:srgbClr val="0B1B2D"/>
                    </a:solidFill>
                  </a:tcPr>
                </a:tc>
              </a:tr>
              <a:tr h="457200">
                <a:tc>
                  <a:txBody>
                    <a:bodyPr/>
                    <a:lstStyle/>
                    <a:p>
                      <a:pPr>
                        <a:defRPr sz="1000">
                          <a:solidFill>
                            <a:srgbClr val="0B1B2D"/>
                          </a:solidFill>
                        </a:defRPr>
                      </a:pPr>
                      <a:r>
                        <a:t>Kondisi Dependensi</a:t>
                      </a:r>
                    </a:p>
                  </a:txBody>
                  <a:tcPr>
                    <a:solidFill>
                      <a:srgbClr val="FFFFFF"/>
                    </a:solidFill>
                  </a:tcPr>
                </a:tc>
                <a:tc>
                  <a:txBody>
                    <a:bodyPr/>
                    <a:lstStyle/>
                    <a:p>
                      <a:pPr>
                        <a:defRPr sz="1000">
                          <a:solidFill>
                            <a:srgbClr val="0B1B2D"/>
                          </a:solidFill>
                        </a:defRPr>
                      </a:pPr>
                      <a:r>
                        <a:t>Antrean linear satu arah</a:t>
                      </a:r>
                    </a:p>
                  </a:txBody>
                  <a:tcPr>
                    <a:solidFill>
                      <a:srgbClr val="FFFFFF"/>
                    </a:solidFill>
                  </a:tcPr>
                </a:tc>
                <a:tc>
                  <a:txBody>
                    <a:bodyPr/>
                    <a:lstStyle/>
                    <a:p>
                      <a:pPr>
                        <a:defRPr sz="1000">
                          <a:solidFill>
                            <a:srgbClr val="0B1B2D"/>
                          </a:solidFill>
                        </a:defRPr>
                      </a:pPr>
                      <a:r>
                        <a:t>Tunggu melebihi ambang batas</a:t>
                      </a:r>
                    </a:p>
                  </a:txBody>
                  <a:tcPr>
                    <a:solidFill>
                      <a:srgbClr val="FFFFFF"/>
                    </a:solidFill>
                  </a:tcPr>
                </a:tc>
                <a:tc>
                  <a:txBody>
                    <a:bodyPr/>
                    <a:lstStyle/>
                    <a:p>
                      <a:pPr>
                        <a:defRPr sz="1000">
                          <a:solidFill>
                            <a:srgbClr val="0B1B2D"/>
                          </a:solidFill>
                        </a:defRPr>
                      </a:pPr>
                      <a:r>
                        <a:t>Siklus tertutup saling sandera (A-&gt;B-&gt;A)</a:t>
                      </a:r>
                    </a:p>
                  </a:txBody>
                  <a:tcPr>
                    <a:solidFill>
                      <a:srgbClr val="FFFFFF"/>
                    </a:solidFill>
                  </a:tcPr>
                </a:tc>
              </a:tr>
              <a:tr h="457200">
                <a:tc>
                  <a:txBody>
                    <a:bodyPr/>
                    <a:lstStyle/>
                    <a:p>
                      <a:pPr>
                        <a:defRPr sz="1000">
                          <a:solidFill>
                            <a:srgbClr val="0B1B2D"/>
                          </a:solidFill>
                        </a:defRPr>
                      </a:pPr>
                      <a:r>
                        <a:t>Penyelesaian Mesin</a:t>
                      </a:r>
                    </a:p>
                  </a:txBody>
                  <a:tcPr>
                    <a:solidFill>
                      <a:srgbClr val="FFFFFF"/>
                    </a:solidFill>
                  </a:tcPr>
                </a:tc>
                <a:tc>
                  <a:txBody>
                    <a:bodyPr/>
                    <a:lstStyle/>
                    <a:p>
                      <a:pPr>
                        <a:defRPr sz="1000">
                          <a:solidFill>
                            <a:srgbClr val="0B1B2D"/>
                          </a:solidFill>
                        </a:defRPr>
                      </a:pPr>
                      <a:r>
                        <a:t>Menunggu lock dilepas</a:t>
                      </a:r>
                    </a:p>
                  </a:txBody>
                  <a:tcPr>
                    <a:solidFill>
                      <a:srgbClr val="FFFFFF"/>
                    </a:solidFill>
                  </a:tcPr>
                </a:tc>
                <a:tc>
                  <a:txBody>
                    <a:bodyPr/>
                    <a:lstStyle/>
                    <a:p>
                      <a:pPr>
                        <a:defRPr sz="1000">
                          <a:solidFill>
                            <a:srgbClr val="0B1B2D"/>
                          </a:solidFill>
                        </a:defRPr>
                      </a:pPr>
                      <a:r>
                        <a:t>Transaksi pemohon dibatalkan</a:t>
                      </a:r>
                    </a:p>
                  </a:txBody>
                  <a:tcPr>
                    <a:solidFill>
                      <a:srgbClr val="FFFFFF"/>
                    </a:solidFill>
                  </a:tcPr>
                </a:tc>
                <a:tc>
                  <a:txBody>
                    <a:bodyPr/>
                    <a:lstStyle/>
                    <a:p>
                      <a:pPr>
                        <a:defRPr sz="1000">
                          <a:solidFill>
                            <a:srgbClr val="0B1B2D"/>
                          </a:solidFill>
                        </a:defRPr>
                      </a:pPr>
                      <a:r>
                        <a:t>Satu transaksi dikorbankan via rollback</a:t>
                      </a:r>
                    </a:p>
                  </a:txBody>
                  <a:tcPr>
                    <a:solidFill>
                      <a:srgbClr val="FFFFFF"/>
                    </a:solidFill>
                  </a:tcPr>
                </a:tc>
              </a:tr>
              <a:tr h="457200">
                <a:tc>
                  <a:txBody>
                    <a:bodyPr/>
                    <a:lstStyle/>
                    <a:p>
                      <a:pPr>
                        <a:defRPr sz="1000">
                          <a:solidFill>
                            <a:srgbClr val="0B1B2D"/>
                          </a:solidFill>
                        </a:defRPr>
                      </a:pPr>
                      <a:r>
                        <a:t>Kode Galat Umum</a:t>
                      </a:r>
                    </a:p>
                  </a:txBody>
                  <a:tcPr>
                    <a:solidFill>
                      <a:srgbClr val="FFFFFF"/>
                    </a:solidFill>
                  </a:tcPr>
                </a:tc>
                <a:tc>
                  <a:txBody>
                    <a:bodyPr/>
                    <a:lstStyle/>
                    <a:p>
                      <a:pPr>
                        <a:defRPr sz="1000">
                          <a:solidFill>
                            <a:srgbClr val="0B1B2D"/>
                          </a:solidFill>
                        </a:defRPr>
                      </a:pPr>
                      <a:r>
                        <a:t>Tidak ada galat (hanya antre)</a:t>
                      </a:r>
                    </a:p>
                  </a:txBody>
                  <a:tcPr>
                    <a:solidFill>
                      <a:srgbClr val="FFFFFF"/>
                    </a:solidFill>
                  </a:tcPr>
                </a:tc>
                <a:tc>
                  <a:txBody>
                    <a:bodyPr/>
                    <a:lstStyle/>
                    <a:p>
                      <a:pPr>
                        <a:defRPr sz="1000">
                          <a:solidFill>
                            <a:srgbClr val="0B1B2D"/>
                          </a:solidFill>
                        </a:defRPr>
                      </a:pPr>
                      <a:r>
                        <a:t>MySQL 1205 (wait timeout)</a:t>
                      </a:r>
                    </a:p>
                  </a:txBody>
                  <a:tcPr>
                    <a:solidFill>
                      <a:srgbClr val="FFFFFF"/>
                    </a:solidFill>
                  </a:tcPr>
                </a:tc>
                <a:tc>
                  <a:txBody>
                    <a:bodyPr/>
                    <a:lstStyle/>
                    <a:p>
                      <a:pPr>
                        <a:defRPr sz="1000">
                          <a:solidFill>
                            <a:srgbClr val="0B1B2D"/>
                          </a:solidFill>
                        </a:defRPr>
                      </a:pPr>
                      <a:r>
                        <a:t>PG 40P01 / MySQL 1213 / SQLServer 1205</a:t>
                      </a:r>
                    </a:p>
                  </a:txBody>
                  <a:tcPr>
                    <a:solidFill>
                      <a:srgbClr val="FFFFFF"/>
                    </a:solidFill>
                  </a:tcPr>
                </a:tc>
              </a:tr>
              <a:tr h="457200">
                <a:tc>
                  <a:txBody>
                    <a:bodyPr/>
                    <a:lstStyle/>
                    <a:p>
                      <a:pPr>
                        <a:defRPr sz="1000">
                          <a:solidFill>
                            <a:srgbClr val="0B1B2D"/>
                          </a:solidFill>
                        </a:defRPr>
                      </a:pPr>
                      <a:r>
                        <a:t>Akar Masalah</a:t>
                      </a:r>
                    </a:p>
                  </a:txBody>
                  <a:tcPr>
                    <a:solidFill>
                      <a:srgbClr val="FFFFFF"/>
                    </a:solidFill>
                  </a:tcPr>
                </a:tc>
                <a:tc>
                  <a:txBody>
                    <a:bodyPr/>
                    <a:lstStyle/>
                    <a:p>
                      <a:pPr>
                        <a:defRPr sz="1000">
                          <a:solidFill>
                            <a:srgbClr val="0B1B2D"/>
                          </a:solidFill>
                        </a:defRPr>
                      </a:pPr>
                      <a:r>
                        <a:t>Beban transaksi tinggi</a:t>
                      </a:r>
                    </a:p>
                  </a:txBody>
                  <a:tcPr>
                    <a:solidFill>
                      <a:srgbClr val="FFFFFF"/>
                    </a:solidFill>
                  </a:tcPr>
                </a:tc>
                <a:tc>
                  <a:txBody>
                    <a:bodyPr/>
                    <a:lstStyle/>
                    <a:p>
                      <a:pPr>
                        <a:defRPr sz="1000">
                          <a:solidFill>
                            <a:srgbClr val="0B1B2D"/>
                          </a:solidFill>
                        </a:defRPr>
                      </a:pPr>
                      <a:r>
                        <a:t>Transaksi lambat / long-running</a:t>
                      </a:r>
                    </a:p>
                  </a:txBody>
                  <a:tcPr>
                    <a:solidFill>
                      <a:srgbClr val="FFFFFF"/>
                    </a:solidFill>
                  </a:tcPr>
                </a:tc>
                <a:tc>
                  <a:txBody>
                    <a:bodyPr/>
                    <a:lstStyle/>
                    <a:p>
                      <a:pPr>
                        <a:defRPr sz="1000">
                          <a:solidFill>
                            <a:srgbClr val="0B1B2D"/>
                          </a:solidFill>
                        </a:defRPr>
                      </a:pPr>
                      <a:r>
                        <a:t>Pola urutan akuisisi lock tidak konsisten</a:t>
                      </a:r>
                    </a:p>
                  </a:txBody>
                  <a:tcPr>
                    <a:solidFill>
                      <a:srgbClr val="FFFFFF"/>
                    </a:solidFill>
                  </a:tcPr>
                </a:tc>
              </a:tr>
              <a:tr h="457200">
                <a:tc>
                  <a:txBody>
                    <a:bodyPr/>
                    <a:lstStyle/>
                    <a:p>
                      <a:pPr>
                        <a:defRPr sz="1000">
                          <a:solidFill>
                            <a:srgbClr val="0B1B2D"/>
                          </a:solidFill>
                        </a:defRPr>
                      </a:pPr>
                      <a:r>
                        <a:t>Solusi Arsitektural</a:t>
                      </a:r>
                    </a:p>
                  </a:txBody>
                  <a:tcPr>
                    <a:solidFill>
                      <a:srgbClr val="FFFFFF"/>
                    </a:solidFill>
                  </a:tcPr>
                </a:tc>
                <a:tc>
                  <a:txBody>
                    <a:bodyPr/>
                    <a:lstStyle/>
                    <a:p>
                      <a:pPr>
                        <a:defRPr sz="1000">
                          <a:solidFill>
                            <a:srgbClr val="0B1B2D"/>
                          </a:solidFill>
                        </a:defRPr>
                      </a:pPr>
                      <a:r>
                        <a:t>Indexing &amp; isolasi lebih rendah</a:t>
                      </a:r>
                    </a:p>
                  </a:txBody>
                  <a:tcPr>
                    <a:solidFill>
                      <a:srgbClr val="FFFFFF"/>
                    </a:solidFill>
                  </a:tcPr>
                </a:tc>
                <a:tc>
                  <a:txBody>
                    <a:bodyPr/>
                    <a:lstStyle/>
                    <a:p>
                      <a:pPr>
                        <a:defRPr sz="1000">
                          <a:solidFill>
                            <a:srgbClr val="0B1B2D"/>
                          </a:solidFill>
                        </a:defRPr>
                      </a:pPr>
                      <a:r>
                        <a:t>Perpendek durasi transaksi</a:t>
                      </a:r>
                    </a:p>
                  </a:txBody>
                  <a:tcPr>
                    <a:solidFill>
                      <a:srgbClr val="FFFFFF"/>
                    </a:solidFill>
                  </a:tcPr>
                </a:tc>
                <a:tc>
                  <a:txBody>
                    <a:bodyPr/>
                    <a:lstStyle/>
                    <a:p>
                      <a:pPr>
                        <a:defRPr sz="1000">
                          <a:solidFill>
                            <a:srgbClr val="0B1B2D"/>
                          </a:solidFill>
                        </a:defRPr>
                      </a:pPr>
                      <a:r>
                        <a:t>Lock Ordering konsisten &amp; Retry Pattern</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ini memetakan perbedaan fundamental antara antrean lock normal, lock timeout, dan kondisi deadlock murni. Deadlock memiliki ciri khas dependensi siklik yang tidak dapat selesai sendiri, sehingga selalu memerlukan intervensi rollback aktif dari engine basis data.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Distinguish linear queuing delays from cyclic deadlock dependencies requiring automatic abort intervention.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content/02-master-draft.md:34-42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Lapisan Pertahanan Menghadapi Deadlock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Hierarki strategi rekayasa perangkat lunak dari pencegahan dini hingga pemulihan aktif.</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STRATEGI PENANGANAN DEADLOCK BERTAHAP</a:t>
            </a:r>
          </a:p>
          <a:p>
            <a:pPr>
              <a:spcAft>
                <a:spcPts val="400"/>
              </a:spcAft>
              <a:defRPr sz="1200">
                <a:solidFill>
                  <a:srgbClr val="0B1B2D"/>
                </a:solidFill>
              </a:defRPr>
            </a:pPr>
            <a:r>
              <a:t>• 1. Lock Ordering: Urutkan seluruh resource berdasarkan ID sebelum akuisisi kunci; memutus circular wait secara matematis.</a:t>
            </a:r>
          </a:p>
          <a:p>
            <a:pPr>
              <a:spcAft>
                <a:spcPts val="400"/>
              </a:spcAft>
              <a:defRPr sz="1200">
                <a:solidFill>
                  <a:srgbClr val="0B1B2D"/>
                </a:solidFill>
              </a:defRPr>
            </a:pPr>
            <a:r>
              <a:t>• 2. Perpendek Transaksi: Keluarkan panggilan jaringan pihak ketiga dan kalkulasi berat dari dalam blok transaksi SQL.</a:t>
            </a:r>
          </a:p>
          <a:p>
            <a:pPr>
              <a:spcAft>
                <a:spcPts val="400"/>
              </a:spcAft>
              <a:defRPr sz="1200">
                <a:solidFill>
                  <a:srgbClr val="0B1B2D"/>
                </a:solidFill>
              </a:defRPr>
            </a:pPr>
            <a:r>
              <a:t>• 3. Application Retry: Tangkap kode galat deadlock; bukan berarti pasrah, melainkan pulihkan transaksi via backoff.</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Penanganan deadlock yang kokoh memadukan pencegahan dan ketahanan aplikasi. Mengimplementasikan retry otomatis bukan berarti mengabaikan pencegahan, melainkan jaring pengaman wajib untuk skenario konkurensi ekstrem yang tidak terduga oleh skema ordering.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Prevent cycles deterministically via lock ordering, minimize lock duration, and recover residual aborts via retries.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content/02-master-draft.md:64-70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Eksekusi Test Suite dan Demo cmd/demo Lolos Bersih</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Output terminal membuktikan reproduksi deadlock, prevensi ordering, dan pemulihan retry.</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RUN   TestDeadlockOccurrence</a:t>
            </a:r>
            <a:br/>
            <a:r>
              <a:t>--- PASS: TestDeadlockOccurrence (0.02s) [victim identified]</a:t>
            </a:r>
            <a:br/>
            <a:r>
              <a:t>=== RUN   TestLockOrderingPreventsDeadlock</a:t>
            </a:r>
            <a:br/>
            <a:r>
              <a:t>--- PASS: TestLockOrderingPreventsDeadlock (0.01s) [balances consistent]</a:t>
            </a:r>
            <a:br/>
            <a:r>
              <a:t>=== RUN   TestRetryRecoversDeadlock</a:t>
            </a:r>
            <a:br/>
            <a:r>
              <a:t>--- PASS: TestRetryRecoversDeadlock (0.02s) [both transfers complete]</a:t>
            </a:r>
            <a:br/>
            <a:r>
              <a:t>=== RUN   TestTransactionDurationImpact</a:t>
            </a:r>
            <a:br/>
            <a:r>
              <a:t>--- PASS: TestTransactionDurationImpact (0.05s) [long &gt;= short]</a:t>
            </a:r>
            <a:br/>
            <a:r>
              <a:t>PASS: ok  labs/18-deadlock/tests  1.715s (race detector: clean)</a:t>
            </a:r>
            <a:br/>
            <a:r>
              <a:t>1. Simulating Naive Concurrent Transfers -&gt; deadlock victim detected</a:t>
            </a:r>
            <a:br/>
            <a:r>
              <a:t>2. Simulating Lock Ordered Transfers    -&gt; ACC-1=1100, ACC-2=900 (success)</a:t>
            </a:r>
            <a:br/>
            <a:r>
              <a:t>3. Simulating Retry Mechanism           -&gt; Final Balances: ACC-1=1100, ACC-2=900</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Verifikasi terminal membuktikan seluruh skenario uji lolos tanpa race condition di bawah pengawasan Go race detector. Demonstrasi CLI mengonfirmasi bahwa pendekatan naif menghasilkan deadlock victim, sedangkan pengurutan kunci dan mekanisme retry menyelesaikan mutasi dengan konsisten.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Executable test proof confirms deterministic reproduction, mathematical prevention, and transparent recovery.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engineering/03-execution-result.md:14-61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Batasan Bukti Lab: Yang Dibuktikan vs Belum</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Menegaskan batasan simulasi in-memory terhadap kompleksitas database engine riil.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BATAS PEMBUKTIAN SISTEM LAB 18</a:t>
            </a:r>
          </a:p>
          <a:p>
            <a:pPr>
              <a:spcAft>
                <a:spcPts val="400"/>
              </a:spcAft>
              <a:defRPr sz="1200">
                <a:solidFill>
                  <a:srgbClr val="0B1B2D"/>
                </a:solidFill>
              </a:defRPr>
            </a:pPr>
            <a:r>
              <a:t>• YANG DIBUKTIKAN: Reproduksi circular wait, keampuhan pengurutan ID kunci, dan pemulihan saldo via retry loop.</a:t>
            </a:r>
          </a:p>
          <a:p>
            <a:pPr>
              <a:spcAft>
                <a:spcPts val="400"/>
              </a:spcAft>
              <a:defRPr sz="1200">
                <a:solidFill>
                  <a:srgbClr val="0B1B2D"/>
                </a:solidFill>
              </a:defRPr>
            </a:pPr>
            <a:r>
              <a:t>• YANG TIDAK DIBUKTIKAN: Mesin graph parser WFG riil, multi-table foreign key cascades, dan gap locking di database.</a:t>
            </a:r>
          </a:p>
          <a:p>
            <a:pPr>
              <a:spcAft>
                <a:spcPts val="400"/>
              </a:spcAft>
              <a:defRPr sz="1200">
                <a:solidFill>
                  <a:srgbClr val="0B1B2D"/>
                </a:solidFill>
              </a:defRPr>
            </a:pPr>
            <a:r>
              <a:t>• BATAS KLAIM EMPIRIS: Lab belum membuktikan ketahanan sistem pada skala 50.000 TPS dengan distribusi kunci acak.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membuktikan mekanika dasar deadlock dan validitas teknik pengurutan kunci menggunakan channel in-memory. Pengujian ini belum membuktikan fenomena kompleks seperti gap locking pada indeks database riil atau perilaku sistem pada beban puluhan ribu TPS.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Strictly separate application-level synchronization models from relational storage engine locking internals.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content/01-content-brief.md:12-16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Kompromi Rekayasa: Lock Ordering vs Application Retry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Mengevaluasi konsekuensi operasional antara pengurutan ketat dan toleransi pembatalan.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ANALISIS PERBANDINGAN TRADE-OFF</a:t>
            </a:r>
          </a:p>
          <a:p>
            <a:pPr>
              <a:spcAft>
                <a:spcPts val="400"/>
              </a:spcAft>
              <a:defRPr sz="1200">
                <a:solidFill>
                  <a:srgbClr val="0B1B2D"/>
                </a:solidFill>
              </a:defRPr>
            </a:pPr>
            <a:r>
              <a:t>• Lock Ordering: Disiplin Kode: Bebas deadlock sepenuhnya, namun mewajibkan kesepakatan urutan global di seluruh tim pengembang.</a:t>
            </a:r>
          </a:p>
          <a:p>
            <a:pPr>
              <a:spcAft>
                <a:spcPts val="400"/>
              </a:spcAft>
              <a:defRPr sz="1200">
                <a:solidFill>
                  <a:srgbClr val="0B1B2D"/>
                </a:solidFill>
              </a:defRPr>
            </a:pPr>
            <a:r>
              <a:t>• Retry: Beban Komputasi: Mudah dipasang di wrapper, namun memboroskan CPU dan I/O jika terjadi abort berulang-ulang.</a:t>
            </a:r>
          </a:p>
          <a:p>
            <a:pPr>
              <a:spcAft>
                <a:spcPts val="400"/>
              </a:spcAft>
              <a:defRPr sz="1200">
                <a:solidFill>
                  <a:srgbClr val="0B1B2D"/>
                </a:solidFill>
              </a:defRPr>
            </a:pPr>
            <a:r>
              <a:t>• Tidak Otomatis Cepat: Menambah retry tidak otomatis meningkatkan throughput bila contention pada satu baris data terlalu pekat.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Penerapan lock ordering memberikan kepastian absolut namun menuntut disiplin penulisan query yang seragam di seluruh repository. Menambahkan retry logic tidak otomatis membuat sistem berkinerja tinggi jika sumber daya yang diperebutkan mengalami saturasi ekstrem.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Choose between upfront developmental discipline via ordering or operational compute overhead via retries.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content/02-master-draft.md:64-70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Model Sinkronisasi Akun Berbasis Channel dan Timeout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Menggunakan channel kapasitas 1 sebagai mutex yang peka terhadap pembatalan context.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type Account struct {</a:t>
            </a:r>
            <a:br/>
            <a:r>
              <a:t>    ID      string</a:t>
            </a:r>
            <a:br/>
            <a:r>
              <a:t>    Balance int</a:t>
            </a:r>
            <a:br/>
            <a:r>
              <a:t>    ch      chan struct{} // channel buffer 1 sebagai token lock</a:t>
            </a:r>
            <a:br/>
            <a:r>
              <a:t>}</a:t>
            </a:r>
            <a:br/>
            <a:r>
              <a:t>func (a *Account) Lock(ctx context.Context) error {</a:t>
            </a:r>
            <a:br/>
            <a:r>
              <a:t>    select {</a:t>
            </a:r>
            <a:br/>
            <a:r>
              <a:t>    case &lt;-a.ch: return nil</a:t>
            </a:r>
            <a:br/>
            <a:r>
              <a:t>    case &lt;-ctx.Done(): return ErrDeadlock // representasi deadlock abort</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Model Account memanfaatkan buffered channel 1 slot untuk mengendalikan hak akses mutasi saldo. Simulasi ini tidak sama dengan locking row-level di PostgreSQL yang memiliki status lock modes bertingkat, namun secara elegan merefleksikan pembatalan transaksi akibat timeout eksternal.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Channel token acquisition coupled with context cancellation models interruptible resource acquisition.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internal/bank/account.go:10-33</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Transformasi: Dari Tabrakan Acak ke Eksekusi Teratur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Pergeseran dari pemanggilan naif yang rentan menuju orkestrasi penguncian deterministik.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KOMPARASI KONDISI SISTEM TRANSAKSI</a:t>
            </a:r>
          </a:p>
          <a:p>
            <a:pPr>
              <a:spcAft>
                <a:spcPts val="400"/>
              </a:spcAft>
              <a:defRPr sz="1200">
                <a:solidFill>
                  <a:srgbClr val="0B1B2D"/>
                </a:solidFill>
              </a:defRPr>
            </a:pPr>
            <a:r>
              <a:t>• Sebelum: Urutan Dinamis: Kunci diambil mengikuti urutan parameter fungsi; transfer dua arah saling menjebak dalam circular wait.</a:t>
            </a:r>
          </a:p>
          <a:p>
            <a:pPr>
              <a:spcAft>
                <a:spcPts val="400"/>
              </a:spcAft>
              <a:defRPr sz="1200">
                <a:solidFill>
                  <a:srgbClr val="0B1B2D"/>
                </a:solidFill>
              </a:defRPr>
            </a:pPr>
            <a:r>
              <a:t>• Sesudah: Leksikografis: ID akun diurutkan secara konsisten; kedua proses antre secara teratur pada lock pertama yang sama.</a:t>
            </a:r>
          </a:p>
          <a:p>
            <a:pPr>
              <a:spcAft>
                <a:spcPts val="400"/>
              </a:spcAft>
              <a:defRPr sz="1200">
                <a:solidFill>
                  <a:srgbClr val="0B1B2D"/>
                </a:solidFill>
              </a:defRPr>
            </a:pPr>
            <a:r>
              <a:t>• Bukan Berarti Lambat: Mengantre pada satu kunci bukan berarti menurunkan throughput; sistem terhindar dari biaya rollback.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Sebelum standarisasi urutan, dua transaksi yang bersilangan akan saling menunggu dan berujung pada pembatalan sepihak. Mengantrekan transaksi pada kunci pertama bukan berarti memperlambat sistem, melainkan menyelamatkan CPU dari pemborosan rollback dan retry.</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Convert circular blocking hazards into deterministic linear queues via strict lexical key sorting.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content/02-master-draft.md:148-166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Pencegahan Deterministik: Pengurutan Kunci Berdasarkan ID</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Menjamin bahwa semua proses selalu meminta lock dengan urutan seragam tanpa siklus.</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TransferOrdered(ctx context.Context, acc1, acc2 *bank.Account, amount int, delay time.Duration) error {</a:t>
            </a:r>
            <a:br/>
            <a:r>
              <a:t>    first, second := acc1, acc2</a:t>
            </a:r>
            <a:br/>
            <a:r>
              <a:t>    if acc1.ID &gt; acc2.ID { first, second = acc2, acc1 }</a:t>
            </a:r>
            <a:br/>
            <a:r>
              <a:t>    if err := first.Lock(ctx); err != nil { return err }</a:t>
            </a:r>
            <a:br/>
            <a:r>
              <a:t>    defer first.Unlock()</a:t>
            </a:r>
            <a:br/>
            <a:r>
              <a:t>    time.Sleep(delay)</a:t>
            </a:r>
            <a:br/>
            <a:r>
              <a:t>    if err := second.Lock(ctx); err != nil { return err }</a:t>
            </a:r>
            <a:br/>
            <a:r>
              <a:t>    defer second.Unlock()</a:t>
            </a:r>
            <a:br/>
            <a:r>
              <a:t>    acc1.Balance -= amount; acc2.Balance += amount</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Dengan membandingkan identifier string secara leksikografis, entitas dengan ID lebih kecil selalu dikunci terlebih dahulu. Logika pencegahan ini cakupannya mengikuti test konkurensi lab, menjamin bahwa circular wait mustahil terbentuk karena seluruh goroutine mengantre pada kunci pertama yang sama.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Global monotonic resource acquisition eliminates cycles across all concurrent transaction paths.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internal/transfer/transfer.go:28-50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Membuktikan Terjadinya Deadlock Victim</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Dua goroutine bersaing memicu tabrakan deterministik pada penguncian naif.</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TestDeadlockOccurrence(t *testing.T) {</a:t>
            </a:r>
            <a:br/>
            <a:r>
              <a:t>    // Goroutine 1 mentransfer A -&gt; B (delay 10ms, timeout 20ms)</a:t>
            </a:r>
            <a:br/>
            <a:r>
              <a:t>    go func() { errs[0] = transfer.TransferNaive(ctx1, accA, accB, 10, 10*time.Millisecond) }()</a:t>
            </a:r>
            <a:br/>
            <a:r>
              <a:t>    // Goroutine 2 bersamaan mentransfer B -&gt; A (delay 10ms, timeout 20ms)</a:t>
            </a:r>
            <a:br/>
            <a:r>
              <a:t>    go func() { errs[1] = transfer.TransferNaive(ctx2, accB, accA, 10, 10*time.Millisecond) }()</a:t>
            </a:r>
            <a:br/>
            <a:r>
              <a:t>    wg.Wait()</a:t>
            </a:r>
            <a:br/>
            <a:r>
              <a:t>    hasDeadlock := (errs[0] == bank.ErrDeadlock) || (errs[1] == bank.ErrDeadlock)</a:t>
            </a:r>
            <a:br/>
            <a:r>
              <a:t>    if !hasDeadlock { t.Fatalf("expected at least one deadlock victim")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Unit test membuktikan secara deterministik bahwa transfer silang tanpa pengurutan selalu mengorbankan minimal satu transaksi. Menjalankan dua goroutine paralel tidak otomatis memicu deadlock tanpa delay internal yang memadai untuk membuka jendela kontensi.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Reproducing deadlocks requires synchronized contention windows where resources are held during secondary requests.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tests/transfer_test.go:13-41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Lock Ordering Menuntaskan Semua Transaksi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Kedua transfer konkuren berhasil diselesaikan dengan saldo akhir yang konsisten sempurna.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TestLockOrderingPreventsDeadlock(t *testing.T) {</a:t>
            </a:r>
            <a:br/>
            <a:r>
              <a:t>    go func() { errs[0] = transfer.TransferOrdered(ctx1, accA, accB, 10, 5*time.Millisecond) }()</a:t>
            </a:r>
            <a:br/>
            <a:r>
              <a:t>    go func() { errs[1] = transfer.TransferOrdered(ctx2, accB, accA, 10, 5*time.Millisecond) }()</a:t>
            </a:r>
            <a:br/>
            <a:r>
              <a:t>    wg.Wait()</a:t>
            </a:r>
            <a:br/>
            <a:r>
              <a:t>    if errs[0] != nil || errs[1] != nil { t.Fatalf("expected both to succeed") }</a:t>
            </a:r>
            <a:br/>
            <a:r>
              <a:t>    if accA.Balance != 100 || accB.Balance != 100 {</a:t>
            </a:r>
            <a:br/>
            <a:r>
              <a:t>        t.Fatalf("unexpected balance: A=%d, B=%d", accA.Balance, accB.Balance)</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membuktikan bahwa kedua transaksi bolak-balik berhasil dieksekusi tanpa error sama sekali saat menggunakan TransferOrdered. Hanya pada jalur ini konsistensi saldo terjaga utuh (100 dan 100) karena transaksi saling mengantre secara tertib alih-alih saling mematikan.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Enforcing a single acquisition order linearizes resource contention, preserving full transaction integrity.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tests/transfer_test.go:43-74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Pemulihan Transparan: Penanganan Abort dengan Retry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Membungkus eksekusi dengan batas timeout percobaan dan jeda backoff terencana.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TransferWithRetry(ctx context.Context, from, to *bank.Account, amount int, delay time.Duration, maxRetries int) error {</a:t>
            </a:r>
            <a:br/>
            <a:r>
              <a:t>    for i := 0; i &lt; maxRetries; i++ {</a:t>
            </a:r>
            <a:br/>
            <a:r>
              <a:t>        attemptCtx, cancel := context.WithTimeout(ctx, 10*time.Millisecond)</a:t>
            </a:r>
            <a:br/>
            <a:r>
              <a:t>        err := TransferNaive(attemptCtx, from, to, amount, delay)</a:t>
            </a:r>
            <a:br/>
            <a:r>
              <a:t>        cancel()</a:t>
            </a:r>
            <a:br/>
            <a:r>
              <a:t>        if err == nil { return nil }</a:t>
            </a:r>
            <a:br/>
            <a:r>
              <a:t>        if err != bank.ErrDeadlock &amp;&amp; err != context.DeadlineExceeded { return err }</a:t>
            </a:r>
            <a:br/>
            <a:r>
              <a:t>        time.Sleep(2 * time.Millisecond) // backoff sebelum mencoba kembali</a:t>
            </a:r>
            <a:br/>
            <a:r>
              <a:t>    }</a:t>
            </a:r>
            <a:br/>
            <a:r>
              <a:t>    return bank.ErrDeadlock</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Fungsi TransferWithRetry menangkap galat pembatalan deadlock dan mencoba kembali transaksi secara transparan hingga batas maksimal. Menggunakan fixed backoff 2ms bukan berarti pola ini ideal untuk produksi; implementasi ini adalah penyederhanaan terencana yang membutuhkan jitter pada skala besar.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Catch transient concurrency aborts and replay idempotent transactions following brief backoff intervals.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internal/transfer/transfer.go:52-71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Dampak Durasi: Transaksi Panjang Memperbesar Risiko</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Membandingkan frekuensi deadlock antara transaksi dengan delay versus instan.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TestTransactionDurationImpact(t *testing.T) {</a:t>
            </a:r>
            <a:br/>
            <a:r>
              <a:t>    longDeadlocks := countDeadlocks(5*time.Millisecond, 10)</a:t>
            </a:r>
            <a:br/>
            <a:r>
              <a:t>    shortDeadlocks := countDeadlocks(0, 10)</a:t>
            </a:r>
            <a:br/>
            <a:r>
              <a:t>    if longDeadlocks &lt; shortDeadlocks {</a:t>
            </a:r>
            <a:br/>
            <a:r>
              <a:t>        t.Fatalf("expected long duration to have &gt;= deadlocks: long=%d, short=%d",</a:t>
            </a:r>
            <a:br/>
            <a:r>
              <a:t>                 longDeadlocks, shortDeadlocks)</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empiris membuktikan bahwa transaksi yang menahan lock selama 5 milidetik menghasilkan frekuensi deadlock yang lebih tinggi atau sama dibandingkan transaksi tanpa delay. Pengamatan ini cakupannya mengikuti test lab, memvalidasi prinsip bahwa memperpanjang waktu penahanan lock memperbesar kemungkinan tabrakan.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Deadlock probability scales proportionally with the duration locks are held open by active transactions.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tests/transfer_test.go:105-145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Proteksi Deadlock di Lingkungan Produksi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Panduan komprehensif sebelum merilis kode transaksi konkuren ke basis data.</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STANDAR REKAYASA KONEKSI BASIS DATA</a:t>
            </a:r>
          </a:p>
          <a:p>
            <a:pPr>
              <a:spcAft>
                <a:spcPts val="400"/>
              </a:spcAft>
              <a:defRPr sz="1200">
                <a:solidFill>
                  <a:srgbClr val="0B1B2D"/>
                </a:solidFill>
              </a:defRPr>
            </a:pPr>
            <a:r>
              <a:t>• Terapkan Lock Ordering seragam pada seluruh mutasi multi-tabel di seluruh repositori.</a:t>
            </a:r>
          </a:p>
          <a:p>
            <a:pPr>
              <a:spcAft>
                <a:spcPts val="400"/>
              </a:spcAft>
              <a:defRPr sz="1200">
                <a:solidFill>
                  <a:srgbClr val="0B1B2D"/>
                </a:solidFill>
              </a:defRPr>
            </a:pPr>
            <a:r>
              <a:t>• Lakukan ORDER BY primary_key ASC sebelum query UPDATE batch atau SELECT FOR UPDATE.</a:t>
            </a:r>
          </a:p>
          <a:p>
            <a:pPr>
              <a:spcAft>
                <a:spcPts val="400"/>
              </a:spcAft>
              <a:defRPr sz="1200">
                <a:solidFill>
                  <a:srgbClr val="0B1B2D"/>
                </a:solidFill>
              </a:defRPr>
            </a:pPr>
            <a:r>
              <a:t>• Keluarkan panggilan HTTP eksternal dan komputasi berat dari dalam transaksi database.</a:t>
            </a:r>
          </a:p>
          <a:p>
            <a:pPr>
              <a:spcAft>
                <a:spcPts val="400"/>
              </a:spcAft>
              <a:defRPr sz="1200">
                <a:solidFill>
                  <a:srgbClr val="0B1B2D"/>
                </a:solidFill>
              </a:defRPr>
            </a:pPr>
            <a:r>
              <a:t>• Tangkap kode galat deadlock vendor (Postgres 40P01, MySQL 1213, SQL Server 1205).</a:t>
            </a:r>
          </a:p>
          <a:p>
            <a:pPr>
              <a:spcAft>
                <a:spcPts val="400"/>
              </a:spcAft>
              <a:defRPr sz="1200">
                <a:solidFill>
                  <a:srgbClr val="0B1B2D"/>
                </a:solidFill>
              </a:defRPr>
            </a:pPr>
            <a:r>
              <a:t>• Terapkan exponential backoff dengan randomized jitter pada lapisan retry aplikasi.</a:t>
            </a:r>
          </a:p>
          <a:p>
            <a:pPr>
              <a:spcAft>
                <a:spcPts val="400"/>
              </a:spcAft>
              <a:defRPr sz="1200">
                <a:solidFill>
                  <a:srgbClr val="0B1B2D"/>
                </a:solidFill>
              </a:defRPr>
            </a:pPr>
            <a:r>
              <a:t>• Pastikan seluruh operasi yang di-retry bersifat idempotent untuk mencegah mutasi ganda.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Checklist ini merangkum langkah mitigasi wajib: urutan penguncian global yang seragam, pengurutan kunci pada update massal, pembebasan transaksi dari panggilan eksternal, penangkapan kode galat vendor spesifik, retry berbasis jitter, serta jaminan idempotensi.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Enforce strict operational criteria to design, isolate, and recover concurrent database transactions.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content/02-master-draft.md:273-280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Anti-Pattern Umum dalam Penanganan Transaksi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Kesalahan desain yang sering memicu deadlock persisten pada sistem produksi.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POLA BERBAHAYA YANG HARUS DIHINDARI</a:t>
            </a:r>
          </a:p>
          <a:p>
            <a:pPr>
              <a:spcAft>
                <a:spcPts val="400"/>
              </a:spcAft>
              <a:defRPr sz="1200">
                <a:solidFill>
                  <a:srgbClr val="0B1B2D"/>
                </a:solidFill>
              </a:defRPr>
            </a:pPr>
            <a:r>
              <a:t>• I/O Eksternal di Transaksi: Memanggil API pihak ketiga atau menunggu I/O disk saat koneksi database masih memegang row lock.</a:t>
            </a:r>
          </a:p>
          <a:p>
            <a:pPr>
              <a:spcAft>
                <a:spcPts val="400"/>
              </a:spcAft>
              <a:defRPr sz="1200">
                <a:solidFill>
                  <a:srgbClr val="0B1B2D"/>
                </a:solidFill>
              </a:defRPr>
            </a:pPr>
            <a:r>
              <a:t>• Batch Update Acak: Mengupdate ratusan baris data dari array memori tanpa mengurutkan ID terlebih dahulu.</a:t>
            </a:r>
          </a:p>
          <a:p>
            <a:pPr>
              <a:spcAft>
                <a:spcPts val="400"/>
              </a:spcAft>
              <a:defRPr sz="1200">
                <a:solidFill>
                  <a:srgbClr val="0B1B2D"/>
                </a:solidFill>
              </a:defRPr>
            </a:pPr>
            <a:r>
              <a:t>• Bukan Berarti Aman: Memasang retry tanpa idempotensi bukan berarti aman, melainkan memicu mutasi saldo ganda.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Menahan koneksi transaksi database sambil menunggu respons API pihak ketiga adalah penyebab paling umum lonjakan deadlock di produksi. Memasang wrapper retry tanpa memastikan idempotensi mutasi bukan berarti sistem menjadi andal, melainkan berisiko mencatatkan perubahan saldo ganda.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Avoid external I/O within transaction boundaries and never retry non-idempotent business operations.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content/02-master-draft.md:257-262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Reproduksi Mandiri di Mesin Lokal Menggunakan Go</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Verifikasi mandiri simulasi deadlock tanpa ketergantungan modul eksternal.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cd labs/18-deadlock</a:t>
            </a:r>
            <a:br/>
            <a:r>
              <a:t>go test -v ./...    # verifikasi 4 pengujian deadlock, ordering, retry &amp; durasi</a:t>
            </a:r>
            <a:br/>
            <a:r>
              <a:t>go test -race ./... # pembuktian sinkronisasi konkuren bebas data race</a:t>
            </a:r>
            <a:br/>
            <a:r>
              <a:t>go run ./cmd/demo   # eksekusi demonstrasi CLI interaktif skenario 1, 2, dan 3</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Seluruh simulasi dibangun murni menggunakan pustaka standar Go tanpa modul pihak ketiga. Eksperimen lokal ini memvalidasi mekanika deadlock di memori, namun production masih perlu mengonfigurasi parameter database nyata seperti deadlock_timeout dan log_lock_waits.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Zero-dependency concurrency simulations provide fast, deterministic validation of distributed failure modes.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README.md:14-34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Prinsip Inti: Deadlock adalah Keniscayaan Konkurensi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Pondasi arsitektur tangguh bertumpu pada pencegahan terstruktur dan toleransi kegagalan.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TIGA PILAR KETAHANAN KONKURENSI SISTEM</a:t>
            </a:r>
          </a:p>
          <a:p>
            <a:pPr>
              <a:spcAft>
                <a:spcPts val="400"/>
              </a:spcAft>
              <a:defRPr sz="1200">
                <a:solidFill>
                  <a:srgbClr val="0B1B2D"/>
                </a:solidFill>
              </a:defRPr>
            </a:pPr>
            <a:r>
              <a:t>• Disiplin Urutan Global: Jadikan pengurutan kunci sebagai standar baku query di seluruh lapisan arsitektur microservices.</a:t>
            </a:r>
          </a:p>
          <a:p>
            <a:pPr>
              <a:spcAft>
                <a:spcPts val="400"/>
              </a:spcAft>
              <a:defRPr sz="1200">
                <a:solidFill>
                  <a:srgbClr val="0B1B2D"/>
                </a:solidFill>
              </a:defRPr>
            </a:pPr>
            <a:r>
              <a:t>• Keringkasan Transaksi: Pangkas waktu hidup transaksi seminimal mungkin; lock hanya saat mutasi siap dieksekusi.</a:t>
            </a:r>
          </a:p>
          <a:p>
            <a:pPr>
              <a:spcAft>
                <a:spcPts val="400"/>
              </a:spcAft>
              <a:defRPr sz="1200">
                <a:solidFill>
                  <a:srgbClr val="0B1B2D"/>
                </a:solidFill>
              </a:defRPr>
            </a:pPr>
            <a:r>
              <a:t>• Toleransi Transparan: Rancang aplikasi agar tidak otomatis panik saat menerima abort; pulihkan via retry transparan.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Deadlock tidak boleh dipandang sebagai aib atau bug fatal, melainkan mekanisme perlindungan integritas data dari basis data. Merancang sistem transaksional tidak otomatis membebaskan kita dari kontensi; sistem yang tangguh mencegah siklus sedini mungkin dan memulihkan korban dengan anggun.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Design for deterministic lock ordering upfront, minimize critical sections, and treat abort recovery as standard operating procedure.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content/05-key-takeaways.md:1-8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18</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Deadlock bukan kegagalan basis data, melainkan alarm bahwa aplikasi Anda mengunci sumber daya secara acak.</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Deadlocks are structural alarms indicating uncoordinated concurrent resource access patterns.</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18 - Deadlock di Sistem Konkuren</a:t>
            </a:r>
          </a:p>
          <a:p>
            <a:pPr>
              <a:defRPr sz="1200">
                <a:solidFill>
                  <a:srgbClr val="CBD5E1"/>
                </a:solidFill>
              </a:defRPr>
            </a:pPr>
            <a:r>
              <a:t>https://github.com/lukman-ss/software-engineering-lab/tree/main/labs/18-deadlock</a:t>
            </a:r>
          </a:p>
          <a:p>
            <a:br/>
            <a:pPr>
              <a:defRPr sz="1100" b="1">
                <a:solidFill>
                  <a:srgbClr val="20C997"/>
                </a:solidFill>
              </a:defRPr>
            </a:pPr>
            <a:r>
              <a:t>REPOSITORY</a:t>
            </a:r>
          </a:p>
          <a:p>
            <a:pPr>
              <a:defRPr sz="1100">
                <a:solidFill>
                  <a:srgbClr val="FFFFFF"/>
                </a:solidFill>
                <a:latin typeface="Courier New"/>
              </a:defRPr>
            </a:pPr>
            <a:r>
              <a:t>github.com/lukman-ss/software-engineering-lab/tree/main/labs/18-deadlock</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e76d13f</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Deadlock • Concurrency • Database Locks • Lock Ordering • Retry Pattern • Go</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