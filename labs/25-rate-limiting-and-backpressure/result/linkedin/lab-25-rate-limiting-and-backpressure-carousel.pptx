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presentasi Software Engineering Lab 25 oleh Lukman / lukman-ss. Membahas pertahanan kelebihan beban sistem terdistribusi bertingkat menggunakan pustaka standar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Tanpa rate limiting dan backpressure, sistem rentan terhadap memory exhaustion dan timeout kaskade. Lab 25 membuktikan implementasi pertahanan berlapis di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Kombinasi rate limiting dan backpressure adalah keharusan. Rate limiting menjaga kuota ingress, sedangkan backpressure melindungi resource worker downstream.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Arsitektur 4 lapis memastikan kegagalan pada satu tingkat dapat diisolasi dan diredam sebelum melumpuhkan seluruh simpul komputasi.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bucket mengontrol input dengan toleransi burst sesaat, sementara leaky bucket menghaluskan output menjadi aliran seragam.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 time-delta calculation jauh lebih hemat resource CPU dan memori dibanding membuat background goroutine ticker untuk setiap bucket.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Penggunaan sync.Mutex menjamin konsistensi update multi-field (tokens dan lastRefill) tanpa celah data race.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Leaky bucket memotong semua lonjakan trafik di atas kapasitas wadah, menjamin aliran output downstream selalu stabil.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Isolasi tenant melalui Registry berbasis X-API-Key adalah praktik standar produksi untuk mencegah noisy neighbor problem.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 select-default pada channel Go adalah mekanisme backpressure tercepat dan paling efisien untuk menolak beban berlebih.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Hukum Little membuktikan secara matematis mengapa membatasi kapasitas antrean (bounded) wajib dilakukan pada sistem berkinerja tinggi.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Graceful shutdown memastikan semua tugas yang sudah berada di dalam antrean diselesaikan dengan rapi sebelum proses server mati.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 RFC 6585 memberikan panduan jelas bahwa klien harus membaca header Retry-After dan menunda request sebelum mencoba lagi.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Tanpa penambahan nilai acak (jitter), kenaikan eksponensial sekalipun tidak dapat mencegah benturan beban serentak.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Architecture Blog karya Marc Brooker membuktikan Full Jitter adalah strategi retry paling optimal dalam meredam total beban server.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Fungsi ComputeBackoff aman terhadap integer overflow berkat pemotongan nilai terhadap cap sebelum konversi durasi.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demo membuktikan secara empiris bagaimana keempat komponen bekerja harmonis di bawah skenario beban nyata.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race detector membuktikan penguncian mutex mampu melindungi variabel state internal dari korupsi memori.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Seluruh suite pengujian lolos 100% tanpa kegagalan assertions dan membuktikan kehandalan logika matematis.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yang tangguh tidak memerlukan restart manual saat kelebihan beban, melainkan pulih otomatis melalui regenerasi token.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Mengetahui batasan implementasi in-memory membantu arsitek merancang eskalasi menuju solusi berbasis Redis dan broker pesan.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Memahami jebakan umum ini mencegah insiden operasional fatal pada sistem berskala jutaan request per detik.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Checklist ini menjadi panduan praktis siap pakai saat meninjau rancangan arsitektur backend sebelum rilis produksi.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penutup menyajikan rekapitulasi verifikasi pengujian, kunci arsitektur utama, dan tautan repositori GitHub resmi.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4114800"/>
          </a:xfrm>
          <a:prstGeom prst="rect">
            <a:avLst/>
          </a:prstGeom>
          <a:noFill/>
        </p:spPr>
        <p:txBody>
          <a:bodyPr wrap="square">
            <a:spAutoFit/>
          </a:bodyPr>
          <a:lstStyle/>
          <a:p>
            <a:pPr>
              <a:spcAft>
                <a:spcPts val="2000"/>
              </a:spcAft>
              <a:defRPr b="1" sz="1800">
                <a:solidFill>
                  <a:srgbClr val="087F76"/>
                </a:solidFill>
              </a:defRPr>
            </a:pPr>
            <a:r>
              <a:t>SOFTWARE ENGINEERING LAB  |  LAB 25</a:t>
            </a:r>
          </a:p>
          <a:p>
            <a:pPr>
              <a:spcAft>
                <a:spcPts val="1600"/>
              </a:spcAft>
              <a:defRPr b="1" sz="4400">
                <a:solidFill>
                  <a:srgbClr val="FFFFFF"/>
                </a:solidFill>
              </a:defRPr>
            </a:pPr>
            <a:r>
              <a:t>Rate Limiting &amp; Backpressure di Go</a:t>
            </a:r>
          </a:p>
          <a:p>
            <a:pPr>
              <a:spcAft>
                <a:spcPts val="4000"/>
              </a:spcAft>
              <a:defRPr sz="2000">
                <a:solidFill>
                  <a:srgbClr val="94A3B8"/>
                </a:solidFill>
              </a:defRPr>
            </a:pPr>
            <a:r>
              <a:t>Arsitektur Token Bucket, Bounded Queue Backpressure, RFC 6585 HTTP 429, dan AWS Full Jitter Retry</a:t>
            </a:r>
          </a:p>
          <a:p>
            <a:pPr>
              <a:defRPr b="1" sz="2200">
                <a:solidFill>
                  <a:srgbClr val="D97706"/>
                </a:solidFill>
              </a:defRPr>
            </a:pPr>
            <a:r>
              <a:t>Lukman / lukman-ss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Problem: Beban Ekstrem &amp; Antrean Tak Terbatas</a:t>
            </a:r>
          </a:p>
          <a:p>
            <a:pPr>
              <a:defRPr sz="1500">
                <a:solidFill>
                  <a:srgbClr val="52606B"/>
                </a:solidFill>
              </a:defRPr>
            </a:pPr>
            <a:r>
              <a:t>Ketiadaan kontrol beban memicu penumpukan antrean memori dan kegagalan kaskade.</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MOTIVASI</a:t>
            </a:r>
          </a:p>
          <a:p>
            <a:pPr>
              <a:defRPr sz="1300">
                <a:solidFill>
                  <a:srgbClr val="11283A"/>
                </a:solidFill>
              </a:defRPr>
            </a:pPr>
            <a:r>
              <a:t>Sistem terdistribusi menghadapi ketidakseimbangan struktural ketika laju kedatangan request masuk melampaui kemampuan downstream worker. Tanpa mekanisme pembatasan, request menumpuk di memori tanpa batas, memicu degradasi latensi dramatis, OOM crashes, dan kegagalan total sistem.</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BATAS LAB</a:t>
            </a:r>
          </a:p>
          <a:p>
            <a:pPr>
              <a:defRPr sz="1300">
                <a:solidFill>
                  <a:srgbClr val="11283A"/>
                </a:solidFill>
              </a:defRPr>
            </a:pPr>
            <a:r>
              <a:t>Lab ini mengimplementasikan Token Bucket, Leaky Bucket, bounded queue channel dengan fast rejection, middleware HTTP 429 RFC 6585, dan exponential backoff AWS Full Jitter menggunakan pustaka standar Go 1.22+ murni.</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Rate limiting protects ingress boundaries; backpressure protects internal execution pipelines.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README.md • engineering/01-design.md                                                                                  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Mental Model: Batas Sistem vs. Aliran Internal</a:t>
            </a:r>
          </a:p>
          <a:p>
            <a:pPr>
              <a:defRPr sz="1500">
                <a:solidFill>
                  <a:srgbClr val="52606B"/>
                </a:solidFill>
              </a:defRPr>
            </a:pPr>
            <a:r>
              <a:t>Membedakan peran penjaga batas gerbang dan katup tekanan internal.</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PENJAGA GERBANG (RATE LIMITER)</a:t>
            </a:r>
          </a:p>
          <a:p>
            <a:pPr>
              <a:defRPr sz="1300">
                <a:solidFill>
                  <a:srgbClr val="11283A"/>
                </a:solidFill>
              </a:defRPr>
            </a:pPr>
            <a:r>
              <a:t>Rate limiter beroperasi di boundary sistem (API Gateway / middleware). Menentukan apakah klien tertentu diizinkan masuk berdasarkan kuota waktu. Jika kuota habis, tolak seketika dengan respon HTTP 429 Too Many Requests dan header Retry-After.</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KATUP INTERNAL (BACKPRESSURE)</a:t>
            </a:r>
          </a:p>
          <a:p>
            <a:pPr>
              <a:defRPr sz="1300">
                <a:solidFill>
                  <a:srgbClr val="11283A"/>
                </a:solidFill>
              </a:defRPr>
            </a:pPr>
            <a:r>
              <a:t>Backpressure beroperasi di internal pipeline pemrosesan. Mengalirkan sinyal tekanan mundur saat worker downstream kelebihan beban. Bounded queue menolak penambahan antrean baru (fast rejection) demi menjaga kesehatan worker yang sedang bekerja.</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Rate limiting controls admission quota; backpressure prevents internal worker saturation.</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content/01-content-brief.md • 02-master-draft.md                                                                                  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Arsitektur Pertahanan 4 Lapis</a:t>
            </a:r>
          </a:p>
          <a:p>
            <a:pPr>
              <a:defRPr sz="1500">
                <a:solidFill>
                  <a:srgbClr val="52606B"/>
                </a:solidFill>
              </a:defRPr>
            </a:pPr>
            <a:r>
              <a:t>Alur end-to-end penanganan request dari ingress hingga retry klien.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ALUR INGRESS &amp; LIMITER</a:t>
            </a:r>
          </a:p>
          <a:p>
            <a:pPr>
              <a:defRPr sz="1300">
                <a:solidFill>
                  <a:srgbClr val="11283A"/>
                </a:solidFill>
              </a:defRPr>
            </a:pPr>
            <a:r>
              <a:t>1. Request Masuk diterima HTTP Middleware.</a:t>
            </a:r>
            <a:br/>
            <a:r>
              <a:t>2. Ekstraksi Tenant Key (X-API-Key) mencegah tabrakan CGNAT.</a:t>
            </a:r>
            <a:br/>
            <a:r>
              <a:t>3. Evaluasi Token Bucket: jika kuota habis, respon HTTP 429 seketika.</a:t>
            </a:r>
            <a:br/>
            <a:r>
              <a:t>4. Request yang lolos diteruskan ke layer antrean.</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ALUR QUEUE &amp; RETRY</a:t>
            </a:r>
          </a:p>
          <a:p>
            <a:pPr>
              <a:defRPr sz="1300">
                <a:solidFill>
                  <a:srgbClr val="11283A"/>
                </a:solidFill>
              </a:defRPr>
            </a:pPr>
            <a:r>
              <a:t>5. Bounded Queue menerima job via select non-blocking.</a:t>
            </a:r>
            <a:br/>
            <a:r>
              <a:t>6. Bila buffer penuh, tolak cepat dengan ErrQueueFull.</a:t>
            </a:r>
            <a:br/>
            <a:r>
              <a:t>7. Worker Pool memproses job stabil sesuai Hukum Little.</a:t>
            </a:r>
            <a:br/>
            <a:r>
              <a:t>8. Klien menerapkan retry AWS Full Jitter untuk meredam badai.</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Defense-in-depth: boundary throttling, bounded buffering, and desynchronized client retries.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engineering/01-design.md • internal/httputil/middleware.go                                                                                  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Token Bucket vs. Leaky Bucket</a:t>
            </a:r>
          </a:p>
          <a:p>
            <a:pPr>
              <a:defRPr sz="1500">
                <a:solidFill>
                  <a:srgbClr val="52606B"/>
                </a:solidFill>
              </a:defRPr>
            </a:pPr>
            <a:r>
              <a:t>Perbandingan mendalam dua algoritma fundamental pengendalian laju.</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TOKEN BUCKET (BURST TOLERANT)</a:t>
            </a:r>
          </a:p>
          <a:p>
            <a:pPr>
              <a:defRPr sz="1300">
                <a:solidFill>
                  <a:srgbClr val="11283A"/>
                </a:solidFill>
              </a:defRPr>
            </a:pPr>
            <a:r>
              <a:t>• Karakteristik: Mengizinkan lonjakan (burst) hingga kapasitas B.</a:t>
            </a:r>
            <a:br/>
            <a:r>
              <a:t>• Refill: Token terisi secara kontinu pada laju R.</a:t>
            </a:r>
            <a:br/>
            <a:r>
              <a:t>• Konsumsi: Setiap request mengambil 1 token jika tersedia.</a:t>
            </a:r>
            <a:br/>
            <a:r>
              <a:t>• Kasus Ideal: REST API publik, interaksi user, Stripe gateway.</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LEAKY BUCKET (TRAFFIC SMOOTHING)</a:t>
            </a:r>
          </a:p>
          <a:p>
            <a:pPr>
              <a:defRPr sz="1300">
                <a:solidFill>
                  <a:srgbClr val="11283A"/>
                </a:solidFill>
              </a:defRPr>
            </a:pPr>
            <a:r>
              <a:t>• Karakteristik: Menegakkan laju pengeluaran konstan R.</a:t>
            </a:r>
            <a:br/>
            <a:r>
              <a:t>• Pengisian: Request menambah air ke wadah berkapasitas B.</a:t>
            </a:r>
            <a:br/>
            <a:r>
              <a:t>• Kebocoran: Air menetes pada laju tetap R; tolak jika meluap.</a:t>
            </a:r>
            <a:br/>
            <a:r>
              <a:t>• Kasus Ideal: Egress network packet pacing, NGINX limit_req.</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Token bucket permits controlled bursts; leaky bucket enforces strict constant output pacing.</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internal/ratelimit/bucket.go • internal/ratelimit/bucket_test.go                                                                                  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Formulasi Matematis Token Bucket</a:t>
            </a:r>
          </a:p>
          <a:p>
            <a:pPr>
              <a:defRPr sz="1500">
                <a:solidFill>
                  <a:srgbClr val="52606B"/>
                </a:solidFill>
              </a:defRPr>
            </a:pPr>
            <a:r>
              <a:t>Kalkulasi pengisian token berbasis waktu monotonik tanpa timer latar.</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RUMUS PENGISIAN TOKEN</a:t>
            </a:r>
          </a:p>
          <a:p>
            <a:pPr>
              <a:defRPr sz="1300">
                <a:solidFill>
                  <a:srgbClr val="11283A"/>
                </a:solidFill>
              </a:defRPr>
            </a:pPr>
            <a:r>
              <a:t>Perhitungan token baru saat request tiba pada waktu t:</a:t>
            </a:r>
            <a:br/>
            <a:r>
              <a:t>elapsed = now.Sub(lastRefill).Seconds()</a:t>
            </a:r>
            <a:br/>
            <a:r>
              <a:t>tokens = min(capacity, currentTokens + elapsed * refillRate)</a:t>
            </a:r>
            <a:br/>
            <a:br/>
            <a:r>
              <a:t>Jika tokens &gt;= n, kurangi tokens -= n dan izinkan request.</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KALKULASI RETRY-AFTER</a:t>
            </a:r>
          </a:p>
          <a:p>
            <a:pPr>
              <a:defRPr sz="1300">
                <a:solidFill>
                  <a:srgbClr val="11283A"/>
                </a:solidFill>
              </a:defRPr>
            </a:pPr>
            <a:r>
              <a:t>Ketika token tidak mencukupi, durasi tunggu dihitung deterministik:</a:t>
            </a:r>
            <a:br/>
            <a:r>
              <a:t>needed = requestedTokens - currentTokens</a:t>
            </a:r>
            <a:br/>
            <a:r>
              <a:t>retryAfter = ceil(needed / refillRate)</a:t>
            </a:r>
            <a:br/>
            <a:br/>
            <a:r>
              <a:t>Nilai integer detik ini dikirimkan via header HTTP standard RFC 6585.</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Monotonic timestamp delta calculation yields zero-background-thread token replenishment.</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internal/ratelimit/bucket.go:34-72                                                                                  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Implementasi Token Bucket di Go</a:t>
            </a:r>
          </a:p>
          <a:p>
            <a:pPr>
              <a:defRPr sz="1500">
                <a:solidFill>
                  <a:srgbClr val="52606B"/>
                </a:solidFill>
              </a:defRPr>
            </a:pPr>
            <a:r>
              <a:t>Struktur data thread-safe dengan sinkronisasi sync.Mutex.</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STRUKTUR DATA MUTEX</a:t>
            </a:r>
          </a:p>
          <a:p>
            <a:pPr>
              <a:defRPr sz="1300">
                <a:solidFill>
                  <a:srgbClr val="11283A"/>
                </a:solidFill>
              </a:defRPr>
            </a:pPr>
            <a:r>
              <a:t>type TokenBucket struct {</a:t>
            </a:r>
            <a:br/>
            <a:r>
              <a:t>    mu         sync.Mutex</a:t>
            </a:r>
            <a:br/>
            <a:r>
              <a:t>    capacity   float64</a:t>
            </a:r>
            <a:br/>
            <a:r>
              <a:t>    tokens     float64</a:t>
            </a:r>
            <a:br/>
            <a:r>
              <a:t>    refillRate float64</a:t>
            </a:r>
            <a:br/>
            <a:r>
              <a:t>    lastRefill time.Time</a:t>
            </a:r>
            <a:br/>
            <a:r>
              <a:t>}</a:t>
            </a:r>
            <a:br/>
            <a:r>
              <a:t>Floating-point digunakan untuk presisi akumulasi token fraksional.</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LOGIKA IZIN ATOMIK</a:t>
            </a:r>
          </a:p>
          <a:p>
            <a:pPr>
              <a:defRPr sz="1300">
                <a:solidFill>
                  <a:srgbClr val="11283A"/>
                </a:solidFill>
              </a:defRPr>
            </a:pPr>
            <a:r>
              <a:t>func (tb *TokenBucket) AllowN(now time.Time, n float64) bool {</a:t>
            </a:r>
            <a:br/>
            <a:r>
              <a:t>    tb.mu.Lock()</a:t>
            </a:r>
            <a:br/>
            <a:r>
              <a:t>    defer tb.mu.Unlock()</a:t>
            </a:r>
            <a:br/>
            <a:r>
              <a:t>    // update tokens via elapsed time</a:t>
            </a:r>
            <a:br/>
            <a:r>
              <a:t>    if tb.tokens &gt;= n {</a:t>
            </a:r>
            <a:br/>
            <a:r>
              <a:t>        tb.tokens -= n; return true</a:t>
            </a:r>
            <a:br/>
            <a:r>
              <a:t>    }</a:t>
            </a:r>
            <a:br/>
            <a:r>
              <a:t>    return false</a:t>
            </a:r>
            <a:br/>
            <a:r>
              <a:t>}</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Atomic mutex-protected state updates prevent race conditions across parallel requests.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internal/ratelimit/bucket.go:13-58                                                                                  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Implementasi Leaky Bucket di Go</a:t>
            </a:r>
          </a:p>
          <a:p>
            <a:pPr>
              <a:defRPr sz="1500">
                <a:solidFill>
                  <a:srgbClr val="52606B"/>
                </a:solidFill>
              </a:defRPr>
            </a:pPr>
            <a:r>
              <a:t>Pemodelan tetesan konstan dan pencegahan overflow antrean.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STRUKTUR DATA LEAKY</a:t>
            </a:r>
          </a:p>
          <a:p>
            <a:pPr>
              <a:defRPr sz="1300">
                <a:solidFill>
                  <a:srgbClr val="11283A"/>
                </a:solidFill>
              </a:defRPr>
            </a:pPr>
            <a:r>
              <a:t>type LeakyBucket struct {</a:t>
            </a:r>
            <a:br/>
            <a:r>
              <a:t>    mu         sync.Mutex</a:t>
            </a:r>
            <a:br/>
            <a:r>
              <a:t>    capacity   float64</a:t>
            </a:r>
            <a:br/>
            <a:r>
              <a:t>    waterLevel float64</a:t>
            </a:r>
            <a:br/>
            <a:r>
              <a:t>    leakRate   float64</a:t>
            </a:r>
            <a:br/>
            <a:r>
              <a:t>    lastLeak   time.Time</a:t>
            </a:r>
            <a:br/>
            <a:r>
              <a:t>}</a:t>
            </a:r>
            <a:br/>
            <a:r>
              <a:t>Air (waterLevel) merepresentasikan akumulasi request tertunda.</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LOGIKA PENIRISAN AIR</a:t>
            </a:r>
          </a:p>
          <a:p>
            <a:pPr>
              <a:defRPr sz="1300">
                <a:solidFill>
                  <a:srgbClr val="11283A"/>
                </a:solidFill>
              </a:defRPr>
            </a:pPr>
            <a:r>
              <a:t>func (lb *LeakyBucket) Allow() bool {</a:t>
            </a:r>
            <a:br/>
            <a:r>
              <a:t>    lb.mu.Lock()</a:t>
            </a:r>
            <a:br/>
            <a:r>
              <a:t>    defer lb.mu.Unlock()</a:t>
            </a:r>
            <a:br/>
            <a:r>
              <a:t>    elapsed := time.Since(lb.lastLeak).Seconds()</a:t>
            </a:r>
            <a:br/>
            <a:r>
              <a:t>    lb.waterLevel = math.Max(0, lb.waterLevel - elapsed*lb.leakRate)</a:t>
            </a:r>
            <a:br/>
            <a:r>
              <a:t>    if lb.waterLevel + 1.0 &lt;= lb.capacity {</a:t>
            </a:r>
            <a:br/>
            <a:r>
              <a:t>        lb.waterLevel += 1.0; return true</a:t>
            </a:r>
            <a:br/>
            <a:r>
              <a:t>    }</a:t>
            </a:r>
            <a:br/>
            <a:r>
              <a:t>    return false</a:t>
            </a:r>
            <a:br/>
            <a:r>
              <a:t>}</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Leaky bucket drains water continuously at fixed rate, dropping excess when full.</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internal/ratelimit/bucket.go:78-132                                                                                  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Registry &amp; Isolasi Tenant RFC 6598</a:t>
            </a:r>
          </a:p>
          <a:p>
            <a:pPr>
              <a:defRPr sz="1500">
                <a:solidFill>
                  <a:srgbClr val="52606B"/>
                </a:solidFill>
              </a:defRPr>
            </a:pPr>
            <a:r>
              <a:t>Mencegah fenomena noisy-neighbor dan tabrakan kuota Carrier-Grade NAT.</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BAHAYA RATE LIMIT BY IP</a:t>
            </a:r>
          </a:p>
          <a:p>
            <a:pPr>
              <a:defRPr sz="1300">
                <a:solidFill>
                  <a:srgbClr val="11283A"/>
                </a:solidFill>
              </a:defRPr>
            </a:pPr>
            <a:r>
              <a:t>Di bawah Carrier-Grade NAT (RFC 6598), ribuan pengguna seluler berbagi 1 IP publik (100.64.0.0/10). Pembatasan berbasis IP akan memblokir pengguna normal hanya karena satu pengguna lain menghabiskan kuota.</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REGISTRY BERBASIS API-KEY</a:t>
            </a:r>
          </a:p>
          <a:p>
            <a:pPr>
              <a:defRPr sz="1300">
                <a:solidFill>
                  <a:srgbClr val="11283A"/>
                </a:solidFill>
              </a:defRPr>
            </a:pPr>
            <a:r>
              <a:t>Registry memetakan API Key atau Tenant ID unik ke instance TokenBucket masing-masing via sync.RWMutex. Klien anonymous diarahkan ke bucket bersama terpisah, memastikan kuota terisolasi sempurna.</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Per-tenant registry keying isolates noisy neighbors and avoids Carrier-Grade NAT collisions.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internal/ratelimit/registry.go:10-52                                                                                  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Bounded Queue &amp; Non-Blocking Submit</a:t>
            </a:r>
          </a:p>
          <a:p>
            <a:pPr>
              <a:defRPr sz="1500">
                <a:solidFill>
                  <a:srgbClr val="52606B"/>
                </a:solidFill>
              </a:defRPr>
            </a:pPr>
            <a:r>
              <a:t>Menolak beban berlebih seketika tanpa mengorbankan memori heap.</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BAHAYA UNBOUNDED BUFFER</a:t>
            </a:r>
          </a:p>
          <a:p>
            <a:pPr>
              <a:defRPr sz="1300">
                <a:solidFill>
                  <a:srgbClr val="11283A"/>
                </a:solidFill>
              </a:defRPr>
            </a:pPr>
            <a:r>
              <a:t>Antrean tanpa batas menyembunyikan masalah kelebihan beban. Request yang menunggu terlalu lama akan kadaluarsa di sisi klien (client timeout), namun worker server tetap memprosesnya secara sia-sia.</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SELECT-DEFAULT ZERO-BLOCK</a:t>
            </a:r>
          </a:p>
          <a:p>
            <a:pPr>
              <a:defRPr sz="1300">
                <a:solidFill>
                  <a:srgbClr val="11283A"/>
                </a:solidFill>
              </a:defRPr>
            </a:pPr>
            <a:r>
              <a:t>select {</a:t>
            </a:r>
            <a:br/>
            <a:r>
              <a:t>case bq.jobs &lt;- job:</a:t>
            </a:r>
            <a:br/>
            <a:r>
              <a:t>    bq.stats.Accepted++</a:t>
            </a:r>
            <a:br/>
            <a:r>
              <a:t>    return nil</a:t>
            </a:r>
            <a:br/>
            <a:r>
              <a:t>default:</a:t>
            </a:r>
            <a:br/>
            <a:r>
              <a:t>    bq.stats.Rejected++</a:t>
            </a:r>
            <a:br/>
            <a:r>
              <a:t>    return ErrQueueFull</a:t>
            </a:r>
            <a:br/>
            <a:r>
              <a:t>}</a:t>
            </a:r>
            <a:br/>
            <a:r>
              <a:t>Penolakan terjadi dalam skala sub-mikrodetik tanpa alokasi memori heap.</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Non-blocking channel selection yields instant rejection on queue saturation.</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internal/backpressure/queue.go:35-64                                                                                  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Hukum Little (L = λW) dalam Antrean</a:t>
            </a:r>
          </a:p>
          <a:p>
            <a:pPr>
              <a:defRPr sz="1500">
                <a:solidFill>
                  <a:srgbClr val="52606B"/>
                </a:solidFill>
              </a:defRPr>
            </a:pPr>
            <a:r>
              <a:t>Fondasi matematis analisis kapasitas antrean dan estimasi penundaan.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FORMULASI HUKUM LITTLE</a:t>
            </a:r>
          </a:p>
          <a:p>
            <a:pPr>
              <a:defRPr sz="1300">
                <a:solidFill>
                  <a:srgbClr val="11283A"/>
                </a:solidFill>
              </a:defRPr>
            </a:pPr>
            <a:r>
              <a:t>L = λ * W</a:t>
            </a:r>
            <a:br/>
            <a:r>
              <a:t>• L = Jumlah rata-rata item dalam sistem antrean.</a:t>
            </a:r>
            <a:br/>
            <a:r>
              <a:t>• λ = Laju kedatangan request per detik (arrival rate).</a:t>
            </a:r>
            <a:br/>
            <a:r>
              <a:t>• W = Rata-rata waktu tunggu item dalam antrean.</a:t>
            </a:r>
            <a:br/>
            <a:br/>
            <a:r>
              <a:t>Jika λ &gt; laju proses μ, W membesar proporsional terhadap waktu t.</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SKENARIO DRAIN TIME</a:t>
            </a:r>
          </a:p>
          <a:p>
            <a:pPr>
              <a:defRPr sz="1300">
                <a:solidFill>
                  <a:srgbClr val="11283A"/>
                </a:solidFill>
              </a:defRPr>
            </a:pPr>
            <a:r>
              <a:t>Jika antrean menampung 5.000.000 request dan kapasitas proses worker adalah 2.000 req/detik:</a:t>
            </a:r>
            <a:br/>
            <a:br/>
            <a:r>
              <a:t>Waktu Habis = 5.000.000 / 2.000 = 2.500 detik (~41 menit 40 detik).</a:t>
            </a:r>
            <a:br/>
            <a:br/>
            <a:r>
              <a:t>Klien sudah lama memutus koneksi sebelum request selesai diproses.</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Little's Law proves unbounded queues accumulate catastrophic processing delay.</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content/02-master-draft.md:29-36 • 04-diagrams.md                                                                                  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Worker Pool &amp; Graceful Shutdown</a:t>
            </a:r>
          </a:p>
          <a:p>
            <a:pPr>
              <a:defRPr sz="1500">
                <a:solidFill>
                  <a:srgbClr val="52606B"/>
                </a:solidFill>
              </a:defRPr>
            </a:pPr>
            <a:r>
              <a:t>Pembersihan aman, pengosongan buffer, dan pencegahan job bocor.</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EKSEKUSI WORKER TANK</a:t>
            </a:r>
          </a:p>
          <a:p>
            <a:pPr>
              <a:defRPr sz="1300">
                <a:solidFill>
                  <a:srgbClr val="11283A"/>
                </a:solidFill>
              </a:defRPr>
            </a:pPr>
            <a:r>
              <a:t>Worker membaca channel berkapasitas tetap hingga menerima sinyal context.Done() atau penutupan channel. Setiap worker menangani job secara sekuensial dan memperbarui metrik statistik Processed secara atomik.</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METODE STOP() AMAN</a:t>
            </a:r>
          </a:p>
          <a:p>
            <a:pPr>
              <a:defRPr sz="1300">
                <a:solidFill>
                  <a:srgbClr val="11283A"/>
                </a:solidFill>
              </a:defRPr>
            </a:pPr>
            <a:r>
              <a:t>Metode Stop() mengunci mutex, menandai stopped=true, membatalkan context, menutup channel jobs, dan menunggu seluruh goroutine selesai via sync.WaitGroup. Tidak ada goroutine yang menggantung (leak).</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Deterministic graceful shutdown drains in-flight jobs without goroutine leakage.</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internal/backpressure/queue.go:70-118                                                                                  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HTTP 429 RFC 6585 &amp; Retry-After</a:t>
            </a:r>
          </a:p>
          <a:p>
            <a:pPr>
              <a:defRPr sz="1500">
                <a:solidFill>
                  <a:srgbClr val="52606B"/>
                </a:solidFill>
              </a:defRPr>
            </a:pPr>
            <a:r>
              <a:t>Standar respon kelebihan beban HTTP dan pencegahan caching perantara.</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STATUS CODE RFC 6585</a:t>
            </a:r>
          </a:p>
          <a:p>
            <a:pPr>
              <a:defRPr sz="1300">
                <a:solidFill>
                  <a:srgbClr val="11283A"/>
                </a:solidFill>
              </a:defRPr>
            </a:pPr>
            <a:r>
              <a:t>HTTP 429 Too Many Requests menandakan klien melampaui kuota laju yang ditentukan.</a:t>
            </a:r>
            <a:br/>
            <a:r>
              <a:t>• Header Wajib: Retry-After: &lt;detik&gt;</a:t>
            </a:r>
            <a:br/>
            <a:r>
              <a:t>• Payload JSON: {"error": "rate_limit_exceeded", "retry_after": N}</a:t>
            </a:r>
            <a:br/>
            <a:r>
              <a:t>• Larangan Cache: Respon 429 TIDAK BOLEH di-cache oleh CDN/Proxy.</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PERBEDAAN 429 VS 503</a:t>
            </a:r>
          </a:p>
          <a:p>
            <a:pPr>
              <a:defRPr sz="1300">
                <a:solidFill>
                  <a:srgbClr val="11283A"/>
                </a:solidFill>
              </a:defRPr>
            </a:pPr>
            <a:r>
              <a:t>• 429 Too Many Requests: Penolakan spesifik kuota klien (client quota exceeded).</a:t>
            </a:r>
            <a:br/>
            <a:r>
              <a:t>• 503 Service Unavailable: Kegagalan kapasitas internal server (server overloaded).</a:t>
            </a:r>
            <a:br/>
            <a:r>
              <a:t>Memberikan kode status yang tepat membantu klien menentukan strategi retry.</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RFC 6585 status 429 signals client quota violation with deterministic Retry-After header.</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internal/httputil/middleware.go:20-68                                                                                  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Thundering Herd &amp; Bahaya Retry Sinkron</a:t>
            </a:r>
          </a:p>
          <a:p>
            <a:pPr>
              <a:defRPr sz="1500">
                <a:solidFill>
                  <a:srgbClr val="52606B"/>
                </a:solidFill>
              </a:defRPr>
            </a:pPr>
            <a:r>
              <a:t>Bagaimana pengulangan request deterministik melumpuhkan proses pemulihan.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SINKRONISASI FASA</a:t>
            </a:r>
          </a:p>
          <a:p>
            <a:pPr>
              <a:defRPr sz="1300">
                <a:solidFill>
                  <a:srgbClr val="11283A"/>
                </a:solidFill>
              </a:defRPr>
            </a:pPr>
            <a:r>
              <a:t>Jika 100 klien gagal pada waktu t=0 dan mengulang dengan interval eksponensial tetap (misal t=1s, 2s, 4s), seluruh 100 klien akan memukul server secara serempak di setiap detik yang sama. Puncak beban berlipat ganda.</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DAMPAK PADA SERVER</a:t>
            </a:r>
          </a:p>
          <a:p>
            <a:pPr>
              <a:defRPr sz="1300">
                <a:solidFill>
                  <a:srgbClr val="11283A"/>
                </a:solidFill>
              </a:defRPr>
            </a:pPr>
            <a:r>
              <a:t>Lonjakan beban periodik ini mencegah downstream worker pulih dari kegagalan awal. Sistem terperangkap dalam lingkaran setan (retry storm): setiap gelombang pengulangan memicu penolakan baru dan badai lanjutan.</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Deterministic retries synchronize into thundering herds that crush recovering services.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content/02-master-draft.md:32-36 • 05-key-takeaways.md                                                                                  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Formulasi AWS Full Jitter</a:t>
            </a:r>
          </a:p>
          <a:p>
            <a:pPr>
              <a:defRPr sz="1500">
                <a:solidFill>
                  <a:srgbClr val="52606B"/>
                </a:solidFill>
              </a:defRPr>
            </a:pPr>
            <a:r>
              <a:t>Penyebaran acak seragam untuk melenyapkan korelasi waktu pengulangan.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RUMUS MARC BROOKER (AWS)</a:t>
            </a:r>
          </a:p>
          <a:p>
            <a:pPr>
              <a:defRPr sz="1300">
                <a:solidFill>
                  <a:srgbClr val="11283A"/>
                </a:solidFill>
              </a:defRPr>
            </a:pPr>
            <a:r>
              <a:t>sleep = random(0, min(cap, base * 2^attempt))</a:t>
            </a:r>
            <a:br/>
            <a:br/>
            <a:r>
              <a:t>• base: Jeda awal (misal 50ms)</a:t>
            </a:r>
            <a:br/>
            <a:r>
              <a:t>• cap: Batas jeda maksimum (misal 10s)</a:t>
            </a:r>
            <a:br/>
            <a:r>
              <a:t>• attempt: Indeks percobaan pengulangan (0, 1, 2...)</a:t>
            </a:r>
            <a:br/>
            <a:r>
              <a:t>Nilai jeda disebar acak dari 0 hingga batas eksponensial.</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KOMPARASI DENGAN VARIAN LAIN</a:t>
            </a:r>
          </a:p>
          <a:p>
            <a:pPr>
              <a:defRPr sz="1300">
                <a:solidFill>
                  <a:srgbClr val="11283A"/>
                </a:solidFill>
              </a:defRPr>
            </a:pPr>
            <a:r>
              <a:t>• Equal Jitter: sleep = half + random(0, half) — mempertahankan jeda minimal.</a:t>
            </a:r>
            <a:br/>
            <a:r>
              <a:t>• Decorrelated Jitter: sleep = min(cap, random(base, prevSleep * 3)).</a:t>
            </a:r>
            <a:br/>
            <a:r>
              <a:t>Penelitian AWS membuktikan Full Jitter meminimalkan total waktu kerja server.</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Full Jitter uniformly distributes retry timestamps, eliminating synchronized thundering herds.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internal/retry/backoff.go:20-65                                                                                  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Implementasi Retry Backoff di Go</a:t>
            </a:r>
          </a:p>
          <a:p>
            <a:pPr>
              <a:defRPr sz="1500">
                <a:solidFill>
                  <a:srgbClr val="52606B"/>
                </a:solidFill>
              </a:defRPr>
            </a:pPr>
            <a:r>
              <a:t>Modul evaluasi strategi backoff modular dan batas numerik aman.</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FUNGSI BACKOFF DI GO</a:t>
            </a:r>
          </a:p>
          <a:p>
            <a:pPr>
              <a:defRPr sz="1300">
                <a:solidFill>
                  <a:srgbClr val="11283A"/>
                </a:solidFill>
              </a:defRPr>
            </a:pPr>
            <a:r>
              <a:t>func ComputeBackoff(strat JitterStrategy, attempt int, base, cap, prev time.Duration) time.Duration {</a:t>
            </a:r>
            <a:br/>
            <a:r>
              <a:t>    maxSleep := float64(base) * math.Pow(2, float64(attempt))</a:t>
            </a:r>
            <a:br/>
            <a:r>
              <a:t>    if maxSleep &gt; float64(cap) {</a:t>
            </a:r>
            <a:br/>
            <a:r>
              <a:t>        maxSleep = float64(cap)</a:t>
            </a:r>
            <a:br/>
            <a:r>
              <a:t>    }</a:t>
            </a:r>
            <a:br/>
            <a:r>
              <a:t>    // evaluasi switch case strategi</a:t>
            </a:r>
            <a:br/>
            <a:r>
              <a:t>}</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PENJAGA BATAS NUMERIK</a:t>
            </a:r>
          </a:p>
          <a:p>
            <a:pPr>
              <a:defRPr sz="1300">
                <a:solidFill>
                  <a:srgbClr val="11283A"/>
                </a:solidFill>
              </a:defRPr>
            </a:pPr>
            <a:r>
              <a:t>Fungsi menjamin hasil perhitungan tidak melampaui cap dan menangani batas overflow matematis pada attempt tinggi. Strategi No Jitter, Full Jitter, Equal Jitter, dan Decorrelated Jitter didukung penuh.</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Strict boundary checks prevent integer overflow during high retry attempt iterations.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internal/retry/backoff.go:34-70                                                                                  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Eksekusi Demonstrasi: 4 Tahap Terpadu</a:t>
            </a:r>
          </a:p>
          <a:p>
            <a:pPr>
              <a:defRPr sz="1500">
                <a:solidFill>
                  <a:srgbClr val="52606B"/>
                </a:solidFill>
              </a:defRPr>
            </a:pPr>
            <a:r>
              <a:t>Verifikasi perilaku Token Bucket, Leaky Bucket, Queue, dan Jitter secara live.</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TAHAP 1 &amp; 2: BUCKET DEMO</a:t>
            </a:r>
          </a:p>
          <a:p>
            <a:pPr>
              <a:defRPr sz="1300">
                <a:solidFill>
                  <a:srgbClr val="11283A"/>
                </a:solidFill>
              </a:defRPr>
            </a:pPr>
            <a:r>
              <a:t>• Tahap 1 Token Bucket (Cap 3, Rate 5/s): 3 request pertama sukses, request 4-5 ditolak. Setelah jeda 300ms, token terisi kembali dan request diizinkan.</a:t>
            </a:r>
            <a:br/>
            <a:r>
              <a:t>• Tahap 2 Leaky Bucket (Cap 3, Leak 10/s): Air terakumulasi hingga kapasitas penuh dan menolak burst berlebih.</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TAHAP 3 &amp; 4: QUEUE &amp; RETRY</a:t>
            </a:r>
          </a:p>
          <a:p>
            <a:pPr>
              <a:defRPr sz="1300">
                <a:solidFill>
                  <a:srgbClr val="11283A"/>
                </a:solidFill>
              </a:defRPr>
            </a:pPr>
            <a:r>
              <a:t>• Tahap 3 Bounded Queue (Cap 3, 1 Worker): Menerima 3 job, menolak job 4 &amp; 6 seketika dengan ErrQueueFull. Statistik akhir: Accepted=4, Rejected=2.</a:t>
            </a:r>
            <a:br/>
            <a:r>
              <a:t>• Tahap 4 Retry Comparison: Full Jitter menghasilkan latensi lebih rendah dan sebaran interval merata.</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Comprehensive live demo proves isolation, rejection, and backoff across four phases.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cmd/demo/main.go:20-140                                                                                  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Verifikasi Bebas Race: 50 Goroutine Paralel</a:t>
            </a:r>
          </a:p>
          <a:p>
            <a:pPr>
              <a:defRPr sz="1500">
                <a:solidFill>
                  <a:srgbClr val="52606B"/>
                </a:solidFill>
              </a:defRPr>
            </a:pPr>
            <a:r>
              <a:t>Pengujian konkurensi ketat menggunakan Go Race Detector (-race).</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SKENARIO UJI STRES</a:t>
            </a:r>
          </a:p>
          <a:p>
            <a:pPr>
              <a:defRPr sz="1300">
                <a:solidFill>
                  <a:srgbClr val="11283A"/>
                </a:solidFill>
              </a:defRPr>
            </a:pPr>
            <a:r>
              <a:t>TestTokenBucket_ConcurrencyRace mengeksekusi 50 goroutine secara paralel. Masing-masing goroutine melakukan 100 pemanggilan Allow() secara serempak ke satu instance bucket yang sama (total 5.000 konkurensi).</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INTEGRITAS DATA ATOMIK</a:t>
            </a:r>
          </a:p>
          <a:p>
            <a:pPr>
              <a:defRPr sz="1300">
                <a:solidFill>
                  <a:srgbClr val="11283A"/>
                </a:solidFill>
              </a:defRPr>
            </a:pPr>
            <a:r>
              <a:t>Pendeteksi race detector Go melaporkan 0 data race. Jumlah request yang diterima tidak pernah melampaui kapasitas awal ditambah akumulasi pengisian token selama durasi pengujian. State selalu konsisten.</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Race detector guarantees zero memory corruption under high-concurrency goroutine stress.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internal/ratelimit/bucket_test.go:88-124                                                                                  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Matriks Verifikasi: 16/16 Unit Tests Pass</a:t>
            </a:r>
          </a:p>
          <a:p>
            <a:pPr>
              <a:defRPr sz="1500">
                <a:solidFill>
                  <a:srgbClr val="52606B"/>
                </a:solidFill>
              </a:defRPr>
            </a:pPr>
            <a:r>
              <a:t>Cakupan pengujian menyeluruh pada seluruh paket internal.</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RATELIMIT &amp; BACKPRESSURE</a:t>
            </a:r>
          </a:p>
          <a:p>
            <a:pPr>
              <a:defRPr sz="1300">
                <a:solidFill>
                  <a:srgbClr val="11283A"/>
                </a:solidFill>
              </a:defRPr>
            </a:pPr>
            <a:r>
              <a:t>• TestTokenBucket_BurstAndRefill (PASS)</a:t>
            </a:r>
            <a:br/>
            <a:r>
              <a:t>• TestLeakyBucket_LeakRate (PASS)</a:t>
            </a:r>
            <a:br/>
            <a:r>
              <a:t>• TestRegistry_TenantIsolation (PASS)</a:t>
            </a:r>
            <a:br/>
            <a:r>
              <a:t>• TestBoundedQueue_RejectionUnderLoad (PASS)</a:t>
            </a:r>
            <a:br/>
            <a:r>
              <a:t>• TestBoundedQueue_SubmitAfterStop (PASS)</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HTTPUTIL &amp; RETRY JITTER</a:t>
            </a:r>
          </a:p>
          <a:p>
            <a:pPr>
              <a:defRPr sz="1300">
                <a:solidFill>
                  <a:srgbClr val="11283A"/>
                </a:solidFill>
              </a:defRPr>
            </a:pPr>
            <a:r>
              <a:t>• TestRateLimitMiddleware_RFC6585 (PASS)</a:t>
            </a:r>
            <a:br/>
            <a:r>
              <a:t>• TestRateLimitMiddleware_AnonymousFallback (PASS)</a:t>
            </a:r>
            <a:br/>
            <a:r>
              <a:t>• TestComputeBackoff_Bounds (PASS)</a:t>
            </a:r>
            <a:br/>
            <a:r>
              <a:t>• TestDecorrelatedJitter_Bounds (PASS)</a:t>
            </a:r>
            <a:br/>
            <a:r>
              <a:t>• Durasi total suite: ~6.5 detik bebas race.</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Deterministic test suite validates RFC compliance, bounds enforcement, and queue limits.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internal/backpressure/ • internal/httputil/ • internal/retry/                                                                                  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Mekanisme Pemulihan &amp; Graceful Degradation</a:t>
            </a:r>
          </a:p>
          <a:p>
            <a:pPr>
              <a:defRPr sz="1500">
                <a:solidFill>
                  <a:srgbClr val="52606B"/>
                </a:solidFill>
              </a:defRPr>
            </a:pPr>
            <a:r>
              <a:t>Strategi pemulihan mandiri sistem saat badai trafik mereda.</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SELF-HEALING OTOMATIS</a:t>
            </a:r>
          </a:p>
          <a:p>
            <a:pPr>
              <a:defRPr sz="1300">
                <a:solidFill>
                  <a:srgbClr val="11283A"/>
                </a:solidFill>
              </a:defRPr>
            </a:pPr>
            <a:r>
              <a:t>Token Bucket pulih secara alami tanpa intervensi manual seiring berjalannya waktu. Klien yang mematuhi header Retry-After akan menunda request hingga token terisi kembali, memulihkan stabilitas secara organik.</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STRATEGI LOAD SHEDDING</a:t>
            </a:r>
          </a:p>
          <a:p>
            <a:pPr>
              <a:defRPr sz="1300">
                <a:solidFill>
                  <a:srgbClr val="11283A"/>
                </a:solidFill>
              </a:defRPr>
            </a:pPr>
            <a:r>
              <a:t>Bila downstream mengalami kegagalan permanen:</a:t>
            </a:r>
            <a:br/>
            <a:r>
              <a:t>1. Bounded queue menolak beban non-kritis.</a:t>
            </a:r>
            <a:br/>
            <a:r>
              <a:t>2. Tingkatkan visibilitas via queue age monitoring.</a:t>
            </a:r>
            <a:br/>
            <a:r>
              <a:t>3. Turunkan kapasitas bucket secara dinamis untuk memberi ruang bernapas bagi database.</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Self-healing token replenishment restores service health as soon as traffic subsides.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content/02-master-draft.md:93-98 • engineering/01-design.md                                                                                  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Batasan Implementasi Lab vs. Produksi</a:t>
            </a:r>
          </a:p>
          <a:p>
            <a:pPr>
              <a:defRPr sz="1500">
                <a:solidFill>
                  <a:srgbClr val="52606B"/>
                </a:solidFill>
              </a:defRPr>
            </a:pPr>
            <a:r>
              <a:t>Kesenjangan arsitektur yang wajib dijembatani pada sistem enterprise multi-node.</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PENYIMPANAN IN-MEMORY</a:t>
            </a:r>
          </a:p>
          <a:p>
            <a:pPr>
              <a:defRPr sz="1300">
                <a:solidFill>
                  <a:srgbClr val="11283A"/>
                </a:solidFill>
              </a:defRPr>
            </a:pPr>
            <a:r>
              <a:t>Implementasi lab menyimpan state token di RAM host lokal. Pada cluster multi-server, klien dapat membanjiri instance berbeda. Solusi: Gunakan Redis Cluster dengan skrip Lua atomik atau sorted set sliding window.</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DISTRIBUTED BACKPRESSURE</a:t>
            </a:r>
          </a:p>
          <a:p>
            <a:pPr>
              <a:defRPr sz="1300">
                <a:solidFill>
                  <a:srgbClr val="11283A"/>
                </a:solidFill>
              </a:defRPr>
            </a:pPr>
            <a:r>
              <a:t>Channel Go beroperasi dalam satu proses. Backpressure lintas microservices membutuhkan arsitektur message queue terdistribusi (Apache Kafka dengan consumer lag monitoring atau RabbitMQ consumer prefetch).</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Multi-instance production deployments require centralized Redis coordination and Kafka queues.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content/02-master-draft.md:100-108                                                                                  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Anti-Patterns &amp; Kesalahan Umum</a:t>
            </a:r>
          </a:p>
          <a:p>
            <a:pPr>
              <a:defRPr sz="1500">
                <a:solidFill>
                  <a:srgbClr val="52606B"/>
                </a:solidFill>
              </a:defRPr>
            </a:pPr>
            <a:r>
              <a:t>Jebakan implementasi rate limiting dan backpressure yang sering terjadi.</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KESALAHAN GATEWAY</a:t>
            </a:r>
          </a:p>
          <a:p>
            <a:pPr>
              <a:defRPr sz="1300">
                <a:solidFill>
                  <a:srgbClr val="11283A"/>
                </a:solidFill>
              </a:defRPr>
            </a:pPr>
            <a:r>
              <a:t>• Rate limit berbasis IP tanpa memperhitungkan CGNAT (RFC 6598).</a:t>
            </a:r>
            <a:br/>
            <a:r>
              <a:t>• Mengabaikan header Retry-After sehingga klien mengulang membabi buta.</a:t>
            </a:r>
            <a:br/>
            <a:r>
              <a:t>• Membiarkan perantara (CDN/Proxy) menyimpan cache respon HTTP 429.</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KESALAHAN WORKER &amp; RETRY</a:t>
            </a:r>
          </a:p>
          <a:p>
            <a:pPr>
              <a:defRPr sz="1300">
                <a:solidFill>
                  <a:srgbClr val="11283A"/>
                </a:solidFill>
              </a:defRPr>
            </a:pPr>
            <a:r>
              <a:t>• Antrean tanpa batas (unbounded channel) yang berakhir pada OOM kill.</a:t>
            </a:r>
            <a:br/>
            <a:r>
              <a:t>• Retry eksponensial tanpa jitter yang memicu thundering herd.</a:t>
            </a:r>
            <a:br/>
            <a:r>
              <a:t>• Memantau kedalaman antrean (depth) alih-alih usia antrean (queue age).</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Avoid IP-only throttling, unbuffered unbounded queues, and jitter-less deterministic retries.</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content/02-master-draft.md:109-116                                                                                  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1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371600"/>
          </a:xfrm>
          <a:prstGeom prst="rect">
            <a:avLst/>
          </a:prstGeom>
          <a:noFill/>
        </p:spPr>
        <p:txBody>
          <a:bodyPr wrap="square" lIns="0" rIns="0" tIns="0" bIns="0">
            <a:spAutoFit/>
          </a:bodyPr>
          <a:lstStyle/>
          <a:p>
            <a:pPr>
              <a:spcAft>
                <a:spcPts val="400"/>
              </a:spcAft>
              <a:defRPr b="1" sz="1300">
                <a:solidFill>
                  <a:srgbClr val="087F76"/>
                </a:solidFill>
              </a:defRPr>
            </a:pPr>
            <a:r>
              <a:t>SOFTWARE ENGINEERING LAB  |  LAB 25</a:t>
            </a:r>
          </a:p>
          <a:p>
            <a:pPr>
              <a:spcAft>
                <a:spcPts val="400"/>
              </a:spcAft>
              <a:defRPr b="1" sz="2800">
                <a:solidFill>
                  <a:srgbClr val="0B1B2D"/>
                </a:solidFill>
              </a:defRPr>
            </a:pPr>
            <a:r>
              <a:t>Checklist Implementasi Ketahanan Beban</a:t>
            </a:r>
          </a:p>
          <a:p>
            <a:pPr>
              <a:defRPr sz="1500">
                <a:solidFill>
                  <a:srgbClr val="52606B"/>
                </a:solidFill>
              </a:defRPr>
            </a:pPr>
            <a:r>
              <a:t>Panduan verifikasi langkah demi langkah untuk arsitek dan insinyur backend.</a:t>
            </a:r>
          </a:p>
        </p:txBody>
      </p:sp>
      <p:sp>
        <p:nvSpPr>
          <p:cNvPr id="4" name="Rectangle 3"/>
          <p:cNvSpPr/>
          <p:nvPr/>
        </p:nvSpPr>
        <p:spPr>
          <a:xfrm>
            <a:off x="73152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103120"/>
            <a:ext cx="4815230" cy="2560320"/>
          </a:xfrm>
          <a:prstGeom prst="rect">
            <a:avLst/>
          </a:prstGeom>
          <a:noFill/>
        </p:spPr>
        <p:txBody>
          <a:bodyPr wrap="square">
            <a:spAutoFit/>
          </a:bodyPr>
          <a:lstStyle/>
          <a:p>
            <a:pPr>
              <a:spcAft>
                <a:spcPts val="800"/>
              </a:spcAft>
              <a:defRPr b="1" sz="1400">
                <a:solidFill>
                  <a:srgbClr val="087F76"/>
                </a:solidFill>
              </a:defRPr>
            </a:pPr>
            <a:r>
              <a:t>DESAIN &amp; RATE LIMITING</a:t>
            </a:r>
          </a:p>
          <a:p>
            <a:pPr>
              <a:defRPr sz="1300">
                <a:solidFill>
                  <a:srgbClr val="11283A"/>
                </a:solidFill>
              </a:defRPr>
            </a:pPr>
            <a:r>
              <a:t>[ ] Tentukan boundary proteksi (API Gateway / Ingress).</a:t>
            </a:r>
            <a:br/>
            <a:r>
              <a:t>[ ] Pilih algoritma: Token Bucket (burst) / Leaky (smooth).</a:t>
            </a:r>
            <a:br/>
            <a:r>
              <a:t>[ ] Terapkan isolasi tenant berbasis API-Key (hindari IP murni).</a:t>
            </a:r>
            <a:br/>
            <a:r>
              <a:t>[ ] Implementasikan header Retry-After pada respon 429.</a:t>
            </a:r>
          </a:p>
        </p:txBody>
      </p:sp>
      <p:sp>
        <p:nvSpPr>
          <p:cNvPr id="6" name="Rectangle 5"/>
          <p:cNvSpPr/>
          <p:nvPr/>
        </p:nvSpPr>
        <p:spPr>
          <a:xfrm>
            <a:off x="6278270" y="1920240"/>
            <a:ext cx="5180990" cy="2926080"/>
          </a:xfrm>
          <a:prstGeom prst="rect">
            <a:avLst/>
          </a:prstGeom>
          <a:solidFill>
            <a:srgbClr val="FFFFFF"/>
          </a:solidFill>
          <a:ln w="12700">
            <a:solidFill>
              <a:srgbClr val="CAD7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1150" y="2103120"/>
            <a:ext cx="4815230" cy="2560320"/>
          </a:xfrm>
          <a:prstGeom prst="rect">
            <a:avLst/>
          </a:prstGeom>
          <a:noFill/>
        </p:spPr>
        <p:txBody>
          <a:bodyPr wrap="square">
            <a:spAutoFit/>
          </a:bodyPr>
          <a:lstStyle/>
          <a:p>
            <a:pPr>
              <a:spcAft>
                <a:spcPts val="800"/>
              </a:spcAft>
              <a:defRPr b="1" sz="1400">
                <a:solidFill>
                  <a:srgbClr val="087F76"/>
                </a:solidFill>
              </a:defRPr>
            </a:pPr>
            <a:r>
              <a:t>BACKPRESSURE &amp; RETRY</a:t>
            </a:r>
          </a:p>
          <a:p>
            <a:pPr>
              <a:defRPr sz="1300">
                <a:solidFill>
                  <a:srgbClr val="11283A"/>
                </a:solidFill>
              </a:defRPr>
            </a:pPr>
            <a:r>
              <a:t>[ ] Konfigurasikan bounded queue dengan fast rejection.</a:t>
            </a:r>
            <a:br/>
            <a:r>
              <a:t>[ ] Ukur kapasitas antrean berdasarkan Hukum Little (L = λW).</a:t>
            </a:r>
            <a:br/>
            <a:r>
              <a:t>[ ] Terapkan AWS Full Jitter pada klien upstream.</a:t>
            </a:r>
            <a:br/>
            <a:r>
              <a:t>[ ] Validasi konkurensi mutlak dengan go test -race.</a:t>
            </a:r>
          </a:p>
        </p:txBody>
      </p:sp>
      <p:sp>
        <p:nvSpPr>
          <p:cNvPr id="8" name="Rectangle 7"/>
          <p:cNvSpPr/>
          <p:nvPr/>
        </p:nvSpPr>
        <p:spPr>
          <a:xfrm>
            <a:off x="731520" y="5029200"/>
            <a:ext cx="10728655" cy="640080"/>
          </a:xfrm>
          <a:prstGeom prst="rect">
            <a:avLst/>
          </a:prstGeom>
          <a:solidFill>
            <a:srgbClr val="087F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74920"/>
            <a:ext cx="10362895" cy="548640"/>
          </a:xfrm>
          <a:prstGeom prst="rect">
            <a:avLst/>
          </a:prstGeom>
          <a:noFill/>
        </p:spPr>
        <p:txBody>
          <a:bodyPr wrap="square">
            <a:spAutoFit/>
          </a:bodyPr>
          <a:lstStyle/>
          <a:p>
            <a:pPr>
              <a:defRPr b="1" sz="1400">
                <a:solidFill>
                  <a:srgbClr val="FFFFFF"/>
                </a:solidFill>
              </a:defRPr>
            </a:pPr>
            <a:r>
              <a:t>Follow the structured checklist to ensure end-to-end overload resilience across your fleet.</a:t>
            </a:r>
          </a:p>
        </p:txBody>
      </p:sp>
      <p:sp>
        <p:nvSpPr>
          <p:cNvPr id="10" name="TextBox 9"/>
          <p:cNvSpPr txBox="1"/>
          <p:nvPr/>
        </p:nvSpPr>
        <p:spPr>
          <a:xfrm>
            <a:off x="731520" y="5943600"/>
            <a:ext cx="10728655" cy="365760"/>
          </a:xfrm>
          <a:prstGeom prst="rect">
            <a:avLst/>
          </a:prstGeom>
          <a:noFill/>
        </p:spPr>
        <p:txBody>
          <a:bodyPr wrap="none">
            <a:spAutoFit/>
          </a:bodyPr>
          <a:lstStyle/>
          <a:p>
            <a:pPr>
              <a:defRPr sz="1100">
                <a:solidFill>
                  <a:srgbClr val="52606B"/>
                </a:solidFill>
              </a:defRPr>
            </a:pPr>
            <a:r>
              <a:t>content/02-master-draft.md:125-138 • 05-key-takeaways.md                                                                                  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2895" cy="5029200"/>
          </a:xfrm>
          <a:prstGeom prst="rect">
            <a:avLst/>
          </a:prstGeom>
          <a:noFill/>
        </p:spPr>
        <p:txBody>
          <a:bodyPr wrap="square">
            <a:spAutoFit/>
          </a:bodyPr>
          <a:lstStyle/>
          <a:p>
            <a:pPr>
              <a:spcAft>
                <a:spcPts val="1600"/>
              </a:spcAft>
              <a:defRPr b="1" sz="1800">
                <a:solidFill>
                  <a:srgbClr val="087F76"/>
                </a:solidFill>
              </a:defRPr>
            </a:pPr>
            <a:r>
              <a:t>SOFTWARE ENGINEERING LAB | LAB 25</a:t>
            </a:r>
          </a:p>
          <a:p>
            <a:pPr>
              <a:spcAft>
                <a:spcPts val="1600"/>
              </a:spcAft>
              <a:defRPr b="1" sz="3600">
                <a:solidFill>
                  <a:srgbClr val="FFFFFF"/>
                </a:solidFill>
              </a:defRPr>
            </a:pPr>
            <a:r>
              <a:t>Rate Limiting &amp; Backpressure Implementation</a:t>
            </a:r>
          </a:p>
          <a:p>
            <a:pPr>
              <a:spcAft>
                <a:spcPts val="3000"/>
              </a:spcAft>
              <a:defRPr sz="1800">
                <a:solidFill>
                  <a:srgbClr val="94A3B8"/>
                </a:solidFill>
              </a:defRPr>
            </a:pPr>
            <a:r>
              <a:t>Boundary throttling protects service ingress; bounded queue backpressure prevents internal worker collapse; full jitter retry eliminates destructive thundering herds.</a:t>
            </a:r>
          </a:p>
          <a:p>
            <a:pPr>
              <a:spcAft>
                <a:spcPts val="3600"/>
              </a:spcAft>
              <a:defRPr sz="1500">
                <a:solidFill>
                  <a:srgbClr val="CAD7CF"/>
                </a:solidFill>
              </a:defRPr>
            </a:pPr>
            <a:r>
              <a:t>• Verifikasi Otomatis: 16/16 PASS (go test -race ./...)</a:t>
            </a:r>
            <a:br/>
            <a:r>
              <a:t>• Kunci Arsitektur: Token Bucket Monotonic Delta, Bounded Queue Fast Rejection, Tenant Isolation RFC 6598, AWS Full Jitter Retry</a:t>
            </a:r>
            <a:br/>
            <a:r>
              <a:t>• Repositori: github.com/lukman-ss/software-engineering-lab/tree/main/labs/25-rate-limiting-and-backpressure</a:t>
            </a:r>
            <a:br/>
            <a:r>
              <a:t>• Komitmen Terverifikasi: a39256cb</a:t>
            </a:r>
          </a:p>
          <a:p>
            <a:pPr>
              <a:defRPr b="1" sz="1600">
                <a:solidFill>
                  <a:srgbClr val="D97706"/>
                </a:solidFill>
              </a:defRPr>
            </a:pPr>
            <a:r>
              <a:t>Karya: Lukman / lukman-ss  •  Software Engineering Lab Seri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