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Rate Limiting &amp; Backpressure</a:t>
            </a:r>
          </a:p>
          <a:p/>
          <a:p>
            <a:r>
              <a:t>Mental Model: Rate limiting guards system boundaries; backpressure propagates overload backward through the internal pipeline.</a:t>
            </a:r>
          </a:p>
          <a:p/>
          <a:p>
            <a:r>
              <a:t>[]</a:t>
            </a:r>
          </a:p>
          <a:p>
            <a:r>
              <a:t>- Retro Terminal Displaying Rate Limiters &amp; Bounded Queue Pressure Dynamics</a:t>
            </a:r>
          </a:p>
          <a:p>
            <a:r>
              <a:t>- Token Bucket, Leaky Bucket, Fast Rejection Backpressure, and AWS Full Jitter in Pure Go</a:t>
            </a:r>
          </a:p>
          <a:p>
            <a:r>
              <a:t>- Penulis: Lukman / lukman-ss</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Antrean Tak Berbatas Memicu Kolaps Memori dan Latensi</a:t>
            </a:r>
          </a:p>
          <a:p/>
          <a:p>
            <a:r>
              <a:t>Mental Model: Unbounded buffers trade bounded latency for catastrophic out-of-memory crashes.</a:t>
            </a:r>
          </a:p>
          <a:p/>
          <a:p>
            <a:r>
              <a:t>[DAMPAK KETIADAAN LIMITER DAN BACKPRESSURE]</a:t>
            </a:r>
          </a:p>
          <a:p>
            <a:r>
              <a:t>- Penumpukan Antrean: 5.000.000 request dengan drain 2.000/detik butuh 41 menit 40 detik untuk menguras buffer.</a:t>
            </a:r>
          </a:p>
          <a:p>
            <a:r>
              <a:t>- Kehabisan Memori: Buffer tak terbatas menyerap jutaan objek hingga proses terbunuh oleh OOM killer OS.</a:t>
            </a:r>
          </a:p>
          <a:p>
            <a:r>
              <a:t>- Bukan Berarti Rusak: Sistem melayani request normal saat sepi, tetapi bukan berarti aman dari lonjakan mendadak.</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Throttling Berbasis IP dan Retry Deterministik Melumpuhkan Sistem</a:t>
            </a:r>
          </a:p>
          <a:p/>
          <a:p>
            <a:r>
              <a:t>Mental Model: IP-based rate limits cause collateral damage under CGNAT; jitterless retries synchronize thundering herds.</a:t>
            </a:r>
          </a:p>
          <a:p/>
          <a:p>
            <a:r>
              <a:t>[KELEMAHAN PENDEKATAN NAIF]</a:t>
            </a:r>
          </a:p>
          <a:p>
            <a:r>
              <a:t>- Kolateral CGNAT: RFC 6598 membuat ribuan pelanggan berbagi satu IP; satu pengguna bising melumpuhkan seluruh tenant.</a:t>
            </a:r>
          </a:p>
          <a:p>
            <a:r>
              <a:t>- Thundering Herd: 100 client retry di interval deterministik yang sama menggandakan beban saat backend baru pulih.</a:t>
            </a:r>
          </a:p>
          <a:p>
            <a:r>
              <a:t>- Tidak Otomatis Aman: Menambah kapasitas server tidak otomatis menyelesaikan bottleneck jika retry storm terus menggempur.</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Tiga Pilar Resiliensi: Limiter, Bounded Queue, dan Jitter</a:t>
            </a:r>
          </a:p>
          <a:p/>
          <a:p>
            <a:r>
              <a:t>Mental Model: Rate limiting polices external boundaries; backpressure rejects internal overload; jitter disperses client retries.</a:t>
            </a:r>
          </a:p>
          <a:p/>
          <a:p>
            <a:r>
              <a:t>[TIGA PILAR PENGENDALIAN OVERLOAD]</a:t>
            </a:r>
          </a:p>
          <a:p>
            <a:r>
              <a:t>- 1. Rate Limiting (Boundary Guard): Token bucket mengontrol laju masuk di API gateway dan memotong burst liar.</a:t>
            </a:r>
          </a:p>
          <a:p>
            <a:r>
              <a:t>- 2. Backpressure (Internal Defense): Bounded queue menolak kelebihan job seketika dengan sinyal ErrQueueFull.</a:t>
            </a:r>
          </a:p>
          <a:p>
            <a:r>
              <a:t>- 3. Jittered Retry (Client Backoff): Hanya pada jalur ini acakan [0, temp] mencegah sinkronisasi thundering herd.</a:t>
            </a:r>
          </a:p>
          <a:p>
            <a:r>
              <a:t>- 4. RFC 6585 429 (Protocol Signal): Memberi tahu klien kapan waktu aman untuk mencoba kembali via Retry-After.</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Alur Arsitektur: Dari Ekstraksi Tenant ke Konsumer</a:t>
            </a:r>
          </a:p>
          <a:p/>
          <a:p>
            <a:r>
              <a:t>Mental Model: Layered defense isolates tenants at the gateway and sheds excess load immediately at queue boundaries.</a:t>
            </a:r>
          </a:p>
          <a:p/>
          <a:p>
            <a:r>
              <a:t>[PIPELINE PEMROSESAN PER TENANT]</a:t>
            </a:r>
          </a:p>
          <a:p>
            <a:r>
              <a:t>- 1. Tenant Extractor (HTTP Middleware): Membaca header X-API-Key untuk mendapatkan identitas tenant terisolasi.</a:t>
            </a:r>
          </a:p>
          <a:p>
            <a:r>
              <a:t>- 2. Token Bucket (Registry Lookup): Memeriksa kuota token; melebihi batas menghasilkan 429 Too Many Requests.</a:t>
            </a:r>
          </a:p>
          <a:p>
            <a:r>
              <a:t>- 3. Bounded Queue (Channel Buffer): Menerima job ke antrean; buffer penuh langsung menolak dengan ErrQueueFull.</a:t>
            </a:r>
          </a:p>
          <a:p>
            <a:r>
              <a:t>- 4. Worker Pool (Job Consumer): Konsumer memproses job; belum membuktikan isolasi resource CPU per worker.</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Perbandingan Algoritma: Token Bucket vs Leaky Bucket</a:t>
            </a:r>
          </a:p>
          <a:p/>
          <a:p>
            <a:r>
              <a:t>Mental Model: Token bucket permits bursts up to capacity; leaky bucket smooths output to a strict constant rate.</a:t>
            </a:r>
          </a:p>
          <a:p/>
          <a:p>
            <a:r>
              <a:t>[MATRIKS KOMPARASI TOKEN BUCKET VS LEAKY BUCKET]</a:t>
            </a:r>
          </a:p>
          <a:p>
            <a:r>
              <a:t>- Karakteristik | Token Bucket (Traffic Burst) | Leaky Bucket (Traffic Smoothing)</a:t>
            </a:r>
          </a:p>
          <a:p>
            <a:r>
              <a:t>- Toleransi Burst | Mengizinkan burst hingga kapasitas B | Menahan burst; output rata pada laju R</a:t>
            </a:r>
          </a:p>
          <a:p>
            <a:r>
              <a:t>- State Utama | Jumlah token yang siap dikonsumsi | Level air yang menunggu dibocorkan</a:t>
            </a:r>
          </a:p>
          <a:p>
            <a:r>
              <a:t>- Mekanisme Tolak | Token &lt; n yang diminta | Penambahan air melebihi kapasitas B</a:t>
            </a:r>
          </a:p>
          <a:p>
            <a:r>
              <a:t>- Kasus Penggunaan | API Gateway, bursty interactive user | Egress traffic shaping, NGINX limit_req</a:t>
            </a:r>
          </a:p>
          <a:p>
            <a:r>
              <a:t>- Respons Standar | HTTP 429 Too Many Requests | HTTP 429 atau 503 Service Unavailable</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Token Bucket: Pengisian Waktu Berjalan dan Konsumsi</a:t>
            </a:r>
          </a:p>
          <a:p/>
          <a:p>
            <a:r>
              <a:t>Mental Model: Lazy replenishment on call converts expensive timer ticker goroutines into cheap timestamp arithmetic.</a:t>
            </a:r>
          </a:p>
          <a:p/>
          <a:p>
            <a:r>
              <a:t>[internal/ratelimit/bucket.go]</a:t>
            </a:r>
          </a:p>
          <a:p>
            <a:r>
              <a:t>- func (tb *TokenBucket) AllowN(n float64) bool {</a:t>
            </a:r>
          </a:p>
          <a:p>
            <a:r>
              <a:t>-     tb.mu.Lock()</a:t>
            </a:r>
          </a:p>
          <a:p>
            <a:r>
              <a:t>-     defer tb.mu.Unlock()</a:t>
            </a:r>
          </a:p>
          <a:p>
            <a:r>
              <a:t>-     now := time.Now()</a:t>
            </a:r>
          </a:p>
          <a:p>
            <a:r>
              <a:t>-     elapsed := now.Sub(tb.lastRefill).Seconds()</a:t>
            </a:r>
          </a:p>
          <a:p>
            <a:r>
              <a:t>-     tb.tokens = math.Min(tb.capacity, tb.tokens+elapsed*tb.refillRate)</a:t>
            </a:r>
          </a:p>
          <a:p>
            <a:r>
              <a:t>-     tb.lastRefill = now</a:t>
            </a:r>
          </a:p>
          <a:p>
            <a:r>
              <a:t>-     if tb.tokens &gt;= n {</a:t>
            </a:r>
          </a:p>
          <a:p>
            <a:r>
              <a:t>-         tb.tokens -= n</a:t>
            </a:r>
          </a:p>
          <a:p>
            <a:r>
              <a:t>-         return true</a:t>
            </a:r>
          </a:p>
          <a:p>
            <a:r>
              <a:t>-     }</a:t>
            </a:r>
          </a:p>
          <a:p>
            <a:r>
              <a:t>-     return false</a:t>
            </a:r>
          </a:p>
          <a:p>
            <a:r>
              <a:t>- }</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Kalkulasi Retry-After: Panduan Presisi Waktu Tunggu</a:t>
            </a:r>
          </a:p>
          <a:p/>
          <a:p>
            <a:r>
              <a:t>Mental Model: Round up retry delay to integer seconds to prevent clients from retrying before token replenishment.</a:t>
            </a:r>
          </a:p>
          <a:p/>
          <a:p>
            <a:r>
              <a:t>[internal/ratelimit/bucket.go]</a:t>
            </a:r>
          </a:p>
          <a:p>
            <a:r>
              <a:t>- func (tb *TokenBucket) RetryAfterSeconds(n float64) int {</a:t>
            </a:r>
          </a:p>
          <a:p>
            <a:r>
              <a:t>-     tb.mu.Lock()</a:t>
            </a:r>
          </a:p>
          <a:p>
            <a:r>
              <a:t>-     defer tb.mu.Unlock()</a:t>
            </a:r>
          </a:p>
          <a:p>
            <a:r>
              <a:t>-     // ... perbarui token dari elapsed time ...</a:t>
            </a:r>
          </a:p>
          <a:p>
            <a:r>
              <a:t>-     if tb.tokens &gt;= n { return 0 }</a:t>
            </a:r>
          </a:p>
          <a:p>
            <a:r>
              <a:t>-     needed := n - tb.tokens</a:t>
            </a:r>
          </a:p>
          <a:p>
            <a:r>
              <a:t>-     secs := needed / tb.refillRate</a:t>
            </a:r>
          </a:p>
          <a:p>
            <a:r>
              <a:t>-     rounded := int(secs)</a:t>
            </a:r>
          </a:p>
          <a:p>
            <a:r>
              <a:t>-     if float64(rounded) &lt; secs { rounded++ }</a:t>
            </a:r>
          </a:p>
          <a:p>
            <a:r>
              <a:t>-     return rounded</a:t>
            </a:r>
          </a:p>
          <a:p>
            <a:r>
              <a:t>- }</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Bounded Queue: Penolakan Cepat dengan Select-Default</a:t>
            </a:r>
          </a:p>
          <a:p/>
          <a:p>
            <a:r>
              <a:t>Mental Model: Select-default on bounded channels gives zero-allocation, instant backpressure shedding.</a:t>
            </a:r>
          </a:p>
          <a:p/>
          <a:p>
            <a:r>
              <a:t>[internal/backpressure/queue.go]</a:t>
            </a:r>
          </a:p>
          <a:p>
            <a:r>
              <a:t>- func (bq *BoundedQueue) TrySubmit(job Job) error {</a:t>
            </a:r>
          </a:p>
          <a:p>
            <a:r>
              <a:t>-     bq.stopMu.RLock()</a:t>
            </a:r>
          </a:p>
          <a:p>
            <a:r>
              <a:t>-     defer bq.stopMu.RUnlock()</a:t>
            </a:r>
          </a:p>
          <a:p>
            <a:r>
              <a:t>-     if bq.stopped { return ErrQueueStopped }</a:t>
            </a:r>
          </a:p>
          <a:p>
            <a:r>
              <a:t>-     select {</a:t>
            </a:r>
          </a:p>
          <a:p>
            <a:r>
              <a:t>-     case bq.queue &lt;- job:</a:t>
            </a:r>
          </a:p>
          <a:p>
            <a:r>
              <a:t>-         bq.accepted.Add(1)</a:t>
            </a:r>
          </a:p>
          <a:p>
            <a:r>
              <a:t>-         return nil</a:t>
            </a:r>
          </a:p>
          <a:p>
            <a:r>
              <a:t>-     default:</a:t>
            </a:r>
          </a:p>
          <a:p>
            <a:r>
              <a:t>-         bq.rejected.Add(1)</a:t>
            </a:r>
          </a:p>
          <a:p>
            <a:r>
              <a:t>-         return ErrQueueFull</a:t>
            </a:r>
          </a:p>
          <a:p>
            <a:r>
              <a:t>-     }</a:t>
            </a:r>
          </a:p>
          <a:p>
            <a:r>
              <a:t>- }</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AWS Full Jitter: Mencegah Sinkronisasi Thundering Herd</a:t>
            </a:r>
          </a:p>
          <a:p/>
          <a:p>
            <a:r>
              <a:t>Mental Model: Full jitter samples uniformly from zero to the exponential ceiling to disperse client retry waves.</a:t>
            </a:r>
          </a:p>
          <a:p/>
          <a:p>
            <a:r>
              <a:t>[internal/retry/backoff.go]</a:t>
            </a:r>
          </a:p>
          <a:p>
            <a:r>
              <a:t>- func ComputeBackoff(strategy BackoffStrategy, attempt int,</a:t>
            </a:r>
          </a:p>
          <a:p>
            <a:r>
              <a:t>-     cfg Config, prevSleep time.Duration) time.Duration {</a:t>
            </a:r>
          </a:p>
          <a:p>
            <a:r>
              <a:t>-     expBackoff := float64(cfg.Base) * math.Pow(2, float64(attempt))</a:t>
            </a:r>
          </a:p>
          <a:p>
            <a:r>
              <a:t>-     temp := math.Min(float64(cfg.Cap), expBackoff)</a:t>
            </a:r>
          </a:p>
          <a:p>
            <a:r>
              <a:t>-     switch strategy {</a:t>
            </a:r>
          </a:p>
          <a:p>
            <a:r>
              <a:t>-     case FullJitter:</a:t>
            </a:r>
          </a:p>
          <a:p>
            <a:r>
              <a:t>-         if temp &lt;= 0 { return 0 }</a:t>
            </a:r>
          </a:p>
          <a:p>
            <a:r>
              <a:t>-         return time.Duration(rand.Float64() * temp)</a:t>
            </a:r>
          </a:p>
          <a:p>
            <a:r>
              <a:t>-     // ... case EqualJitter, DecorrelatedJitter, NoJitter ...</a:t>
            </a:r>
          </a:p>
          <a:p>
            <a:r>
              <a:t>-     }</a:t>
            </a:r>
          </a:p>
          <a:p>
            <a:r>
              <a:t>- }</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Middleware HTTP: Menegakkan Status 429 RFC 6585</a:t>
            </a:r>
          </a:p>
          <a:p/>
          <a:p>
            <a:r>
              <a:t>Mental Model: Extract tenant keys at edge middleware, reject excess with 429, and provide explicit Retry-After headers.</a:t>
            </a:r>
          </a:p>
          <a:p/>
          <a:p>
            <a:r>
              <a:t>[internal/httputil/middleware.go]</a:t>
            </a:r>
          </a:p>
          <a:p>
            <a:r>
              <a:t>- func RateLimitMiddleware(reg *ratelimit.Registry, next http.Handler) http.Handler {</a:t>
            </a:r>
          </a:p>
          <a:p>
            <a:r>
              <a:t>-     return http.HandlerFunc(func(w http.ResponseWriter, r *http.Request) {</a:t>
            </a:r>
          </a:p>
          <a:p>
            <a:r>
              <a:t>-         key := r.Header.Get("X-API-Key")</a:t>
            </a:r>
          </a:p>
          <a:p>
            <a:r>
              <a:t>-         if key == "" { key = "anonymous" }</a:t>
            </a:r>
          </a:p>
          <a:p>
            <a:r>
              <a:t>-         bucket := reg.Get(key)</a:t>
            </a:r>
          </a:p>
          <a:p>
            <a:r>
              <a:t>-         if !bucket.Allow() {</a:t>
            </a:r>
          </a:p>
          <a:p>
            <a:r>
              <a:t>-             retryAfter := bucket.RetryAfterSeconds(1.0)</a:t>
            </a:r>
          </a:p>
          <a:p>
            <a:r>
              <a:t>-             w.Header().Set("Retry-After", strconv.Itoa(retryAfter))</a:t>
            </a:r>
          </a:p>
          <a:p>
            <a:r>
              <a:t>-             w.WriteHeader(http.StatusTooManyRequests) // 429</a:t>
            </a:r>
          </a:p>
          <a:p>
            <a:r>
              <a:t>-             _ = json.NewEncoder(w).Encode(RateLimitResponse{...})</a:t>
            </a:r>
          </a:p>
          <a:p>
            <a:r>
              <a:t>-             return</a:t>
            </a:r>
          </a:p>
          <a:p>
            <a:r>
              <a:t>-         }</a:t>
            </a:r>
          </a:p>
          <a:p>
            <a:r>
              <a:t>-         next.ServeHTTP(w, r)</a:t>
            </a:r>
          </a:p>
          <a:p>
            <a:r>
              <a:t>-     })</a:t>
            </a:r>
          </a:p>
          <a:p>
            <a:r>
              <a:t>- }</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Eksekusi Demo cmd/demo: Empat Verifikasi Perilaku</a:t>
            </a:r>
          </a:p>
          <a:p/>
          <a:p>
            <a:r>
              <a:t>Mental Model: Executable verification proves burst accommodation, queue shedding, and jitter dispersion in live runs.</a:t>
            </a:r>
          </a:p>
          <a:p/>
          <a:p>
            <a:r>
              <a:t>[TERMINAL OUTPUT: go run ./cmd/demo]</a:t>
            </a:r>
          </a:p>
          <a:p>
            <a:r>
              <a:t>- === 1. Token Bucket Burst &amp; Rate Limiting ===</a:t>
            </a:r>
          </a:p>
          <a:p>
            <a:r>
              <a:t>- Request #1..3: Allowed=true | Request #4..5: Allowed=false</a:t>
            </a:r>
          </a:p>
          <a:p>
            <a:r>
              <a:t>- After 300ms pause: Allowed=true (Remaining Tokens: 0.5)</a:t>
            </a:r>
          </a:p>
          <a:p>
            <a:r>
              <a:t>- === 2. Leaky Bucket Traffic Smoothing ===</a:t>
            </a:r>
          </a:p>
          <a:p>
            <a:r>
              <a:t>- Request #1..3: Allowed=true | Request #4..5: Allowed=false (Water: 3.0)</a:t>
            </a:r>
          </a:p>
          <a:p>
            <a:r>
              <a:t>- === 3. Bounded Queue Backpressure (Load Shedding) ===</a:t>
            </a:r>
          </a:p>
          <a:p>
            <a:r>
              <a:t>- Job #1..3: ACCEPTED | Job #4, #6: REJECTED (queue capacity exceeded)</a:t>
            </a:r>
          </a:p>
          <a:p>
            <a:r>
              <a:t>- Stats: Accepted=4, Rejected=2, Processed=1</a:t>
            </a:r>
          </a:p>
          <a:p>
            <a:r>
              <a:t>- === 4. AWS Retry Backoff Strategies (Attempts 0..3) ===</a:t>
            </a:r>
          </a:p>
          <a:p>
            <a:r>
              <a:t>- Attempt 0 -&gt; NoJitter: 100ms  | FullJitter: 61ms   | EqualJitter: 80ms</a:t>
            </a:r>
          </a:p>
          <a:p>
            <a:r>
              <a:t>- Attempt 3 -&gt; NoJitter: 800ms  | FullJitter: 342ms  | EqualJitter: 647ms</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Verifikasi Test Suite: 15/15 PASS dan Bersih dari Race</a:t>
            </a:r>
          </a:p>
          <a:p/>
          <a:p>
            <a:r>
              <a:t>Mental Model: Race-clean unit tests prove concurrent synchronization correctness in local shared-memory runtimes.</a:t>
            </a:r>
          </a:p>
          <a:p/>
          <a:p>
            <a:r>
              <a:t>[TERMINAL OUTPUT: go test -v -race ./...]</a:t>
            </a:r>
          </a:p>
          <a:p>
            <a:r>
              <a:t>- === RUN   TestTokenBucket_BurstAndRefill / ConcurrencyRace</a:t>
            </a:r>
          </a:p>
          <a:p>
            <a:r>
              <a:t>- --- PASS: TestTokenBucket_* (0.05s)</a:t>
            </a:r>
          </a:p>
          <a:p>
            <a:r>
              <a:t>- === RUN   TestLeakyBucket_LeakRate / ConcurrencyRace</a:t>
            </a:r>
          </a:p>
          <a:p>
            <a:r>
              <a:t>- --- PASS: TestLeakyBucket_* (0.02s)</a:t>
            </a:r>
          </a:p>
          <a:p>
            <a:r>
              <a:t>- === RUN   TestRegistry_TenantIsolation / ConcurrentSameKeyGet</a:t>
            </a:r>
          </a:p>
          <a:p>
            <a:r>
              <a:t>- --- PASS: TestRegistry_* (0.01s)</a:t>
            </a:r>
          </a:p>
          <a:p>
            <a:r>
              <a:t>- === RUN   TestBoundedQueue_RejectionUnderLoad / ConcurrencySafety</a:t>
            </a:r>
          </a:p>
          <a:p>
            <a:r>
              <a:t>- --- PASS: TestBoundedQueue_* (0.08s)</a:t>
            </a:r>
          </a:p>
          <a:p>
            <a:r>
              <a:t>- === RUN   TestComputeBackoff_Bounds / DecorrelatedJitter_Bounds</a:t>
            </a:r>
          </a:p>
          <a:p>
            <a:r>
              <a:t>- --- PASS: TestComputeBackoff_* (0.00s)</a:t>
            </a:r>
          </a:p>
          <a:p>
            <a:r>
              <a:t>- === RUN   TestRateLimitMiddleware_RFC6585 / AnonymousFallback</a:t>
            </a:r>
          </a:p>
          <a:p>
            <a:r>
              <a:t>- --- PASS: TestRateLimitMiddleware_* (0.00s)</a:t>
            </a:r>
          </a:p>
          <a:p>
            <a:r>
              <a:t>- PASS: ok labs/25-rate-limiting-and-backpressure (race detector: clean)</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Batasan Bukti Lab: Yang Dibuktikan vs Belum</a:t>
            </a:r>
          </a:p>
          <a:p/>
          <a:p>
            <a:r>
              <a:t>Mental Model: Clearly delimit verified algorithmic invariants from unproven distributed scale heuristics.</a:t>
            </a:r>
          </a:p>
          <a:p/>
          <a:p>
            <a:r>
              <a:t>[BATAS PEMBUKTIAN REKAYASA]</a:t>
            </a:r>
          </a:p>
          <a:p>
            <a:r>
              <a:t>- YANG DIBUKTIKAN: Penolakan burst token bucket, fast drop bounded queue, dan sebaran rentang Full Jitter.</a:t>
            </a:r>
          </a:p>
          <a:p>
            <a:r>
              <a:t>- YANG TIDAK DIBUKTIKAN: Sinkronisasi token lintas multi-instance pod tanpa shared state eksternal.</a:t>
            </a:r>
          </a:p>
          <a:p>
            <a:r>
              <a:t>- BATAS KLAIM EMPIRIS: Lab belum membuktikan ketahanan cluster terhadap badai DDoS ratusan ribu node eksternal.</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15: Trade-off Arsitektur Rate Limiting &amp; Backpressure</a:t>
            </a:r>
          </a:p>
          <a:p/>
          <a:p>
            <a:r>
              <a:t>Mental Model: Rate limiting trades edge false-rejection risks for core service survival and latency stability.</a:t>
            </a:r>
          </a:p>
          <a:p/>
          <a:p>
            <a:r>
              <a:t>[KOMPROMI REKAYASA SISTEM]</a:t>
            </a:r>
          </a:p>
          <a:p>
            <a:r>
              <a:t>- False Rejections: Limiter agresif berisiko menolak pengguna legitimate saat aktivitas bisnis melonjak wajar.</a:t>
            </a:r>
          </a:p>
          <a:p>
            <a:r>
              <a:t>- Shared State Latency: Sinkronisasi Redis menambah latensi 1-2ms di hot-path setiap request HTTP yang masuk.</a:t>
            </a:r>
          </a:p>
          <a:p>
            <a:r>
              <a:t>- Tidak Otomatis Kebal: Memasang middleware limiter tidak otomatis membuat database kebal terhadap query N+1 berat.</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16: Analisis Beban: Little's Law dan Pertumbuhan Backlog</a:t>
            </a:r>
          </a:p>
          <a:p/>
          <a:p>
            <a:r>
              <a:t>Mental Model: L = lambda * W: when processing capacity is saturated, queue wait times degrade proportionally to backlog depth.</a:t>
            </a:r>
          </a:p>
          <a:p/>
          <a:p>
            <a:r>
              <a:t>[FORMULA MATEMATIKA SISTEM ANTREAN]</a:t>
            </a:r>
          </a:p>
          <a:p>
            <a:r>
              <a:t>- Little's Law (L = λW): Kapasitas in-flight (L) adalah perkalian antara laju kedatangan (λ) dan durasi proses (W).</a:t>
            </a:r>
          </a:p>
          <a:p>
            <a:r>
              <a:t>- Akumulasi Backlog: Pertumbuhan antrean = (Arrival Rate − Processing Rate) × Waktu durasi kelebihan beban.</a:t>
            </a:r>
          </a:p>
          <a:p>
            <a:r>
              <a:t>- Kalkulasi Lab 25: 5.000.000 request ÷ 2.000 drain/detik = 2.500 detik (41 menit 40 detik); hanya pada jalur bounded buffer batas latensi terjaga.</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17: Studi Kasus Stripe: Arsitektur Limiter 4 Lapisan</a:t>
            </a:r>
          </a:p>
          <a:p/>
          <a:p>
            <a:r>
              <a:t>Mental Model: Layer multiple specialized limiters to drop low-criticality traffic first during severe overload.</a:t>
            </a:r>
          </a:p>
          <a:p/>
          <a:p>
            <a:r>
              <a:t>[EMPAT LAPISAN LIMITER STRIPE]</a:t>
            </a:r>
          </a:p>
          <a:p>
            <a:r>
              <a:t>- 1. Request Rate Limiter (Per-User Quota): Membatasi laju request per pengguna menggunakan token bucket terdistribusi.</a:t>
            </a:r>
          </a:p>
          <a:p>
            <a:r>
              <a:t>- 2. Concurrent Limiter (In-Flight Bound): Membatasi jumlah request simultan yang sedang aktif berjalan per pengguna.</a:t>
            </a:r>
          </a:p>
          <a:p>
            <a:r>
              <a:t>- 3. Fleet Load Shedder (Criticality Reserve): Menolak trafik berprioritas rendah demi menjamin kapasitas transaksi kritis.</a:t>
            </a:r>
          </a:p>
          <a:p>
            <a:r>
              <a:t>- 4. Worker Load Shedder (Execution Guard): Membuang uji coba test-mode, GET lalu POST; bukan berarti request hilang tanpa status.</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18: Google SRE: Criticality Level dan Kuota Retry</a:t>
            </a:r>
          </a:p>
          <a:p/>
          <a:p>
            <a:r>
              <a:t>Mental Model: Enforce strict retry budgets (max 3 attempts, &lt;10% retry ratio) to eliminate cascading retry storms.</a:t>
            </a:r>
          </a:p>
          <a:p/>
          <a:p>
            <a:r>
              <a:t>[DISIPLIN KETAHANAN GOOGLE SRE]</a:t>
            </a:r>
          </a:p>
          <a:p>
            <a:r>
              <a:t>- 4 Level Criticality: CRITICAL_PLUS, CRITICAL, SHEDDABLE_PLUS, SHEDDABLE; tolak level rendah lebih dulu.</a:t>
            </a:r>
          </a:p>
          <a:p>
            <a:r>
              <a:t>- Retry Budget Klien: Maksimal 3 attempt per-request dan rasio retry maksimal 10% dari total trafik klien.</a:t>
            </a:r>
          </a:p>
          <a:p>
            <a:r>
              <a:t>- Token Bucket Quota: AWS SDK mengadopsi 500 token retry pool; cakupannya mengikuti test kalibrasi error transien.</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19: Transformasi Desain: Unprotected vs Resilient Pipeline</a:t>
            </a:r>
          </a:p>
          <a:p/>
          <a:p>
            <a:r>
              <a:t>Mental Model: Transform uncontrolled systemic collapse into bounded, graceful rejection under peak overload.</a:t>
            </a:r>
          </a:p>
          <a:p/>
          <a:p>
            <a:r>
              <a:t>[SEBELUM (UNPROTECTED) VS SESUDAH (RESILIENT)]</a:t>
            </a:r>
          </a:p>
          <a:p>
            <a:r>
              <a:t>- Sebelum: Unbounded Channel: Antrean bertambah hingga jutaan item; latensi membengkak 40+ menit sebelum proses OOM crash.</a:t>
            </a:r>
          </a:p>
          <a:p>
            <a:r>
              <a:t>- Sesudah: Bounded + Jitter: Kelebihan beban ditolak cepat (429/ErrQueueFull); klien desinkronisasi via Full Jitter.</a:t>
            </a:r>
          </a:p>
          <a:p>
            <a:r>
              <a:t>- Bukan Berarti Nol Error: Resiliensi bukan berarti bebas error 100%, melainkan memastikan sistem tetap hidup melayani trafik sehat.</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20: Checklist Rekayasa Rate Limiting &amp; Backpressure</a:t>
            </a:r>
          </a:p>
          <a:p/>
          <a:p>
            <a:r>
              <a:t>Mental Model: Apply strict architectural gates across limits, buffers, retries, and metrics before production rollout.</a:t>
            </a:r>
          </a:p>
          <a:p/>
          <a:p>
            <a:r>
              <a:t>[KRITERIA IMPLEMENTASI RESILIENSI]</a:t>
            </a:r>
          </a:p>
          <a:p>
            <a:r>
              <a:t>- Identifikasi batas sistem: tentukan rate limiter di edge API gateway dan service mesh.</a:t>
            </a:r>
          </a:p>
          <a:p>
            <a:r>
              <a:t>- Pilih algoritma yang tepat: Token Bucket untuk burst wajar, Leaky Bucket untuk output konstan.</a:t>
            </a:r>
          </a:p>
          <a:p>
            <a:r>
              <a:t>- Gunakan kunci identitas per-tenant (X-API-Key atau User ID) untuk mencegah kolateral CGNAT.</a:t>
            </a:r>
          </a:p>
          <a:p>
            <a:r>
              <a:t>- Terapkan Bounded Queue dengan kapasitas terukur sesuai laju pemrosesan konsumer downstream.</a:t>
            </a:r>
          </a:p>
          <a:p>
            <a:r>
              <a:t>- Kembalikan respons standar HTTP 429 dengan header Retry-After presisi (RFC 6585).</a:t>
            </a:r>
          </a:p>
          <a:p>
            <a:r>
              <a:t>- Gunakan Exponential Backoff dengan Full Jitter pada semua klien pemanggil untuk mencegah thundering herd.</a:t>
            </a:r>
          </a:p>
          <a:p>
            <a:r>
              <a:t>- Tetapkan Retry Budget: maksimal 3 percobaan per request dan batas rasio retry di bawah 10%.</a:t>
            </a:r>
          </a:p>
          <a:p>
            <a:r>
              <a:t>- Pantau Queue Age, bukan hanya Queue Length, untuk deteksi dini pembengkakan latensi pemrosesan.</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21: Anti-Pattern Umum: Kesalahan Fatal Pengendalian Overload</a:t>
            </a:r>
          </a:p>
          <a:p/>
          <a:p>
            <a:r>
              <a:t>Mental Model: Avoid IP-only throttling, eliminate deterministic retries, and never allow unbounded queues.</a:t>
            </a:r>
          </a:p>
          <a:p/>
          <a:p>
            <a:r>
              <a:t>[HINDARI KESALAHAN ARSITEKTURAL INI]</a:t>
            </a:r>
          </a:p>
          <a:p>
            <a:r>
              <a:t>- IP Limiting di CGNAT: Membatasi IP publik memblokir ribuan pengguna sah di balik satu gerbang ISP seluler.</a:t>
            </a:r>
          </a:p>
          <a:p>
            <a:r>
              <a:t>- Retry Tanpa Jitter: Interval eksponensial kaku menyinkronkan ribuan klien menjadi gelombang thundering herd penghancur.</a:t>
            </a:r>
          </a:p>
          <a:p>
            <a:r>
              <a:t>- Unbounded Buffer: Antrean tanpa batas bukan berarti aman; itu bom waktu memori yang menjamin kegagalan total.</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22: Reproduksi Mandiri di Mesin Lokal Menggunakan Go</a:t>
            </a:r>
          </a:p>
          <a:p/>
          <a:p>
            <a:r>
              <a:t>Mental Model: Zero-dependency local verification guarantees fast, repeatable validation across developer workflows.</a:t>
            </a:r>
          </a:p>
          <a:p/>
          <a:p>
            <a:r>
              <a:t>[COMMAND RUNNER (PURE GO STANDARD LIBRARY)]</a:t>
            </a:r>
          </a:p>
          <a:p>
            <a:r>
              <a:t>- cd labs/25-rate-limiting-and-backpressure</a:t>
            </a:r>
          </a:p>
          <a:p>
            <a:r>
              <a:t>- go test -v ./...    # validasi unit test bucket, queue, retry, dan middleware</a:t>
            </a:r>
          </a:p>
          <a:p>
            <a:r>
              <a:t>- go test -race ./... # verifikasi konkurensi stateless bebas data race</a:t>
            </a:r>
          </a:p>
          <a:p>
            <a:r>
              <a:t>- go run ./cmd/demo   # eksekusi demonstrasi langsung 4 pilar arsitektur</a:t>
            </a:r>
          </a:p>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23: Prinsip Inti: Kendalikan Pintu Masuk, Propagasikan Tekanan</a:t>
            </a:r>
          </a:p>
          <a:p/>
          <a:p>
            <a:r>
              <a:t>Mental Model: Police external ingress, reject internal overload fast, and desynchronize client retries with jitter.</a:t>
            </a:r>
          </a:p>
          <a:p/>
          <a:p>
            <a:r>
              <a:t>[TIGA PILAR KELANGSUNGAN ARSITEKTUR]</a:t>
            </a:r>
          </a:p>
          <a:p>
            <a:r>
              <a:t>- Polisikan Pintu Gerbang: Gunakan token bucket per tenant untuk membatasi kuota sebelum request membebani resource inti.</a:t>
            </a:r>
          </a:p>
          <a:p>
            <a:r>
              <a:t>- Tolak Cepat di Hilir: Terapkan bounded queue agar kelebihan beban dibuang seketika tanpa menumpuk latensi.</a:t>
            </a:r>
          </a:p>
          <a:p>
            <a:r>
              <a:t>- Desinkronisasi Klien: Terapkan Full Jitter; tidak otomatis menjamin backend pulih jika downstream rusak permanen.</a:t>
            </a:r>
          </a:p>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24: Sistem tanpa backpressure adalah sistem yang menunda kebangkrutan memorinya sendiri.</a:t>
            </a:r>
          </a:p>
          <a:p/>
          <a:p>
            <a:r>
              <a:t>Mental Model: A system without backpressure is merely borrowing time until an unavoidable memory collapse.</a:t>
            </a:r>
          </a:p>
          <a:p/>
          <a:p>
            <a:r>
              <a:t>[MODUL IMPLEMENTASI]</a:t>
            </a:r>
          </a:p>
          <a:p>
            <a:r>
              <a:t>- internal/ratelimit/bucket.go • internal/ratelimit/registry.go</a:t>
            </a:r>
          </a:p>
          <a:p>
            <a:r>
              <a:t>- internal/backpressure/queue.go • internal/retry/backoff.go</a:t>
            </a:r>
          </a:p>
          <a:p>
            <a:r>
              <a:t>- internal/httputil/middleware.go • cmd/demo/main.go</a:t>
            </a:r>
          </a:p>
          <a:p>
            <a:r>
              <a:t>[VERIFIKASI &amp; STATUS]</a:t>
            </a:r>
          </a:p>
          <a:p>
            <a:r>
              <a:t>- Commit: 45cc429 • Status: APPROVED</a:t>
            </a:r>
          </a:p>
          <a:p>
            <a:r>
              <a:t>- Test passing: 15 unit tests (burst, refill, tenant isolation, queue shedding, jitter)</a:t>
            </a:r>
          </a:p>
          <a:p>
            <a:r>
              <a:t>- Race detector: Clean (go test -race ./... PASS in 0.28s)</a:t>
            </a:r>
          </a:p>
          <a:p>
            <a:r>
              <a:t>- Implementasi Go standard library murni; in-memory single process architecture.</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914400"/>
            <a:ext cx="10362895" cy="548640"/>
          </a:xfrm>
          <a:prstGeom prst="rect">
            <a:avLst/>
          </a:prstGeom>
          <a:noFill/>
        </p:spPr>
        <p:txBody>
          <a:bodyPr wrap="square">
            <a:spAutoFit/>
          </a:bodyPr>
          <a:lstStyle/>
          <a:p>
            <a:pPr>
              <a:defRPr sz="1600" b="1">
                <a:solidFill>
                  <a:srgbClr val="087F76"/>
                </a:solidFill>
              </a:defRPr>
            </a:pPr>
            <a:r>
              <a:t>SOFTWARE ENGINEERING LAB | LAB 25</a:t>
            </a:r>
          </a:p>
        </p:txBody>
      </p:sp>
      <p:sp>
        <p:nvSpPr>
          <p:cNvPr id="4" name="TextBox 3"/>
          <p:cNvSpPr txBox="1"/>
          <p:nvPr/>
        </p:nvSpPr>
        <p:spPr>
          <a:xfrm>
            <a:off x="914400" y="1645920"/>
            <a:ext cx="10362895" cy="1463040"/>
          </a:xfrm>
          <a:prstGeom prst="rect">
            <a:avLst/>
          </a:prstGeom>
          <a:noFill/>
        </p:spPr>
        <p:txBody>
          <a:bodyPr wrap="square">
            <a:spAutoFit/>
          </a:bodyPr>
          <a:lstStyle/>
          <a:p>
            <a:pPr>
              <a:defRPr sz="4400" b="1">
                <a:solidFill>
                  <a:srgbClr val="FFFFFF"/>
                </a:solidFill>
              </a:defRPr>
            </a:pPr>
            <a:r>
              <a:t>Rate Limiting &amp; Backpressure</a:t>
            </a:r>
          </a:p>
        </p:txBody>
      </p:sp>
      <p:sp>
        <p:nvSpPr>
          <p:cNvPr id="5" name="TextBox 4"/>
          <p:cNvSpPr txBox="1"/>
          <p:nvPr/>
        </p:nvSpPr>
        <p:spPr>
          <a:xfrm>
            <a:off x="914400" y="3291840"/>
            <a:ext cx="10362895" cy="914400"/>
          </a:xfrm>
          <a:prstGeom prst="rect">
            <a:avLst/>
          </a:prstGeom>
          <a:noFill/>
        </p:spPr>
        <p:txBody>
          <a:bodyPr wrap="square">
            <a:spAutoFit/>
          </a:bodyPr>
          <a:lstStyle/>
          <a:p>
            <a:pPr>
              <a:defRPr sz="2200">
                <a:solidFill>
                  <a:srgbClr val="F4F1E8"/>
                </a:solidFill>
              </a:defRPr>
            </a:pPr>
            <a:r>
              <a:t>Mengontrol Laju Masuk dan Mempropagasi Tekanan Beban di Sistem Terdistribusi</a:t>
            </a:r>
          </a:p>
        </p:txBody>
      </p:sp>
      <p:sp>
        <p:nvSpPr>
          <p:cNvPr id="6" name="TextBox 5"/>
          <p:cNvSpPr txBox="1"/>
          <p:nvPr/>
        </p:nvSpPr>
        <p:spPr>
          <a:xfrm>
            <a:off x="914400" y="5303520"/>
            <a:ext cx="5486400" cy="548640"/>
          </a:xfrm>
          <a:prstGeom prst="rect">
            <a:avLst/>
          </a:prstGeom>
          <a:noFill/>
        </p:spPr>
        <p:txBody>
          <a:bodyPr wrap="none">
            <a:spAutoFit/>
          </a:bodyPr>
          <a:lstStyle/>
          <a:p>
            <a:pPr>
              <a:defRPr sz="1800" b="1">
                <a:solidFill>
                  <a:srgbClr val="D97706"/>
                </a:solidFill>
              </a:defRPr>
            </a:pPr>
            <a:r>
              <a:t>Lukman / lukman-ss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Antrean Tak Berbatas Memicu Kolaps Memori dan Latensi</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Ketika laju kedatangan melebihi kapasitas proses hilir, antrean bertumpuk tanpa batas.</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DAMPAK KETIADAAN LIMITER DAN BACKPRESSURE</a:t>
            </a:r>
          </a:p>
          <a:p>
            <a:pPr>
              <a:spcAft>
                <a:spcPts val="400"/>
              </a:spcAft>
              <a:defRPr sz="1200">
                <a:solidFill>
                  <a:srgbClr val="0B1B2D"/>
                </a:solidFill>
              </a:defRPr>
            </a:pPr>
            <a:r>
              <a:t>• Penumpukan Antrean: 5.000.000 request dengan drain 2.000/detik butuh 41 menit 40 detik untuk menguras buffer.</a:t>
            </a:r>
          </a:p>
          <a:p>
            <a:pPr>
              <a:spcAft>
                <a:spcPts val="400"/>
              </a:spcAft>
              <a:defRPr sz="1200">
                <a:solidFill>
                  <a:srgbClr val="0B1B2D"/>
                </a:solidFill>
              </a:defRPr>
            </a:pPr>
            <a:r>
              <a:t>• Kehabisan Memori: Buffer tak terbatas menyerap jutaan objek hingga proses terbunuh oleh OOM killer OS.</a:t>
            </a:r>
          </a:p>
          <a:p>
            <a:pPr>
              <a:spcAft>
                <a:spcPts val="400"/>
              </a:spcAft>
              <a:defRPr sz="1200">
                <a:solidFill>
                  <a:srgbClr val="0B1B2D"/>
                </a:solidFill>
              </a:defRPr>
            </a:pPr>
            <a:r>
              <a:t>• Bukan Berarti Rusak: Sistem melayani request normal saat sepi, tetapi bukan berarti aman dari lonjakan mendadak.</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Ketiadaan batas masuk membiarkan jutaan request menumpuk saat downstream melambat. Sistem yang berjalan lancar di kondisi normal bukan berarti mampu bertahan tanpa rate limiter ketika lonjakan beban traffic tak terduga datang.</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Unbounded buffers trade bounded latency for catastrophic out-of-memory crashes.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content/02-master-draft.md:3-12</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02 / 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Throttling Berbasis IP dan Retry Deterministik Melumpuhkan Sistem</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CGNAT mencampur ribuan tenant, sementara retry tanpa jitter memicu thundering herd.</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KELEMAHAN PENDEKATAN NAIF</a:t>
            </a:r>
          </a:p>
          <a:p>
            <a:pPr>
              <a:spcAft>
                <a:spcPts val="400"/>
              </a:spcAft>
              <a:defRPr sz="1200">
                <a:solidFill>
                  <a:srgbClr val="0B1B2D"/>
                </a:solidFill>
              </a:defRPr>
            </a:pPr>
            <a:r>
              <a:t>• Kolateral CGNAT: RFC 6598 membuat ribuan pelanggan berbagi satu IP; satu pengguna bising melumpuhkan seluruh tenant.</a:t>
            </a:r>
          </a:p>
          <a:p>
            <a:pPr>
              <a:spcAft>
                <a:spcPts val="400"/>
              </a:spcAft>
              <a:defRPr sz="1200">
                <a:solidFill>
                  <a:srgbClr val="0B1B2D"/>
                </a:solidFill>
              </a:defRPr>
            </a:pPr>
            <a:r>
              <a:t>• Thundering Herd: 100 client retry di interval deterministik yang sama menggandakan beban saat backend baru pulih.</a:t>
            </a:r>
          </a:p>
          <a:p>
            <a:pPr>
              <a:spcAft>
                <a:spcPts val="400"/>
              </a:spcAft>
              <a:defRPr sz="1200">
                <a:solidFill>
                  <a:srgbClr val="0B1B2D"/>
                </a:solidFill>
              </a:defRPr>
            </a:pPr>
            <a:r>
              <a:t>• Tidak Otomatis Aman: Menambah kapasitas server tidak otomatis menyelesaikan bottleneck jika retry storm terus menggempur.</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Rate limiting berbasis IP publik merugikan ribuan pengguna di balik CGNAT karena kuota terpakai habis oleh satu pengguna. Di sisi lain, menambah kapasitas CPU tidak otomatis menyelesaikan masalah jika retry klien terus datang serempak.</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IP-based rate limits cause collateral damage under CGNAT; jitterless retries synchronize thundering herds.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content/02-master-draft.md:33-36</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03 / 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Tiga Pilar Resiliensi: Limiter, Bounded Queue, dan Jitter</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Pengendalian pintu masuk, penolakan cepat internal, dan desinkronisasi percobaan ulang.</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TIGA PILAR PENGENDALIAN OVERLOAD</a:t>
            </a:r>
          </a:p>
          <a:p>
            <a:pPr>
              <a:spcAft>
                <a:spcPts val="400"/>
              </a:spcAft>
              <a:defRPr sz="1200">
                <a:solidFill>
                  <a:srgbClr val="0B1B2D"/>
                </a:solidFill>
              </a:defRPr>
            </a:pPr>
            <a:r>
              <a:t>• 1. Rate Limiting (Boundary Guard): Token bucket mengontrol laju masuk di API gateway dan memotong burst liar.</a:t>
            </a:r>
          </a:p>
          <a:p>
            <a:pPr>
              <a:spcAft>
                <a:spcPts val="400"/>
              </a:spcAft>
              <a:defRPr sz="1200">
                <a:solidFill>
                  <a:srgbClr val="0B1B2D"/>
                </a:solidFill>
              </a:defRPr>
            </a:pPr>
            <a:r>
              <a:t>• 2. Backpressure (Internal Defense): Bounded queue menolak kelebihan job seketika dengan sinyal ErrQueueFull.</a:t>
            </a:r>
          </a:p>
          <a:p>
            <a:pPr>
              <a:spcAft>
                <a:spcPts val="400"/>
              </a:spcAft>
              <a:defRPr sz="1200">
                <a:solidFill>
                  <a:srgbClr val="0B1B2D"/>
                </a:solidFill>
              </a:defRPr>
            </a:pPr>
            <a:r>
              <a:t>• 3. Jittered Retry (Client Backoff): Hanya pada jalur ini acakan [0, temp] mencegah sinkronisasi thundering herd.</a:t>
            </a:r>
          </a:p>
          <a:p>
            <a:pPr>
              <a:spcAft>
                <a:spcPts val="400"/>
              </a:spcAft>
              <a:defRPr sz="1200">
                <a:solidFill>
                  <a:srgbClr val="0B1B2D"/>
                </a:solidFill>
              </a:defRPr>
            </a:pPr>
            <a:r>
              <a:t>• 4. RFC 6585 429 (Protocol Signal): Memberi tahu klien kapan waktu aman untuk mencoba kembali via Retry-After.</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Resiliensi sistem terdistribusi bertumpu pada isolasi pintu masuk via token bucket dan propagasi tekanan ke hulu via bounded queue. Hanya pada jalur ini klien yang menerima sinyal 429 mendistribusikan waktu tunggu secara acak merata.</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Rate limiting polices external boundaries; backpressure rejects internal overload; jitter disperses client retries.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content/01-content-brief.md:6-10</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04 / 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Alur Arsitektur: Dari Ekstraksi Tenant ke Konsumer</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Memisahkan layer gateway, rate limiter, bounded buffer, hingga worker pool.</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PIPELINE PEMROSESAN PER TENANT</a:t>
            </a:r>
          </a:p>
          <a:p>
            <a:pPr>
              <a:spcAft>
                <a:spcPts val="400"/>
              </a:spcAft>
              <a:defRPr sz="1200">
                <a:solidFill>
                  <a:srgbClr val="0B1B2D"/>
                </a:solidFill>
              </a:defRPr>
            </a:pPr>
            <a:r>
              <a:t>• 1. Tenant Extractor (HTTP Middleware): Membaca header X-API-Key untuk mendapatkan identitas tenant terisolasi.</a:t>
            </a:r>
          </a:p>
          <a:p>
            <a:pPr>
              <a:spcAft>
                <a:spcPts val="400"/>
              </a:spcAft>
              <a:defRPr sz="1200">
                <a:solidFill>
                  <a:srgbClr val="0B1B2D"/>
                </a:solidFill>
              </a:defRPr>
            </a:pPr>
            <a:r>
              <a:t>• 2. Token Bucket (Registry Lookup): Memeriksa kuota token; melebihi batas menghasilkan 429 Too Many Requests.</a:t>
            </a:r>
          </a:p>
          <a:p>
            <a:pPr>
              <a:spcAft>
                <a:spcPts val="400"/>
              </a:spcAft>
              <a:defRPr sz="1200">
                <a:solidFill>
                  <a:srgbClr val="0B1B2D"/>
                </a:solidFill>
              </a:defRPr>
            </a:pPr>
            <a:r>
              <a:t>• 3. Bounded Queue (Channel Buffer): Menerima job ke antrean; buffer penuh langsung menolak dengan ErrQueueFull.</a:t>
            </a:r>
          </a:p>
          <a:p>
            <a:pPr>
              <a:spcAft>
                <a:spcPts val="400"/>
              </a:spcAft>
              <a:defRPr sz="1200">
                <a:solidFill>
                  <a:srgbClr val="0B1B2D"/>
                </a:solidFill>
              </a:defRPr>
            </a:pPr>
            <a:r>
              <a:t>• 4. Worker Pool (Job Consumer): Konsumer memproses job; belum membuktikan isolasi resource CPU per worker.</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Request masuk diidentifikasi per tenant, divalidasi oleh token bucket, lalu diserahkan ke bounded queue. Arsitektur ini mencegah kelebihan beban di memori, namun belum membuktikan jaminan alokasi CPU per tenant di level container OS.</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Layered defense isolates tenants at the gateway and sheds excess load immediately at queue boundaries.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content/04-diagrams.md:7-24</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05 / 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Perbandingan Algoritma: Token Bucket vs Leaky Bucket</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Keduanya setara secara matematis sebagai meter, namun berbeda sudut pandang kendali.</a:t>
            </a:r>
          </a:p>
        </p:txBody>
      </p:sp>
      <p:graphicFrame>
        <p:nvGraphicFramePr>
          <p:cNvPr id="6" name="Table 5"/>
          <p:cNvGraphicFramePr>
            <a:graphicFrameLocks noGrp="1"/>
          </p:cNvGraphicFramePr>
          <p:nvPr/>
        </p:nvGraphicFramePr>
        <p:xfrm>
          <a:off x="731520" y="1828800"/>
          <a:ext cx="5120640" cy="2743200"/>
        </p:xfrm>
        <a:graphic>
          <a:graphicData uri="http://schemas.openxmlformats.org/drawingml/2006/table">
            <a:tbl>
              <a:tblPr firstRow="1" bandRow="1">
                <a:tableStyleId>{5C22544A-7EE6-4342-B048-85BDC9FD1C3A}</a:tableStyleId>
              </a:tblPr>
              <a:tblGrid>
                <a:gridCol w="1706880"/>
                <a:gridCol w="1706880"/>
                <a:gridCol w="1706880"/>
              </a:tblGrid>
              <a:tr h="457200">
                <a:tc>
                  <a:txBody>
                    <a:bodyPr/>
                    <a:lstStyle/>
                    <a:p>
                      <a:pPr>
                        <a:defRPr b="1" sz="1100">
                          <a:solidFill>
                            <a:srgbClr val="FFFFFF"/>
                          </a:solidFill>
                        </a:defRPr>
                      </a:pPr>
                      <a:r>
                        <a:t>Karakteristik</a:t>
                      </a:r>
                    </a:p>
                  </a:txBody>
                  <a:tcPr>
                    <a:solidFill>
                      <a:srgbClr val="0B1B2D"/>
                    </a:solidFill>
                  </a:tcPr>
                </a:tc>
                <a:tc>
                  <a:txBody>
                    <a:bodyPr/>
                    <a:lstStyle/>
                    <a:p>
                      <a:pPr>
                        <a:defRPr b="1" sz="1100">
                          <a:solidFill>
                            <a:srgbClr val="FFFFFF"/>
                          </a:solidFill>
                        </a:defRPr>
                      </a:pPr>
                      <a:r>
                        <a:t>Token Bucket (Traffic Burst)</a:t>
                      </a:r>
                    </a:p>
                  </a:txBody>
                  <a:tcPr>
                    <a:solidFill>
                      <a:srgbClr val="0B1B2D"/>
                    </a:solidFill>
                  </a:tcPr>
                </a:tc>
                <a:tc>
                  <a:txBody>
                    <a:bodyPr/>
                    <a:lstStyle/>
                    <a:p>
                      <a:pPr>
                        <a:defRPr b="1" sz="1100">
                          <a:solidFill>
                            <a:srgbClr val="FFFFFF"/>
                          </a:solidFill>
                        </a:defRPr>
                      </a:pPr>
                      <a:r>
                        <a:t>Leaky Bucket (Traffic Smoothing)</a:t>
                      </a:r>
                    </a:p>
                  </a:txBody>
                  <a:tcPr>
                    <a:solidFill>
                      <a:srgbClr val="0B1B2D"/>
                    </a:solidFill>
                  </a:tcPr>
                </a:tc>
              </a:tr>
              <a:tr h="457200">
                <a:tc>
                  <a:txBody>
                    <a:bodyPr/>
                    <a:lstStyle/>
                    <a:p>
                      <a:pPr>
                        <a:defRPr sz="1000">
                          <a:solidFill>
                            <a:srgbClr val="0B1B2D"/>
                          </a:solidFill>
                        </a:defRPr>
                      </a:pPr>
                      <a:r>
                        <a:t>Toleransi Burst</a:t>
                      </a:r>
                    </a:p>
                  </a:txBody>
                  <a:tcPr>
                    <a:solidFill>
                      <a:srgbClr val="FFFFFF"/>
                    </a:solidFill>
                  </a:tcPr>
                </a:tc>
                <a:tc>
                  <a:txBody>
                    <a:bodyPr/>
                    <a:lstStyle/>
                    <a:p>
                      <a:pPr>
                        <a:defRPr sz="1000">
                          <a:solidFill>
                            <a:srgbClr val="0B1B2D"/>
                          </a:solidFill>
                        </a:defRPr>
                      </a:pPr>
                      <a:r>
                        <a:t>Mengizinkan burst hingga kapasitas B</a:t>
                      </a:r>
                    </a:p>
                  </a:txBody>
                  <a:tcPr>
                    <a:solidFill>
                      <a:srgbClr val="FFFFFF"/>
                    </a:solidFill>
                  </a:tcPr>
                </a:tc>
                <a:tc>
                  <a:txBody>
                    <a:bodyPr/>
                    <a:lstStyle/>
                    <a:p>
                      <a:pPr>
                        <a:defRPr sz="1000">
                          <a:solidFill>
                            <a:srgbClr val="0B1B2D"/>
                          </a:solidFill>
                        </a:defRPr>
                      </a:pPr>
                      <a:r>
                        <a:t>Menahan burst; output rata pada laju R</a:t>
                      </a:r>
                    </a:p>
                  </a:txBody>
                  <a:tcPr>
                    <a:solidFill>
                      <a:srgbClr val="FFFFFF"/>
                    </a:solidFill>
                  </a:tcPr>
                </a:tc>
              </a:tr>
              <a:tr h="457200">
                <a:tc>
                  <a:txBody>
                    <a:bodyPr/>
                    <a:lstStyle/>
                    <a:p>
                      <a:pPr>
                        <a:defRPr sz="1000">
                          <a:solidFill>
                            <a:srgbClr val="0B1B2D"/>
                          </a:solidFill>
                        </a:defRPr>
                      </a:pPr>
                      <a:r>
                        <a:t>State Utama</a:t>
                      </a:r>
                    </a:p>
                  </a:txBody>
                  <a:tcPr>
                    <a:solidFill>
                      <a:srgbClr val="FFFFFF"/>
                    </a:solidFill>
                  </a:tcPr>
                </a:tc>
                <a:tc>
                  <a:txBody>
                    <a:bodyPr/>
                    <a:lstStyle/>
                    <a:p>
                      <a:pPr>
                        <a:defRPr sz="1000">
                          <a:solidFill>
                            <a:srgbClr val="0B1B2D"/>
                          </a:solidFill>
                        </a:defRPr>
                      </a:pPr>
                      <a:r>
                        <a:t>Jumlah token yang siap dikonsumsi</a:t>
                      </a:r>
                    </a:p>
                  </a:txBody>
                  <a:tcPr>
                    <a:solidFill>
                      <a:srgbClr val="FFFFFF"/>
                    </a:solidFill>
                  </a:tcPr>
                </a:tc>
                <a:tc>
                  <a:txBody>
                    <a:bodyPr/>
                    <a:lstStyle/>
                    <a:p>
                      <a:pPr>
                        <a:defRPr sz="1000">
                          <a:solidFill>
                            <a:srgbClr val="0B1B2D"/>
                          </a:solidFill>
                        </a:defRPr>
                      </a:pPr>
                      <a:r>
                        <a:t>Level air yang menunggu dibocorkan</a:t>
                      </a:r>
                    </a:p>
                  </a:txBody>
                  <a:tcPr>
                    <a:solidFill>
                      <a:srgbClr val="FFFFFF"/>
                    </a:solidFill>
                  </a:tcPr>
                </a:tc>
              </a:tr>
              <a:tr h="457200">
                <a:tc>
                  <a:txBody>
                    <a:bodyPr/>
                    <a:lstStyle/>
                    <a:p>
                      <a:pPr>
                        <a:defRPr sz="1000">
                          <a:solidFill>
                            <a:srgbClr val="0B1B2D"/>
                          </a:solidFill>
                        </a:defRPr>
                      </a:pPr>
                      <a:r>
                        <a:t>Mekanisme Tolak</a:t>
                      </a:r>
                    </a:p>
                  </a:txBody>
                  <a:tcPr>
                    <a:solidFill>
                      <a:srgbClr val="FFFFFF"/>
                    </a:solidFill>
                  </a:tcPr>
                </a:tc>
                <a:tc>
                  <a:txBody>
                    <a:bodyPr/>
                    <a:lstStyle/>
                    <a:p>
                      <a:pPr>
                        <a:defRPr sz="1000">
                          <a:solidFill>
                            <a:srgbClr val="0B1B2D"/>
                          </a:solidFill>
                        </a:defRPr>
                      </a:pPr>
                      <a:r>
                        <a:t>Token &lt; n yang diminta</a:t>
                      </a:r>
                    </a:p>
                  </a:txBody>
                  <a:tcPr>
                    <a:solidFill>
                      <a:srgbClr val="FFFFFF"/>
                    </a:solidFill>
                  </a:tcPr>
                </a:tc>
                <a:tc>
                  <a:txBody>
                    <a:bodyPr/>
                    <a:lstStyle/>
                    <a:p>
                      <a:pPr>
                        <a:defRPr sz="1000">
                          <a:solidFill>
                            <a:srgbClr val="0B1B2D"/>
                          </a:solidFill>
                        </a:defRPr>
                      </a:pPr>
                      <a:r>
                        <a:t>Penambahan air melebihi kapasitas B</a:t>
                      </a:r>
                    </a:p>
                  </a:txBody>
                  <a:tcPr>
                    <a:solidFill>
                      <a:srgbClr val="FFFFFF"/>
                    </a:solidFill>
                  </a:tcPr>
                </a:tc>
              </a:tr>
              <a:tr h="457200">
                <a:tc>
                  <a:txBody>
                    <a:bodyPr/>
                    <a:lstStyle/>
                    <a:p>
                      <a:pPr>
                        <a:defRPr sz="1000">
                          <a:solidFill>
                            <a:srgbClr val="0B1B2D"/>
                          </a:solidFill>
                        </a:defRPr>
                      </a:pPr>
                      <a:r>
                        <a:t>Kasus Penggunaan</a:t>
                      </a:r>
                    </a:p>
                  </a:txBody>
                  <a:tcPr>
                    <a:solidFill>
                      <a:srgbClr val="FFFFFF"/>
                    </a:solidFill>
                  </a:tcPr>
                </a:tc>
                <a:tc>
                  <a:txBody>
                    <a:bodyPr/>
                    <a:lstStyle/>
                    <a:p>
                      <a:pPr>
                        <a:defRPr sz="1000">
                          <a:solidFill>
                            <a:srgbClr val="0B1B2D"/>
                          </a:solidFill>
                        </a:defRPr>
                      </a:pPr>
                      <a:r>
                        <a:t>API Gateway, bursty interactive user</a:t>
                      </a:r>
                    </a:p>
                  </a:txBody>
                  <a:tcPr>
                    <a:solidFill>
                      <a:srgbClr val="FFFFFF"/>
                    </a:solidFill>
                  </a:tcPr>
                </a:tc>
                <a:tc>
                  <a:txBody>
                    <a:bodyPr/>
                    <a:lstStyle/>
                    <a:p>
                      <a:pPr>
                        <a:defRPr sz="1000">
                          <a:solidFill>
                            <a:srgbClr val="0B1B2D"/>
                          </a:solidFill>
                        </a:defRPr>
                      </a:pPr>
                      <a:r>
                        <a:t>Egress traffic shaping, NGINX limit_req</a:t>
                      </a:r>
                    </a:p>
                  </a:txBody>
                  <a:tcPr>
                    <a:solidFill>
                      <a:srgbClr val="FFFFFF"/>
                    </a:solidFill>
                  </a:tcPr>
                </a:tc>
              </a:tr>
              <a:tr h="457200">
                <a:tc>
                  <a:txBody>
                    <a:bodyPr/>
                    <a:lstStyle/>
                    <a:p>
                      <a:pPr>
                        <a:defRPr sz="1000">
                          <a:solidFill>
                            <a:srgbClr val="0B1B2D"/>
                          </a:solidFill>
                        </a:defRPr>
                      </a:pPr>
                      <a:r>
                        <a:t>Respons Standar</a:t>
                      </a:r>
                    </a:p>
                  </a:txBody>
                  <a:tcPr>
                    <a:solidFill>
                      <a:srgbClr val="FFFFFF"/>
                    </a:solidFill>
                  </a:tcPr>
                </a:tc>
                <a:tc>
                  <a:txBody>
                    <a:bodyPr/>
                    <a:lstStyle/>
                    <a:p>
                      <a:pPr>
                        <a:defRPr sz="1000">
                          <a:solidFill>
                            <a:srgbClr val="0B1B2D"/>
                          </a:solidFill>
                        </a:defRPr>
                      </a:pPr>
                      <a:r>
                        <a:t>HTTP 429 Too Many Requests</a:t>
                      </a:r>
                    </a:p>
                  </a:txBody>
                  <a:tcPr>
                    <a:solidFill>
                      <a:srgbClr val="FFFFFF"/>
                    </a:solidFill>
                  </a:tcPr>
                </a:tc>
                <a:tc>
                  <a:txBody>
                    <a:bodyPr/>
                    <a:lstStyle/>
                    <a:p>
                      <a:pPr>
                        <a:defRPr sz="1000">
                          <a:solidFill>
                            <a:srgbClr val="0B1B2D"/>
                          </a:solidFill>
                        </a:defRPr>
                      </a:pPr>
                      <a:r>
                        <a:t>HTTP 429 atau 503 Service Unavailable</a:t>
                      </a:r>
                    </a:p>
                  </a:txBody>
                  <a:tcPr>
                    <a:solidFill>
                      <a:srgbClr val="FFFFFF"/>
                    </a:solidFill>
                  </a:tcPr>
                </a:tc>
              </a:tr>
            </a:tbl>
          </a:graphicData>
        </a:graphic>
      </p:graphicFrame>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Token bucket mengizinkan akumulasi token untuk mengakomodasi burst jangka pendek, sedangkan leaky bucket memaksa laju keluaran konstan. Pilihan bergantung pada kebutuhan: fleksibilitas burst atau penghalusan trafik ke hilir.</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Token bucket permits bursts up to capacity; leaky bucket smooths output to a strict constant rate.</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content/02-master-draft.md:21-28</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06 / 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Token Bucket: Pengisian Waktu Berjalan dan Konsumsi</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Menghitung elapsed time secara monotonik tanpa timer background yang boros.</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(tb *TokenBucket) AllowN(n float64) bool {</a:t>
            </a:r>
            <a:br/>
            <a:r>
              <a:t>    tb.mu.Lock()</a:t>
            </a:r>
            <a:br/>
            <a:r>
              <a:t>    defer tb.mu.Unlock()</a:t>
            </a:r>
            <a:br/>
            <a:r>
              <a:t>    now := time.Now()</a:t>
            </a:r>
            <a:br/>
            <a:r>
              <a:t>    elapsed := now.Sub(tb.lastRefill).Seconds()</a:t>
            </a:r>
            <a:br/>
            <a:r>
              <a:t>    tb.tokens = math.Min(tb.capacity, tb.tokens+elapsed*tb.refillRate)</a:t>
            </a:r>
            <a:br/>
            <a:r>
              <a:t>    tb.lastRefill = now</a:t>
            </a:r>
            <a:br/>
            <a:r>
              <a:t>    if tb.tokens &gt;= n {</a:t>
            </a:r>
            <a:br/>
            <a:r>
              <a:t>        tb.tokens -= n</a:t>
            </a:r>
            <a:br/>
            <a:r>
              <a:t>        return true</a:t>
            </a:r>
            <a:br/>
            <a:r>
              <a:t>    }</a:t>
            </a:r>
            <a:br/>
            <a:r>
              <a:t>    return false</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TokenBucket menghitung penambahan token secara pasif berdasarkan selisih waktu antar-panggilan. Penggunaan mutex bukan berarti implementasi tidak optimal; lock lokal menjamin atomisitas pembaruan multi-field secara bersih dan aman.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Lazy replenishment on call converts expensive timer ticker goroutines into cheap timestamp arithmetic.</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internal/ratelimit/bucket.go:29-46</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07 / 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Kalkulasi Retry-After: Panduan Presisi Waktu Tunggu</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Menghitung waktu tunggu pembulatan ke atas agar klien tidak retry prematur.</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(tb *TokenBucket) RetryAfterSeconds(n float64) int {</a:t>
            </a:r>
            <a:br/>
            <a:r>
              <a:t>    tb.mu.Lock()</a:t>
            </a:r>
            <a:br/>
            <a:r>
              <a:t>    defer tb.mu.Unlock()</a:t>
            </a:r>
            <a:br/>
            <a:r>
              <a:t>    // ... perbarui token dari elapsed time ...</a:t>
            </a:r>
            <a:br/>
            <a:r>
              <a:t>    if tb.tokens &gt;= n { return 0 }</a:t>
            </a:r>
            <a:br/>
            <a:r>
              <a:t>    needed := n - tb.tokens</a:t>
            </a:r>
            <a:br/>
            <a:r>
              <a:t>    secs := needed / tb.refillRate</a:t>
            </a:r>
            <a:br/>
            <a:r>
              <a:t>    rounded := int(secs)</a:t>
            </a:r>
            <a:br/>
            <a:r>
              <a:t>    if float64(rounded) &lt; secs { rounded++ }</a:t>
            </a:r>
            <a:br/>
            <a:r>
              <a:t>    return rounded</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Kekurangan token dibagi dengan laju pengisian lalu dibulatkan ke atas menjadi detik bulat. Hanya pada jalur ini klien yang ditolak menerima informasi presisi kapan kuota mereka akan terisi kembali tanpa menebak-nebak.</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Round up retry delay to integer seconds to prevent clients from retrying before token replenishment.</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internal/ratelimit/bucket.go:55-79</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08 / 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Bounded Queue: Penolakan Cepat dengan Select-Default</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Mencegah tumpukan memori tak terbatas dengan membuang beban berlebih seketika.</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(bq *BoundedQueue) TrySubmit(job Job) error {</a:t>
            </a:r>
            <a:br/>
            <a:r>
              <a:t>    bq.stopMu.RLock()</a:t>
            </a:r>
            <a:br/>
            <a:r>
              <a:t>    defer bq.stopMu.RUnlock()</a:t>
            </a:r>
            <a:br/>
            <a:r>
              <a:t>    if bq.stopped { return ErrQueueStopped }</a:t>
            </a:r>
            <a:br/>
            <a:r>
              <a:t>    select {</a:t>
            </a:r>
            <a:br/>
            <a:r>
              <a:t>    case bq.queue &lt;- job:</a:t>
            </a:r>
            <a:br/>
            <a:r>
              <a:t>        bq.accepted.Add(1)</a:t>
            </a:r>
            <a:br/>
            <a:r>
              <a:t>        return nil</a:t>
            </a:r>
            <a:br/>
            <a:r>
              <a:t>    default:</a:t>
            </a:r>
            <a:br/>
            <a:r>
              <a:t>        bq.rejected.Add(1)</a:t>
            </a:r>
            <a:br/>
            <a:r>
              <a:t>        return ErrQueueFull</a:t>
            </a:r>
            <a:br/>
            <a:r>
              <a:t>    }</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Pola select-default mengantrekan job jika kanal longgar atau langsung mengembalikan ErrQueueFull saat penuh. Menolak job seketika bukan berarti sistem tidak andal; ini tindakan proteksi mandiri agar proses tidak kehabisan memori.</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Select-default on bounded channels gives zero-allocation, instant backpressure shedding.</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internal/backpressure/queue.go:67-85</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09 / 24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AWS Full Jitter: Mencegah Sinkronisasi Thundering Herd</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sleep = random(0, min(cap, base × 2^attempt)) menyebarkan lonjakan beban.</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ComputeBackoff(strategy BackoffStrategy, attempt int,</a:t>
            </a:r>
            <a:br/>
            <a:r>
              <a:t>    cfg Config, prevSleep time.Duration) time.Duration {</a:t>
            </a:r>
            <a:br/>
            <a:r>
              <a:t>    expBackoff := float64(cfg.Base) * math.Pow(2, float64(attempt))</a:t>
            </a:r>
            <a:br/>
            <a:r>
              <a:t>    temp := math.Min(float64(cfg.Cap), expBackoff)</a:t>
            </a:r>
            <a:br/>
            <a:r>
              <a:t>    switch strategy {</a:t>
            </a:r>
            <a:br/>
            <a:r>
              <a:t>    case FullJitter:</a:t>
            </a:r>
            <a:br/>
            <a:r>
              <a:t>        if temp &lt;= 0 { return 0 }</a:t>
            </a:r>
            <a:br/>
            <a:r>
              <a:t>        return time.Duration(rand.Float64() * temp)</a:t>
            </a:r>
            <a:br/>
            <a:r>
              <a:t>    // ... case EqualJitter, DecorrelatedJitter, NoJitter ...</a:t>
            </a:r>
            <a:br/>
            <a:r>
              <a:t>    }</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Full Jitter mengambil sampel acak seragam antara nol hingga batas plafon eksponensial. Menambahkan jitter tidak otomatis mempercepat waktu pemulihan jika kapasitas downstream memang telah runtuh secara permanen.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Full jitter samples uniformly from zero to the exponential ceiling to disperse client retry waves.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internal/retry/backoff.go:24-43</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10 / 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Middleware HTTP: Menegakkan Status 429 RFC 6585</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Mengekstraksi tenant API key dan mengembalikan header Retry-After standar.</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RateLimitMiddleware(reg *ratelimit.Registry, next http.Handler) http.Handler {</a:t>
            </a:r>
            <a:br/>
            <a:r>
              <a:t>    return http.HandlerFunc(func(w http.ResponseWriter, r *http.Request) {</a:t>
            </a:r>
            <a:br/>
            <a:r>
              <a:t>        key := r.Header.Get("X-API-Key")</a:t>
            </a:r>
            <a:br/>
            <a:r>
              <a:t>        if key == "" { key = "anonymous" }</a:t>
            </a:r>
            <a:br/>
            <a:r>
              <a:t>        bucket := reg.Get(key)</a:t>
            </a:r>
            <a:br/>
            <a:r>
              <a:t>        if !bucket.Allow() {</a:t>
            </a:r>
            <a:br/>
            <a:r>
              <a:t>            retryAfter := bucket.RetryAfterSeconds(1.0)</a:t>
            </a:r>
            <a:br/>
            <a:r>
              <a:t>            w.Header().Set("Retry-After", strconv.Itoa(retryAfter))</a:t>
            </a:r>
            <a:br/>
            <a:r>
              <a:t>            w.WriteHeader(http.StatusTooManyRequests) // 429</a:t>
            </a:r>
            <a:br/>
            <a:r>
              <a:t>            _ = json.NewEncoder(w).Encode(RateLimitResponse{...})</a:t>
            </a:r>
            <a:br/>
            <a:r>
              <a:t>            return</a:t>
            </a:r>
            <a:br/>
            <a:r>
              <a:t>        }</a:t>
            </a:r>
            <a:br/>
            <a:r>
              <a:t>        next.ServeHTTP(w, r)</a:t>
            </a:r>
            <a:br/>
            <a:r>
              <a:t>    })</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Middleware mengisolasi token bucket per tenant key sebelum meneruskan request ke handler berikutnya. Mengirimkan status 429 bukan berarti client dilarang selamanya; header Retry-After memandu kapan pemanggilan boleh diulang.</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Extract tenant keys at edge middleware, reject excess with 429, and provide explicit Retry-After headers.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internal/httputil/middleware.go:17-39</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11 / 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Eksekusi Demo cmd/demo: Empat Verifikasi Perilaku</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Output terminal membuktikan burst, smoothing, penolakan beban, dan sebaran jitter.</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 1. Token Bucket Burst &amp; Rate Limiting ===</a:t>
            </a:r>
            <a:br/>
            <a:r>
              <a:t>Request #1..3: Allowed=true | Request #4..5: Allowed=false</a:t>
            </a:r>
            <a:br/>
            <a:r>
              <a:t>After 300ms pause: Allowed=true (Remaining Tokens: 0.5)</a:t>
            </a:r>
            <a:br/>
            <a:r>
              <a:t>=== 2. Leaky Bucket Traffic Smoothing ===</a:t>
            </a:r>
            <a:br/>
            <a:r>
              <a:t>Request #1..3: Allowed=true | Request #4..5: Allowed=false (Water: 3.0)</a:t>
            </a:r>
            <a:br/>
            <a:r>
              <a:t>=== 3. Bounded Queue Backpressure (Load Shedding) ===</a:t>
            </a:r>
            <a:br/>
            <a:r>
              <a:t>Job #1..3: ACCEPTED | Job #4, #6: REJECTED (queue capacity exceeded)</a:t>
            </a:r>
            <a:br/>
            <a:r>
              <a:t>Stats: Accepted=4, Rejected=2, Processed=1</a:t>
            </a:r>
            <a:br/>
            <a:r>
              <a:t>=== 4. AWS Retry Backoff Strategies (Attempts 0..3) ===</a:t>
            </a:r>
            <a:br/>
            <a:r>
              <a:t>Attempt 0 -&gt; NoJitter: 100ms  | FullJitter: 61ms   | EqualJitter: 80ms</a:t>
            </a:r>
            <a:br/>
            <a:r>
              <a:t>Attempt 3 -&gt; NoJitter: 800ms  | FullJitter: 342ms  | EqualJitter: 647ms</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Demo membuktikan seluruh skenario berjalan sesuai spesifikasi: 3 request awal lolos burst lalu ditolak, buffer antrean menolak job saat melampaui kapasitas 3, dan Full Jitter mendispersi waktu jeda secara acak.</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Executable verification proves burst accommodation, queue shedding, and jitter dispersion in live runs.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cmd/demo/main.go:13-65</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12 / 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Verifikasi Test Suite: 15/15 PASS dan Bersih dari Race</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Seluruh modul rate limiting, queue, retry, dan middleware teruji konkurensi.</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 RUN   TestTokenBucket_BurstAndRefill / ConcurrencyRace</a:t>
            </a:r>
            <a:br/>
            <a:r>
              <a:t>--- PASS: TestTokenBucket_* (0.05s)</a:t>
            </a:r>
            <a:br/>
            <a:r>
              <a:t>=== RUN   TestLeakyBucket_LeakRate / ConcurrencyRace</a:t>
            </a:r>
            <a:br/>
            <a:r>
              <a:t>--- PASS: TestLeakyBucket_* (0.02s)</a:t>
            </a:r>
            <a:br/>
            <a:r>
              <a:t>=== RUN   TestRegistry_TenantIsolation / ConcurrentSameKeyGet</a:t>
            </a:r>
            <a:br/>
            <a:r>
              <a:t>--- PASS: TestRegistry_* (0.01s)</a:t>
            </a:r>
            <a:br/>
            <a:r>
              <a:t>=== RUN   TestBoundedQueue_RejectionUnderLoad / ConcurrencySafety</a:t>
            </a:r>
            <a:br/>
            <a:r>
              <a:t>--- PASS: TestBoundedQueue_* (0.08s)</a:t>
            </a:r>
            <a:br/>
            <a:r>
              <a:t>=== RUN   TestComputeBackoff_Bounds / DecorrelatedJitter_Bounds</a:t>
            </a:r>
            <a:br/>
            <a:r>
              <a:t>--- PASS: TestComputeBackoff_* (0.00s)</a:t>
            </a:r>
            <a:br/>
            <a:r>
              <a:t>=== RUN   TestRateLimitMiddleware_RFC6585 / AnonymousFallback</a:t>
            </a:r>
            <a:br/>
            <a:r>
              <a:t>--- PASS: TestRateLimitMiddleware_* (0.00s)</a:t>
            </a:r>
            <a:br/>
            <a:r>
              <a:t>PASS: ok labs/25-rate-limiting-and-backpressure (race detector: clean)</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Seluruh 15 unit test lolos tanpa kegagalan di bawah race detector Go dengan goroutine agresif. Simulasi in-memory ini tidak sama dengan cluster Redis terdistribusi yang harus menangani latency jaringan antar node.</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Race-clean unit tests prove concurrent synchronization correctness in local shared-memory runtimes.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engineering/03-execution-result.md:8-60</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13 / 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Batasan Bukti Lab: Yang Dibuktikan vs Belum</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Transparansi batasan rekayasa antara simulator lab lokal dan sistem produksi.</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BATAS PEMBUKTIAN REKAYASA</a:t>
            </a:r>
          </a:p>
          <a:p>
            <a:pPr>
              <a:spcAft>
                <a:spcPts val="400"/>
              </a:spcAft>
              <a:defRPr sz="1200">
                <a:solidFill>
                  <a:srgbClr val="0B1B2D"/>
                </a:solidFill>
              </a:defRPr>
            </a:pPr>
            <a:r>
              <a:t>• YANG DIBUKTIKAN: Penolakan burst token bucket, fast drop bounded queue, dan sebaran rentang Full Jitter.</a:t>
            </a:r>
          </a:p>
          <a:p>
            <a:pPr>
              <a:spcAft>
                <a:spcPts val="400"/>
              </a:spcAft>
              <a:defRPr sz="1200">
                <a:solidFill>
                  <a:srgbClr val="0B1B2D"/>
                </a:solidFill>
              </a:defRPr>
            </a:pPr>
            <a:r>
              <a:t>• YANG TIDAK DIBUKTIKAN: Sinkronisasi token lintas multi-instance pod tanpa shared state eksternal.</a:t>
            </a:r>
          </a:p>
          <a:p>
            <a:pPr>
              <a:spcAft>
                <a:spcPts val="400"/>
              </a:spcAft>
              <a:defRPr sz="1200">
                <a:solidFill>
                  <a:srgbClr val="0B1B2D"/>
                </a:solidFill>
              </a:defRPr>
            </a:pPr>
            <a:r>
              <a:t>• BATAS KLAIM EMPIRIS: Lab belum membuktikan ketahanan cluster terhadap badai DDoS ratusan ribu node eksternal.</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Lab ini membuktikan kebenaran matematis algoritma bucket, isolasi tenant lokal, dan pemotongan beban antrean. Namun, pengujian lokal ini belum membuktikan ketahanan cluster multi-region terhadap serangan DDoS skala masif.</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Clearly delimit verified algorithmic invariants from unproven distributed scale heuristics.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content/01-content-brief.md:11-12</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14 / 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Trade-off Arsitektur Rate Limiting &amp; Backpressure</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Kompromi antara kepuasan pengguna, akurasi sinkronisasi, dan kompleksitas sistem.</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KOMPROMI REKAYASA SISTEM</a:t>
            </a:r>
          </a:p>
          <a:p>
            <a:pPr>
              <a:spcAft>
                <a:spcPts val="400"/>
              </a:spcAft>
              <a:defRPr sz="1200">
                <a:solidFill>
                  <a:srgbClr val="0B1B2D"/>
                </a:solidFill>
              </a:defRPr>
            </a:pPr>
            <a:r>
              <a:t>• False Rejections: Limiter agresif berisiko menolak pengguna legitimate saat aktivitas bisnis melonjak wajar.</a:t>
            </a:r>
          </a:p>
          <a:p>
            <a:pPr>
              <a:spcAft>
                <a:spcPts val="400"/>
              </a:spcAft>
              <a:defRPr sz="1200">
                <a:solidFill>
                  <a:srgbClr val="0B1B2D"/>
                </a:solidFill>
              </a:defRPr>
            </a:pPr>
            <a:r>
              <a:t>• Shared State Latency: Sinkronisasi Redis menambah latensi 1-2ms di hot-path setiap request HTTP yang masuk.</a:t>
            </a:r>
          </a:p>
          <a:p>
            <a:pPr>
              <a:spcAft>
                <a:spcPts val="400"/>
              </a:spcAft>
              <a:defRPr sz="1200">
                <a:solidFill>
                  <a:srgbClr val="0B1B2D"/>
                </a:solidFill>
              </a:defRPr>
            </a:pPr>
            <a:r>
              <a:t>• Tidak Otomatis Kebal: Memasang middleware limiter tidak otomatis membuat database kebal terhadap query N+1 berat.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Rate limiting mencegah kehabisan kapasitas tetapi berisiko menolak transaksi sah pengguna di saat peak season. Menambahkan limiter di pintu gerbang tidak otomatis melindungi storage jika kueri internal tidak terindeks dengan baik.</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Rate limiting trades edge false-rejection risks for core service survival and latency stability.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content/02-master-draft.md:99-108</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15 / 24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Analisis Beban: Little's Law dan Pertumbuhan Backlog</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L = λ × W membuktikan bagaimana penumpukan antrean merusak latensi sistem.</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FORMULA MATEMATIKA SISTEM ANTREAN</a:t>
            </a:r>
          </a:p>
          <a:p>
            <a:pPr>
              <a:spcAft>
                <a:spcPts val="400"/>
              </a:spcAft>
              <a:defRPr sz="1200">
                <a:solidFill>
                  <a:srgbClr val="0B1B2D"/>
                </a:solidFill>
              </a:defRPr>
            </a:pPr>
            <a:r>
              <a:t>• Little's Law (L = λW): Kapasitas in-flight (L) adalah perkalian antara laju kedatangan (λ) dan durasi proses (W).</a:t>
            </a:r>
          </a:p>
          <a:p>
            <a:pPr>
              <a:spcAft>
                <a:spcPts val="400"/>
              </a:spcAft>
              <a:defRPr sz="1200">
                <a:solidFill>
                  <a:srgbClr val="0B1B2D"/>
                </a:solidFill>
              </a:defRPr>
            </a:pPr>
            <a:r>
              <a:t>• Akumulasi Backlog: Pertumbuhan antrean = (Arrival Rate − Processing Rate) × Waktu durasi kelebihan beban.</a:t>
            </a:r>
          </a:p>
          <a:p>
            <a:pPr>
              <a:spcAft>
                <a:spcPts val="400"/>
              </a:spcAft>
              <a:defRPr sz="1200">
                <a:solidFill>
                  <a:srgbClr val="0B1B2D"/>
                </a:solidFill>
              </a:defRPr>
            </a:pPr>
            <a:r>
              <a:t>• Kalkulasi Lab 25: 5.000.000 request ÷ 2.000 drain/detik = 2.500 detik (41 menit 40 detik); hanya pada jalur bounded buffer batas latensi terjaga.</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Jika laju kedatangan melampaui laju pemrosesan, waktu tunggu membengkak hingga puluhan menit. Hanya pada jalur dengan bounded queue penumpukan dipotong seketika sehingga latensi job yang diterima tetap dalam batas SLA.</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L = lambda * W: when processing capacity is saturated, queue wait times degrade proportionally to backlog depth.</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content/02-master-draft.md:29-32</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16 / 24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Studi Kasus Stripe: Arsitektur Limiter 4 Lapisan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Pola pembagian tanggung jawab proteksi API gateway pada skala pembayaran global.</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EMPAT LAPISAN LIMITER STRIPE</a:t>
            </a:r>
          </a:p>
          <a:p>
            <a:pPr>
              <a:spcAft>
                <a:spcPts val="400"/>
              </a:spcAft>
              <a:defRPr sz="1200">
                <a:solidFill>
                  <a:srgbClr val="0B1B2D"/>
                </a:solidFill>
              </a:defRPr>
            </a:pPr>
            <a:r>
              <a:t>• 1. Request Rate Limiter (Per-User Quota): Membatasi laju request per pengguna menggunakan token bucket terdistribusi.</a:t>
            </a:r>
          </a:p>
          <a:p>
            <a:pPr>
              <a:spcAft>
                <a:spcPts val="400"/>
              </a:spcAft>
              <a:defRPr sz="1200">
                <a:solidFill>
                  <a:srgbClr val="0B1B2D"/>
                </a:solidFill>
              </a:defRPr>
            </a:pPr>
            <a:r>
              <a:t>• 2. Concurrent Limiter (In-Flight Bound): Membatasi jumlah request simultan yang sedang aktif berjalan per pengguna.</a:t>
            </a:r>
          </a:p>
          <a:p>
            <a:pPr>
              <a:spcAft>
                <a:spcPts val="400"/>
              </a:spcAft>
              <a:defRPr sz="1200">
                <a:solidFill>
                  <a:srgbClr val="0B1B2D"/>
                </a:solidFill>
              </a:defRPr>
            </a:pPr>
            <a:r>
              <a:t>• 3. Fleet Load Shedder (Criticality Reserve): Menolak trafik berprioritas rendah demi menjamin kapasitas transaksi kritis.</a:t>
            </a:r>
          </a:p>
          <a:p>
            <a:pPr>
              <a:spcAft>
                <a:spcPts val="400"/>
              </a:spcAft>
              <a:defRPr sz="1200">
                <a:solidFill>
                  <a:srgbClr val="0B1B2D"/>
                </a:solidFill>
              </a:defRPr>
            </a:pPr>
            <a:r>
              <a:t>• 4. Worker Load Shedder (Execution Guard): Membuang uji coba test-mode, GET lalu POST; bukan berarti request hilang tanpa status.</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Stripe menerapkan 4 tier limiter independen untuk mendegradasi sistem secara anggun saat kelebihan beban. Membuang trafik berprioritas rendah saat CPU tinggi bukan berarti sistem gagal, melainkan langkah penyelamatan transaksi keuangan kritis.</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Layer multiple specialized limiters to drop low-criticality traffic first during severe overload.</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content/02-master-draft.md:117-124</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17 / 24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Google SRE: Criticality Level dan Kuota Retry</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Mencegah retry storm cascading failure melalui pembatasan rasio percobaan ulang.</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DISIPLIN KETAHANAN GOOGLE SRE</a:t>
            </a:r>
          </a:p>
          <a:p>
            <a:pPr>
              <a:spcAft>
                <a:spcPts val="400"/>
              </a:spcAft>
              <a:defRPr sz="1200">
                <a:solidFill>
                  <a:srgbClr val="0B1B2D"/>
                </a:solidFill>
              </a:defRPr>
            </a:pPr>
            <a:r>
              <a:t>• 4 Level Criticality: CRITICAL_PLUS, CRITICAL, SHEDDABLE_PLUS, SHEDDABLE; tolak level rendah lebih dulu.</a:t>
            </a:r>
          </a:p>
          <a:p>
            <a:pPr>
              <a:spcAft>
                <a:spcPts val="400"/>
              </a:spcAft>
              <a:defRPr sz="1200">
                <a:solidFill>
                  <a:srgbClr val="0B1B2D"/>
                </a:solidFill>
              </a:defRPr>
            </a:pPr>
            <a:r>
              <a:t>• Retry Budget Klien: Maksimal 3 attempt per-request dan rasio retry maksimal 10% dari total trafik klien.</a:t>
            </a:r>
          </a:p>
          <a:p>
            <a:pPr>
              <a:spcAft>
                <a:spcPts val="400"/>
              </a:spcAft>
              <a:defRPr sz="1200">
                <a:solidFill>
                  <a:srgbClr val="0B1B2D"/>
                </a:solidFill>
              </a:defRPr>
            </a:pPr>
            <a:r>
              <a:t>• Token Bucket Quota: AWS SDK mengadopsi 500 token retry pool; cakupannya mengikuti test kalibrasi error transien.</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Google SRE membagi request ke 4 tingkat kepentingan dan membatasi retry maksimal 10% dari volume panggilan. Strategi kuota retry token bucket ini diadopsi luas di industri, dan cakupannya mengikuti test evaluasi latensi backend.</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Enforce strict retry budgets (max 3 attempts, &lt;10% retry ratio) to eliminate cascading retry storms.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content/02-master-draft.md:121-124</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18 / 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Transformasi Desain: Unprotected vs Resilient Pipeline</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Pergeseran dari sistem rentan crash ke arsitektur dengan degradasi terukur.</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SEBELUM (UNPROTECTED) VS SESUDAH (RESILIENT)</a:t>
            </a:r>
          </a:p>
          <a:p>
            <a:pPr>
              <a:spcAft>
                <a:spcPts val="400"/>
              </a:spcAft>
              <a:defRPr sz="1200">
                <a:solidFill>
                  <a:srgbClr val="0B1B2D"/>
                </a:solidFill>
              </a:defRPr>
            </a:pPr>
            <a:r>
              <a:t>• Sebelum: Unbounded Channel: Antrean bertambah hingga jutaan item; latensi membengkak 40+ menit sebelum proses OOM crash.</a:t>
            </a:r>
          </a:p>
          <a:p>
            <a:pPr>
              <a:spcAft>
                <a:spcPts val="400"/>
              </a:spcAft>
              <a:defRPr sz="1200">
                <a:solidFill>
                  <a:srgbClr val="0B1B2D"/>
                </a:solidFill>
              </a:defRPr>
            </a:pPr>
            <a:r>
              <a:t>• Sesudah: Bounded + Jitter: Kelebihan beban ditolak cepat (429/ErrQueueFull); klien desinkronisasi via Full Jitter.</a:t>
            </a:r>
          </a:p>
          <a:p>
            <a:pPr>
              <a:spcAft>
                <a:spcPts val="400"/>
              </a:spcAft>
              <a:defRPr sz="1200">
                <a:solidFill>
                  <a:srgbClr val="0B1B2D"/>
                </a:solidFill>
              </a:defRPr>
            </a:pPr>
            <a:r>
              <a:t>• Bukan Berarti Nol Error: Resiliensi bukan berarti bebas error 100%, melainkan memastikan sistem tetap hidup melayani trafik sehat.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Sebelum proteksi, lonjakan trafik menelan seluruh memori dan mematikan server. Menerapkan limiter dan backpressure bukan berarti meniadakan error, melainkan mengendalikan error secara sadar agar layanan inti tetap beroperasi.</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Transform uncontrolled systemic collapse into bounded, graceful rejection under peak overload.</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content/02-master-draft.md:29-36</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19 / 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Checklist Rekayasa Rate Limiting &amp; Backpressure</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Sepuluh kriteria wajib verifikasi sebelum merilis layanan ke traffic produksi.</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KRITERIA IMPLEMENTASI RESILIENSI</a:t>
            </a:r>
          </a:p>
          <a:p>
            <a:pPr>
              <a:spcAft>
                <a:spcPts val="400"/>
              </a:spcAft>
              <a:defRPr sz="1200">
                <a:solidFill>
                  <a:srgbClr val="0B1B2D"/>
                </a:solidFill>
              </a:defRPr>
            </a:pPr>
            <a:r>
              <a:t>• Identifikasi batas sistem: tentukan rate limiter di edge API gateway dan service mesh.</a:t>
            </a:r>
          </a:p>
          <a:p>
            <a:pPr>
              <a:spcAft>
                <a:spcPts val="400"/>
              </a:spcAft>
              <a:defRPr sz="1200">
                <a:solidFill>
                  <a:srgbClr val="0B1B2D"/>
                </a:solidFill>
              </a:defRPr>
            </a:pPr>
            <a:r>
              <a:t>• Pilih algoritma yang tepat: Token Bucket untuk burst wajar, Leaky Bucket untuk output konstan.</a:t>
            </a:r>
          </a:p>
          <a:p>
            <a:pPr>
              <a:spcAft>
                <a:spcPts val="400"/>
              </a:spcAft>
              <a:defRPr sz="1200">
                <a:solidFill>
                  <a:srgbClr val="0B1B2D"/>
                </a:solidFill>
              </a:defRPr>
            </a:pPr>
            <a:r>
              <a:t>• Gunakan kunci identitas per-tenant (X-API-Key atau User ID) untuk mencegah kolateral CGNAT.</a:t>
            </a:r>
          </a:p>
          <a:p>
            <a:pPr>
              <a:spcAft>
                <a:spcPts val="400"/>
              </a:spcAft>
              <a:defRPr sz="1200">
                <a:solidFill>
                  <a:srgbClr val="0B1B2D"/>
                </a:solidFill>
              </a:defRPr>
            </a:pPr>
            <a:r>
              <a:t>• Terapkan Bounded Queue dengan kapasitas terukur sesuai laju pemrosesan konsumer downstream.</a:t>
            </a:r>
          </a:p>
          <a:p>
            <a:pPr>
              <a:spcAft>
                <a:spcPts val="400"/>
              </a:spcAft>
              <a:defRPr sz="1200">
                <a:solidFill>
                  <a:srgbClr val="0B1B2D"/>
                </a:solidFill>
              </a:defRPr>
            </a:pPr>
            <a:r>
              <a:t>• Kembalikan respons standar HTTP 429 dengan header Retry-After presisi (RFC 6585).</a:t>
            </a:r>
          </a:p>
          <a:p>
            <a:pPr>
              <a:spcAft>
                <a:spcPts val="400"/>
              </a:spcAft>
              <a:defRPr sz="1200">
                <a:solidFill>
                  <a:srgbClr val="0B1B2D"/>
                </a:solidFill>
              </a:defRPr>
            </a:pPr>
            <a:r>
              <a:t>• Gunakan Exponential Backoff dengan Full Jitter pada semua klien pemanggil untuk mencegah thundering herd.</a:t>
            </a:r>
          </a:p>
          <a:p>
            <a:pPr>
              <a:spcAft>
                <a:spcPts val="400"/>
              </a:spcAft>
              <a:defRPr sz="1200">
                <a:solidFill>
                  <a:srgbClr val="0B1B2D"/>
                </a:solidFill>
              </a:defRPr>
            </a:pPr>
            <a:r>
              <a:t>• Tetapkan Retry Budget: maksimal 3 percobaan per request dan batas rasio retry di bawah 10%.</a:t>
            </a:r>
          </a:p>
          <a:p>
            <a:pPr>
              <a:spcAft>
                <a:spcPts val="400"/>
              </a:spcAft>
              <a:defRPr sz="1200">
                <a:solidFill>
                  <a:srgbClr val="0B1B2D"/>
                </a:solidFill>
              </a:defRPr>
            </a:pPr>
            <a:r>
              <a:t>• Pantau Queue Age, bukan hanya Queue Length, untuk deteksi dini pembengkakan latensi pemrosesan.</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Checklist ini merangkum disiplin perancangan sistem terdistribusi: isolasi batas, pilihan algoritma, identifikasi tenant, buffer terbatas, respons standar 429, desinkronisasi retry, kuota percobaan, dan observabilitas usia antrean.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Apply strict architectural gates across limits, buffers, retries, and metrics before production rollout.</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content/02-master-draft.md:126-138</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20 / 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Anti-Pattern Umum: Kesalahan Fatal Pengendalian Overload</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Kekeliruan perancangan yang sering memicu pemadaman massal di industri.</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HINDARI KESALAHAN ARSITEKTURAL INI</a:t>
            </a:r>
          </a:p>
          <a:p>
            <a:pPr>
              <a:spcAft>
                <a:spcPts val="400"/>
              </a:spcAft>
              <a:defRPr sz="1200">
                <a:solidFill>
                  <a:srgbClr val="0B1B2D"/>
                </a:solidFill>
              </a:defRPr>
            </a:pPr>
            <a:r>
              <a:t>• IP Limiting di CGNAT: Membatasi IP publik memblokir ribuan pengguna sah di balik satu gerbang ISP seluler.</a:t>
            </a:r>
          </a:p>
          <a:p>
            <a:pPr>
              <a:spcAft>
                <a:spcPts val="400"/>
              </a:spcAft>
              <a:defRPr sz="1200">
                <a:solidFill>
                  <a:srgbClr val="0B1B2D"/>
                </a:solidFill>
              </a:defRPr>
            </a:pPr>
            <a:r>
              <a:t>• Retry Tanpa Jitter: Interval eksponensial kaku menyinkronkan ribuan klien menjadi gelombang thundering herd penghancur.</a:t>
            </a:r>
          </a:p>
          <a:p>
            <a:pPr>
              <a:spcAft>
                <a:spcPts val="400"/>
              </a:spcAft>
              <a:defRPr sz="1200">
                <a:solidFill>
                  <a:srgbClr val="0B1B2D"/>
                </a:solidFill>
              </a:defRPr>
            </a:pPr>
            <a:r>
              <a:t>• Unbounded Buffer: Antrean tanpa batas bukan berarti aman; itu bom waktu memori yang menjamin kegagalan total.</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Throttling berbasis IP merugikan tenant di balik CGNAT, sedangkan retry deterministik melipatgandakan beban downstream saat recovery. Memberi buffer antrean tak terbatas bukan berarti sistem toleran, melainkan menimbun kebangkrutan memori.</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Avoid IP-only throttling, eliminate deterministic retries, and never allow unbounded queues.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content/02-master-draft.md:109-116</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21 / 24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Reproduksi Mandiri di Mesin Lokal Menggunakan Go</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Validasi penuh tanpa dependensi eksternal pihak ketiga (pure Go standard library).</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cd labs/25-rate-limiting-and-backpressure</a:t>
            </a:r>
            <a:br/>
            <a:r>
              <a:t>go test -v ./...    # validasi unit test bucket, queue, retry, dan middleware</a:t>
            </a:r>
            <a:br/>
            <a:r>
              <a:t>go test -race ./... # verifikasi konkurensi stateless bebas data race</a:t>
            </a:r>
            <a:br/>
            <a:r>
              <a:t>go run ./cmd/demo   # eksekusi demonstrasi langsung 4 pilar arsitektur</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Seluruh mekanisme rate limiting dan backpressure ditulis murni menggunakan Go standard library tanpa framework pihak ketiga. Pengujian lokal ini memverifikasi algoritma, namun production masih perlu Redis untuk koordinasi multi-pod.</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Zero-dependency local verification guarantees fast, repeatable validation across developer workflows.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README.md:55-70</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22 / 24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Prinsip Inti: Kendalikan Pintu Masuk, Propagasikan Tekanan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Arsitektur bertahan lama ketika batas beban ditegakkan secara disiplin di setiap lapisan.</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TIGA PILAR KELANGSUNGAN ARSITEKTUR</a:t>
            </a:r>
          </a:p>
          <a:p>
            <a:pPr>
              <a:spcAft>
                <a:spcPts val="400"/>
              </a:spcAft>
              <a:defRPr sz="1200">
                <a:solidFill>
                  <a:srgbClr val="0B1B2D"/>
                </a:solidFill>
              </a:defRPr>
            </a:pPr>
            <a:r>
              <a:t>• Polisikan Pintu Gerbang: Gunakan token bucket per tenant untuk membatasi kuota sebelum request membebani resource inti.</a:t>
            </a:r>
          </a:p>
          <a:p>
            <a:pPr>
              <a:spcAft>
                <a:spcPts val="400"/>
              </a:spcAft>
              <a:defRPr sz="1200">
                <a:solidFill>
                  <a:srgbClr val="0B1B2D"/>
                </a:solidFill>
              </a:defRPr>
            </a:pPr>
            <a:r>
              <a:t>• Tolak Cepat di Hilir: Terapkan bounded queue agar kelebihan beban dibuang seketika tanpa menumpuk latensi.</a:t>
            </a:r>
          </a:p>
          <a:p>
            <a:pPr>
              <a:spcAft>
                <a:spcPts val="400"/>
              </a:spcAft>
              <a:defRPr sz="1200">
                <a:solidFill>
                  <a:srgbClr val="0B1B2D"/>
                </a:solidFill>
              </a:defRPr>
            </a:pPr>
            <a:r>
              <a:t>• Desinkronisasi Klien: Terapkan Full Jitter; tidak otomatis menjamin backend pulih jika downstream rusak permanen.</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Rate limiting menjaga gerbang masuk, sementara backpressure mempropagasikan sinyal tekanan balik ke hulu. Menerapkan Full Jitter pada klien tidak otomatis memulihkan sistem jika kapasitas downstream memang tidak memadai untuk beban dasar.</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Police external ingress, reject internal overload fast, and desynchronize client retries with jitter.</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content/05-key-takeaways.md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23 / 24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25</a:t>
            </a:r>
          </a:p>
        </p:txBody>
      </p:sp>
      <p:sp>
        <p:nvSpPr>
          <p:cNvPr id="4" name="TextBox 3"/>
          <p:cNvSpPr txBox="1"/>
          <p:nvPr/>
        </p:nvSpPr>
        <p:spPr>
          <a:xfrm>
            <a:off x="731520" y="731520"/>
            <a:ext cx="10728655" cy="731520"/>
          </a:xfrm>
          <a:prstGeom prst="rect">
            <a:avLst/>
          </a:prstGeom>
          <a:noFill/>
        </p:spPr>
        <p:txBody>
          <a:bodyPr wrap="none">
            <a:spAutoFit/>
          </a:bodyPr>
          <a:lstStyle/>
          <a:p>
            <a:pPr>
              <a:defRPr sz="2800" b="1">
                <a:solidFill>
                  <a:srgbClr val="FFFFFF"/>
                </a:solidFill>
              </a:defRPr>
            </a:pPr>
            <a:r>
              <a:t>Sistem tanpa backpressure adalah sistem yang menunda kebangkrutan memorinya sendiri.</a:t>
            </a:r>
          </a:p>
        </p:txBody>
      </p:sp>
      <p:sp>
        <p:nvSpPr>
          <p:cNvPr id="5" name="TextBox 4"/>
          <p:cNvSpPr txBox="1"/>
          <p:nvPr/>
        </p:nvSpPr>
        <p:spPr>
          <a:xfrm>
            <a:off x="731520" y="1463040"/>
            <a:ext cx="10728655" cy="731520"/>
          </a:xfrm>
          <a:prstGeom prst="rect">
            <a:avLst/>
          </a:prstGeom>
          <a:noFill/>
        </p:spPr>
        <p:txBody>
          <a:bodyPr wrap="square">
            <a:spAutoFit/>
          </a:bodyPr>
          <a:lstStyle/>
          <a:p>
            <a:pPr>
              <a:defRPr sz="1700" b="1">
                <a:solidFill>
                  <a:srgbClr val="38BDF8"/>
                </a:solidFill>
              </a:defRPr>
            </a:pPr>
            <a:r>
              <a:t>A system without backpressure is merely borrowing time until an unavoidable memory collapse.</a:t>
            </a:r>
          </a:p>
        </p:txBody>
      </p:sp>
      <p:sp>
        <p:nvSpPr>
          <p:cNvPr id="6" name="TextBox 5"/>
          <p:cNvSpPr txBox="1"/>
          <p:nvPr/>
        </p:nvSpPr>
        <p:spPr>
          <a:xfrm>
            <a:off x="731520" y="2377440"/>
            <a:ext cx="5120640" cy="3291840"/>
          </a:xfrm>
          <a:prstGeom prst="rect">
            <a:avLst/>
          </a:prstGeom>
          <a:noFill/>
        </p:spPr>
        <p:txBody>
          <a:bodyPr wrap="square">
            <a:spAutoFit/>
          </a:bodyPr>
          <a:lstStyle/>
          <a:p>
            <a:pPr>
              <a:defRPr sz="1400" b="1">
                <a:solidFill>
                  <a:srgbClr val="FFFFFF"/>
                </a:solidFill>
              </a:defRPr>
            </a:pPr>
            <a:r>
              <a:t>Software Engineering Lab 25 - Rate Limiting &amp; Backpressure</a:t>
            </a:r>
          </a:p>
          <a:p>
            <a:pPr>
              <a:defRPr sz="1200">
                <a:solidFill>
                  <a:srgbClr val="CBD5E1"/>
                </a:solidFill>
              </a:defRPr>
            </a:pPr>
            <a:r>
              <a:t>https://github.com/lukman-ss/software-engineering-lab/tree/main/labs/25-rate-limiting-and-backpressure</a:t>
            </a:r>
          </a:p>
          <a:p>
            <a:br/>
            <a:pPr>
              <a:defRPr sz="1100" b="1">
                <a:solidFill>
                  <a:srgbClr val="20C997"/>
                </a:solidFill>
              </a:defRPr>
            </a:pPr>
            <a:r>
              <a:t>REPOSITORY</a:t>
            </a:r>
          </a:p>
          <a:p>
            <a:pPr>
              <a:defRPr sz="1100">
                <a:solidFill>
                  <a:srgbClr val="FFFFFF"/>
                </a:solidFill>
                <a:latin typeface="Courier New"/>
              </a:defRPr>
            </a:pPr>
            <a:r>
              <a:t>github.com/lukman-ss/software-engineering-lab/tree/main/labs/25-rate-limiting-and-backpressure</a:t>
            </a:r>
          </a:p>
        </p:txBody>
      </p:sp>
      <p:sp>
        <p:nvSpPr>
          <p:cNvPr id="7" name="TextBox 6"/>
          <p:cNvSpPr txBox="1"/>
          <p:nvPr/>
        </p:nvSpPr>
        <p:spPr>
          <a:xfrm>
            <a:off x="6217920" y="2377440"/>
            <a:ext cx="5120640" cy="3291840"/>
          </a:xfrm>
          <a:prstGeom prst="rect">
            <a:avLst/>
          </a:prstGeom>
          <a:noFill/>
        </p:spPr>
        <p:txBody>
          <a:bodyPr wrap="square">
            <a:spAutoFit/>
          </a:bodyPr>
          <a:lstStyle/>
          <a:p>
            <a:pPr>
              <a:defRPr sz="1600" b="1">
                <a:solidFill>
                  <a:srgbClr val="FFFFFF"/>
                </a:solidFill>
              </a:defRPr>
            </a:pPr>
            <a:r>
              <a:t>Lukman / lukman-ss</a:t>
            </a:r>
          </a:p>
          <a:p>
            <a:pPr>
              <a:defRPr sz="1200">
                <a:solidFill>
                  <a:srgbClr val="94A3B8"/>
                </a:solidFill>
              </a:defRPr>
            </a:pPr>
            <a:r>
              <a:t>Sumber: commit 45cc429</a:t>
            </a:r>
          </a:p>
          <a:p>
            <a:pPr>
              <a:defRPr sz="1200">
                <a:solidFill>
                  <a:srgbClr val="94A3B8"/>
                </a:solidFill>
              </a:defRPr>
            </a:pPr>
            <a:r>
              <a:t>Test passing dan diverifikasi (Race-Clean Go 1.22).</a:t>
            </a:r>
          </a:p>
          <a:p>
            <a:pPr>
              <a:defRPr sz="1200">
                <a:solidFill>
                  <a:srgbClr val="94A3B8"/>
                </a:solidFill>
              </a:defRPr>
            </a:pPr>
            <a:r>
              <a:t>Simulasi in-memory Store; membuktikan reduksi O(N) ke O(1).</a:t>
            </a:r>
          </a:p>
        </p:txBody>
      </p:sp>
      <p:sp>
        <p:nvSpPr>
          <p:cNvPr id="8" name="TextBox 7"/>
          <p:cNvSpPr txBox="1"/>
          <p:nvPr/>
        </p:nvSpPr>
        <p:spPr>
          <a:xfrm>
            <a:off x="731520" y="6309360"/>
            <a:ext cx="7315200" cy="365760"/>
          </a:xfrm>
          <a:prstGeom prst="rect">
            <a:avLst/>
          </a:prstGeom>
          <a:noFill/>
        </p:spPr>
        <p:txBody>
          <a:bodyPr wrap="none">
            <a:spAutoFit/>
          </a:bodyPr>
          <a:lstStyle/>
          <a:p>
            <a:pPr>
              <a:defRPr sz="1100">
                <a:solidFill>
                  <a:srgbClr val="64748B"/>
                </a:solidFill>
              </a:defRPr>
            </a:pPr>
            <a:r>
              <a:t>Rate Limiting • Backpressure • Go • Distributed Systems • System Design</a:t>
            </a:r>
          </a:p>
        </p:txBody>
      </p:sp>
      <p:sp>
        <p:nvSpPr>
          <p:cNvPr id="9" name="TextBox 8"/>
          <p:cNvSpPr txBox="1"/>
          <p:nvPr/>
        </p:nvSpPr>
        <p:spPr>
          <a:xfrm>
            <a:off x="8686800" y="6309360"/>
            <a:ext cx="2743200" cy="365760"/>
          </a:xfrm>
          <a:prstGeom prst="rect">
            <a:avLst/>
          </a:prstGeom>
          <a:noFill/>
        </p:spPr>
        <p:txBody>
          <a:bodyPr wrap="none">
            <a:spAutoFit/>
          </a:bodyPr>
          <a:lstStyle/>
          <a:p>
            <a:pPr algn="r">
              <a:defRPr sz="1100" b="1">
                <a:solidFill>
                  <a:srgbClr val="64748B"/>
                </a:solidFill>
              </a:defRPr>
            </a:pPr>
            <a:r>
              <a:t>24 / 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