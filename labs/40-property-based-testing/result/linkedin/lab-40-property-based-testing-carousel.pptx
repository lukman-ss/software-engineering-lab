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Property-Based Testing</a:t>
            </a:r>
          </a:p>
          <a:p/>
          <a:p>
            <a:r>
              <a:t>[]</a:t>
            </a:r>
          </a:p>
          <a:p>
            <a:r>
              <a:t>- Retro CRT monitor beige dengan scanlines</a:t>
            </a:r>
          </a:p>
          <a:p>
            <a:r>
              <a:t>- Terminal menampilkan invariant verification and counterexample shrinking</a:t>
            </a:r>
          </a:p>
          <a:p>
            <a:r>
              <a:t>- Penulis: Lukman / lukman-ss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Ilusi Keamanan Example-Based Testing</a:t>
            </a:r>
          </a:p>
          <a:p/>
          <a:p>
            <a:r>
              <a:t>Mental Model: Example-based tests check developer assumptions; property-based tests explore domain boundaries.</a:t>
            </a:r>
          </a:p>
          <a:p/>
          <a:p>
            <a:r>
              <a:t>[BIAS PENGEMBANG]</a:t>
            </a:r>
          </a:p>
          <a:p>
            <a:r>
              <a:t>- Unit test konvensional menguji nilai yang dipikirkan developer (happy path).</a:t>
            </a:r>
          </a:p>
          <a:p>
            <a:r>
              <a:t>- Contoh hand-picked mengabaikan kombinasi liar, angka negatif, dan float precision.</a:t>
            </a:r>
          </a:p>
          <a:p>
            <a:r>
              <a:t>- Test suite hijau 100% code coverage tetap menyisakan blindspot fatal di produksi.</a:t>
            </a:r>
          </a:p>
          <a:p>
            <a:r>
              <a:t>[BUKTI LAB]</a:t>
            </a:r>
          </a:p>
          <a:p>
            <a:r>
              <a:t>- Format naif float lolos 5/5 contoh statis ($1.00, $5.25, $99.99, $10.50, $0.01).</a:t>
            </a:r>
          </a:p>
          <a:p>
            <a:r>
              <a:t>- Saat diuji invariant properti dengan input acak, 1.000/1.000 input gagal roundtrip.</a:t>
            </a:r>
          </a:p>
          <a:p>
            <a:r>
              <a:t>[PARADIGMA PBT]</a:t>
            </a:r>
          </a:p>
          <a:p>
            <a:r>
              <a:t>- Uji kebenaran universal (invariants) terhadap ratusan input acak tanpa asumsi sempit.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Tiga Pilar Siklus Property-Based Testing</a:t>
            </a:r>
          </a:p>
          <a:p/>
          <a:p>
            <a:r>
              <a:t>Mental Model: Generate broadly, assert universally, and shrink failures ruthlessly to their core.</a:t>
            </a:r>
          </a:p>
          <a:p/>
          <a:p>
            <a:r>
              <a:t>[PILAR SIKLUS PBT]</a:t>
            </a:r>
          </a:p>
          <a:p>
            <a:r>
              <a:t>- Tahap | Tanggung Jawab | Output Sistem</a:t>
            </a:r>
          </a:p>
          <a:p>
            <a:r>
              <a:t>- 1. Generator | Buat ratusan sampel input acak terdistribusi | Slices, numbers, structs</a:t>
            </a:r>
          </a:p>
          <a:p>
            <a:r>
              <a:t>- 2. Invariant | Evaluasi properti universal f(x) | Validasi true / false</a:t>
            </a:r>
          </a:p>
          <a:p>
            <a:r>
              <a:t>- 3. Shrinker | Pangkas kegagalan ke bentuk terkecil | Minimal counterexample (e.g. [-1])</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Empat Pola Invariant Kanonikal</a:t>
            </a:r>
          </a:p>
          <a:p/>
          <a:p>
            <a:r>
              <a:t>Mental Model: Invariant patterns are executable mathematical specifications for software behavior.</a:t>
            </a:r>
          </a:p>
          <a:p/>
          <a:p>
            <a:r>
              <a:t>[POLA INVARIANT]</a:t>
            </a:r>
          </a:p>
          <a:p>
            <a:r>
              <a:t>- Pola Invariant | Formula Formal | Contoh Kasus Nyata</a:t>
            </a:r>
          </a:p>
          <a:p>
            <a:r>
              <a:t>- Roundtrip | Decode(Encode(x)) == x | Serialisasi JSON, mata uang, kompresi</a:t>
            </a:r>
          </a:p>
          <a:p>
            <a:r>
              <a:t>- Idempotence | f(f(x)) == f(x) | Normalisasi teks, merge interval, cleanup</a:t>
            </a:r>
          </a:p>
          <a:p>
            <a:r>
              <a:t>- Oracle Equiv | f_robust(x) == f_naive(x) | Verifikasi algoritma teroptimasi vs referensi</a:t>
            </a:r>
          </a:p>
          <a:p>
            <a:r>
              <a:t>- Easy-to-Verify | HardToSolve(x) -&gt; EasyVerify(res) | Validasi shortest path, partisi graf</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Kegagalan Presisi Float pada Mata Uang</a:t>
            </a:r>
          </a:p>
          <a:p/>
          <a:p>
            <a:r>
              <a:t>Mental Model: Floating point binary approximations inevitably corrupt fractional decimal values.</a:t>
            </a:r>
          </a:p>
          <a:p/>
          <a:p>
            <a:r>
              <a:t>[NAIVE FLOAT IMPLEMENTATION]</a:t>
            </a:r>
          </a:p>
          <a:p>
            <a:r>
              <a:t>- type NaiveCurrency struct{}</a:t>
            </a:r>
          </a:p>
          <a:p>
            <a:r>
              <a:t>- </a:t>
            </a:r>
          </a:p>
          <a:p>
            <a:r>
              <a:t>- func (n NaiveCurrency) Format(dollars float64) string {</a:t>
            </a:r>
          </a:p>
          <a:p>
            <a:r>
              <a:t>-     return fmt.Sprintf("$%.2f", dollars)</a:t>
            </a:r>
          </a:p>
          <a:p>
            <a:r>
              <a:t>- }</a:t>
            </a:r>
          </a:p>
          <a:p>
            <a:r>
              <a:t>- </a:t>
            </a:r>
          </a:p>
          <a:p>
            <a:r>
              <a:t>- func (n NaiveCurrency) Parse(s string) (float64, error) {</a:t>
            </a:r>
          </a:p>
          <a:p>
            <a:r>
              <a:t>-     s = strings.TrimPrefix(s, "$")</a:t>
            </a:r>
          </a:p>
          <a:p>
            <a:r>
              <a:t>-     return strconv.ParseFloat(s, 64)</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PBT Mendeteksi Kebocoran Float 100%</a:t>
            </a:r>
          </a:p>
          <a:p/>
          <a:p>
            <a:r>
              <a:t>Mental Model: A roundtrip property check exposes latent serialization and truncation flaws immediately.</a:t>
            </a:r>
          </a:p>
          <a:p/>
          <a:p>
            <a:r>
              <a:t>[PROPERTY TEST CHECK]</a:t>
            </a:r>
          </a:p>
          <a:p>
            <a:r>
              <a:t>- func TestPropertyNaiveCurrencyFails(t *testing.T) {</a:t>
            </a:r>
          </a:p>
          <a:p>
            <a:r>
              <a:t>-     naive := NaiveCurrency{}</a:t>
            </a:r>
          </a:p>
          <a:p>
            <a:r>
              <a:t>-     prop := func(val NaiveFloat) bool {</a:t>
            </a:r>
          </a:p>
          <a:p>
            <a:r>
              <a:t>-         dollars := float64(val)</a:t>
            </a:r>
          </a:p>
          <a:p>
            <a:r>
              <a:t>-         formatted := naive.Format(dollars)</a:t>
            </a:r>
          </a:p>
          <a:p>
            <a:r>
              <a:t>-         parsed, err := naive.Parse(formatted)</a:t>
            </a:r>
          </a:p>
          <a:p>
            <a:r>
              <a:t>-         if err != nil { return false }</a:t>
            </a:r>
          </a:p>
          <a:p>
            <a:r>
              <a:t>-         return parsed == dollars // Gagal pada sub-cent!</a:t>
            </a:r>
          </a:p>
          <a:p>
            <a:r>
              <a:t>-     }</a:t>
            </a:r>
          </a:p>
          <a:p>
            <a:r>
              <a:t>-     err := quick.Check(prop, &amp;quick.Config{MaxCount: 100})</a:t>
            </a:r>
          </a:p>
          <a:p>
            <a:r>
              <a:t>-     // quick.Check mengembalikan error counterexample</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Desain Robust: Integer Cents Representation</a:t>
            </a:r>
          </a:p>
          <a:p/>
          <a:p>
            <a:r>
              <a:t>Mental Model: Represent fractional quantities in discrete atomic units to eliminate rounding artifacts.</a:t>
            </a:r>
          </a:p>
          <a:p/>
          <a:p>
            <a:r>
              <a:t>[INTEGER CENTS STRUCT]</a:t>
            </a:r>
          </a:p>
          <a:p>
            <a:r>
              <a:t>- type RobustAmount struct {</a:t>
            </a:r>
          </a:p>
          <a:p>
            <a:r>
              <a:t>-     Cents int64</a:t>
            </a:r>
          </a:p>
          <a:p>
            <a:r>
              <a:t>- }</a:t>
            </a:r>
          </a:p>
          <a:p>
            <a:r>
              <a:t>- </a:t>
            </a:r>
          </a:p>
          <a:p>
            <a:r>
              <a:t>- func (r RobustAmount) Format() string {</a:t>
            </a:r>
          </a:p>
          <a:p>
            <a:r>
              <a:t>-     absCents := r.Cents; sign := ""</a:t>
            </a:r>
          </a:p>
          <a:p>
            <a:r>
              <a:t>-     if absCents &lt; 0 { sign = "-"; absCents = -absCents }</a:t>
            </a:r>
          </a:p>
          <a:p>
            <a:r>
              <a:t>-     dollars := absCents / 100; cents := absCents % 100</a:t>
            </a:r>
          </a:p>
          <a:p>
            <a:r>
              <a:t>-     return fmt.Sprintf("%s$%d.%02d", sign, dollars, cents)</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Custom Generator &amp; Boundary Value Bias</a:t>
            </a:r>
          </a:p>
          <a:p/>
          <a:p>
            <a:r>
              <a:t>Mental Model: Biased generators force tests toward dangerous boundary conditions instead of safe averages.</a:t>
            </a:r>
          </a:p>
          <a:p/>
          <a:p>
            <a:r>
              <a:t>[BIASED GENERATOR LOGIC]</a:t>
            </a:r>
          </a:p>
          <a:p>
            <a:r>
              <a:t>- func (RobustAmount) Generate(r *rand.Rand, size int) reflect.Value {</a:t>
            </a:r>
          </a:p>
          <a:p>
            <a:r>
              <a:t>-     switch r.Intn(5) {</a:t>
            </a:r>
          </a:p>
          <a:p>
            <a:r>
              <a:t>-     case 0: cents = 0                         // Boundary zero</a:t>
            </a:r>
          </a:p>
          <a:p>
            <a:r>
              <a:t>-     case 1: cents = int64(r.Intn(200) - 100)  // Near-zero negatives</a:t>
            </a:r>
          </a:p>
          <a:p>
            <a:r>
              <a:t>-     case 2: cents = int64(r.Intn(1000000))    // Normal positive</a:t>
            </a:r>
          </a:p>
          <a:p>
            <a:r>
              <a:t>-     case 3: cents = -int64(r.Intn(1000000))   // Normal negative</a:t>
            </a:r>
          </a:p>
          <a:p>
            <a:r>
              <a:t>-     default: cents = r.Int63n(1e12) - 5e11    // Multi-billion bounds</a:t>
            </a:r>
          </a:p>
          <a:p>
            <a:r>
              <a:t>-     }</a:t>
            </a:r>
          </a:p>
          <a:p>
            <a:r>
              <a:t>-     return reflect.ValueOf(RobustAmount{Cents: cents})</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1.000 Iterasi Lolos Roundtrip Integer Cents</a:t>
            </a:r>
          </a:p>
          <a:p/>
          <a:p>
            <a:r>
              <a:t>Mental Model: A verified roundtrip invariant proves mathematical isomorphism between data and representation.</a:t>
            </a:r>
          </a:p>
          <a:p/>
          <a:p>
            <a:r>
              <a:t>[HASIL VERIFIKASI ROUNDTRIP]</a:t>
            </a:r>
          </a:p>
          <a:p>
            <a:r>
              <a:t>- Metrik Uji | Naive Float64 | Robust Integer Cents</a:t>
            </a:r>
          </a:p>
          <a:p>
            <a:r>
              <a:t>- Total Iterasi Acak | 1.000 iterasi | 1.000 iterasi</a:t>
            </a:r>
          </a:p>
          <a:p>
            <a:r>
              <a:t>- Tingkat Kelulusan | 0% (1.000 gagal) | 100% (1.000 lolos)</a:t>
            </a:r>
          </a:p>
          <a:p>
            <a:r>
              <a:t>- Cakupan Domain | Terbatas hand-picked | Nol, negatif, triliun sen</a:t>
            </a:r>
          </a:p>
          <a:p>
            <a:r>
              <a:t>- Invarian Terbukti | Gagal total | Parse(Format(x)) == x VALID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Kasus Interval Merge &amp; Asumsi Tersembunyi</a:t>
            </a:r>
          </a:p>
          <a:p/>
          <a:p>
            <a:r>
              <a:t>Mental Model: Unenforced implicit preconditions are bugs waiting for real-world input to trigger them.</a:t>
            </a:r>
          </a:p>
          <a:p/>
          <a:p>
            <a:r>
              <a:t>[NAIVE MERGE CODE]</a:t>
            </a:r>
          </a:p>
          <a:p>
            <a:r>
              <a:t>- func NaiveMerge(intervals []Interval) []Interval {</a:t>
            </a:r>
          </a:p>
          <a:p>
            <a:r>
              <a:t>-     if len(intervals) == 0 { return nil }</a:t>
            </a:r>
          </a:p>
          <a:p>
            <a:r>
              <a:t>-     out := []Interval{intervals[0]}</a:t>
            </a:r>
          </a:p>
          <a:p>
            <a:r>
              <a:t>-     for _, iv := range intervals[1:] {</a:t>
            </a:r>
          </a:p>
          <a:p>
            <a:r>
              <a:t>-         last := &amp;out[len(out)-1]</a:t>
            </a:r>
          </a:p>
          <a:p>
            <a:r>
              <a:t>-         if iv.Start &lt;= last.End {</a:t>
            </a:r>
          </a:p>
          <a:p>
            <a:r>
              <a:t>-             if iv.End &gt; last.End { last.End = iv.End }</a:t>
            </a:r>
          </a:p>
          <a:p>
            <a:r>
              <a:t>-         } else { out = append(out, iv) }</a:t>
            </a:r>
          </a:p>
          <a:p>
            <a:r>
              <a:t>-     }</a:t>
            </a:r>
          </a:p>
          <a:p>
            <a:r>
              <a:t>-     return out // BUG: Mengasumsikan input terurut!</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Test Oracle: Membongkar 85% Discrepancy</a:t>
            </a:r>
          </a:p>
          <a:p/>
          <a:p>
            <a:r>
              <a:t>Mental Model: A reference implementation acts as an oracle to evaluate alternative algorithms at scale.</a:t>
            </a:r>
          </a:p>
          <a:p/>
          <a:p>
            <a:r>
              <a:t>[ORACLE INVARIANT CHECK]</a:t>
            </a:r>
          </a:p>
          <a:p>
            <a:r>
              <a:t>- func TestPropertyNaiveMergeFails(t *testing.T) {</a:t>
            </a:r>
          </a:p>
          <a:p>
            <a:r>
              <a:t>-     prop := func(ivs IntervalSlice) bool {</a:t>
            </a:r>
          </a:p>
          <a:p>
            <a:r>
              <a:t>-         naive := NaiveMerge([]Interval(ivs))</a:t>
            </a:r>
          </a:p>
          <a:p>
            <a:r>
              <a:t>-         robust := RobustMerge([]Interval(ivs))</a:t>
            </a:r>
          </a:p>
          <a:p>
            <a:r>
              <a:t>-         return intervalsEqual(naive, robust)</a:t>
            </a:r>
          </a:p>
          <a:p>
            <a:r>
              <a:t>-     }</a:t>
            </a:r>
          </a:p>
          <a:p>
            <a:r>
              <a:t>-     err := quick.Check(prop, &amp;quick.Config{MaxCount: 100})</a:t>
            </a:r>
          </a:p>
          <a:p>
            <a:r>
              <a:t>-     // 85 dari 100 input acak menghasilkan ketidaksesuaian!</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Invariant Idempotence pada Penggabungan Data</a:t>
            </a:r>
          </a:p>
          <a:p/>
          <a:p>
            <a:r>
              <a:t>Mental Model: Idempotence guarantees operational convergence: repetition causes zero state drift.</a:t>
            </a:r>
          </a:p>
          <a:p/>
          <a:p>
            <a:r>
              <a:t>[IDEMPOTENCE EQUATION]</a:t>
            </a:r>
          </a:p>
          <a:p>
            <a:r>
              <a:t>- Formula Teoretis: f(f(x)) == f(x)</a:t>
            </a:r>
          </a:p>
          <a:p>
            <a:r>
              <a:t>- </a:t>
            </a:r>
          </a:p>
          <a:p>
            <a:r>
              <a:t>- func TestPropertyRobustMergeIdempotence(t *testing.T) {</a:t>
            </a:r>
          </a:p>
          <a:p>
            <a:r>
              <a:t>-     prop := func(ivs IntervalSlice) bool {</a:t>
            </a:r>
          </a:p>
          <a:p>
            <a:r>
              <a:t>-         once := RobustMerge([]Interval(ivs))</a:t>
            </a:r>
          </a:p>
          <a:p>
            <a:r>
              <a:t>-         twice := RobustMerge(once)</a:t>
            </a:r>
          </a:p>
          <a:p>
            <a:r>
              <a:t>-         return intervalsEqual(once, twice)</a:t>
            </a:r>
          </a:p>
          <a:p>
            <a:r>
              <a:t>-     }</a:t>
            </a:r>
          </a:p>
          <a:p>
            <a:r>
              <a:t>-     quick.Check(prop, &amp;quick.Config{MaxCount: 1000})</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Invariant Struktural: Non-Overlapping Slices</a:t>
            </a:r>
          </a:p>
          <a:p/>
          <a:p>
            <a:r>
              <a:t>Mental Model: Structural invariants verify domain-specific physical constraints on output shapes.</a:t>
            </a:r>
          </a:p>
          <a:p/>
          <a:p>
            <a:r>
              <a:t>[STRUKTURAL ASSERTION]</a:t>
            </a:r>
          </a:p>
          <a:p>
            <a:r>
              <a:t>- func TestPropertyRobustMergeNonOverlapping(t *testing.T) {</a:t>
            </a:r>
          </a:p>
          <a:p>
            <a:r>
              <a:t>-     prop := func(ivs IntervalSlice) bool {</a:t>
            </a:r>
          </a:p>
          <a:p>
            <a:r>
              <a:t>-         merged := RobustMerge([]Interval(ivs))</a:t>
            </a:r>
          </a:p>
          <a:p>
            <a:r>
              <a:t>-         for i := 0; i &lt; len(merged)-1; i++ {</a:t>
            </a:r>
          </a:p>
          <a:p>
            <a:r>
              <a:t>-             if merged[i].End &gt;= merged[i+1].Start {</a:t>
            </a:r>
          </a:p>
          <a:p>
            <a:r>
              <a:t>-                 return false // Ada tumpang tindih!</a:t>
            </a:r>
          </a:p>
          <a:p>
            <a:r>
              <a:t>-             }</a:t>
            </a:r>
          </a:p>
          <a:p>
            <a:r>
              <a:t>-         }</a:t>
            </a:r>
          </a:p>
          <a:p>
            <a:r>
              <a:t>-         return true</a:t>
            </a:r>
          </a:p>
          <a:p>
            <a:r>
              <a:t>-     }</a:t>
            </a:r>
          </a:p>
          <a:p>
            <a:r>
              <a:t>-     quick.Check(prop, &amp;quick.Config{MaxCount: 1000})</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Anatomi Masalah: Kompleksitas Counterexample</a:t>
            </a:r>
          </a:p>
          <a:p/>
          <a:p>
            <a:r>
              <a:t>Mental Model: Raw random failures contain heavy noise; automated shrinking isolates the minimal signal.</a:t>
            </a:r>
          </a:p>
          <a:p/>
          <a:p>
            <a:r>
              <a:t>[SAMPLE INITIAL FAILING INPUT]</a:t>
            </a:r>
          </a:p>
          <a:p>
            <a:r>
              <a:t>- Array Awal (10 elemen acak bernilai besar &amp; campur aduk):</a:t>
            </a:r>
          </a:p>
          <a:p>
            <a:r>
              <a:t>- [137, 18, 100, -27, 95, 107, 126, 78, -7, 79]</a:t>
            </a:r>
          </a:p>
          <a:p>
            <a:r>
              <a:t>- </a:t>
            </a:r>
          </a:p>
          <a:p>
            <a:r>
              <a:t>- Pertanyaan Developer saat Melihat Log:</a:t>
            </a:r>
          </a:p>
          <a:p>
            <a:r>
              <a:t>- • Apakah bug dipicu oleh angka 137? Atau ukuran array bernilai 10?</a:t>
            </a:r>
          </a:p>
          <a:p>
            <a:r>
              <a:t>- • Apakah urutan elemen saling mempengaruhi?</a:t>
            </a:r>
          </a:p>
          <a:p>
            <a:r>
              <a:t>- • Elemen mana yang menjadi pemicu minimal pelanggaran invariant?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Konsep dan Algoritma Shrinking</a:t>
            </a:r>
          </a:p>
          <a:p/>
          <a:p>
            <a:r>
              <a:t>Mental Model: Shrinking is binary search applied to bug reproducers: drop halves, drop items, drop magnitude.</a:t>
            </a:r>
          </a:p>
          <a:p/>
          <a:p>
            <a:r>
              <a:t>[TIGA STRATEGI REDUKSI]</a:t>
            </a:r>
          </a:p>
          <a:p>
            <a:r>
              <a:t>- Fase Algoritma | Aksi Reduksi | Target Optimasi</a:t>
            </a:r>
          </a:p>
          <a:p>
            <a:r>
              <a:t>- 1. Binary Sectioning | Potong separuh kiri / kanan array | Pangkas ukuran O(log N)</a:t>
            </a:r>
          </a:p>
          <a:p>
            <a:r>
              <a:t>- 2. Element Removal | Hapus elemen individual satu per satu | Eliminasi noise non-kritis</a:t>
            </a:r>
          </a:p>
          <a:p>
            <a:r>
              <a:t>- 3. Value Reduction | Bagi dua nilai elemen menuju 0 | Minimalisasi magnitudo nilai</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Binary Sectioning: Memangkas Panjang Array</a:t>
            </a:r>
          </a:p>
          <a:p/>
          <a:p>
            <a:r>
              <a:t>Mental Model: Halving input payloads quickly eliminates large clusters of irrelevant test data.</a:t>
            </a:r>
          </a:p>
          <a:p/>
          <a:p>
            <a:r>
              <a:t>[CHUNK REMOVAL STRATEGY]</a:t>
            </a:r>
          </a:p>
          <a:p>
            <a:r>
              <a:t>- if len(current) &gt; 1 {</a:t>
            </a:r>
          </a:p>
          <a:p>
            <a:r>
              <a:t>-     mid := len(current) / 2</a:t>
            </a:r>
          </a:p>
          <a:p>
            <a:r>
              <a:t>-     left := current[:mid]</a:t>
            </a:r>
          </a:p>
          <a:p>
            <a:r>
              <a:t>-     if !predicate(left) {</a:t>
            </a:r>
          </a:p>
          <a:p>
            <a:r>
              <a:t>-         current = append([]int(nil), left...)</a:t>
            </a:r>
          </a:p>
          <a:p>
            <a:r>
              <a:t>-         changed = true; continue</a:t>
            </a:r>
          </a:p>
          <a:p>
            <a:r>
              <a:t>-     }</a:t>
            </a:r>
          </a:p>
          <a:p>
            <a:r>
              <a:t>-     right := current[mid:]</a:t>
            </a:r>
          </a:p>
          <a:p>
            <a:r>
              <a:t>-     if !predicate(right) {</a:t>
            </a:r>
          </a:p>
          <a:p>
            <a:r>
              <a:t>-         current = append([]int(nil), right...)</a:t>
            </a:r>
          </a:p>
          <a:p>
            <a:r>
              <a:t>-         changed = true; continue</a:t>
            </a:r>
          </a:p>
          <a:p>
            <a:r>
              <a:t>-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Reduksi Elemen &amp; Magnitudo Menuju Nol</a:t>
            </a:r>
          </a:p>
          <a:p/>
          <a:p>
            <a:r>
              <a:t>Mental Model: Gradual numerical reduction isolates the exact mathematical threshold of failure.</a:t>
            </a:r>
          </a:p>
          <a:p/>
          <a:p>
            <a:r>
              <a:t>[VALUE REDUCTION LOOP]</a:t>
            </a:r>
          </a:p>
          <a:p>
            <a:r>
              <a:t>- // Coba set elemen menjadi 0 atau bagi dua nilainya</a:t>
            </a:r>
          </a:p>
          <a:p>
            <a:r>
              <a:t>- candidates := []int{0, current[i] / 2}</a:t>
            </a:r>
          </a:p>
          <a:p>
            <a:r>
              <a:t>- for _, cand := range candidates {</a:t>
            </a:r>
          </a:p>
          <a:p>
            <a:r>
              <a:t>-     testSlice := append([]int(nil), current...)</a:t>
            </a:r>
          </a:p>
          <a:p>
            <a:r>
              <a:t>-     testSlice[i] = cand</a:t>
            </a:r>
          </a:p>
          <a:p>
            <a:r>
              <a:t>-     if !predicate(testSlice) {</a:t>
            </a:r>
          </a:p>
          <a:p>
            <a:r>
              <a:t>-         current = testSlice</a:t>
            </a:r>
          </a:p>
          <a:p>
            <a:r>
              <a:t>-         changed = true; break</a:t>
            </a:r>
          </a:p>
          <a:p>
            <a:r>
              <a:t>-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Jejak 21 Langkah Menuju Minimal</a:t>
            </a:r>
          </a:p>
          <a:p/>
          <a:p>
            <a:r>
              <a:t>Mental Model: Shrinking eliminates debugging guesswork by delivering the minimal reproducible unit.</a:t>
            </a:r>
          </a:p>
          <a:p/>
          <a:p>
            <a:r>
              <a:t>[JEJAK LANGKAH SHRINKING NYATA]</a:t>
            </a:r>
          </a:p>
          <a:p>
            <a:r>
              <a:t>- Input Awal (10 elemen): [137 18 100 -27 95 107 126 78 -7 79]</a:t>
            </a:r>
          </a:p>
          <a:p>
            <a:r>
              <a:t>- Step  1: remove-right-half         [5 elem] [137 18 100 -27 95] -&gt; FAIL</a:t>
            </a:r>
          </a:p>
          <a:p>
            <a:r>
              <a:t>- Step  3: remove-left-half          [3 elem] [100 -27 95]        -&gt; FAIL</a:t>
            </a:r>
          </a:p>
          <a:p>
            <a:r>
              <a:t>- Step  5: remove-left-half          [2 elem] [-27 95]            -&gt; FAIL</a:t>
            </a:r>
          </a:p>
          <a:p>
            <a:r>
              <a:t>- Step  6: remove-right-half         [1 elem] [-27]               -&gt; FAIL</a:t>
            </a:r>
          </a:p>
          <a:p>
            <a:r>
              <a:t>- Step  9: reduce-val to -13         [1 elem] [-13]               -&gt; FAIL</a:t>
            </a:r>
          </a:p>
          <a:p>
            <a:r>
              <a:t>- Step 12: reduce-val to -6          [1 elem] [-6]                -&gt; FAIL</a:t>
            </a:r>
          </a:p>
          <a:p>
            <a:r>
              <a:t>- Step 15: reduce-val to -3          [1 elem] [-3]                -&gt; FAIL</a:t>
            </a:r>
          </a:p>
          <a:p>
            <a:r>
              <a:t>- Step 18: reduce-val to -1          [1 elem] [-1]                -&gt; FAIL</a:t>
            </a:r>
          </a:p>
          <a:p>
            <a:r>
              <a:t>- Hasil Akhir (Minimal Counterexample): [-1] (Tepat 21 langkah evaluasi!)</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Integrasi Go Standard Library testing/quick</a:t>
            </a:r>
          </a:p>
          <a:p/>
          <a:p>
            <a:r>
              <a:t>Mental Model: Zero-dependency property testing is already built into the Go standard library.</a:t>
            </a:r>
          </a:p>
          <a:p/>
          <a:p>
            <a:r>
              <a:t>[QUICK CHECK CONFIGURATION]</a:t>
            </a:r>
          </a:p>
          <a:p>
            <a:r>
              <a:t>- cfg := &amp;quick.Config{</a:t>
            </a:r>
          </a:p>
          <a:p>
            <a:r>
              <a:t>-     MaxCount: 1000, // Jumlah iterasi acak yang dieksekusi</a:t>
            </a:r>
          </a:p>
          <a:p>
            <a:r>
              <a:t>-     Rand:     rand.New(rand.NewSource(seed)), // Determinisme</a:t>
            </a:r>
          </a:p>
          <a:p>
            <a:r>
              <a:t>- }</a:t>
            </a:r>
          </a:p>
          <a:p>
            <a:r>
              <a:t>- </a:t>
            </a:r>
          </a:p>
          <a:p>
            <a:r>
              <a:t>- err := quick.Check(func(a RobustAmount) bool {</a:t>
            </a:r>
          </a:p>
          <a:p>
            <a:r>
              <a:t>-     return ParseRobust(a.Format()) == a</a:t>
            </a:r>
          </a:p>
          <a:p>
            <a:r>
              <a:t>- }, cfg)</a:t>
            </a:r>
          </a:p>
          <a:p>
            <a:r>
              <a:t>- if err != nil {</a:t>
            </a:r>
          </a:p>
          <a:p>
            <a:r>
              <a:t>-     t.Fatalf("property violation: %v", err)</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Determinisme, Seeding, &amp; CI/CD Pipeline</a:t>
            </a:r>
          </a:p>
          <a:p/>
          <a:p>
            <a:r>
              <a:t>Mental Model: Exploratory randomness belongs in nightly CI; deterministic seeds belong in pull requests.</a:t>
            </a:r>
          </a:p>
          <a:p/>
          <a:p>
            <a:r>
              <a:t>[STRATEGI SEED &amp; ITERASI]</a:t>
            </a:r>
          </a:p>
          <a:p>
            <a:r>
              <a:t>- Lingkungan | Konfigurasi Seed | Iterasi | Tujuan</a:t>
            </a:r>
          </a:p>
          <a:p>
            <a:r>
              <a:t>- Local PR Check | Fixed Seed (deterministik) | 100 - 500 | Cepat &amp; lolos tanpa flakiness</a:t>
            </a:r>
          </a:p>
          <a:p>
            <a:r>
              <a:t>- Nightly CI | Dynamic Time Seed | 10.000 - 50.000 | Eksplorasi bug liar &amp; boundary</a:t>
            </a:r>
          </a:p>
          <a:p>
            <a:r>
              <a:t>- Bug Reproduction | Injeksi Failing Seed | 1 run minimal | Reproduksi 100% konsisten</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Matriks Komparasi Example vs PBT</a:t>
            </a:r>
          </a:p>
          <a:p/>
          <a:p>
            <a:r>
              <a:t>Mental Model: Use example tests for concrete user flows; use property tests for structural correctness.</a:t>
            </a:r>
          </a:p>
          <a:p/>
          <a:p>
            <a:r>
              <a:t>[TABEL PERBANDINGAN KOMPREHENSIF]</a:t>
            </a:r>
          </a:p>
          <a:p>
            <a:r>
              <a:t>- Dimensi Evaluasi | Example-Based Testing | Property-Based Testing</a:t>
            </a:r>
          </a:p>
          <a:p>
            <a:r>
              <a:t>- Cakupan Input | Titik diskrit statis (hand-picked) | Spektrum kontinu acak terdistribusi</a:t>
            </a:r>
          </a:p>
          <a:p>
            <a:r>
              <a:t>- Bias Pengujian | Tinggi (mengikuti intuisi engineer) | Rendah (adversarial fuzzing)</a:t>
            </a:r>
          </a:p>
          <a:p>
            <a:r>
              <a:t>- Bug Boundary | Kerap terlewat (sub-cent, negative) | Terdeteksi via biased generator</a:t>
            </a:r>
          </a:p>
          <a:p>
            <a:r>
              <a:t>- Isolasi Bug | Manual via trace &amp; debugger | Otomatis via counterexample shrinking</a:t>
            </a:r>
          </a:p>
          <a:p>
            <a:r>
              <a:t>- Tingkat Keyakinan | False confidence (jalur aman) | Calibrated confidence (invarian kokoh)</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Praktik Terbaik &amp; Anti-Pattern PBT</a:t>
            </a:r>
          </a:p>
          <a:p/>
          <a:p>
            <a:r>
              <a:t>Mental Model: Assert properties of the relationship, never re-implement the algorithm in the test.</a:t>
            </a:r>
          </a:p>
          <a:p/>
          <a:p>
            <a:r>
              <a:t>[YANG HARUS DIHINDARI]</a:t>
            </a:r>
          </a:p>
          <a:p>
            <a:r>
              <a:t>- 1. Menulis ulang implementasi di dalam assertion test (duplikasi logika kode).</a:t>
            </a:r>
          </a:p>
          <a:p>
            <a:r>
              <a:t>- 2. Generator terlalu sempit sehingga mengabaikan batas domain ekstrem.</a:t>
            </a:r>
          </a:p>
          <a:p>
            <a:r>
              <a:t>- 3. Menguji tanpa shrinker sehingga menyulitkan proses debugging hasil gagal.</a:t>
            </a:r>
          </a:p>
          <a:p>
            <a:r>
              <a:t>[POLA YANG DIREKOMENDASIKAN]</a:t>
            </a:r>
          </a:p>
          <a:p>
            <a:r>
              <a:t>- 1. Fokus pada sifat relasional: roundtrip, idempotence, oracle, dan simetri.</a:t>
            </a:r>
          </a:p>
          <a:p>
            <a:r>
              <a:t>- 2. Suntikkan boundary bias: selalu sertakan 0, -1, MaxInt, dan slice kosong.</a:t>
            </a:r>
          </a:p>
          <a:p>
            <a:r>
              <a:t>- 3. Simpan seed yang gagal ke dalam unit test regresi berbasis contoh permanen.</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Panduan Reproduksi Mandiri &amp; Verifikasi</a:t>
            </a:r>
          </a:p>
          <a:p/>
          <a:p>
            <a:r>
              <a:t>Mental Model: Standard library tests provide reproducible, zero-dependency validation for engineering teams.</a:t>
            </a:r>
          </a:p>
          <a:p/>
          <a:p>
            <a:r>
              <a:t>[LANGKAH EKSEKUSI CLI]</a:t>
            </a:r>
          </a:p>
          <a:p>
            <a:r>
              <a:t>- # 1. Masuk ke direktori lab</a:t>
            </a:r>
          </a:p>
          <a:p>
            <a:r>
              <a:t>- cd labs/40-property-based-testing</a:t>
            </a:r>
          </a:p>
          <a:p>
            <a:r>
              <a:t>- </a:t>
            </a:r>
          </a:p>
          <a:p>
            <a:r>
              <a:t>- # 2. Jalankan seluruh property &amp; unit test</a:t>
            </a:r>
          </a:p>
          <a:p>
            <a:r>
              <a:t>- go test -v ./...</a:t>
            </a:r>
          </a:p>
          <a:p>
            <a:r>
              <a:t>- </a:t>
            </a:r>
          </a:p>
          <a:p>
            <a:r>
              <a:t>- # 3. Verifikasi ketiadaan race condition</a:t>
            </a:r>
          </a:p>
          <a:p>
            <a:r>
              <a:t>- go test -race ./...</a:t>
            </a:r>
          </a:p>
          <a:p>
            <a:r>
              <a:t>- </a:t>
            </a:r>
          </a:p>
          <a:p>
            <a:r>
              <a:t>- # 4. Eksekusi CLI interactive demo</a:t>
            </a:r>
          </a:p>
          <a:p>
            <a:r>
              <a:t>- go run ./cmd/demo</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Eksperimen kecil, invariant universal terbukti.</a:t>
            </a:r>
          </a:p>
          <a:p/>
          <a:p>
            <a:r>
              <a:t>Mental Model: Stop guessing edge cases with static examples. Let invariants and shrinking find them for you.</a:t>
            </a:r>
          </a:p>
          <a:p/>
          <a:p>
            <a:r>
              <a:t>[MODUL LAB]</a:t>
            </a:r>
          </a:p>
          <a:p>
            <a:r>
              <a:t>- internal/currency • internal/interval • internal/shrinker</a:t>
            </a:r>
          </a:p>
          <a:p>
            <a:r>
              <a:t>- cmd/demo/main.go • README.md • go.mod</a:t>
            </a:r>
          </a:p>
          <a:p>
            <a:r>
              <a:t>- Zero third-party dependencies (pure Go 1.22 stdlib)</a:t>
            </a:r>
          </a:p>
          <a:p>
            <a:r>
              <a:t>[VERIFIKASI &amp; STATUS]</a:t>
            </a:r>
          </a:p>
          <a:p>
            <a:r>
              <a:t>- Sumber: commit 7d244968</a:t>
            </a:r>
          </a:p>
          <a:p>
            <a:r>
              <a:t>- Test passing &amp; Race-Clean: 7/7 unit &amp; property tests PASS</a:t>
            </a:r>
          </a:p>
          <a:p>
            <a:r>
              <a:t>- Invarian terbukti: Roundtrip Currency, Idempotence Interval, dan 21-Step Shrinking</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40</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Property-Based Testing</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Menemukan Edge-Case Tersembunyi via Universal Invariant &amp; Shrinking</a:t>
            </a:r>
          </a:p>
        </p:txBody>
      </p:sp>
      <p:sp>
        <p:nvSpPr>
          <p:cNvPr id="6" name="Rounded Rectangle 5"/>
          <p:cNvSpPr/>
          <p:nvPr/>
        </p:nvSpPr>
        <p:spPr>
          <a:xfrm>
            <a:off x="914400" y="4389120"/>
            <a:ext cx="10362895" cy="1645920"/>
          </a:xfrm>
          <a:prstGeom prst="roundRect">
            <a:avLst/>
          </a:prstGeom>
          <a:solidFill>
            <a:srgbClr val="1E293B"/>
          </a:solidFill>
          <a:ln>
            <a:solidFill>
              <a:srgbClr val="087F7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a:solidFill>
                  <a:srgbClr val="087F76"/>
                </a:solidFill>
                <a:latin typeface="Courier New"/>
              </a:defRPr>
            </a:pPr>
            <a:r>
              <a:t>&gt; system_check --lab 40 --topic 'property-based-testing'</a:t>
            </a:r>
            <a:br/>
            <a:r>
              <a:t>&gt; author: Lukman / lukman-ss | status: PRODUCTION VERIFIED</a:t>
            </a:r>
            <a:br/>
            <a:r>
              <a:t>&gt; commit: 7d244968 | tests: PASS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Ilusi Keamanan Example-Based Testing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Contoh statis buatan manusia membatasi cakupan uji pada jalur yang diharapkan.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BIAS PENGEMBANG</a:t>
            </a:r>
          </a:p>
          <a:p>
            <a:pPr>
              <a:spcAft>
                <a:spcPts val="400"/>
              </a:spcAft>
              <a:defRPr sz="1200">
                <a:solidFill>
                  <a:srgbClr val="0B1B2D"/>
                </a:solidFill>
              </a:defRPr>
            </a:pPr>
            <a:r>
              <a:t>• Unit test konvensional menguji nilai yang dipikirkan developer (happy path).</a:t>
            </a:r>
          </a:p>
          <a:p>
            <a:pPr>
              <a:spcAft>
                <a:spcPts val="400"/>
              </a:spcAft>
              <a:defRPr sz="1200">
                <a:solidFill>
                  <a:srgbClr val="0B1B2D"/>
                </a:solidFill>
              </a:defRPr>
            </a:pPr>
            <a:r>
              <a:t>• Contoh hand-picked mengabaikan kombinasi liar, angka negatif, dan float precision.</a:t>
            </a:r>
          </a:p>
          <a:p>
            <a:pPr>
              <a:spcAft>
                <a:spcPts val="400"/>
              </a:spcAft>
              <a:defRPr sz="1200">
                <a:solidFill>
                  <a:srgbClr val="0B1B2D"/>
                </a:solidFill>
              </a:defRPr>
            </a:pPr>
            <a:r>
              <a:t>• Test suite hijau 100% code coverage tetap menyisakan blindspot fatal di produksi.</a:t>
            </a:r>
          </a:p>
          <a:p>
            <a:pPr>
              <a:defRPr sz="1200" b="1">
                <a:solidFill>
                  <a:srgbClr val="087F76"/>
                </a:solidFill>
              </a:defRPr>
            </a:pPr>
            <a:r>
              <a:t>BUKTI LAB</a:t>
            </a:r>
          </a:p>
          <a:p>
            <a:pPr>
              <a:spcAft>
                <a:spcPts val="400"/>
              </a:spcAft>
              <a:defRPr sz="1200">
                <a:solidFill>
                  <a:srgbClr val="0B1B2D"/>
                </a:solidFill>
              </a:defRPr>
            </a:pPr>
            <a:r>
              <a:t>• Format naif float lolos 5/5 contoh statis ($1.00, $5.25, $99.99, $10.50, $0.01).</a:t>
            </a:r>
          </a:p>
          <a:p>
            <a:pPr>
              <a:spcAft>
                <a:spcPts val="400"/>
              </a:spcAft>
              <a:defRPr sz="1200">
                <a:solidFill>
                  <a:srgbClr val="0B1B2D"/>
                </a:solidFill>
              </a:defRPr>
            </a:pPr>
            <a:r>
              <a:t>• Saat diuji invariant properti dengan input acak, 1.000/1.000 input gagal roundtrip.</a:t>
            </a:r>
          </a:p>
          <a:p>
            <a:pPr>
              <a:defRPr sz="1200" b="1">
                <a:solidFill>
                  <a:srgbClr val="087F76"/>
                </a:solidFill>
              </a:defRPr>
            </a:pPr>
            <a:r>
              <a:t>PARADIGMA PBT</a:t>
            </a:r>
          </a:p>
          <a:p>
            <a:pPr>
              <a:spcAft>
                <a:spcPts val="400"/>
              </a:spcAft>
              <a:defRPr sz="1200">
                <a:solidFill>
                  <a:srgbClr val="0B1B2D"/>
                </a:solidFill>
              </a:defRPr>
            </a:pPr>
            <a:r>
              <a:t>• Uji kebenaran universal (invariants) terhadap ratusan input acak tanpa asumsi sempit.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Unit test berbasis contoh (example-based testing) bekerja dengan menegaskan bahwa f(x) == y untuk segelintir sampel statis. Masalah mendasarnya adalah bias konfirmasi: engineer cenderung hanya menguji kombinasi nilai yang telah mereka antisipasi dalam implementasi. Pada dataset kecil atau input tipikal, kode tampak sempurna dan seluruh baris assertions berstatus PASS. Namun ketika berhadapan dengan data acak tak terduga di lingkungan produksi, asumsi tersembunyi runtuh seketika dan memicu kegagalan sistemik yang fatal.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Example-based tests check developer assumptions; property-based tests explore domain boundaries.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labs/40-property-based-testing/README.md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Tiga Pilar Siklus Property-Based Testing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Generasi domain, evaluasi invariant universal, dan reduksi counterexample.</a:t>
            </a:r>
          </a:p>
        </p:txBody>
      </p:sp>
      <p:graphicFrame>
        <p:nvGraphicFramePr>
          <p:cNvPr id="6" name="Table 5"/>
          <p:cNvGraphicFramePr>
            <a:graphicFrameLocks noGrp="1"/>
          </p:cNvGraphicFramePr>
          <p:nvPr/>
        </p:nvGraphicFramePr>
        <p:xfrm>
          <a:off x="731520" y="1828800"/>
          <a:ext cx="5120640" cy="1828800"/>
        </p:xfrm>
        <a:graphic>
          <a:graphicData uri="http://schemas.openxmlformats.org/drawingml/2006/table">
            <a:tbl>
              <a:tblPr firstRow="1" bandRow="1">
                <a:tableStyleId>{5C22544A-7EE6-4342-B048-85BDC9FD1C3A}</a:tableStyleId>
              </a:tblPr>
              <a:tblGrid>
                <a:gridCol w="1706880"/>
                <a:gridCol w="1706880"/>
                <a:gridCol w="1706880"/>
              </a:tblGrid>
              <a:tr h="457200">
                <a:tc>
                  <a:txBody>
                    <a:bodyPr/>
                    <a:lstStyle/>
                    <a:p>
                      <a:pPr>
                        <a:defRPr b="1" sz="1100">
                          <a:solidFill>
                            <a:srgbClr val="FFFFFF"/>
                          </a:solidFill>
                        </a:defRPr>
                      </a:pPr>
                      <a:r>
                        <a:t>Tahap</a:t>
                      </a:r>
                    </a:p>
                  </a:txBody>
                  <a:tcPr>
                    <a:solidFill>
                      <a:srgbClr val="0B1B2D"/>
                    </a:solidFill>
                  </a:tcPr>
                </a:tc>
                <a:tc>
                  <a:txBody>
                    <a:bodyPr/>
                    <a:lstStyle/>
                    <a:p>
                      <a:pPr>
                        <a:defRPr b="1" sz="1100">
                          <a:solidFill>
                            <a:srgbClr val="FFFFFF"/>
                          </a:solidFill>
                        </a:defRPr>
                      </a:pPr>
                      <a:r>
                        <a:t>Tanggung Jawab</a:t>
                      </a:r>
                    </a:p>
                  </a:txBody>
                  <a:tcPr>
                    <a:solidFill>
                      <a:srgbClr val="0B1B2D"/>
                    </a:solidFill>
                  </a:tcPr>
                </a:tc>
                <a:tc>
                  <a:txBody>
                    <a:bodyPr/>
                    <a:lstStyle/>
                    <a:p>
                      <a:pPr>
                        <a:defRPr b="1" sz="1100">
                          <a:solidFill>
                            <a:srgbClr val="FFFFFF"/>
                          </a:solidFill>
                        </a:defRPr>
                      </a:pPr>
                      <a:r>
                        <a:t>Output Sistem</a:t>
                      </a:r>
                    </a:p>
                  </a:txBody>
                  <a:tcPr>
                    <a:solidFill>
                      <a:srgbClr val="0B1B2D"/>
                    </a:solidFill>
                  </a:tcPr>
                </a:tc>
              </a:tr>
              <a:tr h="457200">
                <a:tc>
                  <a:txBody>
                    <a:bodyPr/>
                    <a:lstStyle/>
                    <a:p>
                      <a:pPr>
                        <a:defRPr sz="1000">
                          <a:solidFill>
                            <a:srgbClr val="0B1B2D"/>
                          </a:solidFill>
                        </a:defRPr>
                      </a:pPr>
                      <a:r>
                        <a:t>1. Generator</a:t>
                      </a:r>
                    </a:p>
                  </a:txBody>
                  <a:tcPr>
                    <a:solidFill>
                      <a:srgbClr val="FFFFFF"/>
                    </a:solidFill>
                  </a:tcPr>
                </a:tc>
                <a:tc>
                  <a:txBody>
                    <a:bodyPr/>
                    <a:lstStyle/>
                    <a:p>
                      <a:pPr>
                        <a:defRPr sz="1000">
                          <a:solidFill>
                            <a:srgbClr val="0B1B2D"/>
                          </a:solidFill>
                        </a:defRPr>
                      </a:pPr>
                      <a:r>
                        <a:t>Buat ratusan sampel input acak terdistribusi</a:t>
                      </a:r>
                    </a:p>
                  </a:txBody>
                  <a:tcPr>
                    <a:solidFill>
                      <a:srgbClr val="FFFFFF"/>
                    </a:solidFill>
                  </a:tcPr>
                </a:tc>
                <a:tc>
                  <a:txBody>
                    <a:bodyPr/>
                    <a:lstStyle/>
                    <a:p>
                      <a:pPr>
                        <a:defRPr sz="1000">
                          <a:solidFill>
                            <a:srgbClr val="0B1B2D"/>
                          </a:solidFill>
                        </a:defRPr>
                      </a:pPr>
                      <a:r>
                        <a:t>Slices, numbers, structs</a:t>
                      </a:r>
                    </a:p>
                  </a:txBody>
                  <a:tcPr>
                    <a:solidFill>
                      <a:srgbClr val="FFFFFF"/>
                    </a:solidFill>
                  </a:tcPr>
                </a:tc>
              </a:tr>
              <a:tr h="457200">
                <a:tc>
                  <a:txBody>
                    <a:bodyPr/>
                    <a:lstStyle/>
                    <a:p>
                      <a:pPr>
                        <a:defRPr sz="1000">
                          <a:solidFill>
                            <a:srgbClr val="0B1B2D"/>
                          </a:solidFill>
                        </a:defRPr>
                      </a:pPr>
                      <a:r>
                        <a:t>2. Invariant</a:t>
                      </a:r>
                    </a:p>
                  </a:txBody>
                  <a:tcPr>
                    <a:solidFill>
                      <a:srgbClr val="FFFFFF"/>
                    </a:solidFill>
                  </a:tcPr>
                </a:tc>
                <a:tc>
                  <a:txBody>
                    <a:bodyPr/>
                    <a:lstStyle/>
                    <a:p>
                      <a:pPr>
                        <a:defRPr sz="1000">
                          <a:solidFill>
                            <a:srgbClr val="0B1B2D"/>
                          </a:solidFill>
                        </a:defRPr>
                      </a:pPr>
                      <a:r>
                        <a:t>Evaluasi properti universal f(x)</a:t>
                      </a:r>
                    </a:p>
                  </a:txBody>
                  <a:tcPr>
                    <a:solidFill>
                      <a:srgbClr val="FFFFFF"/>
                    </a:solidFill>
                  </a:tcPr>
                </a:tc>
                <a:tc>
                  <a:txBody>
                    <a:bodyPr/>
                    <a:lstStyle/>
                    <a:p>
                      <a:pPr>
                        <a:defRPr sz="1000">
                          <a:solidFill>
                            <a:srgbClr val="0B1B2D"/>
                          </a:solidFill>
                        </a:defRPr>
                      </a:pPr>
                      <a:r>
                        <a:t>Validasi true / false</a:t>
                      </a:r>
                    </a:p>
                  </a:txBody>
                  <a:tcPr>
                    <a:solidFill>
                      <a:srgbClr val="FFFFFF"/>
                    </a:solidFill>
                  </a:tcPr>
                </a:tc>
              </a:tr>
              <a:tr h="457200">
                <a:tc>
                  <a:txBody>
                    <a:bodyPr/>
                    <a:lstStyle/>
                    <a:p>
                      <a:pPr>
                        <a:defRPr sz="1000">
                          <a:solidFill>
                            <a:srgbClr val="0B1B2D"/>
                          </a:solidFill>
                        </a:defRPr>
                      </a:pPr>
                      <a:r>
                        <a:t>3. Shrinker</a:t>
                      </a:r>
                    </a:p>
                  </a:txBody>
                  <a:tcPr>
                    <a:solidFill>
                      <a:srgbClr val="FFFFFF"/>
                    </a:solidFill>
                  </a:tcPr>
                </a:tc>
                <a:tc>
                  <a:txBody>
                    <a:bodyPr/>
                    <a:lstStyle/>
                    <a:p>
                      <a:pPr>
                        <a:defRPr sz="1000">
                          <a:solidFill>
                            <a:srgbClr val="0B1B2D"/>
                          </a:solidFill>
                        </a:defRPr>
                      </a:pPr>
                      <a:r>
                        <a:t>Pangkas kegagalan ke bentuk terkecil</a:t>
                      </a:r>
                    </a:p>
                  </a:txBody>
                  <a:tcPr>
                    <a:solidFill>
                      <a:srgbClr val="FFFFFF"/>
                    </a:solidFill>
                  </a:tcPr>
                </a:tc>
                <a:tc>
                  <a:txBody>
                    <a:bodyPr/>
                    <a:lstStyle/>
                    <a:p>
                      <a:pPr>
                        <a:defRPr sz="1000">
                          <a:solidFill>
                            <a:srgbClr val="0B1B2D"/>
                          </a:solidFill>
                        </a:defRPr>
                      </a:pPr>
                      <a:r>
                        <a:t>Minimal counterexample (e.g. [-1])</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Siklus kerja Property-Based Testing membagi tugas antara komputasi mesin dan perancangan manusia secara elegan. Manusia bertanggung jawab mendefinisikan batasan domain serta relasi invariant matematika yang wajib selalu bernilai benar. Mesin PBT kemudian bertindak sebagai musuh (adversary) yang mengeksekusi ratusan kombinasi data acak melalui generator, memverifikasi invariant pada setiap iterasi, dan segera mengisolasi kegagalan ke bentuk data paling sederhana menggunakan algoritma shrinking deterministik.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Generate broadly, assert universally, and shrink failures ruthlessly to their core.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labs/40-property-based-testing/content/02-master-draft.md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Empat Pola Invariant Kanonikal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Pola relasional universal untuk membuktikan kebenaran sistem tanpa oracle eksternal.</a:t>
            </a:r>
          </a:p>
        </p:txBody>
      </p:sp>
      <p:graphicFrame>
        <p:nvGraphicFramePr>
          <p:cNvPr id="6" name="Table 5"/>
          <p:cNvGraphicFramePr>
            <a:graphicFrameLocks noGrp="1"/>
          </p:cNvGraphicFramePr>
          <p:nvPr/>
        </p:nvGraphicFramePr>
        <p:xfrm>
          <a:off x="731520" y="1828800"/>
          <a:ext cx="5120640" cy="2286000"/>
        </p:xfrm>
        <a:graphic>
          <a:graphicData uri="http://schemas.openxmlformats.org/drawingml/2006/table">
            <a:tbl>
              <a:tblPr firstRow="1" bandRow="1">
                <a:tableStyleId>{5C22544A-7EE6-4342-B048-85BDC9FD1C3A}</a:tableStyleId>
              </a:tblPr>
              <a:tblGrid>
                <a:gridCol w="1706880"/>
                <a:gridCol w="1706880"/>
                <a:gridCol w="1706880"/>
              </a:tblGrid>
              <a:tr h="457200">
                <a:tc>
                  <a:txBody>
                    <a:bodyPr/>
                    <a:lstStyle/>
                    <a:p>
                      <a:pPr>
                        <a:defRPr b="1" sz="1100">
                          <a:solidFill>
                            <a:srgbClr val="FFFFFF"/>
                          </a:solidFill>
                        </a:defRPr>
                      </a:pPr>
                      <a:r>
                        <a:t>Pola Invariant</a:t>
                      </a:r>
                    </a:p>
                  </a:txBody>
                  <a:tcPr>
                    <a:solidFill>
                      <a:srgbClr val="0B1B2D"/>
                    </a:solidFill>
                  </a:tcPr>
                </a:tc>
                <a:tc>
                  <a:txBody>
                    <a:bodyPr/>
                    <a:lstStyle/>
                    <a:p>
                      <a:pPr>
                        <a:defRPr b="1" sz="1100">
                          <a:solidFill>
                            <a:srgbClr val="FFFFFF"/>
                          </a:solidFill>
                        </a:defRPr>
                      </a:pPr>
                      <a:r>
                        <a:t>Formula Formal</a:t>
                      </a:r>
                    </a:p>
                  </a:txBody>
                  <a:tcPr>
                    <a:solidFill>
                      <a:srgbClr val="0B1B2D"/>
                    </a:solidFill>
                  </a:tcPr>
                </a:tc>
                <a:tc>
                  <a:txBody>
                    <a:bodyPr/>
                    <a:lstStyle/>
                    <a:p>
                      <a:pPr>
                        <a:defRPr b="1" sz="1100">
                          <a:solidFill>
                            <a:srgbClr val="FFFFFF"/>
                          </a:solidFill>
                        </a:defRPr>
                      </a:pPr>
                      <a:r>
                        <a:t>Contoh Kasus Nyata</a:t>
                      </a:r>
                    </a:p>
                  </a:txBody>
                  <a:tcPr>
                    <a:solidFill>
                      <a:srgbClr val="0B1B2D"/>
                    </a:solidFill>
                  </a:tcPr>
                </a:tc>
              </a:tr>
              <a:tr h="457200">
                <a:tc>
                  <a:txBody>
                    <a:bodyPr/>
                    <a:lstStyle/>
                    <a:p>
                      <a:pPr>
                        <a:defRPr sz="1000">
                          <a:solidFill>
                            <a:srgbClr val="0B1B2D"/>
                          </a:solidFill>
                        </a:defRPr>
                      </a:pPr>
                      <a:r>
                        <a:t>Roundtrip</a:t>
                      </a:r>
                    </a:p>
                  </a:txBody>
                  <a:tcPr>
                    <a:solidFill>
                      <a:srgbClr val="FFFFFF"/>
                    </a:solidFill>
                  </a:tcPr>
                </a:tc>
                <a:tc>
                  <a:txBody>
                    <a:bodyPr/>
                    <a:lstStyle/>
                    <a:p>
                      <a:pPr>
                        <a:defRPr sz="1000">
                          <a:solidFill>
                            <a:srgbClr val="0B1B2D"/>
                          </a:solidFill>
                        </a:defRPr>
                      </a:pPr>
                      <a:r>
                        <a:t>Decode(Encode(x)) == x</a:t>
                      </a:r>
                    </a:p>
                  </a:txBody>
                  <a:tcPr>
                    <a:solidFill>
                      <a:srgbClr val="FFFFFF"/>
                    </a:solidFill>
                  </a:tcPr>
                </a:tc>
                <a:tc>
                  <a:txBody>
                    <a:bodyPr/>
                    <a:lstStyle/>
                    <a:p>
                      <a:pPr>
                        <a:defRPr sz="1000">
                          <a:solidFill>
                            <a:srgbClr val="0B1B2D"/>
                          </a:solidFill>
                        </a:defRPr>
                      </a:pPr>
                      <a:r>
                        <a:t>Serialisasi JSON, mata uang, kompresi</a:t>
                      </a:r>
                    </a:p>
                  </a:txBody>
                  <a:tcPr>
                    <a:solidFill>
                      <a:srgbClr val="FFFFFF"/>
                    </a:solidFill>
                  </a:tcPr>
                </a:tc>
              </a:tr>
              <a:tr h="457200">
                <a:tc>
                  <a:txBody>
                    <a:bodyPr/>
                    <a:lstStyle/>
                    <a:p>
                      <a:pPr>
                        <a:defRPr sz="1000">
                          <a:solidFill>
                            <a:srgbClr val="0B1B2D"/>
                          </a:solidFill>
                        </a:defRPr>
                      </a:pPr>
                      <a:r>
                        <a:t>Idempotence</a:t>
                      </a:r>
                    </a:p>
                  </a:txBody>
                  <a:tcPr>
                    <a:solidFill>
                      <a:srgbClr val="FFFFFF"/>
                    </a:solidFill>
                  </a:tcPr>
                </a:tc>
                <a:tc>
                  <a:txBody>
                    <a:bodyPr/>
                    <a:lstStyle/>
                    <a:p>
                      <a:pPr>
                        <a:defRPr sz="1000">
                          <a:solidFill>
                            <a:srgbClr val="0B1B2D"/>
                          </a:solidFill>
                        </a:defRPr>
                      </a:pPr>
                      <a:r>
                        <a:t>f(f(x)) == f(x)</a:t>
                      </a:r>
                    </a:p>
                  </a:txBody>
                  <a:tcPr>
                    <a:solidFill>
                      <a:srgbClr val="FFFFFF"/>
                    </a:solidFill>
                  </a:tcPr>
                </a:tc>
                <a:tc>
                  <a:txBody>
                    <a:bodyPr/>
                    <a:lstStyle/>
                    <a:p>
                      <a:pPr>
                        <a:defRPr sz="1000">
                          <a:solidFill>
                            <a:srgbClr val="0B1B2D"/>
                          </a:solidFill>
                        </a:defRPr>
                      </a:pPr>
                      <a:r>
                        <a:t>Normalisasi teks, merge interval, cleanup</a:t>
                      </a:r>
                    </a:p>
                  </a:txBody>
                  <a:tcPr>
                    <a:solidFill>
                      <a:srgbClr val="FFFFFF"/>
                    </a:solidFill>
                  </a:tcPr>
                </a:tc>
              </a:tr>
              <a:tr h="457200">
                <a:tc>
                  <a:txBody>
                    <a:bodyPr/>
                    <a:lstStyle/>
                    <a:p>
                      <a:pPr>
                        <a:defRPr sz="1000">
                          <a:solidFill>
                            <a:srgbClr val="0B1B2D"/>
                          </a:solidFill>
                        </a:defRPr>
                      </a:pPr>
                      <a:r>
                        <a:t>Oracle Equiv</a:t>
                      </a:r>
                    </a:p>
                  </a:txBody>
                  <a:tcPr>
                    <a:solidFill>
                      <a:srgbClr val="FFFFFF"/>
                    </a:solidFill>
                  </a:tcPr>
                </a:tc>
                <a:tc>
                  <a:txBody>
                    <a:bodyPr/>
                    <a:lstStyle/>
                    <a:p>
                      <a:pPr>
                        <a:defRPr sz="1000">
                          <a:solidFill>
                            <a:srgbClr val="0B1B2D"/>
                          </a:solidFill>
                        </a:defRPr>
                      </a:pPr>
                      <a:r>
                        <a:t>f_robust(x) == f_naive(x)</a:t>
                      </a:r>
                    </a:p>
                  </a:txBody>
                  <a:tcPr>
                    <a:solidFill>
                      <a:srgbClr val="FFFFFF"/>
                    </a:solidFill>
                  </a:tcPr>
                </a:tc>
                <a:tc>
                  <a:txBody>
                    <a:bodyPr/>
                    <a:lstStyle/>
                    <a:p>
                      <a:pPr>
                        <a:defRPr sz="1000">
                          <a:solidFill>
                            <a:srgbClr val="0B1B2D"/>
                          </a:solidFill>
                        </a:defRPr>
                      </a:pPr>
                      <a:r>
                        <a:t>Verifikasi algoritma teroptimasi vs referensi</a:t>
                      </a:r>
                    </a:p>
                  </a:txBody>
                  <a:tcPr>
                    <a:solidFill>
                      <a:srgbClr val="FFFFFF"/>
                    </a:solidFill>
                  </a:tcPr>
                </a:tc>
              </a:tr>
              <a:tr h="457200">
                <a:tc>
                  <a:txBody>
                    <a:bodyPr/>
                    <a:lstStyle/>
                    <a:p>
                      <a:pPr>
                        <a:defRPr sz="1000">
                          <a:solidFill>
                            <a:srgbClr val="0B1B2D"/>
                          </a:solidFill>
                        </a:defRPr>
                      </a:pPr>
                      <a:r>
                        <a:t>Easy-to-Verify</a:t>
                      </a:r>
                    </a:p>
                  </a:txBody>
                  <a:tcPr>
                    <a:solidFill>
                      <a:srgbClr val="FFFFFF"/>
                    </a:solidFill>
                  </a:tcPr>
                </a:tc>
                <a:tc>
                  <a:txBody>
                    <a:bodyPr/>
                    <a:lstStyle/>
                    <a:p>
                      <a:pPr>
                        <a:defRPr sz="1000">
                          <a:solidFill>
                            <a:srgbClr val="0B1B2D"/>
                          </a:solidFill>
                        </a:defRPr>
                      </a:pPr>
                      <a:r>
                        <a:t>HardToSolve(x) -&gt; EasyVerify(res)</a:t>
                      </a:r>
                    </a:p>
                  </a:txBody>
                  <a:tcPr>
                    <a:solidFill>
                      <a:srgbClr val="FFFFFF"/>
                    </a:solidFill>
                  </a:tcPr>
                </a:tc>
                <a:tc>
                  <a:txBody>
                    <a:bodyPr/>
                    <a:lstStyle/>
                    <a:p>
                      <a:pPr>
                        <a:defRPr sz="1000">
                          <a:solidFill>
                            <a:srgbClr val="0B1B2D"/>
                          </a:solidFill>
                        </a:defRPr>
                      </a:pPr>
                      <a:r>
                        <a:t>Validasi shortest path, partisi graf</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Kunci keberhasilan PBT terletak pada pemilihan pola invariant yang tepat tanpa menulis ulang logika implementasi di dalam assertion test. Pola Roundtrip menjamin integritas transformasi bolak-balik tanpa data corruption. Pola Idempotence memastikan stabilitas state di mana pemanggilan berulang tidak mengubah hasil. Pola Test Oracle membandingkan algoritma berperforma tinggi terhadap implementasi referensi sederhana. Pola Easy-to-Verify memeriksa keabsahan properti solusi akhir dengan biaya komputasi murah.</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Invariant patterns are executable mathematical specifications for software behavior.</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labs/40-property-based-testing/content/02-master-draft.md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Kegagalan Presisi Float pada Mata Uang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Representasi pecahan biner IEEE 754 merusak presisi desimal secara laten.</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type NaiveCurrency struct{}</a:t>
            </a:r>
            <a:br/>
            <a:br/>
            <a:r>
              <a:t>func (n NaiveCurrency) Format(dollars float64) string {</a:t>
            </a:r>
            <a:br/>
            <a:r>
              <a:t>    return fmt.Sprintf("$%.2f", dollars)</a:t>
            </a:r>
            <a:br/>
            <a:r>
              <a:t>}</a:t>
            </a:r>
            <a:br/>
            <a:br/>
            <a:r>
              <a:t>func (n NaiveCurrency) Parse(s string) (float64, error) {</a:t>
            </a:r>
            <a:br/>
            <a:r>
              <a:t>    s = strings.TrimPrefix(s, "$")</a:t>
            </a:r>
            <a:br/>
            <a:r>
              <a:t>    return strconv.ParseFloat(s, 64)</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Menyimpan nilai moneter dalam tipe floating-point float64 adalah anti-pattern klasik dalam rekayasa perangkat lunak. Pemformatan dengan sintaks pembulatan desimal string memotong digit pecahan sub-cent tanpa kendali. Lebih buruk lagi, konversi string kembali ke float64 tunduk pada aproksimasi biner IEEE 754. Pada pengujian konvensional dengan nilai bulat rapi, bug ini tidak pernah muncul, menciptakan ilusi bahwa modul akuntansi bekerja normal padahal pembulatan sen terus bocor.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Floating point binary approximations inevitably corrupt fractional decimal values.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internal/currency/currency.go:9-21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PBT Mendeteksi Kebocoran Float 100%</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Pemeriksaan Roundtrip Parse(Format(x)) == x menggagalkan seluruh sampel acak.</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TestPropertyNaiveCurrencyFails(t *testing.T) {</a:t>
            </a:r>
            <a:br/>
            <a:r>
              <a:t>    naive := NaiveCurrency{}</a:t>
            </a:r>
            <a:br/>
            <a:r>
              <a:t>    prop := func(val NaiveFloat) bool {</a:t>
            </a:r>
            <a:br/>
            <a:r>
              <a:t>        dollars := float64(val)</a:t>
            </a:r>
            <a:br/>
            <a:r>
              <a:t>        formatted := naive.Format(dollars)</a:t>
            </a:r>
            <a:br/>
            <a:r>
              <a:t>        parsed, err := naive.Parse(formatted)</a:t>
            </a:r>
            <a:br/>
            <a:r>
              <a:t>        if err != nil { return false }</a:t>
            </a:r>
            <a:br/>
            <a:r>
              <a:t>        return parsed == dollars // Gagal pada sub-cent!</a:t>
            </a:r>
            <a:br/>
            <a:r>
              <a:t>    }</a:t>
            </a:r>
            <a:br/>
            <a:r>
              <a:t>    err := quick.Check(prop, &amp;quick.Config{MaxCount: 100})</a:t>
            </a:r>
            <a:br/>
            <a:r>
              <a:t>    // quick.Check mengembalikan error counterexample</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Ketika properti roundtrip diuji menggunakan paket standar Go testing/quick, kelemahan implementasi float64 langsung terekspos tanpa ampun. Dari 1.000 iterasi angka acak, seluruh 1.000 input mengalami kegagalan roundtrip karena nilai desimal asli terpotong oleh format dua angka di belakang koma. PBT membuktikan secara empiris bahwa fungsi Parse(Format(x)) bukanlah fungsi identitas bagi domain float64, mematahkan asumsi keamanan yang sebelumnya diberikan oleh unit test statis.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 roundtrip property check exposes latent serialization and truncation flaws immediately.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internal/currency/currency_test.go:37-61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Desain Robust: Integer Cents Representation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Menghilangkan ambiguitas desimal dengan menyimpan nilai moneter sebagai int64.</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type RobustAmount struct {</a:t>
            </a:r>
            <a:br/>
            <a:r>
              <a:t>    Cents int64</a:t>
            </a:r>
            <a:br/>
            <a:r>
              <a:t>}</a:t>
            </a:r>
            <a:br/>
            <a:br/>
            <a:r>
              <a:t>func (r RobustAmount) Format() string {</a:t>
            </a:r>
            <a:br/>
            <a:r>
              <a:t>    absCents := r.Cents; sign := ""</a:t>
            </a:r>
            <a:br/>
            <a:r>
              <a:t>    if absCents &lt; 0 { sign = "-"; absCents = -absCents }</a:t>
            </a:r>
            <a:br/>
            <a:r>
              <a:t>    dollars := absCents / 100; cents := absCents % 100</a:t>
            </a:r>
            <a:br/>
            <a:r>
              <a:t>    return fmt.Sprintf("%s$%d.%02d", sign, dollars, cents)</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Solusi rekayasa yang terbukti secara industri untuk domain mata uang adalah merepresentasikan nominal terkecil sebagai bilangan bulat utuh (integer cents bertipe int64). Format visual desimal hanyalah proyeksi tampilan pada lapisan presentasi string, sedangkan operasi aritmatika internal dan penyimpanan data tetap berada di ranah bilangan diskrit. Pendekatan ini secara definitif menutup peluang terjadinya distorsi presisi IEEE 754 dan menjamin determinisme mutlak.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Represent fractional quantities in discrete atomic units to eliminate rounding artifacts.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internal/currency/currency.go:23-42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Custom Generator &amp; Boundary Value Bias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Mengarahkan distribusi acak ke titik-titik rawan: batas nol, negatif, dan ekstrem.</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(RobustAmount) Generate(r *rand.Rand, size int) reflect.Value {</a:t>
            </a:r>
            <a:br/>
            <a:r>
              <a:t>    switch r.Intn(5) {</a:t>
            </a:r>
            <a:br/>
            <a:r>
              <a:t>    case 0: cents = 0                         // Boundary zero</a:t>
            </a:r>
            <a:br/>
            <a:r>
              <a:t>    case 1: cents = int64(r.Intn(200) - 100)  // Near-zero negatives</a:t>
            </a:r>
            <a:br/>
            <a:r>
              <a:t>    case 2: cents = int64(r.Intn(1000000))    // Normal positive</a:t>
            </a:r>
            <a:br/>
            <a:r>
              <a:t>    case 3: cents = -int64(r.Intn(1000000))   // Normal negative</a:t>
            </a:r>
            <a:br/>
            <a:r>
              <a:t>    default: cents = r.Int63n(1e12) - 5e11    // Multi-billion bounds</a:t>
            </a:r>
            <a:br/>
            <a:r>
              <a:t>    }</a:t>
            </a:r>
            <a:br/>
            <a:r>
              <a:t>    return reflect.ValueOf(RobustAmount{Cents: cents})</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Generator acak yang murni seragam (uniform distribution) sering kali melewatkan titik-titik krusial tempat bersarangnya bug batas logika. Implementasi generator RobustAmount pada Lab 40 sengaja menyuntikkan bias probabilitas ke arah nilai rawan: batas nol, transisi bilangan negatif kecil di sekitar nol (-100 hingga +99 sen), serta nilai nominal raksasa multi-miliar sen. Generator yang cerdas secara agresif membombardir tepi spektrum domain untuk menguji ketahanan boundary handling.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Biased generators force tests toward dangerous boundary conditions instead of safe averages.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internal/currency/currency_test.go:63-81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1.000 Iterasi Lolos Roundtrip Integer Cents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Membuktikan secara deterministik bahwa ParseRobust(Format(x)) == x.</a:t>
            </a:r>
          </a:p>
        </p:txBody>
      </p:sp>
      <p:graphicFrame>
        <p:nvGraphicFramePr>
          <p:cNvPr id="6" name="Table 5"/>
          <p:cNvGraphicFramePr>
            <a:graphicFrameLocks noGrp="1"/>
          </p:cNvGraphicFramePr>
          <p:nvPr/>
        </p:nvGraphicFramePr>
        <p:xfrm>
          <a:off x="731520" y="1828800"/>
          <a:ext cx="5120640" cy="2286000"/>
        </p:xfrm>
        <a:graphic>
          <a:graphicData uri="http://schemas.openxmlformats.org/drawingml/2006/table">
            <a:tbl>
              <a:tblPr firstRow="1" bandRow="1">
                <a:tableStyleId>{5C22544A-7EE6-4342-B048-85BDC9FD1C3A}</a:tableStyleId>
              </a:tblPr>
              <a:tblGrid>
                <a:gridCol w="1706880"/>
                <a:gridCol w="1706880"/>
                <a:gridCol w="1706880"/>
              </a:tblGrid>
              <a:tr h="457200">
                <a:tc>
                  <a:txBody>
                    <a:bodyPr/>
                    <a:lstStyle/>
                    <a:p>
                      <a:pPr>
                        <a:defRPr b="1" sz="1100">
                          <a:solidFill>
                            <a:srgbClr val="FFFFFF"/>
                          </a:solidFill>
                        </a:defRPr>
                      </a:pPr>
                      <a:r>
                        <a:t>Metrik Uji</a:t>
                      </a:r>
                    </a:p>
                  </a:txBody>
                  <a:tcPr>
                    <a:solidFill>
                      <a:srgbClr val="0B1B2D"/>
                    </a:solidFill>
                  </a:tcPr>
                </a:tc>
                <a:tc>
                  <a:txBody>
                    <a:bodyPr/>
                    <a:lstStyle/>
                    <a:p>
                      <a:pPr>
                        <a:defRPr b="1" sz="1100">
                          <a:solidFill>
                            <a:srgbClr val="FFFFFF"/>
                          </a:solidFill>
                        </a:defRPr>
                      </a:pPr>
                      <a:r>
                        <a:t>Naive Float64</a:t>
                      </a:r>
                    </a:p>
                  </a:txBody>
                  <a:tcPr>
                    <a:solidFill>
                      <a:srgbClr val="0B1B2D"/>
                    </a:solidFill>
                  </a:tcPr>
                </a:tc>
                <a:tc>
                  <a:txBody>
                    <a:bodyPr/>
                    <a:lstStyle/>
                    <a:p>
                      <a:pPr>
                        <a:defRPr b="1" sz="1100">
                          <a:solidFill>
                            <a:srgbClr val="FFFFFF"/>
                          </a:solidFill>
                        </a:defRPr>
                      </a:pPr>
                      <a:r>
                        <a:t>Robust Integer Cents</a:t>
                      </a:r>
                    </a:p>
                  </a:txBody>
                  <a:tcPr>
                    <a:solidFill>
                      <a:srgbClr val="0B1B2D"/>
                    </a:solidFill>
                  </a:tcPr>
                </a:tc>
              </a:tr>
              <a:tr h="457200">
                <a:tc>
                  <a:txBody>
                    <a:bodyPr/>
                    <a:lstStyle/>
                    <a:p>
                      <a:pPr>
                        <a:defRPr sz="1000">
                          <a:solidFill>
                            <a:srgbClr val="0B1B2D"/>
                          </a:solidFill>
                        </a:defRPr>
                      </a:pPr>
                      <a:r>
                        <a:t>Total Iterasi Acak</a:t>
                      </a:r>
                    </a:p>
                  </a:txBody>
                  <a:tcPr>
                    <a:solidFill>
                      <a:srgbClr val="FFFFFF"/>
                    </a:solidFill>
                  </a:tcPr>
                </a:tc>
                <a:tc>
                  <a:txBody>
                    <a:bodyPr/>
                    <a:lstStyle/>
                    <a:p>
                      <a:pPr>
                        <a:defRPr sz="1000">
                          <a:solidFill>
                            <a:srgbClr val="0B1B2D"/>
                          </a:solidFill>
                        </a:defRPr>
                      </a:pPr>
                      <a:r>
                        <a:t>1.000 iterasi</a:t>
                      </a:r>
                    </a:p>
                  </a:txBody>
                  <a:tcPr>
                    <a:solidFill>
                      <a:srgbClr val="FFFFFF"/>
                    </a:solidFill>
                  </a:tcPr>
                </a:tc>
                <a:tc>
                  <a:txBody>
                    <a:bodyPr/>
                    <a:lstStyle/>
                    <a:p>
                      <a:pPr>
                        <a:defRPr sz="1000">
                          <a:solidFill>
                            <a:srgbClr val="0B1B2D"/>
                          </a:solidFill>
                        </a:defRPr>
                      </a:pPr>
                      <a:r>
                        <a:t>1.000 iterasi</a:t>
                      </a:r>
                    </a:p>
                  </a:txBody>
                  <a:tcPr>
                    <a:solidFill>
                      <a:srgbClr val="FFFFFF"/>
                    </a:solidFill>
                  </a:tcPr>
                </a:tc>
              </a:tr>
              <a:tr h="457200">
                <a:tc>
                  <a:txBody>
                    <a:bodyPr/>
                    <a:lstStyle/>
                    <a:p>
                      <a:pPr>
                        <a:defRPr sz="1000">
                          <a:solidFill>
                            <a:srgbClr val="0B1B2D"/>
                          </a:solidFill>
                        </a:defRPr>
                      </a:pPr>
                      <a:r>
                        <a:t>Tingkat Kelulusan</a:t>
                      </a:r>
                    </a:p>
                  </a:txBody>
                  <a:tcPr>
                    <a:solidFill>
                      <a:srgbClr val="FFFFFF"/>
                    </a:solidFill>
                  </a:tcPr>
                </a:tc>
                <a:tc>
                  <a:txBody>
                    <a:bodyPr/>
                    <a:lstStyle/>
                    <a:p>
                      <a:pPr>
                        <a:defRPr sz="1000">
                          <a:solidFill>
                            <a:srgbClr val="0B1B2D"/>
                          </a:solidFill>
                        </a:defRPr>
                      </a:pPr>
                      <a:r>
                        <a:t>0% (1.000 gagal)</a:t>
                      </a:r>
                    </a:p>
                  </a:txBody>
                  <a:tcPr>
                    <a:solidFill>
                      <a:srgbClr val="FFFFFF"/>
                    </a:solidFill>
                  </a:tcPr>
                </a:tc>
                <a:tc>
                  <a:txBody>
                    <a:bodyPr/>
                    <a:lstStyle/>
                    <a:p>
                      <a:pPr>
                        <a:defRPr sz="1000">
                          <a:solidFill>
                            <a:srgbClr val="0B1B2D"/>
                          </a:solidFill>
                        </a:defRPr>
                      </a:pPr>
                      <a:r>
                        <a:t>100% (1.000 lolos)</a:t>
                      </a:r>
                    </a:p>
                  </a:txBody>
                  <a:tcPr>
                    <a:solidFill>
                      <a:srgbClr val="FFFFFF"/>
                    </a:solidFill>
                  </a:tcPr>
                </a:tc>
              </a:tr>
              <a:tr h="457200">
                <a:tc>
                  <a:txBody>
                    <a:bodyPr/>
                    <a:lstStyle/>
                    <a:p>
                      <a:pPr>
                        <a:defRPr sz="1000">
                          <a:solidFill>
                            <a:srgbClr val="0B1B2D"/>
                          </a:solidFill>
                        </a:defRPr>
                      </a:pPr>
                      <a:r>
                        <a:t>Cakupan Domain</a:t>
                      </a:r>
                    </a:p>
                  </a:txBody>
                  <a:tcPr>
                    <a:solidFill>
                      <a:srgbClr val="FFFFFF"/>
                    </a:solidFill>
                  </a:tcPr>
                </a:tc>
                <a:tc>
                  <a:txBody>
                    <a:bodyPr/>
                    <a:lstStyle/>
                    <a:p>
                      <a:pPr>
                        <a:defRPr sz="1000">
                          <a:solidFill>
                            <a:srgbClr val="0B1B2D"/>
                          </a:solidFill>
                        </a:defRPr>
                      </a:pPr>
                      <a:r>
                        <a:t>Terbatas hand-picked</a:t>
                      </a:r>
                    </a:p>
                  </a:txBody>
                  <a:tcPr>
                    <a:solidFill>
                      <a:srgbClr val="FFFFFF"/>
                    </a:solidFill>
                  </a:tcPr>
                </a:tc>
                <a:tc>
                  <a:txBody>
                    <a:bodyPr/>
                    <a:lstStyle/>
                    <a:p>
                      <a:pPr>
                        <a:defRPr sz="1000">
                          <a:solidFill>
                            <a:srgbClr val="0B1B2D"/>
                          </a:solidFill>
                        </a:defRPr>
                      </a:pPr>
                      <a:r>
                        <a:t>Nol, negatif, triliun sen</a:t>
                      </a:r>
                    </a:p>
                  </a:txBody>
                  <a:tcPr>
                    <a:solidFill>
                      <a:srgbClr val="FFFFFF"/>
                    </a:solidFill>
                  </a:tcPr>
                </a:tc>
              </a:tr>
              <a:tr h="457200">
                <a:tc>
                  <a:txBody>
                    <a:bodyPr/>
                    <a:lstStyle/>
                    <a:p>
                      <a:pPr>
                        <a:defRPr sz="1000">
                          <a:solidFill>
                            <a:srgbClr val="0B1B2D"/>
                          </a:solidFill>
                        </a:defRPr>
                      </a:pPr>
                      <a:r>
                        <a:t>Invarian Terbukti</a:t>
                      </a:r>
                    </a:p>
                  </a:txBody>
                  <a:tcPr>
                    <a:solidFill>
                      <a:srgbClr val="FFFFFF"/>
                    </a:solidFill>
                  </a:tcPr>
                </a:tc>
                <a:tc>
                  <a:txBody>
                    <a:bodyPr/>
                    <a:lstStyle/>
                    <a:p>
                      <a:pPr>
                        <a:defRPr sz="1000">
                          <a:solidFill>
                            <a:srgbClr val="0B1B2D"/>
                          </a:solidFill>
                        </a:defRPr>
                      </a:pPr>
                      <a:r>
                        <a:t>Gagal total</a:t>
                      </a:r>
                    </a:p>
                  </a:txBody>
                  <a:tcPr>
                    <a:solidFill>
                      <a:srgbClr val="FFFFFF"/>
                    </a:solidFill>
                  </a:tcPr>
                </a:tc>
                <a:tc>
                  <a:txBody>
                    <a:bodyPr/>
                    <a:lstStyle/>
                    <a:p>
                      <a:pPr>
                        <a:defRPr sz="1000">
                          <a:solidFill>
                            <a:srgbClr val="0B1B2D"/>
                          </a:solidFill>
                        </a:defRPr>
                      </a:pPr>
                      <a:r>
                        <a:t>Parse(Format(x)) == x VALID</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Dengan beralih ke integer cents dan parser yang presisi, pengujian properti TestPropertyRobustAmountRoundtrip berhasil mengeksekusi 1.000 iterasi berturut-turut tanpa satu pun pelanggaran invariant. Terlepas dari apakah input berupa angka negatif dengan tanda minus, nilai nol bersih, atau nominal transaksi skala enterprise, relasi Parse(Format(x)) == x selalu terpenuhi. Ini membuktikan bahwa arsitektur data baru telah memenuhi kontrak integritas serialisasi secara matematis.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 verified roundtrip invariant proves mathematical isomorphism between data and representation.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internal/currency/currency_test.go:83-102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Kasus Interval Merge &amp; Asumsi Tersembunyi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Asumsi implisit bahwa urutan input selalu terurut memicu kecacatan algoritma.</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NaiveMerge(intervals []Interval) []Interval {</a:t>
            </a:r>
            <a:br/>
            <a:r>
              <a:t>    if len(intervals) == 0 { return nil }</a:t>
            </a:r>
            <a:br/>
            <a:r>
              <a:t>    out := []Interval{intervals[0]}</a:t>
            </a:r>
            <a:br/>
            <a:r>
              <a:t>    for _, iv := range intervals[1:] {</a:t>
            </a:r>
            <a:br/>
            <a:r>
              <a:t>        last := &amp;out[len(out)-1]</a:t>
            </a:r>
            <a:br/>
            <a:r>
              <a:t>        if iv.Start &lt;= last.End {</a:t>
            </a:r>
            <a:br/>
            <a:r>
              <a:t>            if iv.End &gt; last.End { last.End = iv.End }</a:t>
            </a:r>
            <a:br/>
            <a:r>
              <a:t>        } else { out = append(out, iv) }</a:t>
            </a:r>
            <a:br/>
            <a:r>
              <a:t>    }</a:t>
            </a:r>
            <a:br/>
            <a:r>
              <a:t>    return out // BUG: Mengasumsikan input terurut!</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Kelemahan algoritma sering kali berakar pada prakondisi implisit yang tidak dinyatakan secara tegas dalam kontrak kode. Fungsi NaiveMerge dirancang untuk menggabungkan interval waktu yang saling tumpang tindih. Namun, loop perulangan langsung membandingkan elemen berjalan terhadap elemen terakhir dari slice output, mengasumsikan input sudah terurut berdasarkan titik awal (Start). Ketika dipanggil dengan contoh terurut, fungsi bekerja mulus; namun begitu urutan berubah, output menjadi rusak.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Unenforced implicit preconditions are bugs waiting for real-world input to trigger them.</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internal/interval/interval.go:10-28</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Test Oracle: Membongkar 85% Discrepancy</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Membandingkan implementasi naif terhadap implementasi robust secara komparatif.</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TestPropertyNaiveMergeFails(t *testing.T) {</a:t>
            </a:r>
            <a:br/>
            <a:r>
              <a:t>    prop := func(ivs IntervalSlice) bool {</a:t>
            </a:r>
            <a:br/>
            <a:r>
              <a:t>        naive := NaiveMerge([]Interval(ivs))</a:t>
            </a:r>
            <a:br/>
            <a:r>
              <a:t>        robust := RobustMerge([]Interval(ivs))</a:t>
            </a:r>
            <a:br/>
            <a:r>
              <a:t>        return intervalsEqual(naive, robust)</a:t>
            </a:r>
            <a:br/>
            <a:r>
              <a:t>    }</a:t>
            </a:r>
            <a:br/>
            <a:r>
              <a:t>    err := quick.Check(prop, &amp;quick.Config{MaxCount: 100})</a:t>
            </a:r>
            <a:br/>
            <a:r>
              <a:t>    // 85 dari 100 input acak menghasilkan ketidaksesuaian!</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Teknik Test Oracle memanfaatkan dua implementasi berbeda untuk input yang sama: f_naive(x) versus f_robust(x). RobustMerge secara eksplisit melakukan pengurutan sort.Slice sebelum proses penggabungan dilakukan. Ketika dievaluasi dengan generator irisan acak, pengujian membongkar bahwa 85 dari 100 input menghasilkan inkonsistensi keluaran antara NaiveMerge dan RobustMerge. Generator acak secara instan mengekspos betapa rapuhnya kode naif di hadapan array yang tidak terurut.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 reference implementation acts as an oracle to evaluate alternative algorithms at scale.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internal/interval/interval_test.go:43-59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Invariant Idempotence pada Penggabungan Data</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Menjalankan operasi berulang pada hasil penggabungan tidak boleh mengubah state.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Formula Teoretis: f(f(x)) == f(x)</a:t>
            </a:r>
            <a:br/>
            <a:br/>
            <a:r>
              <a:t>func TestPropertyRobustMergeIdempotence(t *testing.T) {</a:t>
            </a:r>
            <a:br/>
            <a:r>
              <a:t>    prop := func(ivs IntervalSlice) bool {</a:t>
            </a:r>
            <a:br/>
            <a:r>
              <a:t>        once := RobustMerge([]Interval(ivs))</a:t>
            </a:r>
            <a:br/>
            <a:r>
              <a:t>        twice := RobustMerge(once)</a:t>
            </a:r>
            <a:br/>
            <a:r>
              <a:t>        return intervalsEqual(once, twice)</a:t>
            </a:r>
            <a:br/>
            <a:r>
              <a:t>    }</a:t>
            </a:r>
            <a:br/>
            <a:r>
              <a:t>    quick.Check(prop, &amp;quick.Config{MaxCount: 1000})</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Idempotensi adalah sifat matematika fundamental dalam arsitektur komputasi: f(f(x)) == f(x). Dalam konteks pemrosesan data, menjalankan fungsi penggabungan pada kumpulan interval yang sudah digabungkan wajib menghasilkan output yang sama persis tanpa mutasi tambahan. Pengujian TestPropertyRobustMergeIdempotence memvalidasi 1.000 iterasi irisan acak, membuktikan bahwa operasi RobustMerge bersifat stabil dan aman dari efek samping mutasi berulang.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Idempotence guarantees operational convergence: repetition causes zero state drift.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internal/interval/interval_test.go:61-77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Invariant Struktural: Non-Overlapping Slices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Setiap pasangan interval berurutan dijamin tidak saling bertumpukan.</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TestPropertyRobustMergeNonOverlapping(t *testing.T) {</a:t>
            </a:r>
            <a:br/>
            <a:r>
              <a:t>    prop := func(ivs IntervalSlice) bool {</a:t>
            </a:r>
            <a:br/>
            <a:r>
              <a:t>        merged := RobustMerge([]Interval(ivs))</a:t>
            </a:r>
            <a:br/>
            <a:r>
              <a:t>        for i := 0; i &lt; len(merged)-1; i++ {</a:t>
            </a:r>
            <a:br/>
            <a:r>
              <a:t>            if merged[i].End &gt;= merged[i+1].Start {</a:t>
            </a:r>
            <a:br/>
            <a:r>
              <a:t>                return false // Ada tumpang tindih!</a:t>
            </a:r>
            <a:br/>
            <a:r>
              <a:t>            }</a:t>
            </a:r>
            <a:br/>
            <a:r>
              <a:t>        }</a:t>
            </a:r>
            <a:br/>
            <a:r>
              <a:t>        return true</a:t>
            </a:r>
            <a:br/>
            <a:r>
              <a:t>    }</a:t>
            </a:r>
            <a:br/>
            <a:r>
              <a:t>    quick.Check(prop, &amp;quick.Config{MaxCount: 1000})</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Selain relasi f(f(x)), kebenaran algoritma penggabungan interval harus memenuhi invariant struktural domain: untuk setiap indeks i dan i+1 pada irisan keluaran, titik akhir interval pertama harus lebih kecil dari titik awal interval berikutnya (out[i].End &lt; out[i+1].Start). Pengujian 1.000 iterasi acak memastikan bahwa tidak ada irisan ganda atau fragmen bertumpuk yang lolos, menjamin partisi interval bebas anomali.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Structural invariants verify domain-specific physical constraints on output shapes.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internal/interval/interval_test.go:79-99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Anatomi Masalah: Kompleksitas Counterexample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Kegagalan awal dari generator acak mengandung derau data masif yang mengaburkan akar masalah.</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SAMPLE INITIAL FAILING INPUT</a:t>
            </a:r>
          </a:p>
          <a:p>
            <a:pPr>
              <a:spcAft>
                <a:spcPts val="400"/>
              </a:spcAft>
              <a:defRPr sz="1200">
                <a:solidFill>
                  <a:srgbClr val="0B1B2D"/>
                </a:solidFill>
              </a:defRPr>
            </a:pPr>
            <a:r>
              <a:t>• Array Awal (10 elemen acak bernilai besar &amp; campur aduk):</a:t>
            </a:r>
          </a:p>
          <a:p>
            <a:pPr>
              <a:spcAft>
                <a:spcPts val="400"/>
              </a:spcAft>
              <a:defRPr sz="1200">
                <a:solidFill>
                  <a:srgbClr val="0B1B2D"/>
                </a:solidFill>
              </a:defRPr>
            </a:pPr>
            <a:r>
              <a:t>• [137, 18, 100, -27, 95, 107, 126, 78, -7, 79]</a:t>
            </a:r>
          </a:p>
          <a:p>
            <a:pPr>
              <a:spcAft>
                <a:spcPts val="400"/>
              </a:spcAft>
              <a:defRPr sz="1200">
                <a:solidFill>
                  <a:srgbClr val="0B1B2D"/>
                </a:solidFill>
              </a:defRPr>
            </a:pPr>
            <a:r>
              <a:t>• </a:t>
            </a:r>
          </a:p>
          <a:p>
            <a:pPr>
              <a:spcAft>
                <a:spcPts val="400"/>
              </a:spcAft>
              <a:defRPr sz="1200">
                <a:solidFill>
                  <a:srgbClr val="0B1B2D"/>
                </a:solidFill>
              </a:defRPr>
            </a:pPr>
            <a:r>
              <a:t>• Pertanyaan Developer saat Melihat Log:</a:t>
            </a:r>
          </a:p>
          <a:p>
            <a:pPr>
              <a:spcAft>
                <a:spcPts val="400"/>
              </a:spcAft>
              <a:defRPr sz="1200">
                <a:solidFill>
                  <a:srgbClr val="0B1B2D"/>
                </a:solidFill>
              </a:defRPr>
            </a:pPr>
            <a:r>
              <a:t>• • Apakah bug dipicu oleh angka 137? Atau ukuran array bernilai 10?</a:t>
            </a:r>
          </a:p>
          <a:p>
            <a:pPr>
              <a:spcAft>
                <a:spcPts val="400"/>
              </a:spcAft>
              <a:defRPr sz="1200">
                <a:solidFill>
                  <a:srgbClr val="0B1B2D"/>
                </a:solidFill>
              </a:defRPr>
            </a:pPr>
            <a:r>
              <a:t>• • Apakah urutan elemen saling mempengaruhi?</a:t>
            </a:r>
          </a:p>
          <a:p>
            <a:pPr>
              <a:spcAft>
                <a:spcPts val="400"/>
              </a:spcAft>
              <a:defRPr sz="1200">
                <a:solidFill>
                  <a:srgbClr val="0B1B2D"/>
                </a:solidFill>
              </a:defRPr>
            </a:pPr>
            <a:r>
              <a:t>• • Elemen mana yang menjadi pemicu minimal pelanggaran invariant?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Ketika mesin PBT mendeteksi pelanggaran invariant pada input acak berukuran besar, output mentahnya sering kali berupa struktur data raksasa yang membingungkan engineer. Pada contoh demo, input yang memicu kegagalan predicate adalah array 10 elemen acak yang bercampur antara ratusan angka positif dan dua bilangan negatif (-27 dan -7). Tanpa mekanisme reduksi, developer akan menghabiskan waktu berjam-jam memilah data mana yang sesungguhnya menjadi biang kerok kegagalan sistem.</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Raw random failures contain heavy noise; automated shrinking isolates the minimal signal.</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labs/40-property-based-testing/content/02-master-draft.md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Konsep dan Algoritma Shrinking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Reduksi deterministik dari kegagalan kompleks menuju kasus reproduksi terkecil.</a:t>
            </a:r>
          </a:p>
        </p:txBody>
      </p:sp>
      <p:graphicFrame>
        <p:nvGraphicFramePr>
          <p:cNvPr id="6" name="Table 5"/>
          <p:cNvGraphicFramePr>
            <a:graphicFrameLocks noGrp="1"/>
          </p:cNvGraphicFramePr>
          <p:nvPr/>
        </p:nvGraphicFramePr>
        <p:xfrm>
          <a:off x="731520" y="1828800"/>
          <a:ext cx="5120640" cy="1828800"/>
        </p:xfrm>
        <a:graphic>
          <a:graphicData uri="http://schemas.openxmlformats.org/drawingml/2006/table">
            <a:tbl>
              <a:tblPr firstRow="1" bandRow="1">
                <a:tableStyleId>{5C22544A-7EE6-4342-B048-85BDC9FD1C3A}</a:tableStyleId>
              </a:tblPr>
              <a:tblGrid>
                <a:gridCol w="1706880"/>
                <a:gridCol w="1706880"/>
                <a:gridCol w="1706880"/>
              </a:tblGrid>
              <a:tr h="457200">
                <a:tc>
                  <a:txBody>
                    <a:bodyPr/>
                    <a:lstStyle/>
                    <a:p>
                      <a:pPr>
                        <a:defRPr b="1" sz="1100">
                          <a:solidFill>
                            <a:srgbClr val="FFFFFF"/>
                          </a:solidFill>
                        </a:defRPr>
                      </a:pPr>
                      <a:r>
                        <a:t>Fase Algoritma</a:t>
                      </a:r>
                    </a:p>
                  </a:txBody>
                  <a:tcPr>
                    <a:solidFill>
                      <a:srgbClr val="0B1B2D"/>
                    </a:solidFill>
                  </a:tcPr>
                </a:tc>
                <a:tc>
                  <a:txBody>
                    <a:bodyPr/>
                    <a:lstStyle/>
                    <a:p>
                      <a:pPr>
                        <a:defRPr b="1" sz="1100">
                          <a:solidFill>
                            <a:srgbClr val="FFFFFF"/>
                          </a:solidFill>
                        </a:defRPr>
                      </a:pPr>
                      <a:r>
                        <a:t>Aksi Reduksi</a:t>
                      </a:r>
                    </a:p>
                  </a:txBody>
                  <a:tcPr>
                    <a:solidFill>
                      <a:srgbClr val="0B1B2D"/>
                    </a:solidFill>
                  </a:tcPr>
                </a:tc>
                <a:tc>
                  <a:txBody>
                    <a:bodyPr/>
                    <a:lstStyle/>
                    <a:p>
                      <a:pPr>
                        <a:defRPr b="1" sz="1100">
                          <a:solidFill>
                            <a:srgbClr val="FFFFFF"/>
                          </a:solidFill>
                        </a:defRPr>
                      </a:pPr>
                      <a:r>
                        <a:t>Target Optimasi</a:t>
                      </a:r>
                    </a:p>
                  </a:txBody>
                  <a:tcPr>
                    <a:solidFill>
                      <a:srgbClr val="0B1B2D"/>
                    </a:solidFill>
                  </a:tcPr>
                </a:tc>
              </a:tr>
              <a:tr h="457200">
                <a:tc>
                  <a:txBody>
                    <a:bodyPr/>
                    <a:lstStyle/>
                    <a:p>
                      <a:pPr>
                        <a:defRPr sz="1000">
                          <a:solidFill>
                            <a:srgbClr val="0B1B2D"/>
                          </a:solidFill>
                        </a:defRPr>
                      </a:pPr>
                      <a:r>
                        <a:t>1. Binary Sectioning</a:t>
                      </a:r>
                    </a:p>
                  </a:txBody>
                  <a:tcPr>
                    <a:solidFill>
                      <a:srgbClr val="FFFFFF"/>
                    </a:solidFill>
                  </a:tcPr>
                </a:tc>
                <a:tc>
                  <a:txBody>
                    <a:bodyPr/>
                    <a:lstStyle/>
                    <a:p>
                      <a:pPr>
                        <a:defRPr sz="1000">
                          <a:solidFill>
                            <a:srgbClr val="0B1B2D"/>
                          </a:solidFill>
                        </a:defRPr>
                      </a:pPr>
                      <a:r>
                        <a:t>Potong separuh kiri / kanan array</a:t>
                      </a:r>
                    </a:p>
                  </a:txBody>
                  <a:tcPr>
                    <a:solidFill>
                      <a:srgbClr val="FFFFFF"/>
                    </a:solidFill>
                  </a:tcPr>
                </a:tc>
                <a:tc>
                  <a:txBody>
                    <a:bodyPr/>
                    <a:lstStyle/>
                    <a:p>
                      <a:pPr>
                        <a:defRPr sz="1000">
                          <a:solidFill>
                            <a:srgbClr val="0B1B2D"/>
                          </a:solidFill>
                        </a:defRPr>
                      </a:pPr>
                      <a:r>
                        <a:t>Pangkas ukuran O(log N)</a:t>
                      </a:r>
                    </a:p>
                  </a:txBody>
                  <a:tcPr>
                    <a:solidFill>
                      <a:srgbClr val="FFFFFF"/>
                    </a:solidFill>
                  </a:tcPr>
                </a:tc>
              </a:tr>
              <a:tr h="457200">
                <a:tc>
                  <a:txBody>
                    <a:bodyPr/>
                    <a:lstStyle/>
                    <a:p>
                      <a:pPr>
                        <a:defRPr sz="1000">
                          <a:solidFill>
                            <a:srgbClr val="0B1B2D"/>
                          </a:solidFill>
                        </a:defRPr>
                      </a:pPr>
                      <a:r>
                        <a:t>2. Element Removal</a:t>
                      </a:r>
                    </a:p>
                  </a:txBody>
                  <a:tcPr>
                    <a:solidFill>
                      <a:srgbClr val="FFFFFF"/>
                    </a:solidFill>
                  </a:tcPr>
                </a:tc>
                <a:tc>
                  <a:txBody>
                    <a:bodyPr/>
                    <a:lstStyle/>
                    <a:p>
                      <a:pPr>
                        <a:defRPr sz="1000">
                          <a:solidFill>
                            <a:srgbClr val="0B1B2D"/>
                          </a:solidFill>
                        </a:defRPr>
                      </a:pPr>
                      <a:r>
                        <a:t>Hapus elemen individual satu per satu</a:t>
                      </a:r>
                    </a:p>
                  </a:txBody>
                  <a:tcPr>
                    <a:solidFill>
                      <a:srgbClr val="FFFFFF"/>
                    </a:solidFill>
                  </a:tcPr>
                </a:tc>
                <a:tc>
                  <a:txBody>
                    <a:bodyPr/>
                    <a:lstStyle/>
                    <a:p>
                      <a:pPr>
                        <a:defRPr sz="1000">
                          <a:solidFill>
                            <a:srgbClr val="0B1B2D"/>
                          </a:solidFill>
                        </a:defRPr>
                      </a:pPr>
                      <a:r>
                        <a:t>Eliminasi noise non-kritis</a:t>
                      </a:r>
                    </a:p>
                  </a:txBody>
                  <a:tcPr>
                    <a:solidFill>
                      <a:srgbClr val="FFFFFF"/>
                    </a:solidFill>
                  </a:tcPr>
                </a:tc>
              </a:tr>
              <a:tr h="457200">
                <a:tc>
                  <a:txBody>
                    <a:bodyPr/>
                    <a:lstStyle/>
                    <a:p>
                      <a:pPr>
                        <a:defRPr sz="1000">
                          <a:solidFill>
                            <a:srgbClr val="0B1B2D"/>
                          </a:solidFill>
                        </a:defRPr>
                      </a:pPr>
                      <a:r>
                        <a:t>3. Value Reduction</a:t>
                      </a:r>
                    </a:p>
                  </a:txBody>
                  <a:tcPr>
                    <a:solidFill>
                      <a:srgbClr val="FFFFFF"/>
                    </a:solidFill>
                  </a:tcPr>
                </a:tc>
                <a:tc>
                  <a:txBody>
                    <a:bodyPr/>
                    <a:lstStyle/>
                    <a:p>
                      <a:pPr>
                        <a:defRPr sz="1000">
                          <a:solidFill>
                            <a:srgbClr val="0B1B2D"/>
                          </a:solidFill>
                        </a:defRPr>
                      </a:pPr>
                      <a:r>
                        <a:t>Bagi dua nilai elemen menuju 0</a:t>
                      </a:r>
                    </a:p>
                  </a:txBody>
                  <a:tcPr>
                    <a:solidFill>
                      <a:srgbClr val="FFFFFF"/>
                    </a:solidFill>
                  </a:tcPr>
                </a:tc>
                <a:tc>
                  <a:txBody>
                    <a:bodyPr/>
                    <a:lstStyle/>
                    <a:p>
                      <a:pPr>
                        <a:defRPr sz="1000">
                          <a:solidFill>
                            <a:srgbClr val="0B1B2D"/>
                          </a:solidFill>
                        </a:defRPr>
                      </a:pPr>
                      <a:r>
                        <a:t>Minimalisasi magnitudo nilai</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Algoritma counterexample shrinking dirancang untuk mentransformasikan input kegagalan mentah menjadi *minimal reproducible counterexample*. Algoritma bekerja secara deterministik dalam tiga fase bertingkat: pertama, melakukan pemotongan biner (halving) terhadap panjang array; kedua, mencoba menghapus elemen satu per satu; dan ketiga, memperkecil magnitudo nilai individual mendekati nol. Setiap langkah yang tetap mempertahankan status gagal (FAIL) diadopsi sebagai basis input baru.</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Shrinking is binary search applied to bug reproducers: drop halves, drop items, drop magnitude.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internal/shrinker/shrinker.go:24-60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Binary Sectioning: Memangkas Panjang Array</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Menguji apakah separuh bagian data masih mempertahankan kegagalan invarian.</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if len(current) &gt; 1 {</a:t>
            </a:r>
            <a:br/>
            <a:r>
              <a:t>    mid := len(current) / 2</a:t>
            </a:r>
            <a:br/>
            <a:r>
              <a:t>    left := current[:mid]</a:t>
            </a:r>
            <a:br/>
            <a:r>
              <a:t>    if !predicate(left) {</a:t>
            </a:r>
            <a:br/>
            <a:r>
              <a:t>        current = append([]int(nil), left...)</a:t>
            </a:r>
            <a:br/>
            <a:r>
              <a:t>        changed = true; continue</a:t>
            </a:r>
            <a:br/>
            <a:r>
              <a:t>    }</a:t>
            </a:r>
            <a:br/>
            <a:r>
              <a:t>    right := current[mid:]</a:t>
            </a:r>
            <a:br/>
            <a:r>
              <a:t>    if !predicate(right) {</a:t>
            </a:r>
            <a:br/>
            <a:r>
              <a:t>        current = append([]int(nil), right...)</a:t>
            </a:r>
            <a:br/>
            <a:r>
              <a:t>        changed = true; continue</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Fase pertama dari shrinking adalah binary chunking. Algoritma membagi slice menjadi dua bagian (kiri dan kanan), lalu mengevaluasi predicate pada masing-masing belahan. Jika belahan kiri masih memicu kegagalan, separuh bagian kanan langsung dibuang secara permanen. Dalam demo, array 10 elemen terpotong menjadi 5 elemen [137, 18, 100, -27, 95] pada langkah 1, lalu terpotong lagi menjadi 3 elemen [100, -27, 95] pada langkah 3, mempercepat pencarian secara eksponensial.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Halving input payloads quickly eliminates large clusters of irrelevant test data.</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internal/shrinker/shrinker.go:61-95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Reduksi Elemen &amp; Magnitudo Menuju Nol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Menghapus elemen per satuan dan memperkecil nilai numerik hingga batas minimal.</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 Coba set elemen menjadi 0 atau bagi dua nilainya</a:t>
            </a:r>
            <a:br/>
            <a:r>
              <a:t>candidates := []int{0, current[i] / 2}</a:t>
            </a:r>
            <a:br/>
            <a:r>
              <a:t>for _, cand := range candidates {</a:t>
            </a:r>
            <a:br/>
            <a:r>
              <a:t>    testSlice := append([]int(nil), current...)</a:t>
            </a:r>
            <a:br/>
            <a:r>
              <a:t>    testSlice[i] = cand</a:t>
            </a:r>
            <a:br/>
            <a:r>
              <a:t>    if !predicate(testSlice) {</a:t>
            </a:r>
            <a:br/>
            <a:r>
              <a:t>        current = testSlice</a:t>
            </a:r>
            <a:br/>
            <a:r>
              <a:t>        changed = true; break</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Setelah panjang array dipangkas hingga tersisa 1 elemen tunggal berisi [-27], algoritma melanjutkan ke strategi ketiga: reduksi nilai numerik. Nilai -27 secara bertahap dibagi dua mendekati nol: -27 -&gt; -13 -&gt; -6 -&gt; -3 -&gt; -1. Setiap langkah diverifikasi apakah invarian masih dilanggar. Ketika mencapai -1, langkah berikutnya yaitu 0 menghasilkan PASS (karena 0 bukan negatif). Algoritma berhenti dan menetapkan [-1] sebagai nilai batas minimal mutlak.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Gradual numerical reduction isolates the exact mathematical threshold of failure.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internal/shrinker/shrinker.go:119-151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Jejak 21 Langkah Menuju Minimal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Bukti log eksekusi nyata dari FindAndShrink pada internal/shrinker.</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Input Awal (10 elemen): [137 18 100 -27 95 107 126 78 -7 79]</a:t>
            </a:r>
            <a:br/>
            <a:r>
              <a:t>Step  1: remove-right-half         [5 elem] [137 18 100 -27 95] -&gt; FAIL</a:t>
            </a:r>
            <a:br/>
            <a:r>
              <a:t>Step  3: remove-left-half          [3 elem] [100 -27 95]        -&gt; FAIL</a:t>
            </a:r>
            <a:br/>
            <a:r>
              <a:t>Step  5: remove-left-half          [2 elem] [-27 95]            -&gt; FAIL</a:t>
            </a:r>
            <a:br/>
            <a:r>
              <a:t>Step  6: remove-right-half         [1 elem] [-27]               -&gt; FAIL</a:t>
            </a:r>
            <a:br/>
            <a:r>
              <a:t>Step  9: reduce-val to -13         [1 elem] [-13]               -&gt; FAIL</a:t>
            </a:r>
            <a:br/>
            <a:r>
              <a:t>Step 12: reduce-val to -6          [1 elem] [-6]                -&gt; FAIL</a:t>
            </a:r>
            <a:br/>
            <a:r>
              <a:t>Step 15: reduce-val to -3          [1 elem] [-3]                -&gt; FAIL</a:t>
            </a:r>
            <a:br/>
            <a:r>
              <a:t>Step 18: reduce-val to -1          [1 elem] [-1]                -&gt; FAIL</a:t>
            </a:r>
            <a:br/>
            <a:r>
              <a:t>Hasil Akhir (Minimal Counterexample): [-1] (Tepat 21 langkah evaluasi!)</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Log terminal dari eksekusi demo memperlihatkan transparansi penuh dari proses reduksi data. Dari input awal acak sebanyak 10 elemen yang berantakan, mesin hanya membutuhkan 21 evaluasi predikat untuk mengeliminasi 9 elemen yang tidak relevan serta memperkecil nilai -27 menjadi -1. Hasil akhir [-1] memberikan kejelasan diagnostik instan bagi developer: masalah bukan pada panjang array atau interaksi elemen, melainkan keberadaan bilangan negatif sekecil apa pun.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Shrinking eliminates debugging guesswork by delivering the minimal reproducible unit.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cmd/demo/main.go:160-210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Integrasi Go Standard Library testing/quick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Membangun PBT murni tanpa dependensi eksternal pihak ketiga.</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cfg := &amp;quick.Config{</a:t>
            </a:r>
            <a:br/>
            <a:r>
              <a:t>    MaxCount: 1000, // Jumlah iterasi acak yang dieksekusi</a:t>
            </a:r>
            <a:br/>
            <a:r>
              <a:t>    Rand:     rand.New(rand.NewSource(seed)), // Determinisme</a:t>
            </a:r>
            <a:br/>
            <a:r>
              <a:t>}</a:t>
            </a:r>
            <a:br/>
            <a:br/>
            <a:r>
              <a:t>err := quick.Check(func(a RobustAmount) bool {</a:t>
            </a:r>
            <a:br/>
            <a:r>
              <a:t>    return ParseRobust(a.Format()) == a</a:t>
            </a:r>
            <a:br/>
            <a:r>
              <a:t>}, cfg)</a:t>
            </a:r>
            <a:br/>
            <a:r>
              <a:t>if err != nil {</a:t>
            </a:r>
            <a:br/>
            <a:r>
              <a:t>    t.Fatalf("property violation: %v", err)</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Salah satu keunggulan ekosistem Go adalah ketersediaan paket bawaan testing/quick di dalam standard library tanpa memerlukan dependensi pihak ketiga. Paket ini menyediakan fungsi quick.Check yang mengeksekusi properti hingga ribuan kali dengan konfigurasi MaxCount dan seed kustom. Generator bawaan secara otomatis merefleksikan tipe data dasar, sementara interface quick.Generator memungkinkan engineer menyuntikkan generator buatan sendiri untuk tipe data kompleks.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Zero-dependency property testing is already built into the Go standard library.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internal/currency/currency_test.go:85-102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Determinisme, Seeding, &amp; CI/CD Pipeline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Mengelola trade-off antara keacakan eksploratif dan reproduktibilitas pengujian.</a:t>
            </a:r>
          </a:p>
        </p:txBody>
      </p:sp>
      <p:graphicFrame>
        <p:nvGraphicFramePr>
          <p:cNvPr id="6" name="Table 5"/>
          <p:cNvGraphicFramePr>
            <a:graphicFrameLocks noGrp="1"/>
          </p:cNvGraphicFramePr>
          <p:nvPr/>
        </p:nvGraphicFramePr>
        <p:xfrm>
          <a:off x="731520" y="1828800"/>
          <a:ext cx="5120640" cy="1828800"/>
        </p:xfrm>
        <a:graphic>
          <a:graphicData uri="http://schemas.openxmlformats.org/drawingml/2006/table">
            <a:tbl>
              <a:tblPr firstRow="1" bandRow="1">
                <a:tableStyleId>{5C22544A-7EE6-4342-B048-85BDC9FD1C3A}</a:tableStyleId>
              </a:tblPr>
              <a:tblGrid>
                <a:gridCol w="1280160"/>
                <a:gridCol w="1280160"/>
                <a:gridCol w="1280160"/>
                <a:gridCol w="1280160"/>
              </a:tblGrid>
              <a:tr h="457200">
                <a:tc>
                  <a:txBody>
                    <a:bodyPr/>
                    <a:lstStyle/>
                    <a:p>
                      <a:pPr>
                        <a:defRPr b="1" sz="1100">
                          <a:solidFill>
                            <a:srgbClr val="FFFFFF"/>
                          </a:solidFill>
                        </a:defRPr>
                      </a:pPr>
                      <a:r>
                        <a:t>Lingkungan</a:t>
                      </a:r>
                    </a:p>
                  </a:txBody>
                  <a:tcPr>
                    <a:solidFill>
                      <a:srgbClr val="0B1B2D"/>
                    </a:solidFill>
                  </a:tcPr>
                </a:tc>
                <a:tc>
                  <a:txBody>
                    <a:bodyPr/>
                    <a:lstStyle/>
                    <a:p>
                      <a:pPr>
                        <a:defRPr b="1" sz="1100">
                          <a:solidFill>
                            <a:srgbClr val="FFFFFF"/>
                          </a:solidFill>
                        </a:defRPr>
                      </a:pPr>
                      <a:r>
                        <a:t>Konfigurasi Seed</a:t>
                      </a:r>
                    </a:p>
                  </a:txBody>
                  <a:tcPr>
                    <a:solidFill>
                      <a:srgbClr val="0B1B2D"/>
                    </a:solidFill>
                  </a:tcPr>
                </a:tc>
                <a:tc>
                  <a:txBody>
                    <a:bodyPr/>
                    <a:lstStyle/>
                    <a:p>
                      <a:pPr>
                        <a:defRPr b="1" sz="1100">
                          <a:solidFill>
                            <a:srgbClr val="FFFFFF"/>
                          </a:solidFill>
                        </a:defRPr>
                      </a:pPr>
                      <a:r>
                        <a:t>Iterasi</a:t>
                      </a:r>
                    </a:p>
                  </a:txBody>
                  <a:tcPr>
                    <a:solidFill>
                      <a:srgbClr val="0B1B2D"/>
                    </a:solidFill>
                  </a:tcPr>
                </a:tc>
                <a:tc>
                  <a:txBody>
                    <a:bodyPr/>
                    <a:lstStyle/>
                    <a:p>
                      <a:pPr>
                        <a:defRPr b="1" sz="1100">
                          <a:solidFill>
                            <a:srgbClr val="FFFFFF"/>
                          </a:solidFill>
                        </a:defRPr>
                      </a:pPr>
                      <a:r>
                        <a:t>Tujuan</a:t>
                      </a:r>
                    </a:p>
                  </a:txBody>
                  <a:tcPr>
                    <a:solidFill>
                      <a:srgbClr val="0B1B2D"/>
                    </a:solidFill>
                  </a:tcPr>
                </a:tc>
              </a:tr>
              <a:tr h="457200">
                <a:tc>
                  <a:txBody>
                    <a:bodyPr/>
                    <a:lstStyle/>
                    <a:p>
                      <a:pPr>
                        <a:defRPr sz="1000">
                          <a:solidFill>
                            <a:srgbClr val="0B1B2D"/>
                          </a:solidFill>
                        </a:defRPr>
                      </a:pPr>
                      <a:r>
                        <a:t>Local PR Check</a:t>
                      </a:r>
                    </a:p>
                  </a:txBody>
                  <a:tcPr>
                    <a:solidFill>
                      <a:srgbClr val="FFFFFF"/>
                    </a:solidFill>
                  </a:tcPr>
                </a:tc>
                <a:tc>
                  <a:txBody>
                    <a:bodyPr/>
                    <a:lstStyle/>
                    <a:p>
                      <a:pPr>
                        <a:defRPr sz="1000">
                          <a:solidFill>
                            <a:srgbClr val="0B1B2D"/>
                          </a:solidFill>
                        </a:defRPr>
                      </a:pPr>
                      <a:r>
                        <a:t>Fixed Seed (deterministik)</a:t>
                      </a:r>
                    </a:p>
                  </a:txBody>
                  <a:tcPr>
                    <a:solidFill>
                      <a:srgbClr val="FFFFFF"/>
                    </a:solidFill>
                  </a:tcPr>
                </a:tc>
                <a:tc>
                  <a:txBody>
                    <a:bodyPr/>
                    <a:lstStyle/>
                    <a:p>
                      <a:pPr>
                        <a:defRPr sz="1000">
                          <a:solidFill>
                            <a:srgbClr val="0B1B2D"/>
                          </a:solidFill>
                        </a:defRPr>
                      </a:pPr>
                      <a:r>
                        <a:t>100 - 500</a:t>
                      </a:r>
                    </a:p>
                  </a:txBody>
                  <a:tcPr>
                    <a:solidFill>
                      <a:srgbClr val="FFFFFF"/>
                    </a:solidFill>
                  </a:tcPr>
                </a:tc>
                <a:tc>
                  <a:txBody>
                    <a:bodyPr/>
                    <a:lstStyle/>
                    <a:p>
                      <a:pPr>
                        <a:defRPr sz="1000">
                          <a:solidFill>
                            <a:srgbClr val="0B1B2D"/>
                          </a:solidFill>
                        </a:defRPr>
                      </a:pPr>
                      <a:r>
                        <a:t>Cepat &amp; lolos tanpa flakiness</a:t>
                      </a:r>
                    </a:p>
                  </a:txBody>
                  <a:tcPr>
                    <a:solidFill>
                      <a:srgbClr val="FFFFFF"/>
                    </a:solidFill>
                  </a:tcPr>
                </a:tc>
              </a:tr>
              <a:tr h="457200">
                <a:tc>
                  <a:txBody>
                    <a:bodyPr/>
                    <a:lstStyle/>
                    <a:p>
                      <a:pPr>
                        <a:defRPr sz="1000">
                          <a:solidFill>
                            <a:srgbClr val="0B1B2D"/>
                          </a:solidFill>
                        </a:defRPr>
                      </a:pPr>
                      <a:r>
                        <a:t>Nightly CI</a:t>
                      </a:r>
                    </a:p>
                  </a:txBody>
                  <a:tcPr>
                    <a:solidFill>
                      <a:srgbClr val="FFFFFF"/>
                    </a:solidFill>
                  </a:tcPr>
                </a:tc>
                <a:tc>
                  <a:txBody>
                    <a:bodyPr/>
                    <a:lstStyle/>
                    <a:p>
                      <a:pPr>
                        <a:defRPr sz="1000">
                          <a:solidFill>
                            <a:srgbClr val="0B1B2D"/>
                          </a:solidFill>
                        </a:defRPr>
                      </a:pPr>
                      <a:r>
                        <a:t>Dynamic Time Seed</a:t>
                      </a:r>
                    </a:p>
                  </a:txBody>
                  <a:tcPr>
                    <a:solidFill>
                      <a:srgbClr val="FFFFFF"/>
                    </a:solidFill>
                  </a:tcPr>
                </a:tc>
                <a:tc>
                  <a:txBody>
                    <a:bodyPr/>
                    <a:lstStyle/>
                    <a:p>
                      <a:pPr>
                        <a:defRPr sz="1000">
                          <a:solidFill>
                            <a:srgbClr val="0B1B2D"/>
                          </a:solidFill>
                        </a:defRPr>
                      </a:pPr>
                      <a:r>
                        <a:t>10.000 - 50.000</a:t>
                      </a:r>
                    </a:p>
                  </a:txBody>
                  <a:tcPr>
                    <a:solidFill>
                      <a:srgbClr val="FFFFFF"/>
                    </a:solidFill>
                  </a:tcPr>
                </a:tc>
                <a:tc>
                  <a:txBody>
                    <a:bodyPr/>
                    <a:lstStyle/>
                    <a:p>
                      <a:pPr>
                        <a:defRPr sz="1000">
                          <a:solidFill>
                            <a:srgbClr val="0B1B2D"/>
                          </a:solidFill>
                        </a:defRPr>
                      </a:pPr>
                      <a:r>
                        <a:t>Eksplorasi bug liar &amp; boundary</a:t>
                      </a:r>
                    </a:p>
                  </a:txBody>
                  <a:tcPr>
                    <a:solidFill>
                      <a:srgbClr val="FFFFFF"/>
                    </a:solidFill>
                  </a:tcPr>
                </a:tc>
              </a:tr>
              <a:tr h="457200">
                <a:tc>
                  <a:txBody>
                    <a:bodyPr/>
                    <a:lstStyle/>
                    <a:p>
                      <a:pPr>
                        <a:defRPr sz="1000">
                          <a:solidFill>
                            <a:srgbClr val="0B1B2D"/>
                          </a:solidFill>
                        </a:defRPr>
                      </a:pPr>
                      <a:r>
                        <a:t>Bug Reproduction</a:t>
                      </a:r>
                    </a:p>
                  </a:txBody>
                  <a:tcPr>
                    <a:solidFill>
                      <a:srgbClr val="FFFFFF"/>
                    </a:solidFill>
                  </a:tcPr>
                </a:tc>
                <a:tc>
                  <a:txBody>
                    <a:bodyPr/>
                    <a:lstStyle/>
                    <a:p>
                      <a:pPr>
                        <a:defRPr sz="1000">
                          <a:solidFill>
                            <a:srgbClr val="0B1B2D"/>
                          </a:solidFill>
                        </a:defRPr>
                      </a:pPr>
                      <a:r>
                        <a:t>Injeksi Failing Seed</a:t>
                      </a:r>
                    </a:p>
                  </a:txBody>
                  <a:tcPr>
                    <a:solidFill>
                      <a:srgbClr val="FFFFFF"/>
                    </a:solidFill>
                  </a:tcPr>
                </a:tc>
                <a:tc>
                  <a:txBody>
                    <a:bodyPr/>
                    <a:lstStyle/>
                    <a:p>
                      <a:pPr>
                        <a:defRPr sz="1000">
                          <a:solidFill>
                            <a:srgbClr val="0B1B2D"/>
                          </a:solidFill>
                        </a:defRPr>
                      </a:pPr>
                      <a:r>
                        <a:t>1 run minimal</a:t>
                      </a:r>
                    </a:p>
                  </a:txBody>
                  <a:tcPr>
                    <a:solidFill>
                      <a:srgbClr val="FFFFFF"/>
                    </a:solidFill>
                  </a:tcPr>
                </a:tc>
                <a:tc>
                  <a:txBody>
                    <a:bodyPr/>
                    <a:lstStyle/>
                    <a:p>
                      <a:pPr>
                        <a:defRPr sz="1000">
                          <a:solidFill>
                            <a:srgbClr val="0B1B2D"/>
                          </a:solidFill>
                        </a:defRPr>
                      </a:pPr>
                      <a:r>
                        <a:t>Reproduksi 100% konsisten</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Kritik yang kerap diarahkan pada PBT adalah risiko munculnya flaky tests jika seed acak berubah di setiap run CI. Solusi profesional adalah menerapkan dual-strategy: pada local testing dan PR verification, gunakan seed tetap dengan 100–500 iterasi agar eksekusi berlangsung sub-detik dan stabil. Pada nightly build atau background fuzzer, aktifkan seed dinamis berbasis timestamp dengan 50.000 iterasi. Setiap kali kegagalan ditemukan, log seed wajib dicatat agar developer dapat mereproduksinya secara instan.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Exploratory randomness belongs in nightly CI; deterministic seeds belong in pull requests.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labs/40-property-based-testing/content/02-master-draft.md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Matriks Komparasi Example vs PBT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Perbedaan mendasar dalam cakupan, bias pengujian, dan kemampuan isolasi bug.</a:t>
            </a:r>
          </a:p>
        </p:txBody>
      </p:sp>
      <p:graphicFrame>
        <p:nvGraphicFramePr>
          <p:cNvPr id="6" name="Table 5"/>
          <p:cNvGraphicFramePr>
            <a:graphicFrameLocks noGrp="1"/>
          </p:cNvGraphicFramePr>
          <p:nvPr/>
        </p:nvGraphicFramePr>
        <p:xfrm>
          <a:off x="731520" y="1828800"/>
          <a:ext cx="5120640" cy="2743200"/>
        </p:xfrm>
        <a:graphic>
          <a:graphicData uri="http://schemas.openxmlformats.org/drawingml/2006/table">
            <a:tbl>
              <a:tblPr firstRow="1" bandRow="1">
                <a:tableStyleId>{5C22544A-7EE6-4342-B048-85BDC9FD1C3A}</a:tableStyleId>
              </a:tblPr>
              <a:tblGrid>
                <a:gridCol w="1706880"/>
                <a:gridCol w="1706880"/>
                <a:gridCol w="1706880"/>
              </a:tblGrid>
              <a:tr h="457200">
                <a:tc>
                  <a:txBody>
                    <a:bodyPr/>
                    <a:lstStyle/>
                    <a:p>
                      <a:pPr>
                        <a:defRPr b="1" sz="1100">
                          <a:solidFill>
                            <a:srgbClr val="FFFFFF"/>
                          </a:solidFill>
                        </a:defRPr>
                      </a:pPr>
                      <a:r>
                        <a:t>Dimensi Evaluasi</a:t>
                      </a:r>
                    </a:p>
                  </a:txBody>
                  <a:tcPr>
                    <a:solidFill>
                      <a:srgbClr val="0B1B2D"/>
                    </a:solidFill>
                  </a:tcPr>
                </a:tc>
                <a:tc>
                  <a:txBody>
                    <a:bodyPr/>
                    <a:lstStyle/>
                    <a:p>
                      <a:pPr>
                        <a:defRPr b="1" sz="1100">
                          <a:solidFill>
                            <a:srgbClr val="FFFFFF"/>
                          </a:solidFill>
                        </a:defRPr>
                      </a:pPr>
                      <a:r>
                        <a:t>Example-Based Testing</a:t>
                      </a:r>
                    </a:p>
                  </a:txBody>
                  <a:tcPr>
                    <a:solidFill>
                      <a:srgbClr val="0B1B2D"/>
                    </a:solidFill>
                  </a:tcPr>
                </a:tc>
                <a:tc>
                  <a:txBody>
                    <a:bodyPr/>
                    <a:lstStyle/>
                    <a:p>
                      <a:pPr>
                        <a:defRPr b="1" sz="1100">
                          <a:solidFill>
                            <a:srgbClr val="FFFFFF"/>
                          </a:solidFill>
                        </a:defRPr>
                      </a:pPr>
                      <a:r>
                        <a:t>Property-Based Testing</a:t>
                      </a:r>
                    </a:p>
                  </a:txBody>
                  <a:tcPr>
                    <a:solidFill>
                      <a:srgbClr val="0B1B2D"/>
                    </a:solidFill>
                  </a:tcPr>
                </a:tc>
              </a:tr>
              <a:tr h="457200">
                <a:tc>
                  <a:txBody>
                    <a:bodyPr/>
                    <a:lstStyle/>
                    <a:p>
                      <a:pPr>
                        <a:defRPr sz="1000">
                          <a:solidFill>
                            <a:srgbClr val="0B1B2D"/>
                          </a:solidFill>
                        </a:defRPr>
                      </a:pPr>
                      <a:r>
                        <a:t>Cakupan Input</a:t>
                      </a:r>
                    </a:p>
                  </a:txBody>
                  <a:tcPr>
                    <a:solidFill>
                      <a:srgbClr val="FFFFFF"/>
                    </a:solidFill>
                  </a:tcPr>
                </a:tc>
                <a:tc>
                  <a:txBody>
                    <a:bodyPr/>
                    <a:lstStyle/>
                    <a:p>
                      <a:pPr>
                        <a:defRPr sz="1000">
                          <a:solidFill>
                            <a:srgbClr val="0B1B2D"/>
                          </a:solidFill>
                        </a:defRPr>
                      </a:pPr>
                      <a:r>
                        <a:t>Titik diskrit statis (hand-picked)</a:t>
                      </a:r>
                    </a:p>
                  </a:txBody>
                  <a:tcPr>
                    <a:solidFill>
                      <a:srgbClr val="FFFFFF"/>
                    </a:solidFill>
                  </a:tcPr>
                </a:tc>
                <a:tc>
                  <a:txBody>
                    <a:bodyPr/>
                    <a:lstStyle/>
                    <a:p>
                      <a:pPr>
                        <a:defRPr sz="1000">
                          <a:solidFill>
                            <a:srgbClr val="0B1B2D"/>
                          </a:solidFill>
                        </a:defRPr>
                      </a:pPr>
                      <a:r>
                        <a:t>Spektrum kontinu acak terdistribusi</a:t>
                      </a:r>
                    </a:p>
                  </a:txBody>
                  <a:tcPr>
                    <a:solidFill>
                      <a:srgbClr val="FFFFFF"/>
                    </a:solidFill>
                  </a:tcPr>
                </a:tc>
              </a:tr>
              <a:tr h="457200">
                <a:tc>
                  <a:txBody>
                    <a:bodyPr/>
                    <a:lstStyle/>
                    <a:p>
                      <a:pPr>
                        <a:defRPr sz="1000">
                          <a:solidFill>
                            <a:srgbClr val="0B1B2D"/>
                          </a:solidFill>
                        </a:defRPr>
                      </a:pPr>
                      <a:r>
                        <a:t>Bias Pengujian</a:t>
                      </a:r>
                    </a:p>
                  </a:txBody>
                  <a:tcPr>
                    <a:solidFill>
                      <a:srgbClr val="FFFFFF"/>
                    </a:solidFill>
                  </a:tcPr>
                </a:tc>
                <a:tc>
                  <a:txBody>
                    <a:bodyPr/>
                    <a:lstStyle/>
                    <a:p>
                      <a:pPr>
                        <a:defRPr sz="1000">
                          <a:solidFill>
                            <a:srgbClr val="0B1B2D"/>
                          </a:solidFill>
                        </a:defRPr>
                      </a:pPr>
                      <a:r>
                        <a:t>Tinggi (mengikuti intuisi engineer)</a:t>
                      </a:r>
                    </a:p>
                  </a:txBody>
                  <a:tcPr>
                    <a:solidFill>
                      <a:srgbClr val="FFFFFF"/>
                    </a:solidFill>
                  </a:tcPr>
                </a:tc>
                <a:tc>
                  <a:txBody>
                    <a:bodyPr/>
                    <a:lstStyle/>
                    <a:p>
                      <a:pPr>
                        <a:defRPr sz="1000">
                          <a:solidFill>
                            <a:srgbClr val="0B1B2D"/>
                          </a:solidFill>
                        </a:defRPr>
                      </a:pPr>
                      <a:r>
                        <a:t>Rendah (adversarial fuzzing)</a:t>
                      </a:r>
                    </a:p>
                  </a:txBody>
                  <a:tcPr>
                    <a:solidFill>
                      <a:srgbClr val="FFFFFF"/>
                    </a:solidFill>
                  </a:tcPr>
                </a:tc>
              </a:tr>
              <a:tr h="457200">
                <a:tc>
                  <a:txBody>
                    <a:bodyPr/>
                    <a:lstStyle/>
                    <a:p>
                      <a:pPr>
                        <a:defRPr sz="1000">
                          <a:solidFill>
                            <a:srgbClr val="0B1B2D"/>
                          </a:solidFill>
                        </a:defRPr>
                      </a:pPr>
                      <a:r>
                        <a:t>Bug Boundary</a:t>
                      </a:r>
                    </a:p>
                  </a:txBody>
                  <a:tcPr>
                    <a:solidFill>
                      <a:srgbClr val="FFFFFF"/>
                    </a:solidFill>
                  </a:tcPr>
                </a:tc>
                <a:tc>
                  <a:txBody>
                    <a:bodyPr/>
                    <a:lstStyle/>
                    <a:p>
                      <a:pPr>
                        <a:defRPr sz="1000">
                          <a:solidFill>
                            <a:srgbClr val="0B1B2D"/>
                          </a:solidFill>
                        </a:defRPr>
                      </a:pPr>
                      <a:r>
                        <a:t>Kerap terlewat (sub-cent, negative)</a:t>
                      </a:r>
                    </a:p>
                  </a:txBody>
                  <a:tcPr>
                    <a:solidFill>
                      <a:srgbClr val="FFFFFF"/>
                    </a:solidFill>
                  </a:tcPr>
                </a:tc>
                <a:tc>
                  <a:txBody>
                    <a:bodyPr/>
                    <a:lstStyle/>
                    <a:p>
                      <a:pPr>
                        <a:defRPr sz="1000">
                          <a:solidFill>
                            <a:srgbClr val="0B1B2D"/>
                          </a:solidFill>
                        </a:defRPr>
                      </a:pPr>
                      <a:r>
                        <a:t>Terdeteksi via biased generator</a:t>
                      </a:r>
                    </a:p>
                  </a:txBody>
                  <a:tcPr>
                    <a:solidFill>
                      <a:srgbClr val="FFFFFF"/>
                    </a:solidFill>
                  </a:tcPr>
                </a:tc>
              </a:tr>
              <a:tr h="457200">
                <a:tc>
                  <a:txBody>
                    <a:bodyPr/>
                    <a:lstStyle/>
                    <a:p>
                      <a:pPr>
                        <a:defRPr sz="1000">
                          <a:solidFill>
                            <a:srgbClr val="0B1B2D"/>
                          </a:solidFill>
                        </a:defRPr>
                      </a:pPr>
                      <a:r>
                        <a:t>Isolasi Bug</a:t>
                      </a:r>
                    </a:p>
                  </a:txBody>
                  <a:tcPr>
                    <a:solidFill>
                      <a:srgbClr val="FFFFFF"/>
                    </a:solidFill>
                  </a:tcPr>
                </a:tc>
                <a:tc>
                  <a:txBody>
                    <a:bodyPr/>
                    <a:lstStyle/>
                    <a:p>
                      <a:pPr>
                        <a:defRPr sz="1000">
                          <a:solidFill>
                            <a:srgbClr val="0B1B2D"/>
                          </a:solidFill>
                        </a:defRPr>
                      </a:pPr>
                      <a:r>
                        <a:t>Manual via trace &amp; debugger</a:t>
                      </a:r>
                    </a:p>
                  </a:txBody>
                  <a:tcPr>
                    <a:solidFill>
                      <a:srgbClr val="FFFFFF"/>
                    </a:solidFill>
                  </a:tcPr>
                </a:tc>
                <a:tc>
                  <a:txBody>
                    <a:bodyPr/>
                    <a:lstStyle/>
                    <a:p>
                      <a:pPr>
                        <a:defRPr sz="1000">
                          <a:solidFill>
                            <a:srgbClr val="0B1B2D"/>
                          </a:solidFill>
                        </a:defRPr>
                      </a:pPr>
                      <a:r>
                        <a:t>Otomatis via counterexample shrinking</a:t>
                      </a:r>
                    </a:p>
                  </a:txBody>
                  <a:tcPr>
                    <a:solidFill>
                      <a:srgbClr val="FFFFFF"/>
                    </a:solidFill>
                  </a:tcPr>
                </a:tc>
              </a:tr>
              <a:tr h="457200">
                <a:tc>
                  <a:txBody>
                    <a:bodyPr/>
                    <a:lstStyle/>
                    <a:p>
                      <a:pPr>
                        <a:defRPr sz="1000">
                          <a:solidFill>
                            <a:srgbClr val="0B1B2D"/>
                          </a:solidFill>
                        </a:defRPr>
                      </a:pPr>
                      <a:r>
                        <a:t>Tingkat Keyakinan</a:t>
                      </a:r>
                    </a:p>
                  </a:txBody>
                  <a:tcPr>
                    <a:solidFill>
                      <a:srgbClr val="FFFFFF"/>
                    </a:solidFill>
                  </a:tcPr>
                </a:tc>
                <a:tc>
                  <a:txBody>
                    <a:bodyPr/>
                    <a:lstStyle/>
                    <a:p>
                      <a:pPr>
                        <a:defRPr sz="1000">
                          <a:solidFill>
                            <a:srgbClr val="0B1B2D"/>
                          </a:solidFill>
                        </a:defRPr>
                      </a:pPr>
                      <a:r>
                        <a:t>False confidence (jalur aman)</a:t>
                      </a:r>
                    </a:p>
                  </a:txBody>
                  <a:tcPr>
                    <a:solidFill>
                      <a:srgbClr val="FFFFFF"/>
                    </a:solidFill>
                  </a:tcPr>
                </a:tc>
                <a:tc>
                  <a:txBody>
                    <a:bodyPr/>
                    <a:lstStyle/>
                    <a:p>
                      <a:pPr>
                        <a:defRPr sz="1000">
                          <a:solidFill>
                            <a:srgbClr val="0B1B2D"/>
                          </a:solidFill>
                        </a:defRPr>
                      </a:pPr>
                      <a:r>
                        <a:t>Calibrated confidence (invarian kokoh)</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Perbandingan matriks memperlihatkan pergeseran paradigma kualitas pengujian. Unit test konvensional sangat baik untuk memvalidasi kontrak fungsional spesifik dan regresi skenario bisnis tertentu. Namun, untuk sistem yang menangani kalkulasi finansial, protokol serialisasi, atau manipulasi struktur data kompleks, PBT memberikan jaminan kebenaran yang jauh lebih kokoh melalui eksplorasi batas domain secara otomatis dan reduksi kegagalan yang deterministik.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Use example tests for concrete user flows; use property tests for structural correctness.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cmd/demo/main.go:215-245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Praktik Terbaik &amp; Anti-Pattern PBT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Panduan menghindari jebakan umum dalam mendesain invariant dan generator.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YANG HARUS DIHINDARI</a:t>
            </a:r>
          </a:p>
          <a:p>
            <a:pPr>
              <a:spcAft>
                <a:spcPts val="400"/>
              </a:spcAft>
              <a:defRPr sz="1200">
                <a:solidFill>
                  <a:srgbClr val="0B1B2D"/>
                </a:solidFill>
              </a:defRPr>
            </a:pPr>
            <a:r>
              <a:t>• 1. Menulis ulang implementasi di dalam assertion test (duplikasi logika kode).</a:t>
            </a:r>
          </a:p>
          <a:p>
            <a:pPr>
              <a:spcAft>
                <a:spcPts val="400"/>
              </a:spcAft>
              <a:defRPr sz="1200">
                <a:solidFill>
                  <a:srgbClr val="0B1B2D"/>
                </a:solidFill>
              </a:defRPr>
            </a:pPr>
            <a:r>
              <a:t>• 2. Generator terlalu sempit sehingga mengabaikan batas domain ekstrem.</a:t>
            </a:r>
          </a:p>
          <a:p>
            <a:pPr>
              <a:spcAft>
                <a:spcPts val="400"/>
              </a:spcAft>
              <a:defRPr sz="1200">
                <a:solidFill>
                  <a:srgbClr val="0B1B2D"/>
                </a:solidFill>
              </a:defRPr>
            </a:pPr>
            <a:r>
              <a:t>• 3. Menguji tanpa shrinker sehingga menyulitkan proses debugging hasil gagal.</a:t>
            </a:r>
          </a:p>
          <a:p>
            <a:pPr>
              <a:defRPr sz="1200" b="1">
                <a:solidFill>
                  <a:srgbClr val="087F76"/>
                </a:solidFill>
              </a:defRPr>
            </a:pPr>
            <a:r>
              <a:t>POLA YANG DIREKOMENDASIKAN</a:t>
            </a:r>
          </a:p>
          <a:p>
            <a:pPr>
              <a:spcAft>
                <a:spcPts val="400"/>
              </a:spcAft>
              <a:defRPr sz="1200">
                <a:solidFill>
                  <a:srgbClr val="0B1B2D"/>
                </a:solidFill>
              </a:defRPr>
            </a:pPr>
            <a:r>
              <a:t>• 1. Fokus pada sifat relasional: roundtrip, idempotence, oracle, dan simetri.</a:t>
            </a:r>
          </a:p>
          <a:p>
            <a:pPr>
              <a:spcAft>
                <a:spcPts val="400"/>
              </a:spcAft>
              <a:defRPr sz="1200">
                <a:solidFill>
                  <a:srgbClr val="0B1B2D"/>
                </a:solidFill>
              </a:defRPr>
            </a:pPr>
            <a:r>
              <a:t>• 2. Suntikkan boundary bias: selalu sertakan 0, -1, MaxInt, dan slice kosong.</a:t>
            </a:r>
          </a:p>
          <a:p>
            <a:pPr>
              <a:spcAft>
                <a:spcPts val="400"/>
              </a:spcAft>
              <a:defRPr sz="1200">
                <a:solidFill>
                  <a:srgbClr val="0B1B2D"/>
                </a:solidFill>
              </a:defRPr>
            </a:pPr>
            <a:r>
              <a:t>• 3. Simpan seed yang gagal ke dalam unit test regresi berbasis contoh permanen.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Kesalahan paling sering terjadi saat mengadopsi PBT adalah kecenderungan developer menduplikasi logika fungsi yang diuji ke dalam assertion test. Praktik ini salah karena jika implementasi memiliki bug logika, assertion duplikat akan ikut menyetujuinya. Fokuslah murni pada sifat relasional independen. Selain itu, pastikan generator selalu mencakup nilai-nilai ekstrem (nol, batas maksimum integer, irisan kosong), dan simpan counterexample yang ditemukan sebagai unit test regresi permanen.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Assert properties of the relationship, never re-implement the algorithm in the test.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labs/40-property-based-testing/content/02-master-draft.md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Panduan Reproduksi Mandiri &amp; Verifikasi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Seluruh kode Go standar siap dijalankan dan diuji langsung pada terminal Anda.</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 1. Masuk ke direktori lab</a:t>
            </a:r>
            <a:br/>
            <a:r>
              <a:t>cd labs/40-property-based-testing</a:t>
            </a:r>
            <a:br/>
            <a:br/>
            <a:r>
              <a:t># 2. Jalankan seluruh property &amp; unit test</a:t>
            </a:r>
            <a:br/>
            <a:r>
              <a:t>go test -v ./...</a:t>
            </a:r>
            <a:br/>
            <a:br/>
            <a:r>
              <a:t># 3. Verifikasi ketiadaan race condition</a:t>
            </a:r>
            <a:br/>
            <a:r>
              <a:t>go test -race ./...</a:t>
            </a:r>
            <a:br/>
            <a:br/>
            <a:r>
              <a:t># 4. Eksekusi CLI interactive demo</a:t>
            </a:r>
            <a:br/>
            <a:r>
              <a:t>go run ./cmd/demo</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Seluruh implementasi pada Lab 40 dibangun di atas Go 1.22 standar tanpa dependensi luar, menjamin reproduksibilitas penuh di lingkungan macOS, Linux, maupun Windows. Perintah go test -v ./... mengeksekusi suite unit test, uji properti testing/quick, serta algoritma shrinking. Perintah go run ./cmd/demo menampilkan perbandingan interaktif antara kegagalan float, perbandingan oracle interval, dan jejak reduksi 21 langkah secara real-time.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Standard library tests provide reproducible, zero-dependency validation for engineering teams.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labs/40-property-based-testing/README.md • go.mod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40</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Eksperimen kecil, invariant universal terbukti.</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Stop guessing edge cases with static examples. Let invariants and shrinking find them for you.</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40 - Property-Based Testing</a:t>
            </a:r>
          </a:p>
          <a:p>
            <a:pPr>
              <a:defRPr sz="1200">
                <a:solidFill>
                  <a:srgbClr val="CBD5E1"/>
                </a:solidFill>
              </a:defRPr>
            </a:pPr>
            <a:r>
              <a:t>https://github.com/lukman-ss/software-engineering-lab/tree/main/labs/40-property-based-testing</a:t>
            </a:r>
          </a:p>
          <a:p>
            <a:br/>
            <a:pPr>
              <a:defRPr sz="1100" b="1">
                <a:solidFill>
                  <a:srgbClr val="20C997"/>
                </a:solidFill>
              </a:defRPr>
            </a:pPr>
            <a:r>
              <a:t>REPOSITORY</a:t>
            </a:r>
          </a:p>
          <a:p>
            <a:pPr>
              <a:defRPr sz="1100">
                <a:solidFill>
                  <a:srgbClr val="FFFFFF"/>
                </a:solidFill>
                <a:latin typeface="Courier New"/>
              </a:defRPr>
            </a:pPr>
            <a:r>
              <a:t>github.com/lukman-ss/software-engineering-lab/tree/main/labs/40-property-based-testing</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7d244968</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Property-Based Testing • Universal Invariants • Shrinking • Go</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