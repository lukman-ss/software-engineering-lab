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Pengantar: Zero-downtime deployment (ZDD) menuntut koeksistensi versi, perutean traffic presisi dengan health probe, penundaan preStop, graceful shutdown, serta migrasi skema database paralel.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Motivasi: Masalah penghentian instan dan urgensi koordinasi graceful shutdown pada sistem produksi modern.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Mental Model: Prinsip dasar koeksistensi versi lama dan baru serta kebutuhan tiga pilar arsitektur ZDD.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Health Probes: Membedakan peran liveness probe untuk restart kontainer dan readiness probe untuk perutean load balancer.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Asynchronous Routing: Penjelasan teknis mengapa pod menerima SIGTERM sebelum load balancer mencabut rute jaringan.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PreStop Hook: Manfaat penundaan terminasi untuk sinkronisasi kube-proxy, cloud load balancer, dan ingress controller.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Implementasi PreStop: Penggunaan select pada time.After dan ctx.Done() mencegah unkillable zombie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HTTP Connection Draining: Standar net/http Shutdown dan WaitGroup tracking untuk mencegah pemutusan request sepihak.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Uji Draining: Verifikasi empiris bahwa request 150ms tetap sukses 200 OK dan preStop delay terbukti menunda penutupan listener.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Database Challenge: Mengapa skema database relasional adalah komponen paling berisiko saat zero-downtime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Expand &amp; Contract: Tiga tahapan evolusi skema database untuk menjamin kompatibilitas silang lintas versi.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Fallback Logic: Kode fallback pembacaan data di UserStore yang menjamin interoperabilitas record lama dan baru.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Uji Database: Pembuktian bahwa entitas user dapat ditulis dan dibaca bergantian oleh format legacy dan expand.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DDL Locks: Risiko penguncian tabel pada PostgreSQL dan urgensi penggunaan lock_timeout saat migrasi skema.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Worker Lifecycle: Karakteristik unik background queue worker dan kebutuhan terminasi kooperatif.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16 Worker Loop: Kode seleksi channel tugas dan sinyal context cancellation di background goroutines.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17 Uji Worker: Hasil test suite yang memverifikasi penghentian aman dan penolakan enqueue pasca sinyal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18 Demo CLI: Rangkaian demo terpadu yang menyimulasikan penerimaan SIGTERM dari orkestrator dan penutupan tertib.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19 Matriks Uji: Ringkasan 16 unit test yang mencakup seluruh aspek ZDD di bawah verifikasi go test -race.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20 Timeout Hierarchy: Penyelarasan kritis antara konfigurasi pod Kubernetes dan timeout internal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21 HTTP vs Queue: Perbandingan teknis penanganan sinyal terminasi pada web listener dan queue processor.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22 Anti-Patterns: Enam kesalahan arsitektur paling umum yang merusak proses zero-downtime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23 Checklist Produksi: Daftar periksa kesiapan arsitektur sistem sebelum rilis tanpa downtime dilakukan.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24 Penutup: Rangkuman kesimpulan arsitektur zero-downtime deployment, verifikasi test, dan tautan repositori sumber.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b-20-zero-downtime-deployment-cover-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Masalah: Penghentian Instan Memutus Trafik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Menghentikan instance aplikasi tanpa koordinasi memicu kegagalan sistem.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MOTIVASI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Setiap kali versi baru dirilis, mematikan instance lama secara mendadak memutus ribuan request HTTP yang sedang berjalan (in-flight) di tengah jalan. Hal ini memicu lonjakan error HTTP 502 Bad Gateway dan koneksi terputus ke pengguna.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BATAS LAB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Lab ini membuktikan arsitektur zero-downtime di Go: pemisahan liveness/readiness probe, graceful HTTP draining, preStop hook delay, terminasi worker kooperatif, dan fallback skema database Expand/Contract.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Never terminate old instances before new instances are ready to serve.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README.md • internal/server/server.go                                                                  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Mental Model: Koeksistensi Versi N &amp; N-1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Versi baru dan versi lama wajib hidup berdampingan saat proses rollout.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PRINSIP UTAMA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Zero-downtime deployment bukanlah peralihan seketika (instant flip). Versi N (baru) dan Versi N-1 (lama) berjalan bersamaan di infrastruktur yang sama, mengakses basis data yang sama, dan melayani trafik secara paralel.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TIGA PILAR KOEKSISTENSI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1. Perutean Trafik: Load balancer hanya mengirim trafik ke pod yang berstatus Ready.</a:t>
            </a:r>
            <a:br/>
            <a:r>
              <a:t>2. Connection Draining: Pod lama menyelesaikan tugas in-flight.</a:t>
            </a:r>
            <a:br/>
            <a:r>
              <a:t>3. Skema Kompatibel: Database melayani pembacaan dan penulisan dari kedua versi secara simultan.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Start new before stopping old: coexistence is the foundation of zero downtime.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content/01-content-brief.md • 02-master-draft.md                                                       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Pemisahan Liveness dan Readiness Probe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Dua mekanisme pemeriksaan kesehatan dengan tanggung jawab yang berbeda.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LIVENESS PROBE (/healthz/live)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Mendeteksi apakah proses aplikasi masih hidup dan tidak hang atau deadlock. Jika liveness gagal (non-200), orkestrator seperti Kubernetes langsung me-restart kontainer. Probe ini harus tetap 200 selama proses shutdown tertib.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READINESS PROBE (/healthz/ready)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Mendeteksi apakah instance siap menerima paket lalu lintas dari load balancer. Begitu instance menerima sinyal shutdown, status readiness langsung diubah menjadi 503 untuk melepas pod dari rotasi jaringan.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Liveness determines if the process lives; Readiness determines if it takes traffic.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internal/server/server.go • liveHandler, readyHandler                                                  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Celah Propagasi Routing Asinkron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Sinyal SIGTERM tiba sebelum aturan jaringan load balancer selesai diperbarui.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DUA JALUR ASINKRON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Di Kubernetes, sinyal SIGTERM ke pod (control plane) dan pembaruan EndpointSlice ke kube-proxy/ingress (data plane) berjalan secara asinkron dan paralel. Terdapat jeda beberapa ratus milidetik hingga beberapa detik.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AKIBAT FATAL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Jika server HTTP langsung mematikan listener seketika saat menerima SIGTERM, paket trafik baru yang masih dikirim oleh load balancer akan menemukan port tertutup, menghasilkan HTTP 502 Bad Gateway kepada pengguna.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Pod termination and network endpoint detachment are asynchronous in Kubernetes.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research/05-report.md • Finding 6: Pod Termination Graceful Shutdown                                   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Solusi: PreStop Delay Menjembatani Routing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Memberikan jeda waktu agar tabel routing eksternal sempat menyinkronkan status.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MEKANISME PRESTOP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Saat menerima sinyal shutdown, server segera menandai dirinya unready pada readiness probe, lalu menahan proses selama durasi preStop (misal 1-5 detik) sebelum memanggil shutdown listener HTTP.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HASIL OPERASIONAL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Selama masa penundaan, server tetap melayani request in-flight dan sisa paket yang terlanjur terkirim. Begitu tabel routing jaringan selesai diperbarui, aliran request baru berhenti secara bersih.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 preStop delay gives network ingress controllers time to detach the pod.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internal/server/server.go • Server.Shutdown                                                            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Implementasi PreStop Berbasis Select Timer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Menghindari sleep telanjang agar penundaan tetap dapat dibatalkan konteks.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KODE SERVER.GO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if s.preStop &gt; 0 {</a:t>
            </a:r>
            <a:br/>
            <a:r>
              <a:t>  select {</a:t>
            </a:r>
            <a:br/>
            <a:r>
              <a:t>  case &lt;-time.After(s.preStop):</a:t>
            </a:r>
            <a:br/>
            <a:r>
              <a:t>  case &lt;-ctx.Done():</a:t>
            </a:r>
            <a:br/>
            <a:r>
              <a:t>    return ctx.Err()</a:t>
            </a:r>
            <a:br/>
            <a:r>
              <a:t>  }</a:t>
            </a:r>
            <a:br/>
            <a:r>
              <a:t>}</a:t>
            </a:r>
            <a:br/>
            <a:r>
              <a:t>srv.Shutdown(ctx)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KEAMANAN KONTEKS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Jangan pernah menggunakan time.Sleep biasa! Menggunakan select dengan ctx.Done() memastikan jika orkestrator membatalkan context timeout, penundaan berhenti seketika tanpa mengunci proses sebagai zombie.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Always wrap delay timers inside select with context cancellation support.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internal/server/server.go:85-110 • Shutdown method                                                     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Connection Draining pada HTTP Server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Menutup penerimaan koneksi baru dan membiarkan koneksi in-flight selesai.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METODE SRV.SHUTDOWN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Paket standar net/http menyediakan method srv.Shutdown(ctx). Fungsi ini menutup listener port agar tidak ada koneksi TCP baru yang diterima, lalu menunggu seluruh koneksi aktif selesai merespons.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PELACAKAN GOROUTINE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Handler /work melacak goroutine aktif menggunakan sync.WaitGroup (s.wg.Add(1) dan defer s.wg.Done()). Pada akhir method Shutdown, s.wg.Wait() menjamin semua operasi tuntas sebelum proses keluar.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Connection draining allows in-flight HTTP requests to complete before process exit.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internal/server/server.go:43-63 • workHandler WaitGroup                                                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Uji Otomatis: Server Draining &amp; PreStop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Verifikasi deterministik terhadap penyelesaian request dan kepatuhan durasi jeda.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TEST SERVER DRAINING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TestServerGracefulShutdown mengirim request /work berdurasi 150ms, lalu memicu Shutdown di tengah eksekusi. Hasil: request tuntas dengan status 200 OK dan server berhenti bersih tanpa error.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TEST PRESTOP HOOK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TestServerPreStopHook memverifikasi bahwa shutdown membutuhkan waktu tepat &gt;=100ms sesuai konfigurasi s.preStop. Test cancellation membuktikan jeda terpotong instan saat context dibatalkan.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Automated tests prove zero dropped requests during server shutdown.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tests/server_test.go • TestServerGracefulShutdown, TestServerPreStopHook                               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Tantangan Terbesar: Skema Database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Mengubah skema database secara langsung memicu error fatal pada versi lama.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MASALAH SCHEMA DRIFT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Aplikasi dapat di-deploy bertahap (canary atau rolling update), namun database bersifat tunggal (stateful shared resource). Mengubah skema secara destruktif memutus kompatibilitas aplikasi yang sedang berjalan.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CONTOH KASUS FATAL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Jika kolom 'name' diganti nama menjadi 'first_name' dan 'last_name', pod versi lama (v1) yang masih menerima trafik akan langsung crash dengan SQL error: column 'name' does not exist.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Database schema changes must be strictly backward compatible during deployment.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content/02-master-draft.md • Database Parallel Change Section                                          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Pola Expand and Contract (Parallel Change)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Membagi evolusi skema ke dalam tahapan independen tanpa memutus sistem.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FASE 1: EXPAND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Tambahkan kolom baru ('first_name', 'last_name') sebagai kolom nullable. Kolom lama ('name') tetap dipertahankan. Deploy aplikasi versi N yang mendukung dual-write dan fallback-read.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FASE 2: MIGRATE &amp; CONTRACT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Migrate: Jalankan script background untuk backfill data lama ke kolom baru.</a:t>
            </a:r>
            <a:br/>
            <a:r>
              <a:t>Contract: Setelah seluruh pod versi lama dipensiunkan, kolom usang ('name') baru dihapus pada rilis terpisah.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Never alter or drop a database column in the same deployment that introduces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research/03-evidence.md • Finding 12: Expand-Deploy-Migrate-Contract                                   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Implementasi Fallback Reading di Go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Menangani pembacaan data legacy dan modern secara transparan di lapisan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LOGIKA GETUSER (DB.GO)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if rec.FirstName == "" &amp;&amp; rec.LastName == "" &amp;&amp; rec.Name != "" {</a:t>
            </a:r>
            <a:br/>
            <a:r>
              <a:t>  parts := strings.SplitN(rec.Name, " ", 2)</a:t>
            </a:r>
            <a:br/>
            <a:r>
              <a:t>  rec.FirstName = parts[0]</a:t>
            </a:r>
            <a:br/>
            <a:r>
              <a:t>  rec.LastName = parts[1]</a:t>
            </a:r>
            <a:br/>
            <a:r>
              <a:t>} else if rec.Name == "" {</a:t>
            </a:r>
            <a:br/>
            <a:r>
              <a:t>  rec.Name = rec.FirstName + " " + rec.LastName</a:t>
            </a:r>
            <a:br/>
            <a: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DUAL COMPATIBILITY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Jika data disimpan oleh aplikasi versi lama, aplikasi baru memecah string Name on-the-fly. Jika data disimpan oleh aplikasi baru, string Name disintesis secara transparan. Tidak ada kegagalan query.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Transparent fallback logic allows modern and legacy records to coexist safely.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internal/db/db.go:48-67 • GetUser method                                                               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Uji Otomatis: Kompatibilitas Database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Memvalidasi pembacaan dan penimpaan record lintas generasi skema.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TEST EXPAND CONTRACT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TestExpandContractDatabase menguji penyimpanan record warisan via InsertLegacy dan record modern via SaveExpand. Kedua record berhasil dibaca ulang dengan field lengkap tanpa kehilangan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TEST OVERWRITE RECORD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TestDBLegacyOverwriteWithExpand membuktikan record yang awalnya ditulis dalam format warisan dapat ditimpa oleh skema modern dan tetap terbaca utuh pada kedua format.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Database schema tests verify zero data corruption across legacy and modern formats.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tests/db_test.go • TestExpandContractDatabase, TestDBLegacyOverwriteWithExpand                         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Bahaya DDL Table Lock di Produksi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Kunci ACCESS EXCLUSIVE dapat membekukan kueri aplikasi jika tidak dibatasi.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CONSTANT VS VOLATILE DEFAULT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Di PostgreSQL 11+, ADD COLUMN dengan default konstan (DEFAULT 'active') adalah operasi metadata instan tanpa rewrite. Namun default volatil (clock_timestamp(), uuid) memaksa full table rewrite!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MITIGASI LOCK_TIMEOUT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Setiap perintah DDL meminta ACCESS EXCLUSIVE lock. Jika antrean terhambat kueri lambat, kueri lain akan menumpuk. Di produksi, selalu tetapkan: SET lock_timeout = '2s'; sebelum menjalankan migrasi DDL.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Always guard production schema migrations with explicit lock_timeout parameters.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research/03-evidence.md • Finding 10: Constant Default &amp; Lock Contention                               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Penghentian Background Queue Worker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Menghentikan pemrosesan asinkron tanpa merusak integritas job yang sedang aktif.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PERBEDAAN DENGAN HTTP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Server HTTP menangani request berdurasi milidetik. Background queue worker memproses pekerjaan berdurasi panjang (detik hingga menit). Menghentikan worker secara paksa memicu corrupt state atau eksekusi ganda.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KONTRAK PENGHENTIAN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Worker kooperatif merespons sinyal shutdown dengan: 1) Berhenti mengambil job baru dari queue, 2) Menuntaskan pekerjaan yang sedang aktif, dan 3) Menghormati batas waktu pengurasan (drain timeout).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Queue workers must finish active jobs before gracefully yielding execution.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internal/worker/worker.go • Worker design and lifecycle                                                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Implementasi Loop Worker Kooperatif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Pemeriksaan ganda konteks pembatalan sebelum dan selama pemrosesan tugas.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KODE WORKER.GO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select {</a:t>
            </a:r>
            <a:br/>
            <a:r>
              <a:t>case &lt;-w.ctx.Done(): return</a:t>
            </a:r>
            <a:br/>
            <a:r>
              <a:t>case job, ok := &lt;-w.jobChan:</a:t>
            </a:r>
            <a:br/>
            <a:r>
              <a:t>  if !ok { return }</a:t>
            </a:r>
            <a:br/>
            <a:r>
              <a:t>  select {</a:t>
            </a:r>
            <a:br/>
            <a:r>
              <a:t>  case &lt;-time.After(job.Duration):</a:t>
            </a:r>
            <a:br/>
            <a:r>
              <a:t>    w.completed = append(w.completed, job.ID)</a:t>
            </a:r>
            <a:br/>
            <a:r>
              <a:t>  case &lt;-w.ctx.Done(): return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PENCEGAHAN DEADLOCK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Pekerja mendengarkan w.ctx.Done() pada setiap tahap: sebelum dequeue, setelah dequeue, dan saat mengeksekusi durasi tugas. Jika drain timeout tercapai, konteks dibatalkan dan goroutine keluar tertib.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Cooperative workers check context cancellation at every execution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internal/worker/worker.go:38-74 • Start method                                                         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Uji Otomatis: Worker Termination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Pembuktian penyelesaian tugas aktif dan penolakan tugas baru pasca-stop.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TEST GRACEFUL STOP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TestWorkerGracefulShutdown memasukkan 2 job. Saat job 1 berjalan, sinyal stop dikirim. Worker menyelesaikan job 1 dan job 2 yang tersisa di channel, lalu berhenti tanpa kehilangan tugas.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TEST DRAIN TIMEOUT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TestWorkerShutdownTimeout menguji job lambat yang melebihi drain timeout. Worker membatalkan konteks secara bersih dan keluar tanpa blocking selamanya.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Queue tests prove active jobs finish cleanly while post-shutdown jobs are rejected.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tests/worker_test.go • TestWorkerGracefulShutdown, TestWorkerShutdownTimeout                           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Orkestrasi Demo: Simulasi Siklus Penuh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Menggabungkan server, worker, database, dan sinyal OS dalam satu skenario nyata.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ALUR CMD/DEMO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1. Inisialisasi Database (Expand/Contract)</a:t>
            </a:r>
            <a:br/>
            <a:r>
              <a:t>2. Mulai HTTP Server (preStop 1s) &amp; Worker</a:t>
            </a:r>
            <a:br/>
            <a:r>
              <a:t>3. Kirim in-flight request HTTP (/work 300ms)</a:t>
            </a:r>
            <a:br/>
            <a:r>
              <a:t>4. Simulasikan SIGTERM dari orkestrator</a:t>
            </a:r>
            <a:br/>
            <a:r>
              <a:t>5. Eksekusi preStop delay, server drain, &amp; worker stop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VERIFIKASI OUTPUT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Eksekusi go run ./cmd/demo membuktikan:</a:t>
            </a:r>
            <a:br/>
            <a:r>
              <a:t>- Request HTTP tuntas 200 OK selama shutdown</a:t>
            </a:r>
            <a:br/>
            <a:r>
              <a:t>- Worker menyelesaikan tugas aktif</a:t>
            </a:r>
            <a:br/>
            <a:r>
              <a:t>- Server dan worker berhenti dengan status exit 0 tanpa kebocoran interaksi.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The CLI demo orchestrates all components under simulated SIGTERM conditions.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cmd/demo/main.go • Orchestrated lifecycle demo                                                         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Matriks Verifikasi Pengujian Otomatis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Seluruh 16 kasus uji lulus secara deterministik dengan nol race condition.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HASIL EKSEKUSI SUITE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• TestExpandContractDatabase: PASS</a:t>
            </a:r>
            <a:br/>
            <a:r>
              <a:t>• TestDBLegacyOverwriteWithExpand: PASS</a:t>
            </a:r>
            <a:br/>
            <a:r>
              <a:t>• TestServerProbes: PASS</a:t>
            </a:r>
            <a:br/>
            <a:r>
              <a:t>• TestServerGracefulShutdown: PASS</a:t>
            </a:r>
            <a:br/>
            <a:r>
              <a:t>• TestServerPreStopHook: PASS</a:t>
            </a:r>
            <a:br/>
            <a:r>
              <a:t>• TestServerPreStopCancellation: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HASIL WORKER &amp; CONCURRENCY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• TestServerMultiRequestDrain: PASS</a:t>
            </a:r>
            <a:br/>
            <a:r>
              <a:t>• TestWorkerConcurrency: PASS</a:t>
            </a:r>
            <a:br/>
            <a:r>
              <a:t>• TestWorkerGracefulShutdown: PASS</a:t>
            </a:r>
            <a:br/>
            <a:r>
              <a:t>• TestWorkerShutdownTimeout: PASS</a:t>
            </a:r>
            <a:br/>
            <a:r>
              <a:t>• TestWorkerConcurrentEnqueueStop: PASS</a:t>
            </a:r>
            <a:br/>
            <a:r>
              <a:t>• go test -race: 0 data races (PASS)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16/16 automated test assertions pass cleanly under race detector verification.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tests/ • db_test.go, server_test.go, worker_test.go                                                    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Hierarki Timeout pada Orkestrator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Menyelaraskan durasi timeout untuk mencegah pembunuhan paksa oleh SIGKILL.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URUTAN TIMEOUT WAJIB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preStop delay (1-5s)</a:t>
            </a:r>
            <a:br/>
            <a:r>
              <a:t>  &lt; HTTP Draining Timeout (10-15s)</a:t>
            </a:r>
            <a:br/>
            <a:r>
              <a:t>    &lt; terminationGracePeriodSeconds (30-60s)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BAHAYA MISKONFIGURASI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Jika terminationGracePeriodSeconds lebih pendek daripada total preStop + HTTP draining, Kubernetes akan mengirim SIGKILL sebelum request tuntas, merusak seluruh manfaat graceful shutdown.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Termination grace period must exceed the sum of preStop delay and drain timeouts.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research/05-report.md • Finding 6: Lifecycle Timing Dynamics                                           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HTTP Worker vs Background Queue Worker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Karakteristik terminasi sinyal pada runtime aplikasi web dan queue processor.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HTTP WORKER (PHP-FPM / GO)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PHP-FPM tidak menangani SIGTERM secara bawaan untuk menyelesaikan in-flight HTTP request. Butuh konfigurasi process_control_timeout di php-fpm.conf dan proxy_read_timeout di nginx untuk connection draining.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QUEUE WORKER (SUPERVISOR / HORIZON)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Laravel Horizon menyediakan command horizon:terminate yang menunggu worker menyelesaikan job aktif. Supervisor memerlukan konfigurasi stopwaitsecs yang cukup panjang agar tidak mengirim SIGKILL prematur.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Tune process managers and proxies specifically for HTTP versus queue workloads.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research/06-open-questions.md • Q2: Signal Handling in PHP-FPM vs Horizon                              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Anti-Patterns &amp; Kesalahan Umum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Jebakan implementasi yang sering membatalkan janji zero-downtime.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JEBAKAN OPERASIONAL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1. Menggabungkan Liveness &amp; Readiness: Pod di-restart saat sedang sibuk inisialisasi.</a:t>
            </a:r>
            <a:br/>
            <a:r>
              <a:t>2. Melewatkan PreStop Hook: Menghasilkan lonjakan HTTP 502 akibat propagasi rute lambat.</a:t>
            </a:r>
            <a:br/>
            <a:r>
              <a:t>3. time.Sleep Tanpa Konteks: Proses menggantung dan tidak bisa dibatalkan.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JEBAKAN DATABASE &amp; QUEUE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4. Rename Kolom dalam 1 Rilis: Menghancurkan pod versi lama seketika.</a:t>
            </a:r>
            <a:br/>
            <a:r>
              <a:t>5. Volatile Default DDL: Memicu table lock eksklusif berjam-jam.</a:t>
            </a:r>
            <a:br/>
            <a:r>
              <a:t>6. Worker SIGKILL Instan: Merusak job status atau memicu eksekusi duplikat.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Eliminate deployment anti-patterns to guarantee truly unnoticeable releases.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content/02-master-draft.md • Production Considerations &amp; Common Mistakes                               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87F76"/>
                </a:solidFill>
              </a:defRPr>
            </a:pPr>
            <a:r>
              <a:t>SOFTWARE ENGINEERING LAB  |  LAB 20</a:t>
            </a:r>
          </a:p>
          <a:p>
            <a:pPr>
              <a:spcAft>
                <a:spcPts val="400"/>
              </a:spcAft>
              <a:defRPr sz="2800" b="1">
                <a:solidFill>
                  <a:srgbClr val="0B1B2D"/>
                </a:solidFill>
              </a:defRPr>
            </a:pPr>
            <a:r>
              <a:t>Checklist Produksi Zero-Downtime</a:t>
            </a:r>
          </a:p>
          <a:p>
            <a:pPr>
              <a:defRPr sz="1500">
                <a:solidFill>
                  <a:srgbClr val="52606B"/>
                </a:solidFill>
              </a:defRPr>
            </a:pPr>
            <a:r>
              <a:t>Standar verifikasi sebelum mendistribusikan pembaruan ke lingkungan produksi.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INFRASTRUKTUR &amp; APLIKASI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[ ] Pisahkan endpoint /healthz/live dan /healthz/ready</a:t>
            </a:r>
            <a:br/>
            <a:r>
              <a:t>[ ] Konfigurasi preStop hook delay (1-5 detik)</a:t>
            </a:r>
            <a:br/>
            <a:r>
              <a:t>[ ] Implementasikan srv.Shutdown dengan WaitGroup tracking</a:t>
            </a:r>
            <a:br/>
            <a:r>
              <a:t>[ ] Pastikan terminationGracePeriodSeconds mencukupi total jeda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336792" y="2011680"/>
            <a:ext cx="51206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AD7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94560"/>
            <a:ext cx="47548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87F76"/>
                </a:solidFill>
              </a:defRPr>
            </a:pPr>
            <a:r>
              <a:t>DATABASE &amp; WORKER</a:t>
            </a:r>
          </a:p>
          <a:p>
            <a:pPr>
              <a:lnSpc>
                <a:spcPct val="130000"/>
              </a:lnSpc>
              <a:defRPr sz="1400">
                <a:solidFill>
                  <a:srgbClr val="0B1B2D"/>
                </a:solidFill>
              </a:defRPr>
            </a:pPr>
            <a:r>
              <a:t>[ ] Terapkan pola Expand and Contract untuk setiap mutasi skema</a:t>
            </a:r>
            <a:br/>
            <a:r>
              <a:t>[ ] Lindungi migrasi DDL dengan SET lock_timeout = '2s'</a:t>
            </a:r>
            <a:br/>
            <a:r>
              <a:t>[ ] Gunakan cooperative termination pada background worker</a:t>
            </a:r>
            <a:br/>
            <a:r>
              <a:t>[ ] Konfigurasi stopwaitsecs supervisor worker sesuai durasi job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5912" cy="640080"/>
          </a:xfrm>
          <a:prstGeom prst="rect">
            <a:avLst/>
          </a:prstGeom>
          <a:solidFill>
            <a:srgbClr val="087F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Verify probes, network delays, database phases, and worker timeouts before release.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2606B"/>
                </a:solidFill>
              </a:defRPr>
            </a:pPr>
            <a:r>
              <a:t>content/05-key-takeaways.md • Production engineering checklist                                         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6015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87F76"/>
                </a:solidFill>
              </a:defRPr>
            </a:pPr>
            <a:r>
              <a:t>SOFTWARE ENGINEERING LAB | LAB 20</a:t>
            </a:r>
          </a:p>
          <a:p>
            <a:pPr>
              <a:spcAft>
                <a:spcPts val="1600"/>
              </a:spcAft>
              <a:defRPr sz="2800" b="1">
                <a:solidFill>
                  <a:srgbClr val="F4F1E8"/>
                </a:solidFill>
              </a:defRPr>
            </a:pPr>
            <a:r>
              <a:t>Start New Before Stopping Old: Coexistence, Probes, &amp; Parallel Change.</a:t>
            </a:r>
          </a:p>
          <a:p>
            <a:pPr>
              <a:spcAft>
                <a:spcPts val="2000"/>
              </a:spcAft>
              <a:defRPr sz="1600">
                <a:solidFill>
                  <a:srgbClr val="D8E9DF"/>
                </a:solidFill>
              </a:defRPr>
            </a:pPr>
            <a:r>
              <a:t>Zero-downtime deployment relies on version coexistence, decoupled health probes, preStop network delays, HTTP connection draining, and backward-compatible database schema evolution.</a:t>
            </a:r>
          </a:p>
          <a:p>
            <a:pPr>
              <a:lnSpc>
                <a:spcPct val="130000"/>
              </a:lnSpc>
              <a:spcAft>
                <a:spcPts val="2400"/>
              </a:spcAft>
              <a:defRPr sz="1300">
                <a:solidFill>
                  <a:srgbClr val="7BA29E"/>
                </a:solidFill>
              </a:defRPr>
            </a:pPr>
            <a:r>
              <a:t>• Verifikasi Otomatis: 16/16 PASS (go test -race ./...) • Kunci Arsitektur: PreStop select-timer, net/http draining, Expand/Contract DB, Cooperative worker • Repositori: github.com/lukman-ss/software-engineering-lab/tree/main/labs/20-zero-downtime-deployment • Komitmen Terverifikasi: 0489062</a:t>
            </a:r>
          </a:p>
          <a:p>
            <a:pPr>
              <a:defRPr sz="1400" b="1">
                <a:solidFill>
                  <a:srgbClr val="D97706"/>
                </a:solidFill>
              </a:defRPr>
            </a:pPr>
            <a:r>
              <a:t>Karya: Lukman / lukman-ss  •  Software Engineering Lab Seri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