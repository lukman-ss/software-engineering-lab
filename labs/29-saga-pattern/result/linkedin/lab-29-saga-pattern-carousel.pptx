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Saga Pattern: Transaksi Terdistribusi Tanpa 2PC</a:t>
            </a:r>
          </a:p>
          <a:p/>
          <a:p>
            <a:r>
              <a:t>[]</a:t>
            </a:r>
          </a:p>
          <a:p>
            <a:r>
              <a:t>- Retro CRT monitor beige dengan scanlines</a:t>
            </a:r>
          </a:p>
          <a:p>
            <a:r>
              <a:t>- ASCII art terminal yang menampilkan alur saga execution</a:t>
            </a:r>
          </a:p>
          <a:p>
            <a:r>
              <a:t>- Penulis: Lukman / lukman-ss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Keterbatasan ACID Monolitik di Dunia Microservices</a:t>
            </a:r>
          </a:p>
          <a:p/>
          <a:p>
            <a:r>
              <a:t>Mental Model: 2PC locks distributed databases synchronously; Sagas commit locally and coordinate asynchronously.</a:t>
            </a:r>
          </a:p>
          <a:p/>
          <a:p>
            <a:r>
              <a:t>[MASALAH DASAR]</a:t>
            </a:r>
          </a:p>
          <a:p>
            <a:r>
              <a:t>- Arsitektur microservices menuntut setiap service memiliki database sendiri</a:t>
            </a:r>
          </a:p>
          <a:p>
            <a:r>
              <a:t>- Transaksi bisnis seperti Checkout membutuhkan koordinasi Order, Payment, dan Inventory</a:t>
            </a:r>
          </a:p>
          <a:p>
            <a:r>
              <a:t>- Pola BEGIN TRANSACTION...COMMIT tunggal tidak dapat melintasi batas jaringan database</a:t>
            </a:r>
          </a:p>
          <a:p>
            <a:r>
              <a:t>[KEGAGALAN TWO-PHASE COMMIT (2PC)]</a:t>
            </a:r>
          </a:p>
          <a:p>
            <a:r>
              <a:t>- 2PC mengunci baris data di seluruh node database selama fase persiapan (prepare)</a:t>
            </a:r>
          </a:p>
          <a:p>
            <a:r>
              <a:t>- Koordinator tunggal menjadi single point of failure (SPOF) dan latency multiplier</a:t>
            </a:r>
          </a:p>
          <a:p>
            <a:r>
              <a:t>- Partisi jaringan membuat resource terkunci tanpa batas (blocking protocol)</a:t>
            </a:r>
          </a:p>
          <a:p>
            <a:r>
              <a:t>[PERGESERAN PARADIGMA]</a:t>
            </a:r>
          </a:p>
          <a:p>
            <a:r>
              <a:t>- Sistem beralih dari ACID ketat menuju BASE (Basically Available, Soft state, Eventual consistency)</a:t>
            </a:r>
          </a:p>
          <a:p>
            <a:r>
              <a:t>- Saga pattern memecah transaksi global menjadi rangkaian transaksi lokal independen</a:t>
            </a:r>
          </a:p>
          <a:p>
            <a:r>
              <a:t>- Setiap transaksi lokal langsung melakukan commit di databasenya masing-masing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Anatomi Saga: Rangkaian Transaksi Lokal</a:t>
            </a:r>
          </a:p>
          <a:p/>
          <a:p>
            <a:r>
              <a:t>Mental Model: A saga is a chain of local commits; failure triggers a reverse chain of business compensations.</a:t>
            </a:r>
          </a:p>
          <a:p/>
          <a:p>
            <a:r>
              <a:t>[FORWARD EXECUTION]</a:t>
            </a:r>
          </a:p>
          <a:p>
            <a:r>
              <a:t>- T1 (Order Created) -&gt; T2 (Payment Processed) -&gt; T3 (Inventory Reserved) -&gt; T4 (Order Approved)</a:t>
            </a:r>
          </a:p>
          <a:p>
            <a:r>
              <a:t>- Setiap step mengeksekusi mutasi data lokal dan mencatat status EXECUTED</a:t>
            </a:r>
          </a:p>
          <a:p>
            <a:r>
              <a:t>- Jika semua langkah berhasil, transaksi terdistribusi selesai secara konsisten</a:t>
            </a:r>
          </a:p>
          <a:p>
            <a:r>
              <a:t>[COMPENSATION ROLLBACK (LIFO)]</a:t>
            </a:r>
          </a:p>
          <a:p>
            <a:r>
              <a:t>- Jika T3 gagal (misal out-of-stock), orchestrator memicu kompensasi</a:t>
            </a:r>
          </a:p>
          <a:p>
            <a:r>
              <a:t>- Urutan mundur: C2 (Refund Payment) -&gt; C1 (Cancel Order)</a:t>
            </a:r>
          </a:p>
          <a:p>
            <a:r>
              <a:t>- Prinsip tumpukan LIFO menjamin efek dibatalkan dalam urutan terbalik</a:t>
            </a:r>
          </a:p>
          <a:p>
            <a:r>
              <a:t>[KARAKTERISTIK KUNCI]</a:t>
            </a:r>
          </a:p>
          <a:p>
            <a:r>
              <a:t>- Kompensasi adalah transaksi bisnis baru, bukan pembatalan level storage engine</a:t>
            </a:r>
          </a:p>
          <a:p>
            <a:r>
              <a:t>- Setiap langkah menghasilkan log audit permanen di sistem</a:t>
            </a:r>
          </a:p>
          <a:p>
            <a:r>
              <a:t>- Rollback tidak menghapus record masa lalu melainkan menuliskan saldo koreksi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Tiga Jenis Transaksi dalam Saga</a:t>
            </a:r>
          </a:p>
          <a:p/>
          <a:p>
            <a:r>
              <a:t>Mental Model: Compensable before pivot, pivot decides the fate, retryable guarantees completion after pivot.</a:t>
            </a:r>
          </a:p>
          <a:p/>
          <a:p>
            <a:r>
              <a:t>[1. COMPENSABLE TRANSACTIONS]</a:t>
            </a:r>
          </a:p>
          <a:p>
            <a:r>
              <a:t>- Langkah yang dapat dibatalkan atau dikoreksi dengan aksi berlawanan</a:t>
            </a:r>
          </a:p>
          <a:p>
            <a:r>
              <a:t>- Contoh: CreateOrder (dibatalkan oleh CancelOrder), ChargeCard (RefundPayment)</a:t>
            </a:r>
          </a:p>
          <a:p>
            <a:r>
              <a:t>- Wajib memiliki pasangan kompensasi eksplisit sebelum titik balik tercapai</a:t>
            </a:r>
          </a:p>
          <a:p>
            <a:r>
              <a:t>[2. PIVOT TRANSACTION]</a:t>
            </a:r>
          </a:p>
          <a:p>
            <a:r>
              <a:t>- Titik balik tanpa kembali (point of no return) dalam proses bisnis saga</a:t>
            </a:r>
          </a:p>
          <a:p>
            <a:r>
              <a:t>- Jika transaksi pivot berhasil, saga dijamin akan terus berjalan hingga tuntas</a:t>
            </a:r>
          </a:p>
          <a:p>
            <a:r>
              <a:t>- Jika transaksi pivot gagal, seluruh langkah compensable sebelumnya harus di-rollback</a:t>
            </a:r>
          </a:p>
          <a:p>
            <a:r>
              <a:t>[3. RETRYABLE TRANSACTIONS]</a:t>
            </a:r>
          </a:p>
          <a:p>
            <a:r>
              <a:t>- Langkah yang dieksekusi setelah pivot dan dijamin pada akhirnya akan berhasil</a:t>
            </a:r>
          </a:p>
          <a:p>
            <a:r>
              <a:t>- Contoh: Kirim notifikasi email, approval final order, pembaruan analitik</a:t>
            </a:r>
          </a:p>
          <a:p>
            <a:r>
              <a:t>- Wajib bersifat idempotent karena dapat di-retry berulang kali oleh worker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Dua Pola Koordinasi: Orchestration vs Choreography</a:t>
            </a:r>
          </a:p>
          <a:p/>
          <a:p>
            <a:r>
              <a:t>Mental Model: Orchestration gives explicit central control; Choreography gives loose event-driven autonomy.</a:t>
            </a:r>
          </a:p>
          <a:p/>
          <a:p>
            <a:r>
              <a:t>[ORCHESTRATION (CENTRALIZED)]</a:t>
            </a:r>
          </a:p>
          <a:p>
            <a:r>
              <a:t>- Koordinator sentral memegang state machine dan memanggil service satu per satu</a:t>
            </a:r>
          </a:p>
          <a:p>
            <a:r>
              <a:t>- Alur bisnis eksplisit, mudah di-audit, dan penanganan LIFO rollback terpusat</a:t>
            </a:r>
          </a:p>
          <a:p>
            <a:r>
              <a:t>- Kelemahan: Risiko kopling logika bisnis ke satu koordinator jika tidak dirawat</a:t>
            </a:r>
          </a:p>
          <a:p>
            <a:r>
              <a:t>[CHOREOGRAPHY (EVENT-DRIVEN)]</a:t>
            </a:r>
          </a:p>
          <a:p>
            <a:r>
              <a:t>- Setiap service mempublikasikan domain event dan bereaksi terhadap event service lain</a:t>
            </a:r>
          </a:p>
          <a:p>
            <a:r>
              <a:t>- Tingkat decoupling tinggi tanpa orchestrator tunggal di tengah</a:t>
            </a:r>
          </a:p>
          <a:p>
            <a:r>
              <a:t>- Kelemahan: Alur implisit, sulit melacak state global, risiko siklus event tak berujung</a:t>
            </a:r>
          </a:p>
          <a:p>
            <a:r>
              <a:t>[PANDUAN PEMILIHAN]</a:t>
            </a:r>
          </a:p>
          <a:p>
            <a:r>
              <a:t>- Gunakan Orchestration untuk workflow kompleks dengan &gt;3 langkah dan kompensasi rumit</a:t>
            </a:r>
          </a:p>
          <a:p>
            <a:r>
              <a:t>- Gunakan Choreography untuk integrasi sederhana 2-3 service yang minim ketergantungan balik</a:t>
            </a:r>
          </a:p>
          <a:p>
            <a:r>
              <a:t>- Lab 29 mengimplementasikan kedua model untuk perbandingan langsung yang objektif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Arsitektur Lab 29: Komponen &amp; Boundary</a:t>
            </a:r>
          </a:p>
          <a:p/>
          <a:p>
            <a:r>
              <a:t>Mental Model: Clean component separation isolates domain logic from distributed transaction coordination.</a:t>
            </a:r>
          </a:p>
          <a:p/>
          <a:p>
            <a:r>
              <a:t>[SAGA CORE (`internal/saga`)]</a:t>
            </a:r>
          </a:p>
          <a:p>
            <a:r>
              <a:t>- Orchestrator: Mengelola slice Step, eksekusi sekuensial, dan kompensasi LIFO</a:t>
            </a:r>
          </a:p>
          <a:p>
            <a:r>
              <a:t>- StepLog: Mencatat status PENDING, EXECUTED, FAILED, COMPENSATED, COMPENSATE_FAILED</a:t>
            </a:r>
          </a:p>
          <a:p>
            <a:r>
              <a:t>- EventBus: Memfasilitasi publish-subscribe berbasis thread-safe sync.RWMutex</a:t>
            </a:r>
          </a:p>
          <a:p>
            <a:r>
              <a:t>[DOMAIN SERVICES (`internal/services`)]</a:t>
            </a:r>
          </a:p>
          <a:p>
            <a:r>
              <a:t>- OrderService: Mengelola status pesanan dan semantic lock untuk pencegahan race condition</a:t>
            </a:r>
          </a:p>
          <a:p>
            <a:r>
              <a:t>- PaymentService: Memproses pembayaran dengan idempotency key per payment ID</a:t>
            </a:r>
          </a:p>
          <a:p>
            <a:r>
              <a:t>- InventoryService: Reservasi dan pelepasan stok inventaris barang</a:t>
            </a:r>
          </a:p>
          <a:p>
            <a:r>
              <a:t>[VERIFIKASI &amp; RUNNER]</a:t>
            </a:r>
          </a:p>
          <a:p>
            <a:r>
              <a:t>- cmd/demo/main.go: Mendemonstrasikan Happy Path dan Rollback Out-of-Stock di CLI</a:t>
            </a:r>
          </a:p>
          <a:p>
            <a:r>
              <a:t>- tests/saga_test.go: 9 skenario pengujian komprehensif termasuk concurrency race test</a:t>
            </a:r>
          </a:p>
          <a:p>
            <a:r>
              <a:t>- Zero external dependencies — murni menggunakan Go standard library untuk akurasi tertinggi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7: Implementasi Orchestrator &amp; Struktur Step</a:t>
            </a:r>
          </a:p>
          <a:p/>
          <a:p>
            <a:r>
              <a:t>Mental Model: Every orchestrator step pairs a forward action with an optional reverse compensation.</a:t>
            </a:r>
          </a:p>
          <a:p/>
          <a:p>
            <a:r>
              <a:t>[STRUKTUR STEP &amp; STATUS]</a:t>
            </a:r>
          </a:p>
          <a:p>
            <a:r>
              <a:t>- type Step struct {</a:t>
            </a:r>
          </a:p>
          <a:p>
            <a:r>
              <a:t>-     Name       string</a:t>
            </a:r>
          </a:p>
          <a:p>
            <a:r>
              <a:t>-     Execute    func(ctx context.Context) error</a:t>
            </a:r>
          </a:p>
          <a:p>
            <a:r>
              <a:t>-     Compensate func(ctx context.Context) error</a:t>
            </a:r>
          </a:p>
          <a:p>
            <a:r>
              <a:t>- }</a:t>
            </a:r>
          </a:p>
          <a:p>
            <a:r>
              <a:t>- Tracking status: PENDING, EXECUTED, FAILED, COMPENSATED, COMPENSATE_FAILED</a:t>
            </a:r>
          </a:p>
          <a:p>
            <a:r>
              <a:t>[THREAD-SAFE STATE LOGGING]</a:t>
            </a:r>
          </a:p>
          <a:p>
            <a:r>
              <a:t>- type Orchestrator struct {</a:t>
            </a:r>
          </a:p>
          <a:p>
            <a:r>
              <a:t>-     mu    sync.Mutex</a:t>
            </a:r>
          </a:p>
          <a:p>
            <a:r>
              <a:t>-     steps []Step</a:t>
            </a:r>
          </a:p>
          <a:p>
            <a:r>
              <a:t>-     logs  []StepLog</a:t>
            </a:r>
          </a:p>
          <a:p>
            <a:r>
              <a:t>- }</a:t>
            </a:r>
          </a:p>
          <a:p>
            <a:r>
              <a:t>- Setiap mutasi log dilindungi mutex untuk mendukung akses paralel</a:t>
            </a:r>
          </a:p>
          <a:p>
            <a:r>
              <a:t>[KONTRAK KOMPENSASI]</a:t>
            </a:r>
          </a:p>
          <a:p>
            <a:r>
              <a:t>- Compensate bersifat opsional untuk langkah read-only atau pivot murni</a:t>
            </a:r>
          </a:p>
          <a:p>
            <a:r>
              <a:t>- Jika Compensate bernilai nil, langkah tersebut dilewati tanpa error saat rollback</a:t>
            </a:r>
          </a:p>
          <a:p>
            <a:r>
              <a:t>- Menjamin fleksibilitas dalam memodelkan ragam jenis transaksi bisnis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8: Algoritma Kompensasi LIFO: Membalik Riwayat</a:t>
            </a:r>
          </a:p>
          <a:p/>
          <a:p>
            <a:r>
              <a:t>Mental Model: Unwind executed steps in reverse order (LIFO) so dependent actions undo gracefully.</a:t>
            </a:r>
          </a:p>
          <a:p/>
          <a:p>
            <a:r>
              <a:t>[KODE ALGORITMA LIFO]</a:t>
            </a:r>
          </a:p>
          <a:p>
            <a:r>
              <a:t>- func (o *Orchestrator) compensate(ctx context.Context, executed []Step) error {</a:t>
            </a:r>
          </a:p>
          <a:p>
            <a:r>
              <a:t>-     var compErrors []error</a:t>
            </a:r>
          </a:p>
          <a:p>
            <a:r>
              <a:t>-     for i := len(executed) - 1; i &gt;= 0; i-- {</a:t>
            </a:r>
          </a:p>
          <a:p>
            <a:r>
              <a:t>-         step := executed[i]</a:t>
            </a:r>
          </a:p>
          <a:p>
            <a:r>
              <a:t>-         if step.Compensate != nil {</a:t>
            </a:r>
          </a:p>
          <a:p>
            <a:r>
              <a:t>-             err := step.Compensate(ctx)</a:t>
            </a:r>
          </a:p>
          <a:p>
            <a:r>
              <a:t>-             // append error or mark COMPENSATED...</a:t>
            </a:r>
          </a:p>
          <a:p>
            <a:r>
              <a:t>-         }</a:t>
            </a:r>
          </a:p>
          <a:p>
            <a:r>
              <a:t>-     }</a:t>
            </a:r>
          </a:p>
          <a:p>
            <a:r>
              <a:t>-     return aggregateErrors(compErrors)</a:t>
            </a:r>
          </a:p>
          <a:p>
            <a:r>
              <a:t>- }</a:t>
            </a:r>
          </a:p>
          <a:p>
            <a:r>
              <a:t>[MENGAPA HARUS LIFO?]</a:t>
            </a:r>
          </a:p>
          <a:p>
            <a:r>
              <a:t>- Langkah belakangan seringkali bergantung pada status yang dibuat langkah sebelumnya</a:t>
            </a:r>
          </a:p>
          <a:p>
            <a:r>
              <a:t>- Contoh: Dana harus dikembalikan (refund) sebelum pesanan dibatalkan (cancel)</a:t>
            </a:r>
          </a:p>
          <a:p>
            <a:r>
              <a:t>- Eksekusi acak atau paralel berisiko melanggar batasan konsistensi domain</a:t>
            </a:r>
          </a:p>
          <a:p>
            <a:r>
              <a:t>[PENANGANAN CONTEXT SAAT ROLLBACK]</a:t>
            </a:r>
          </a:p>
          <a:p>
            <a:r>
              <a:t>- Kompensasi dipanggil menggunakan context.Background()</a:t>
            </a:r>
          </a:p>
          <a:p>
            <a:r>
              <a:t>- Tujuannya mencegah pembatalan context request induk mematikan proses pembersihan data</a:t>
            </a:r>
          </a:p>
          <a:p>
            <a:r>
              <a:t>- Menjamin proses rollback tetap berjalan meski client melakukan disconnect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9: Event-Driven Choreography via EventBus</a:t>
            </a:r>
          </a:p>
          <a:p/>
          <a:p>
            <a:r>
              <a:t>Mental Model: Choreography lets services react to domain events without knowing who triggered them.</a:t>
            </a:r>
          </a:p>
          <a:p/>
          <a:p>
            <a:r>
              <a:t>[STRUKTUR EVENT BUS]</a:t>
            </a:r>
          </a:p>
          <a:p>
            <a:r>
              <a:t>- type EventBus struct {</a:t>
            </a:r>
          </a:p>
          <a:p>
            <a:r>
              <a:t>-     mu       sync.RWMutex</a:t>
            </a:r>
          </a:p>
          <a:p>
            <a:r>
              <a:t>-     handlers map[EventType][]EventHandler</a:t>
            </a:r>
          </a:p>
          <a:p>
            <a:r>
              <a:t>- }</a:t>
            </a:r>
          </a:p>
          <a:p>
            <a:r>
              <a:t>- Mendukung pendaftaran banyak subscriber untuk satu event type</a:t>
            </a:r>
          </a:p>
          <a:p>
            <a:r>
              <a:t>[ALUR EVENT CHOREOGRAPHY]</a:t>
            </a:r>
          </a:p>
          <a:p>
            <a:r>
              <a:t>- OrderCreated -&gt; diproses PaymentService -&gt; PaymentCompleted dipublish</a:t>
            </a:r>
          </a:p>
          <a:p>
            <a:r>
              <a:t>- PaymentCompleted -&gt; diproses InventoryService -&gt; InventoryReserved dipublish</a:t>
            </a:r>
          </a:p>
          <a:p>
            <a:r>
              <a:t>- InventoryReserved -&gt; diproses OrderService -&gt; OrderApproved dipublish</a:t>
            </a:r>
          </a:p>
          <a:p>
            <a:r>
              <a:t>[PENANGANAN EVENT ROLLBACK]</a:t>
            </a:r>
          </a:p>
          <a:p>
            <a:r>
              <a:t>- Jika reservasi inventaris gagal -&gt; InventoryFailed dipublish</a:t>
            </a:r>
          </a:p>
          <a:p>
            <a:r>
              <a:t>- PaymentService mendengar InventoryFailed -&gt; melakukan refund pembayaran</a:t>
            </a:r>
          </a:p>
          <a:p>
            <a:r>
              <a:t>- OrderService mendengar PaymentFailed/InventoryFailed -&gt; membatalkan pesanan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10: Semantic Locking: Melawan Anomali Tanpa Isolasi ACID</a:t>
            </a:r>
          </a:p>
          <a:p/>
          <a:p>
            <a:r>
              <a:t>Mental Model: Semantic locks flag uncommitted business state to prevent concurrent dirty modifications.</a:t>
            </a:r>
          </a:p>
          <a:p/>
          <a:p>
            <a:r>
              <a:t>[MASALAH DIRTY READS DI SAGA]</a:t>
            </a:r>
          </a:p>
          <a:p>
            <a:r>
              <a:t>- Karena transaksi lokal langsung di-commit, transaksi lain dapat membaca data sementara</a:t>
            </a:r>
          </a:p>
          <a:p>
            <a:r>
              <a:t>- Jika saga kemudian di-rollback, data yang dibaca transaksi lain menjadi invalid</a:t>
            </a:r>
          </a:p>
          <a:p>
            <a:r>
              <a:t>- Saga tidak memiliki isolasi level database bawaan antar service</a:t>
            </a:r>
          </a:p>
          <a:p>
            <a:r>
              <a:t>[IMPLEMENTASI SEMANTIC LOCK]</a:t>
            </a:r>
          </a:p>
          <a:p>
            <a:r>
              <a:t>- if s.locks[orderID] {</a:t>
            </a:r>
          </a:p>
          <a:p>
            <a:r>
              <a:t>-     return errors.New("order is semantically locked")</a:t>
            </a:r>
          </a:p>
          <a:p>
            <a:r>
              <a:t>- }</a:t>
            </a:r>
          </a:p>
          <a:p>
            <a:r>
              <a:t>- s.orders[orderID] = OrderPending</a:t>
            </a:r>
          </a:p>
          <a:p>
            <a:r>
              <a:t>- s.locks[orderID] = true</a:t>
            </a:r>
          </a:p>
          <a:p>
            <a:r>
              <a:t>[PELEPASAN KUNCI SEMANTIK]</a:t>
            </a:r>
          </a:p>
          <a:p>
            <a:r>
              <a:t>- Kunci dilepas saat saga mencapai status terminal (ApproveOrder atau CancelOrder)</a:t>
            </a:r>
          </a:p>
          <a:p>
            <a:r>
              <a:t>- Request lain yang mencoba memodifikasi pesanan selama pending akan ditolak</a:t>
            </a:r>
          </a:p>
          <a:p>
            <a:r>
              <a:t>- Mencegah overwriting data yang sedang dalam proses verifikasi pembayaran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11: Idempotency Keys: Fondasi Retry yang Aman</a:t>
            </a:r>
          </a:p>
          <a:p/>
          <a:p>
            <a:r>
              <a:t>Mental Model: Idempotency turns repeated network retries into safe no-ops without double execution.</a:t>
            </a:r>
          </a:p>
          <a:p/>
          <a:p>
            <a:r>
              <a:t>[TANTANGAN NETWORK TIMEOUT]</a:t>
            </a:r>
          </a:p>
          <a:p>
            <a:r>
              <a:t>- Saat memanggil PaymentService, timeout jaringan dapat terjadi setelah dana terpotong</a:t>
            </a:r>
          </a:p>
          <a:p>
            <a:r>
              <a:t>- Orchestrator tidak tahu apakah request berhasil atau gagal sehingga wajib melakukan retry</a:t>
            </a:r>
          </a:p>
          <a:p>
            <a:r>
              <a:t>- Tanpa proteksi, retry akan memotong saldo pelanggan dua kali</a:t>
            </a:r>
          </a:p>
          <a:p>
            <a:r>
              <a:t>[KODE PENGECEKAN IDEMPOTENSI]</a:t>
            </a:r>
          </a:p>
          <a:p>
            <a:r>
              <a:t>- func (s *PaymentService) ProcessPayment(id string, amt float64, ...) error {</a:t>
            </a:r>
          </a:p>
          <a:p>
            <a:r>
              <a:t>-     s.mu.Lock(); defer s.mu.Unlock()</a:t>
            </a:r>
          </a:p>
          <a:p>
            <a:r>
              <a:t>-     if s.processedID[id] {</a:t>
            </a:r>
          </a:p>
          <a:p>
            <a:r>
              <a:t>-         return nil // Idempotent success: lewati eksekusi</a:t>
            </a:r>
          </a:p>
          <a:p>
            <a:r>
              <a:t>-     }</a:t>
            </a:r>
          </a:p>
          <a:p>
            <a:r>
              <a:t>-     // proses pembayaran baru...</a:t>
            </a:r>
          </a:p>
          <a:p>
            <a:r>
              <a:t>- }</a:t>
            </a:r>
          </a:p>
          <a:p>
            <a:r>
              <a:t>[APLIKASI DI SEMUA TRANSAKSI]</a:t>
            </a:r>
          </a:p>
          <a:p>
            <a:r>
              <a:t>- Kunci idempotensi wajib disertakan pada semua Compensable dan Retryable transactions</a:t>
            </a:r>
          </a:p>
          <a:p>
            <a:r>
              <a:t>- Memungkinkan worker mencoba kembali berkali-kali hingga mencapai kepastian status</a:t>
            </a:r>
          </a:p>
          <a:p>
            <a:r>
              <a:t>- Menjaga konsistensi data finansial di tengah ketidakpastian jaringan terdistribusi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12: Manajemen Konkurensi &amp; Pembatalan Konteks</a:t>
            </a:r>
          </a:p>
          <a:p/>
          <a:p>
            <a:r>
              <a:t>Mental Model: Check context before every step and execute compensations with an uncancelled context.</a:t>
            </a:r>
          </a:p>
          <a:p/>
          <a:p>
            <a:r>
              <a:t>[DETEKSI CANCEL DI SETIAP LANGKAH]</a:t>
            </a:r>
          </a:p>
          <a:p>
            <a:r>
              <a:t>- select {</a:t>
            </a:r>
          </a:p>
          <a:p>
            <a:r>
              <a:t>- case &lt;-ctx.Done():</a:t>
            </a:r>
          </a:p>
          <a:p>
            <a:r>
              <a:t>-     o.logs = append(o.logs, StepLog{Name: step.Name, Status: StatusFailed})</a:t>
            </a:r>
          </a:p>
          <a:p>
            <a:r>
              <a:t>-     compErr := o.compensate(context.Background(), executed)</a:t>
            </a:r>
          </a:p>
          <a:p>
            <a:r>
              <a:t>-     return fmt.Errorf("saga cancelled: %w", ctx.Err())</a:t>
            </a:r>
          </a:p>
          <a:p>
            <a:r>
              <a:t>- default:</a:t>
            </a:r>
          </a:p>
          <a:p>
            <a:r>
              <a:t>- }</a:t>
            </a:r>
          </a:p>
          <a:p>
            <a:r>
              <a:t>[ISOLASI MEMORI VIA MUTEX]</a:t>
            </a:r>
          </a:p>
          <a:p>
            <a:r>
              <a:t>- Setiap service (Order, Payment, Inventory) memiliki sync.Mutex mandiri</a:t>
            </a:r>
          </a:p>
          <a:p>
            <a:r>
              <a:t>- Saga Orchestrator memproteksi slice log dan steps dari konkurensi</a:t>
            </a:r>
          </a:p>
          <a:p>
            <a:r>
              <a:t>- Menjamin integritas internal state saat diakses oleh banyak goroutine</a:t>
            </a:r>
          </a:p>
          <a:p>
            <a:r>
              <a:t>[HASIL VERIFIKASI -RACE]</a:t>
            </a:r>
          </a:p>
          <a:p>
            <a:r>
              <a:t>- 10 transaksi saga dijalankan bersamaan dalam goroutine terpisah</a:t>
            </a:r>
          </a:p>
          <a:p>
            <a:r>
              <a:t>- Setiap saga mengelola pesanan unik dengan lock dan state lokalnya sendiri</a:t>
            </a:r>
          </a:p>
          <a:p>
            <a:r>
              <a:t>- Lulus pengujian go test -race tanpa terdeteksi satu pun data race condition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13: Eksekusi Demo: Skenario Happy Path</a:t>
            </a:r>
          </a:p>
          <a:p/>
          <a:p>
            <a:r>
              <a:t>Mental Model: When all steps succeed sequentially, the saga completes and leaves domain states committed.</a:t>
            </a:r>
          </a:p>
          <a:p/>
          <a:p>
            <a:r>
              <a:t>[OUTPUT TERMINAL HAPPY PATH]</a:t>
            </a:r>
          </a:p>
          <a:p>
            <a:r>
              <a:t>- === Scenario 1: Happy Path (Orchestrator) ===</a:t>
            </a:r>
          </a:p>
          <a:p>
            <a:r>
              <a:t>-  -&gt; [OrderService] Creating order: ord-success</a:t>
            </a:r>
          </a:p>
          <a:p>
            <a:r>
              <a:t>-  -&gt; [PaymentService] Processing payment for: ord-success</a:t>
            </a:r>
          </a:p>
          <a:p>
            <a:r>
              <a:t>-  -&gt; [InventoryService] Reserving 1 laptop</a:t>
            </a:r>
          </a:p>
          <a:p>
            <a:r>
              <a:t>-  -&gt; [OrderService] Finalizing order approval</a:t>
            </a:r>
          </a:p>
          <a:p>
            <a:r>
              <a:t>- Scenario 1 Result: error=&lt;nil&gt;, OrderState=APPROVED, Remaining Stock=0</a:t>
            </a:r>
          </a:p>
          <a:p>
            <a:r>
              <a:t>[VERIFIKASI STATE AKHIR]</a:t>
            </a:r>
          </a:p>
          <a:p>
            <a:r>
              <a:t>- OrderService mencatat orderState = APPROVED</a:t>
            </a:r>
          </a:p>
          <a:p>
            <a:r>
              <a:t>- PaymentService menyimpan record transaksi senilai 1500.0</a:t>
            </a:r>
          </a:p>
          <a:p>
            <a:r>
              <a:t>- InventoryService mendegradasi stok laptop dari 1 menjadi 0</a:t>
            </a:r>
          </a:p>
          <a:p>
            <a:r>
              <a:t>[STATUS LOG ORCHESTRATOR]</a:t>
            </a:r>
          </a:p>
          <a:p>
            <a:r>
              <a:t>- Seluruh 4 langkah mencatat status EXECUTED</a:t>
            </a:r>
          </a:p>
          <a:p>
            <a:r>
              <a:t>- Tidak ada fungsi kompensasi yang dipanggil selama proses berjalan</a:t>
            </a:r>
          </a:p>
          <a:p>
            <a:r>
              <a:t>- Sistem mencapai eventual consistency dalam hitungan milidetik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14: Eksekusi Demo: Skenario Kegagalan Stok &amp; Rollback</a:t>
            </a:r>
          </a:p>
          <a:p/>
          <a:p>
            <a:r>
              <a:t>Mental Model: A failed step immediately halts forward execution and triggers exact LIFO compensation.</a:t>
            </a:r>
          </a:p>
          <a:p/>
          <a:p>
            <a:r>
              <a:t>[OUTPUT TERMINAL ROLLBACK]</a:t>
            </a:r>
          </a:p>
          <a:p>
            <a:r>
              <a:t>- === Scenario 2: Rollback on Failure (Orchestrator) ===</a:t>
            </a:r>
          </a:p>
          <a:p>
            <a:r>
              <a:t>-  -&gt; [OrderService] Creating order: ord-failed</a:t>
            </a:r>
          </a:p>
          <a:p>
            <a:r>
              <a:t>-  -&gt; [PaymentService] Processing payment for: ord-failed</a:t>
            </a:r>
          </a:p>
          <a:p>
            <a:r>
              <a:t>-  -&gt; [InventoryService] Reserving 1 laptop (current stock: 0)</a:t>
            </a:r>
          </a:p>
          <a:p>
            <a:r>
              <a:t>-  &lt;- [PaymentService] Compensating: Refunding payment for: ord-failed</a:t>
            </a:r>
          </a:p>
          <a:p>
            <a:r>
              <a:t>-  &lt;- [OrderService] Compensating: Cancelling order: ord-failed</a:t>
            </a:r>
          </a:p>
          <a:p>
            <a:r>
              <a:t>- Scenario 2 Result: error=step ReserveInventory failed: out of stock</a:t>
            </a:r>
          </a:p>
          <a:p>
            <a:r>
              <a:t>- Final State: OrderState=CANCELLED, HasPayment=false, Stock=0</a:t>
            </a:r>
          </a:p>
          <a:p>
            <a:r>
              <a:t>[ANALISIS URUTAN KOMPENSASI]</a:t>
            </a:r>
          </a:p>
          <a:p>
            <a:r>
              <a:t>- Langkah ke-3 (ReserveInventory) gagal karena stok bernilai 0</a:t>
            </a:r>
          </a:p>
          <a:p>
            <a:r>
              <a:t>- Orchestrator memutar balik: RefundPayment dipanggil terlebih dahulu</a:t>
            </a:r>
          </a:p>
          <a:p>
            <a:r>
              <a:t>- Setelah refund selesai, CancelOrder dipanggil untuk menutup pesanan</a:t>
            </a:r>
          </a:p>
          <a:p>
            <a:r>
              <a:t>[INTEGRITAS BISNIS TERJAGA]</a:t>
            </a:r>
          </a:p>
          <a:p>
            <a:r>
              <a:t>- Pelanggan tidak dirugikan karena uang berhasil di-refund otomatis</a:t>
            </a:r>
          </a:p>
          <a:p>
            <a:r>
              <a:t>- Status pesanan tercatat CANCELLED bukan hilang dari database</a:t>
            </a:r>
          </a:p>
          <a:p>
            <a:r>
              <a:t>- Konsistensi bisnis pulih tanpa memerlukan kunci database global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15: Bukti Pengujian Otomatis: 9 Test Suites</a:t>
            </a:r>
          </a:p>
          <a:p/>
          <a:p>
            <a:r>
              <a:t>Mental Model: Unit and concurrency tests strictly validate LIFO rollback, idempotency, and semantic locks.</a:t>
            </a:r>
          </a:p>
          <a:p/>
          <a:p>
            <a:r>
              <a:t>[HASIL EKSEKUSI TEST]</a:t>
            </a:r>
          </a:p>
          <a:p>
            <a:r>
              <a:t>- === RUN   TestOrchestrator_HappyPath             --- PASS (0.00s)</a:t>
            </a:r>
          </a:p>
          <a:p>
            <a:r>
              <a:t>- === RUN   TestOrchestrator_FailureCompensatesLIFO--- PASS (0.00s)</a:t>
            </a:r>
          </a:p>
          <a:p>
            <a:r>
              <a:t>- === RUN   TestPayment_Idempotency                --- PASS (0.00s)</a:t>
            </a:r>
          </a:p>
          <a:p>
            <a:r>
              <a:t>- === RUN   TestSemanticLock                       --- PASS (0.00s)</a:t>
            </a:r>
          </a:p>
          <a:p>
            <a:r>
              <a:t>- === RUN   TestOrchestrator_Concurrency           --- PASS (0.00s)</a:t>
            </a:r>
          </a:p>
          <a:p>
            <a:r>
              <a:t>- === RUN   TestChoreography_Flow                  --- PASS (0.00s)</a:t>
            </a:r>
          </a:p>
          <a:p>
            <a:r>
              <a:t>- === RUN   TestChoreography_FailureCompensates    --- PASS (0.00s)</a:t>
            </a:r>
          </a:p>
          <a:p>
            <a:r>
              <a:t>- === RUN   TestOrchestrator_CompensationErrorPropagated --- PASS (0.00s)</a:t>
            </a:r>
          </a:p>
          <a:p>
            <a:r>
              <a:t>- === RUN   TestOrchestrator_ContextCancellation   --- PASS (0.00s)</a:t>
            </a:r>
          </a:p>
          <a:p>
            <a:r>
              <a:t>- PASS: 9/9 test suites passed in 0.428s</a:t>
            </a:r>
          </a:p>
          <a:p>
            <a:r>
              <a:t>[PENGUJIAN SPESIFIK]</a:t>
            </a:r>
          </a:p>
          <a:p>
            <a:r>
              <a:t>- TestSemanticLock: Memastikan pencegahan order creation duplikat saat status pending</a:t>
            </a:r>
          </a:p>
          <a:p>
            <a:r>
              <a:t>- TestCompensationErrorPropagated: Memverifikasi penanganan jika refund payment gagal</a:t>
            </a:r>
          </a:p>
          <a:p>
            <a:r>
              <a:t>- TestChoreography_Flow: Memvalidasi rantai event pub-sub tanpa koordinator sentral</a:t>
            </a:r>
          </a:p>
          <a:p>
            <a:r>
              <a:t>[JAMINAN KUALITAS KODE]</a:t>
            </a:r>
          </a:p>
          <a:p>
            <a:r>
              <a:t>- Seluruh pengujian lolos uji deteksi data race (`go test -race ./...`)</a:t>
            </a:r>
          </a:p>
          <a:p>
            <a:r>
              <a:t>- Test case mencakup skenario happy path, sad path, dan edge cases kegagalan jaringan</a:t>
            </a:r>
          </a:p>
          <a:p>
            <a:r>
              <a:t>- Bukti deterministik bahwa koordinasi terdistribusi bekerja sesuai spesifikasi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16: Ketika Kompensasi Gagal: Realitas Lapangan</a:t>
            </a:r>
          </a:p>
          <a:p/>
          <a:p>
            <a:r>
              <a:t>Mental Model: When business compensation fails, isolate to DLQs and rely on idempotent retry workers or manual fixes.</a:t>
            </a:r>
          </a:p>
          <a:p/>
          <a:p>
            <a:r>
              <a:t>[KONDISI COMPENSATE_FAILED]</a:t>
            </a:r>
          </a:p>
          <a:p>
            <a:r>
              <a:t>- Bagaimana jika refund gateway menghasilkan timeout atau status 500 error?</a:t>
            </a:r>
          </a:p>
          <a:p>
            <a:r>
              <a:t>- Saga tidak dapat melakukan rollback otomatis tak terbatas</a:t>
            </a:r>
          </a:p>
          <a:p>
            <a:r>
              <a:t>- Orchestrator mencatat status langkah menjadi COMPENSATE_FAILED dan agregasi error</a:t>
            </a:r>
          </a:p>
          <a:p>
            <a:r>
              <a:t>[STRATEGI MITIGASI PRODUKSI]</a:t>
            </a:r>
          </a:p>
          <a:p>
            <a:r>
              <a:t>- Dead-Letter Queue (DLQ): Menyimpan pesan kompensasi yang gagal untuk proses retry terpisah</a:t>
            </a:r>
          </a:p>
          <a:p>
            <a:r>
              <a:t>- Automated Alerting: Memberi sinyal instan kepada tim engineer on-call</a:t>
            </a:r>
          </a:p>
          <a:p>
            <a:r>
              <a:t>- Idempotent Retry Worker: Mencoba kembali kompensasi dengan pola exponential backoff</a:t>
            </a:r>
          </a:p>
          <a:p>
            <a:r>
              <a:t>[MANUAL RECONCILIATION]</a:t>
            </a:r>
          </a:p>
          <a:p>
            <a:r>
              <a:t>- Dashboard operasional untuk meninjau status saga yang mengalami kebuntuan</a:t>
            </a:r>
          </a:p>
          <a:p>
            <a:r>
              <a:t>- Customer service atau finance dapat melakukan penyesuaian manual (out-of-band)</a:t>
            </a:r>
          </a:p>
          <a:p>
            <a:r>
              <a:t>- Audit trail log langkah menjadi sumber kebenaran tunggal investigasi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17: Evaluasi Arsitektur: ACID vs 2PC vs Saga</a:t>
            </a:r>
          </a:p>
          <a:p/>
          <a:p>
            <a:r>
              <a:t>Mental Model: Choose ACID for local boundaries; use Sagas to preserve availability across distributed systems.</a:t>
            </a:r>
          </a:p>
          <a:p/>
          <a:p>
            <a:r>
              <a:t>[TABEL PERBANDINGAN TIGA PENDEKATAN]</a:t>
            </a:r>
          </a:p>
          <a:p>
            <a:r>
              <a:t>- Dimensi          | ACID Monolitik | Two-Phase Commit (2PC) | Saga Pattern</a:t>
            </a:r>
          </a:p>
          <a:p>
            <a:r>
              <a:t>- -----------------|----------------|------------------------|---------------------</a:t>
            </a:r>
          </a:p>
          <a:p>
            <a:r>
              <a:t>- Konsistensi      | Strict Immed.  | Strict Immed.          | Eventual Consistency</a:t>
            </a:r>
          </a:p>
          <a:p>
            <a:r>
              <a:t>- Isolasi (I)      | Didukung DBMS  | Didukung DBMS          | Perlu Semantic Lock</a:t>
            </a:r>
          </a:p>
          <a:p>
            <a:r>
              <a:t>- Ketersediaan     | Sangat Tinggi  | Rendah (Blocking)      | Sangat Tinggi</a:t>
            </a:r>
          </a:p>
          <a:p>
            <a:r>
              <a:t>- Skalabilitas     | Terbatas 1 DB  | Buruk lintas jaringan  | Linear horizontal</a:t>
            </a:r>
          </a:p>
          <a:p>
            <a:r>
              <a:t>- Kompleksitas     | Sangat Rendah  | Menengah               | Tinggi (Kompensasi)</a:t>
            </a:r>
          </a:p>
          <a:p>
            <a:r>
              <a:t>[TRADE-OFF KONSISTENSI]</a:t>
            </a:r>
          </a:p>
          <a:p>
            <a:r>
              <a:t>- ACID menjamin tidak ada dirty read tanpa coding tambahan</a:t>
            </a:r>
          </a:p>
          <a:p>
            <a:r>
              <a:t>- Saga menukar isolasi instan demi mempertahankan ketersediaan sistem 24/7</a:t>
            </a:r>
          </a:p>
          <a:p>
            <a:r>
              <a:t>- Cocok untuk sistem high-throughput di mana lock contention 2PC tidak dapat diterima</a:t>
            </a:r>
          </a:p>
          <a:p>
            <a:r>
              <a:t>[KESIMPULAN PEMILIHAN]</a:t>
            </a:r>
          </a:p>
          <a:p>
            <a:r>
              <a:t>- Tetap gunakan ACID lokal di dalam boundary tiap microservice</a:t>
            </a:r>
          </a:p>
          <a:p>
            <a:r>
              <a:t>- Gunakan Saga secara eksklusif untuk koordinasi lintas service terpisah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18: Ekosistem &amp; Framework Saga di Industri</a:t>
            </a:r>
          </a:p>
          <a:p/>
          <a:p>
            <a:r>
              <a:t>Mental Model: Production sagas use workflow engines like Temporal or Step Functions to survive infrastructure crashes.</a:t>
            </a:r>
          </a:p>
          <a:p/>
          <a:p>
            <a:r>
              <a:t>[TEMPORAL.IO &amp; CADENCE]</a:t>
            </a:r>
          </a:p>
          <a:p>
            <a:r>
              <a:t>- Stateful workflow engine terkemuka untuk orchestration saga skala enterprise</a:t>
            </a:r>
          </a:p>
          <a:p>
            <a:r>
              <a:t>- Menjamin eksekusi fungsi Go/Java/TypeScript tahan banting terhadap crash server</a:t>
            </a:r>
          </a:p>
          <a:p>
            <a:r>
              <a:t>- Secara otomatis mencatat event history dan menangani retry serta timeout kompensasi</a:t>
            </a:r>
          </a:p>
          <a:p>
            <a:r>
              <a:t>[AWS STEP FUNCTIONS]</a:t>
            </a:r>
          </a:p>
          <a:p>
            <a:r>
              <a:t>- Serverless workflow orchestrator berbasis declarative JSON/YAML state machine</a:t>
            </a:r>
          </a:p>
          <a:p>
            <a:r>
              <a:t>- Terintegrasi langsung dengan AWS Lambda, SQS, SNS, dan DynamoDB</a:t>
            </a:r>
          </a:p>
          <a:p>
            <a:r>
              <a:t>- Mendukung visualisasi alur eksekusi grafis dan penanganan Catch/Retry terstruktur</a:t>
            </a:r>
          </a:p>
          <a:p>
            <a:r>
              <a:t>[EVENTUM &amp; MASS TRANSIT]</a:t>
            </a:r>
          </a:p>
          <a:p>
            <a:r>
              <a:t>- Eventuate Tram / MassTransit untuk implementasi choreography berbasis transactional messaging</a:t>
            </a:r>
          </a:p>
          <a:p>
            <a:r>
              <a:t>- Sering dipadukan dengan Outbox Pattern (Lab 21) untuk menjamin atomilitas event publishing</a:t>
            </a:r>
          </a:p>
          <a:p>
            <a:r>
              <a:t>- Solusi tepat saat membangun arsitektur event-driven terdistribusi murni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19: Sinergi: Saga Pattern + Transactional Outbox</a:t>
            </a:r>
          </a:p>
          <a:p/>
          <a:p>
            <a:r>
              <a:t>Mental Model: Pair Sagas with Transactional Outbox to eliminate the dual-write problem across service boundaries.</a:t>
            </a:r>
          </a:p>
          <a:p/>
          <a:p>
            <a:r>
              <a:t>[DUAL-WRITE PROBLEM DI SAGA]</a:t>
            </a:r>
          </a:p>
          <a:p>
            <a:r>
              <a:t>- Sebuah service harus melakukan dua hal: update database lokal dan publish event ke broker</a:t>
            </a:r>
          </a:p>
          <a:p>
            <a:r>
              <a:t>- Jika database commit berhasil tapi broker pesan mati, saga akan terhenti permanen</a:t>
            </a:r>
          </a:p>
          <a:p>
            <a:r>
              <a:t>- Jika broker publish berhasil tapi database commit gagal, data menjadi tidak konsisten</a:t>
            </a:r>
          </a:p>
          <a:p>
            <a:r>
              <a:t>[SOLUSI TRANSACTIONAL OUTBOX]</a:t>
            </a:r>
          </a:p>
          <a:p>
            <a:r>
              <a:t>- Simpan domain event ke dalam tabel outbox di database yang sama dalam satu transaksi ACID</a:t>
            </a:r>
          </a:p>
          <a:p>
            <a:r>
              <a:t>- Proses worker independen membaca tabel outbox dan mempublikasikannya ke message broker</a:t>
            </a:r>
          </a:p>
          <a:p>
            <a:r>
              <a:t>- Menghilangkan risiko dual-write inconsistency pada arsitektur saga choreography</a:t>
            </a:r>
          </a:p>
          <a:p>
            <a:r>
              <a:t>[KORELASI LAB]</a:t>
            </a:r>
          </a:p>
          <a:p>
            <a:r>
              <a:t>- Lab 21 (Transactional Outbox) memberikan fondasi pengiriman pesan andal</a:t>
            </a:r>
          </a:p>
          <a:p>
            <a:r>
              <a:t>- Lab 29 (Saga Pattern) mengorkestrasi alur transaksi bisnis tingkat tinggi</a:t>
            </a:r>
          </a:p>
          <a:p>
            <a:r>
              <a:t>- Kombinasi keduanya merupakan gold standard arsitektur microservices modern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20: Studi Kasus Nyata: E-Commerce Checkout</a:t>
            </a:r>
          </a:p>
          <a:p/>
          <a:p>
            <a:r>
              <a:t>Mental Model: E-commerce checkouts balance fast client confirmation with background eventual consistency.</a:t>
            </a:r>
          </a:p>
          <a:p/>
          <a:p>
            <a:r>
              <a:t>[TAHAP 1: ORDER CREATION (COMPENSABLE)]</a:t>
            </a:r>
          </a:p>
          <a:p>
            <a:r>
              <a:t>- Client menekan tombol Bayar Sekarang di aplikasi</a:t>
            </a:r>
          </a:p>
          <a:p>
            <a:r>
              <a:t>- OrderService mencatat pesanan PENDING dan memasang semantic lock pada order ID</a:t>
            </a:r>
          </a:p>
          <a:p>
            <a:r>
              <a:t>- Kompensasi jika gagal di langkah lanjutan: CancelOrder</a:t>
            </a:r>
          </a:p>
          <a:p>
            <a:r>
              <a:t>[TAHAP 2 &amp; 3: PAYMENT &amp; INVENTORY]</a:t>
            </a:r>
          </a:p>
          <a:p>
            <a:r>
              <a:t>- PaymentService memotong saldo kartu dengan idempotency key (Kompensasi: RefundPayment)</a:t>
            </a:r>
          </a:p>
          <a:p>
            <a:r>
              <a:t>- InventoryService mengalokasikan stok gudang fisik (Kompensasi: ReleaseInventory)</a:t>
            </a:r>
          </a:p>
          <a:p>
            <a:r>
              <a:t>- Langkah inventaris bertindak sebagai Pivot Transaction</a:t>
            </a:r>
          </a:p>
          <a:p>
            <a:r>
              <a:t>[TAHAP 4: APPROVAL (RETRYABLE)]</a:t>
            </a:r>
          </a:p>
          <a:p>
            <a:r>
              <a:t>- Setelah stok aman, order status diubah menjadi APPROVED dan semantic lock dilepas</a:t>
            </a:r>
          </a:p>
          <a:p>
            <a:r>
              <a:t>- Email invoice dikirimkan ke pelanggan via retryable worker</a:t>
            </a:r>
          </a:p>
          <a:p>
            <a:r>
              <a:t>- Pesanan kini siap diproses oleh divisi logistik pengiriman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21: Checklist Kesiapan Produksi Saga</a:t>
            </a:r>
          </a:p>
          <a:p/>
          <a:p>
            <a:r>
              <a:t>Mental Model: A complete production checklist covers idempotency, semantic locks, DLQs, and observability.</a:t>
            </a:r>
          </a:p>
          <a:p/>
          <a:p>
            <a:r>
              <a:t>[CHECKLIST PENERAPAN SAGA]</a:t>
            </a:r>
          </a:p>
          <a:p>
            <a:r>
              <a:t>- [ ] Setiap compensable step memiliki fungsi kompensasi yang teruji</a:t>
            </a:r>
          </a:p>
          <a:p>
            <a:r>
              <a:t>- [ ] Seluruh endpoint kompensasi dan retry bersifat 100% idempotent</a:t>
            </a:r>
          </a:p>
          <a:p>
            <a:r>
              <a:t>- [ ] Semantic lock atau versioning diterapkan untuk mencegah dirty reads</a:t>
            </a:r>
          </a:p>
          <a:p>
            <a:r>
              <a:t>- [ ] Dead-Letter Queue (DLQ) disiapkan untuk kompensasi yang gagal</a:t>
            </a:r>
          </a:p>
          <a:p>
            <a:r>
              <a:t>- [ ] Log audit status langkah disimpan di storage persisten</a:t>
            </a:r>
          </a:p>
          <a:p>
            <a:r>
              <a:t>- [ ] Context timeout dan cancellation dikelola tanpa membatalkan rollback</a:t>
            </a:r>
          </a:p>
          <a:p>
            <a:r>
              <a:t>- [ ] Monitoring dan alerting aktif untuk status COMPENSATE_FAILED</a:t>
            </a:r>
          </a:p>
          <a:p>
            <a:r>
              <a:t>- [ ] Prosedur rekonsiliasi manual didokumentasikan untuk tim finance</a:t>
            </a:r>
          </a:p>
          <a:p>
            <a:r>
              <a:t>- [ ] Concurrency race detector lulus tanpa anomali data</a:t>
            </a:r>
          </a:p>
          <a:p>
            <a:r>
              <a:t>[ATURAN UTAMA]</a:t>
            </a:r>
          </a:p>
          <a:p>
            <a:r>
              <a:t>- Jangan pernah mengasumsikan kompensasi akan selalu berhasil tanpa cela</a:t>
            </a:r>
          </a:p>
          <a:p>
            <a:r>
              <a:t>- Rancang sistem dengan asumsi jaringan akan gagal pada momen terburuk</a:t>
            </a:r>
          </a:p>
          <a:p>
            <a:r>
              <a:t>- Saga yang baik selalu memiliki jalur pemulihan darurat</a:t>
            </a:r>
          </a:p>
          <a:p>
            <a:r>
              <a:t>[PERAN OBSERVABILITY]</a:t>
            </a:r>
          </a:p>
          <a:p>
            <a:r>
              <a:t>- Distributed tracing (OpenTelemetry) sangat krusial untuk melacak Saga ID lintas service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22: Batasan &amp; Lingkup Implementasi Lab 29</a:t>
            </a:r>
          </a:p>
          <a:p/>
          <a:p>
            <a:r>
              <a:t>Mental Model: This lab proves algorithmic correctness in-memory; production requires persistent state engines.</a:t>
            </a:r>
          </a:p>
          <a:p/>
          <a:p>
            <a:r>
              <a:t>[IN-MEMORY STATE &amp; MOCK STORAGE]</a:t>
            </a:r>
          </a:p>
          <a:p>
            <a:r>
              <a:t>- Lab ini menggunakan in-memory map dan sync.Mutex bukan SQL/NoSQL database nyata</a:t>
            </a:r>
          </a:p>
          <a:p>
            <a:r>
              <a:t>- State machine orchestrator tidak disimpan di persistent storage disk</a:t>
            </a:r>
          </a:p>
          <a:p>
            <a:r>
              <a:t>- Jika proses Go di-kill di tengah eksekusi, in-flight saga state akan hilang</a:t>
            </a:r>
          </a:p>
          <a:p>
            <a:r>
              <a:t>[SIMPLIFIKASI JARINGAN]</a:t>
            </a:r>
          </a:p>
          <a:p>
            <a:r>
              <a:t>- Pemanggilan antar service dilakukan secara in-process function call, bukan gRPC/HTTP</a:t>
            </a:r>
          </a:p>
          <a:p>
            <a:r>
              <a:t>- EventBus menggunakan Go channel/slice in-memory, bukan Apache Kafka atau RabbitMQ</a:t>
            </a:r>
          </a:p>
          <a:p>
            <a:r>
              <a:t>- Tidak menyimulasikan network partition nyata, tetapi memverifikasi logika koordinasi</a:t>
            </a:r>
          </a:p>
          <a:p>
            <a:r>
              <a:t>[NILAI INTI YANG DIBUKTIKAN]</a:t>
            </a:r>
          </a:p>
          <a:p>
            <a:r>
              <a:t>- Algoritma kompensasi LIFO terbukti secara matematis dan logis</a:t>
            </a:r>
          </a:p>
          <a:p>
            <a:r>
              <a:t>- Mekanisme idempotency key dan semantic lock diverifikasi 100% fungsional</a:t>
            </a:r>
          </a:p>
          <a:p>
            <a:r>
              <a:t>- Fondasi konseptual yang kokoh sebelum mengadopsi engine seperti Temporal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23: Tiga Prinsip Inti Transaksi Terdistribusi</a:t>
            </a:r>
          </a:p>
          <a:p/>
          <a:p>
            <a:r>
              <a:t>Mental Model: Three rules of sagas: commit locally, make every step idempotent, and lock semantically.</a:t>
            </a:r>
          </a:p>
          <a:p/>
          <a:p>
            <a:r>
              <a:t>[PRINSIP 1: COMMIT LOKAL, KOMPENSASI GLOBAL]</a:t>
            </a:r>
          </a:p>
          <a:p>
            <a:r>
              <a:t>- Jangan pernah mencoba mengunci database jarak jauh secara sinkron</a:t>
            </a:r>
          </a:p>
          <a:p>
            <a:r>
              <a:t>- Lakukan commit cepat di batas lokal dan andalkan kompensasi jika gagal</a:t>
            </a:r>
          </a:p>
          <a:p>
            <a:r>
              <a:t>- Maksimumkan ketersediaan sistem dan ketahanan terhadap partisi jaringan</a:t>
            </a:r>
          </a:p>
          <a:p>
            <a:r>
              <a:t>[PRINSIP 2: IDEMPOTENSI ADALAH HARGA MATI]</a:t>
            </a:r>
          </a:p>
          <a:p>
            <a:r>
              <a:t>- Dalam sistem terdistribusi, kegagalan jaringan tidak terhindarkan</a:t>
            </a:r>
          </a:p>
          <a:p>
            <a:r>
              <a:t>- Retry yang aman hanya dapat terwujud jika setiap langkah memiliki idempotency key</a:t>
            </a:r>
          </a:p>
          <a:p>
            <a:r>
              <a:t>- Desain fungsi agar dapat dipanggil berkali-kali dengan hasil yang sama persis</a:t>
            </a:r>
          </a:p>
          <a:p>
            <a:r>
              <a:t>[PRINSIP 3: LINDUNGI ISOLASI SECARA SEMANTIK]</a:t>
            </a:r>
          </a:p>
          <a:p>
            <a:r>
              <a:t>- Ketiadaan isolasi ACID harus diimbangi oleh semantic locking di level aplikasi</a:t>
            </a:r>
          </a:p>
          <a:p>
            <a:r>
              <a:t>- Tandai status data PENDING agar modifikasi konkuren tidak merusak integritas</a:t>
            </a:r>
          </a:p>
          <a:p>
            <a:r>
              <a:t>- Lindungi sistem dari anomali data dirty reads dan lost updates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24: Ringkasan Lab 29: Saga Pattern</a:t>
            </a:r>
          </a:p>
          <a:p/>
          <a:p>
            <a:r>
              <a:t>Mental Model: Sagas trade strict ACID isolation for resilient, scalable eventual consistency across microservices.</a:t>
            </a:r>
          </a:p>
          <a:p/>
          <a:p>
            <a:r>
              <a:t>[HASIL VERIFIKASI]</a:t>
            </a:r>
          </a:p>
          <a:p>
            <a:r>
              <a:t>- Happy path orkestrasi: 4 langkah tuntas dengan status APPROVED</a:t>
            </a:r>
          </a:p>
          <a:p>
            <a:r>
              <a:t>- Rollback kompensasi LIFO: Berhasil refund payment dan cancel order saat inventaris gagal</a:t>
            </a:r>
          </a:p>
          <a:p>
            <a:r>
              <a:t>- 9 unit, concurrency, dan cancellation test suites lulus sempurna (go test -v -race)</a:t>
            </a:r>
          </a:p>
          <a:p>
            <a:r>
              <a:t>[MENTAL MODEL UTAMA]</a:t>
            </a:r>
          </a:p>
          <a:p>
            <a:r>
              <a:t>- A saga is a sequence of local transactions where each step commits immediately.</a:t>
            </a:r>
          </a:p>
          <a:p>
            <a:r>
              <a:t>- If any step fails, compensating transactions execute in reverse order (LIFO).</a:t>
            </a:r>
          </a:p>
          <a:p>
            <a:r>
              <a:t>- Eventual consistency replaces strict 2PC locking across service boundaries.</a:t>
            </a:r>
          </a:p>
          <a:p>
            <a:r>
              <a:t>[RESOURCES &amp; AUDIT]</a:t>
            </a:r>
          </a:p>
          <a:p>
            <a:r>
              <a:t>- Repository: https://github.com/lukman-ss/software-engineering-lab/tree/main/labs/29-saga-pattern</a:t>
            </a:r>
          </a:p>
          <a:p>
            <a:r>
              <a:t>- Commit SHA: 9c525944dc2de00e16513830a25ffa1c4834d742</a:t>
            </a:r>
          </a:p>
          <a:p>
            <a:r>
              <a:t>- Jalankan Demo: go run ./cmd/demo (di folder lab)</a:t>
            </a:r>
          </a:p>
          <a:p>
            <a:r>
              <a:t>- Jalankan Test: go test -v -race ./... (di folder lab)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87F76"/>
                </a:solidFill>
              </a:defRPr>
            </a:pPr>
            <a:r>
              <a:t>SOFTWARE ENGINEERING LAB | LAB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Saga Pattern: Transaksi Terdistribusi Tanpa 2PC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4F1E8"/>
                </a:solidFill>
              </a:defRPr>
            </a:pPr>
            <a:r>
              <a:t>Eventual Consistency melalui LIFO Compensation &amp; Semantic Locks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1036289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87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087F76"/>
                </a:solidFill>
                <a:latin typeface="Courier New"/>
              </a:defRPr>
            </a:pPr>
            <a:r>
              <a:t>&gt; system_check --lab 29 --topic 'saga-pattern'</a:t>
            </a:r>
            <a:br/>
            <a:r>
              <a:t>&gt; author: Lukman / lukman-ss | status: PRODUCTION VERIFIED</a:t>
            </a:r>
            <a:br/>
            <a:r>
              <a:t>&gt; commit: 9c525944 | tests: PASS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Keterbatasan ACID Monolitik di Dunia Microservices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Database-per-Service memecah transaksi lintas boundary layanan mandiri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MASALAH DASAR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Arsitektur microservices menuntut setiap service memiliki database sendiri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Transaksi bisnis seperti Checkout membutuhkan koordinasi Order, Payment, dan Inventory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Pola BEGIN TRANSACTION...COMMIT tunggal tidak dapat melintasi batas jaringan 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KEGAGALAN TWO-PHASE COMMIT (2PC)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2PC mengunci baris data di seluruh node database selama fase persiapan (prepare)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Koordinator tunggal menjadi single point of failure (SPOF) dan latency multiplier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Partisi jaringan membuat resource terkunci tanpa batas (blocking protocol)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PERGESERAN PARADIGMA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Sistem beralih dari ACID ketat menuju BASE (Basically Available, Soft state, Eventual consistency)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Saga pattern memecah transaksi global menjadi rangkaian transaksi lokal independen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Setiap transaksi lokal langsung melakukan commit di databasenya masing-masing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2PC locks distributed databases synchronously; Sagas commit locally and coordinate asynchronously.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labs/29-saga-pattern/README.md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Anatomi Saga: Rangkaian Transaksi Lokal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Eksekusi maju teratur dan pembatalan mundur terarah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FORWARD EXECUTION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T1 (Order Created) -&gt; T2 (Payment Processed) -&gt; T3 (Inventory Reserved) -&gt; T4 (Order Approved)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Setiap step mengeksekusi mutasi data lokal dan mencatat status EXECUTED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Jika semua langkah berhasil, transaksi terdistribusi selesai secara konsisten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COMPENSATION ROLLBACK (LIFO)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Jika T3 gagal (misal out-of-stock), orchestrator memicu kompensasi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Urutan mundur: C2 (Refund Payment) -&gt; C1 (Cancel Order)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Prinsip tumpukan LIFO menjamin efek dibatalkan dalam urutan terbalik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KARAKTERISTIK KUNCI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Kompensasi adalah transaksi bisnis baru, bukan pembatalan level storage engine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Setiap langkah menghasilkan log audit permanen di sistem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Rollback tidak menghapus record masa lalu melainkan menuliskan saldo koreksi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 saga is a chain of local commits; failure triggers a reverse chain of business compensations.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labs/29-saga-pattern/internal/saga/orchestrator.go:49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Tiga Jenis Transaksi dalam Saga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Klasifikasi formal langkah transaksi berdasarkan kemampuan kompensasi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1. COMPENSABLE TRANSACTIONS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Langkah yang dapat dibatalkan atau dikoreksi dengan aksi berlawanan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Contoh: CreateOrder (dibatalkan oleh CancelOrder), ChargeCard (RefundPayment)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Wajib memiliki pasangan kompensasi eksplisit sebelum titik balik tercapai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2. PIVOT TRANSACTION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Titik balik tanpa kembali (point of no return) dalam proses bisnis saga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Jika transaksi pivot berhasil, saga dijamin akan terus berjalan hingga tuntas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Jika transaksi pivot gagal, seluruh langkah compensable sebelumnya harus di-rollback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3. RETRYABLE TRANSACTIONS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Langkah yang dieksekusi setelah pivot dan dijamin pada akhirnya akan berhasil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Contoh: Kirim notifikasi email, approval final order, pembaruan analitik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Wajib bersifat idempotent karena dapat di-retry berulang kali oleh worker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Compensable before pivot, pivot decides the fate, retryable guarantees completion after pivot.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labs/29-saga-pattern/content/02-master-draft.md:23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Dua Pola Koordinasi: Orchestration vs Choreography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Sentralisasi kendali alur versus desentralisasi reaktif berbasis event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ORCHESTRATION (CENTRALIZED)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Koordinator sentral memegang state machine dan memanggil service satu per satu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Alur bisnis eksplisit, mudah di-audit, dan penanganan LIFO rollback terpusat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Kelemahan: Risiko kopling logika bisnis ke satu koordinator jika tidak dirawat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CHOREOGRAPHY (EVENT-DRIVEN)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Setiap service mempublikasikan domain event dan bereaksi terhadap event service lain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Tingkat decoupling tinggi tanpa orchestrator tunggal di tengah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Kelemahan: Alur implisit, sulit melacak state global, risiko siklus event tak berujung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PANDUAN PEMILIHAN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Gunakan Orchestration untuk workflow kompleks dengan &gt;3 langkah dan kompensasi rumit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Gunakan Choreography untuk integrasi sederhana 2-3 service yang minim ketergantungan balik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Lab 29 mengimplementasikan kedua model untuk perbandingan langsung yang objektif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Orchestration gives explicit central control; Choreography gives loose event-driven autonomy.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labs/29-saga-pattern/internal/saga/choreography.go:27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Arsitektur Lab 29: Komponen &amp;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Pemisahan domain services, state machine orchestrator, dan decoupling event bus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SAGA CORE (`INTERNAL/SAGA`)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Orchestrator: Mengelola slice Step, eksekusi sekuensial, dan kompensasi LIFO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StepLog: Mencatat status PENDING, EXECUTED, FAILED, COMPENSATED, COMPENSATE_FAILED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EventBus: Memfasilitasi publish-subscribe berbasis thread-safe sync.RWMutex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DOMAIN SERVICES (`INTERNAL/SERVICES`)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OrderService: Mengelola status pesanan dan semantic lock untuk pencegahan race condition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PaymentService: Memproses pembayaran dengan idempotency key per payment ID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InventoryService: Reservasi dan pelepasan stok inventaris barang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VERIFIKASI &amp; RUNNER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cmd/demo/main.go: Mendemonstrasikan Happy Path dan Rollback Out-of-Stock di CLI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tests/saga_test.go: 9 skenario pengujian komprehensif termasuk concurrency race test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Zero external dependencies — murni menggunakan Go standard library untuk akurasi tertinggi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Clean component separation isolates domain logic from distributed transaction coordination.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labs/29-saga-pattern/README.md:5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Implementasi Orchestrator &amp; Struktur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Fungsi Execute dan Compensate sebagai kontrak utama setiap tahapan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STRUKTUR STEP &amp; STATUS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type Step struct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Name       string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Execute    func(ctx context.Context) error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Compensate func(ctx context.Context) error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Tracking status: PENDING, EXECUTED, FAILED, COMPENSATED, COMPENSATE_FAILED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THREAD-SAFE STATE LOGGING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type Orchestrator struct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mu    sync.Mutex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steps []Step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logs  []StepLog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Setiap mutasi log dilindungi mutex untuk mendukung akses paralel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KONTRAK KOMPENSASI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Compensate bersifat opsional untuk langkah read-only atau pivot murni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Jika Compensate bernilai nil, langkah tersebut dilewati tanpa error saat rollback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Menjamin fleksibilitas dalam memodelkan ragam jenis transaksi bisnis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Every orchestrator step pairs a forward action with an optional reverse compensation.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labs/29-saga-pattern/internal/saga/orchestrator.go:19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Algoritma Kompensasi LIFO: Membalik Riwayat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Eksekusi mundur dari langkah terakhir yang sukses menuju langkah pertama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KODE ALGORITMA LIFO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func (o *Orchestrator) compensate(ctx context.Context, executed []Step) error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var compErrors []error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for i := len(executed) - 1; i &gt;= 0; i--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step := executed[i]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if step.Compensate != nil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    err := step.Compensate(ctx)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    // append error or mark COMPENSATED...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return aggregateErrors(compErrors)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MENGAPA HARUS LIFO?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Langkah belakangan seringkali bergantung pada status yang dibuat langkah sebelumnya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Contoh: Dana harus dikembalikan (refund) sebelum pesanan dibatalkan (cancel)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Eksekusi acak atau paralel berisiko melanggar batasan konsistensi domain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PENANGANAN CONTEXT SAAT ROLLBACK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Kompensasi dipanggil menggunakan context.Background()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Tujuannya mencegah pembatalan context request induk mematikan proses pembersihan data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Menjamin proses rollback tetap berjalan meski client melakukan disconnect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Unwind executed steps in reverse order (LIFO) so dependent actions undo gracefully.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labs/29-saga-pattern/internal/saga/orchestrator.go:92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Event-Driven Choreography via EventBus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Koordinasi desentralisasi melalui publish/subscribe antar domain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STRUKTUR EVENT BUS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type EventBus struct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mu       sync.RWMutex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handlers map[EventType][]EventHandler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Mendukung pendaftaran banyak subscriber untuk satu event 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ALUR EVENT CHOREOGRAPHY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OrderCreated -&gt; diproses PaymentService -&gt; PaymentCompleted dipublish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PaymentCompleted -&gt; diproses InventoryService -&gt; InventoryReserved dipublish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InventoryReserved -&gt; diproses OrderService -&gt; OrderApproved dipublish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PENANGANAN EVENT ROLLBACK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Jika reservasi inventaris gagal -&gt; InventoryFailed dipublish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PaymentService mendengar InventoryFailed -&gt; melakukan refund pembayaran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OrderService mendengar PaymentFailed/InventoryFailed -&gt; membatalkan pesanan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Choreography lets services react to domain events without knowing who triggered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labs/29-saga-pattern/internal/saga/choreography.go:27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Semantic Locking: Melawan Anomali Tanpa Isolasi ACID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Menandai record sebagai PENDING untuk mencegah modifikasi konkuren yang merusak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MASALAH DIRTY READS DI SAGA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Karena transaksi lokal langsung di-commit, transaksi lain dapat membaca data sementara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Jika saga kemudian di-rollback, data yang dibaca transaksi lain menjadi invalid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Saga tidak memiliki isolasi level database bawaan antar 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IMPLEMENTASI SEMANTIC LOCK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if s.locks[orderID]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return errors.New("order is semantically locked")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s.orders[orderID] = OrderPending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s.locks[orderID] = true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PELEPASAN KUNCI SEMANTIK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Kunci dilepas saat saga mencapai status terminal (ApproveOrder atau CancelOrder)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Request lain yang mencoba memodifikasi pesanan selama pending akan ditolak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Mencegah overwriting data yang sedang dalam proses verifikasi pembayaran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Semantic locks flag uncommitted business state to prevent concurrent dirty modifications.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labs/29-saga-pattern/internal/services/services.go:33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Idempotency Keys: Fondasi Retry yang 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Menjamin pemanggilan ulang akibat network glitch tidak menduplikasi mutasi dana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TANTANGAN NETWORK TIMEOUT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Saat memanggil PaymentService, timeout jaringan dapat terjadi setelah dana terpotong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Orchestrator tidak tahu apakah request berhasil atau gagal sehingga wajib melakukan retry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Tanpa proteksi, retry akan memotong saldo pelanggan dua kali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KODE PENGECEKAN IDEMPOTENSI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func (s *PaymentService) ProcessPayment(id string, amt float64, ...) error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s.mu.Lock(); defer s.mu.Unlock()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if s.processedID[id]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return nil // Idempotent success: lewati eksekusi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// proses pembayaran baru...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APLIKASI DI SEMUA TRANSAKSI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Kunci idempotensi wajib disertakan pada semua Compensable dan Retryable transactions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Memungkinkan worker mencoba kembali berkali-kali hingga mencapai kepastian status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Menjaga konsistensi data finansial di tengah ketidakpastian jaringan terdistribusi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Idempotency turns repeated network retries into safe no-ops without double execution.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labs/29-saga-pattern/internal/services/services.go:86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Manajemen Konkurensi &amp; Pembatalan Konteks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Deteksi ctx.Done() dan perlindungan terhadap race condition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DETEKSI CANCEL DI SETIAP LANGKAH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select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case &lt;-ctx.Done():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o.logs = append(o.logs, StepLog{Name: step.Name, Status: StatusFailed})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compErr := o.compensate(context.Background(), executed)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return fmt.Errorf("saga cancelled: %w", ctx.Err())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default: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ISOLASI MEMORI VIA MUTEX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Setiap service (Order, Payment, Inventory) memiliki sync.Mutex mandiri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Saga Orchestrator memproteksi slice log dan steps dari konkurensi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Menjamin integritas internal state saat diakses oleh banyak goroutine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HASIL VERIFIKASI -RACE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10 transaksi saga dijalankan bersamaan dalam goroutine terpisah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Setiap saga mengelola pesanan unik dengan lock dan state lokalnya sendiri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Lulus pengujian go test -race tanpa terdeteksi satu pun data race condition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Check context before every step and execute compensations with an uncancelled context.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labs/29-saga-pattern/internal/saga/orchestrator.go:58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Eksekusi Demo: Skenario Happy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Seluruh langkah bisnis tuntas dan disetujui tanpa hambatan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OUTPUT TERMINAL HAPPY PATH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=== Scenario 1: Happy Path (Orchestrator) ===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-&gt; [OrderService] Creating order: ord-success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-&gt; [PaymentService] Processing payment for: ord-success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-&gt; [InventoryService] Reserving 1 laptop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-&gt; [OrderService] Finalizing order approval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Scenario 1 Result: error=&lt;nil&gt;, OrderState=APPROVED, Remaining Stock=0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VERIFIKASI STATE AKHIR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OrderService mencatat orderState = APPROVED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PaymentService menyimpan record transaksi senilai 1500.0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InventoryService mendegradasi stok laptop dari 1 menjadi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STATUS LOG ORCHESTRATOR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Seluruh 4 langkah mencatat status EXECUTED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Tidak ada fungsi kompensasi yang dipanggil selama proses berjalan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Sistem mencapai eventual consistency dalam hitungan milidetik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When all steps succeed sequentially, the saga completes and leaves domain states committed.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labs/29-saga-pattern/cmd/demo/main.go:20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Eksekusi Demo: Skenario Kegagalan Stok &amp; Rollback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Out-of-stock memicu pembatalan pembayaran dan pesanan via LIFO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OUTPUT TERMINAL ROLLBACK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=== Scenario 2: Rollback on Failure (Orchestrator) ===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-&gt; [OrderService] Creating order: ord-failed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-&gt; [PaymentService] Processing payment for: ord-failed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-&gt; [InventoryService] Reserving 1 laptop (current stock: 0)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&lt;- [PaymentService] Compensating: Refunding payment for: ord-failed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&lt;- [OrderService] Compensating: Cancelling order: ord-failed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Scenario 2 Result: error=step ReserveInventory failed: out of stock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Final State: OrderState=CANCELLED, HasPayment=false, Stock=0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ANALISIS URUTAN KOMPENSASI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Langkah ke-3 (ReserveInventory) gagal karena stok bernilai 0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Orchestrator memutar balik: RefundPayment dipanggil terlebih dahulu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Setelah refund selesai, CancelOrder dipanggil untuk menutup pesanan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INTEGRITAS BISNIS TERJAGA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Pelanggan tidak dirugikan karena uang berhasil di-refund otomatis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Status pesanan tercatat CANCELLED bukan hilang dari database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Konsistensi bisnis pulih tanpa memerlukan kunci database global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 failed step immediately halts forward execution and triggers exact LIFO compensation.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labs/29-saga-pattern/cmd/demo/main.go:70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Bukti Pengujian Otomatis: 9 Test Suites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Verifikasi formal happy path, kompensasi LIFO, idempotensi, dan error propagation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HASIL EKSEKUSI TEST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=== RUN   TestOrchestrator_HappyPath             --- PASS (0.00s)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=== RUN   TestOrchestrator_FailureCompensatesLIFO--- PASS (0.00s)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=== RUN   TestPayment_Idempotency                --- PASS (0.00s)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=== RUN   TestSemanticLock                       --- PASS (0.00s)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=== RUN   TestOrchestrator_Concurrency           --- PASS (0.00s)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=== RUN   TestChoreography_Flow                  --- PASS (0.00s)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=== RUN   TestChoreography_FailureCompensates    --- PASS (0.00s)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=== RUN   TestOrchestrator_CompensationErrorPropagated --- PASS (0.00s)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=== RUN   TestOrchestrator_ContextCancellation   --- PASS (0.00s)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PASS: 9/9 test suites passed in 0.428s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PENGUJIAN SPESIFIK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TestSemanticLock: Memastikan pencegahan order creation duplikat saat status pending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TestCompensationErrorPropagated: Memverifikasi penanganan jika refund payment gagal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TestChoreography_Flow: Memvalidasi rantai event pub-sub tanpa koordinator sentral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JAMINAN KUALITAS KODE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Seluruh pengujian lolos uji deteksi data race (`go test -race ./...`)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Test case mencakup skenario happy path, sad path, dan edge cases kegagalan jaringan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Bukti deterministik bahwa koordinasi terdistribusi bekerja sesuai spesifikasi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Unit and concurrency tests strictly validate LIFO rollback, idempotency, and semantic locks.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labs/29-saga-pattern/tests/saga_test.go:13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Ketika Kompensasi Gagal: Realitas Lapangan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Penanganan status COMPENSATE_FAILED dan strategi pemulihan sistem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KONDISI COMPENSATE_FAILED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Bagaimana jika refund gateway menghasilkan timeout atau status 500 error?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Saga tidak dapat melakukan rollback otomatis tak terbatas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Orchestrator mencatat status langkah menjadi COMPENSATE_FAILED dan agregasi error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STRATEGI MITIGASI PRODUKSI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Dead-Letter Queue (DLQ): Menyimpan pesan kompensasi yang gagal untuk proses retry terpisah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Automated Alerting: Memberi sinyal instan kepada tim engineer on-call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Idempotent Retry Worker: Mencoba kembali kompensasi dengan pola exponential backoff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MANUAL RECONCILIATION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Dashboard operasional untuk meninjau status saga yang mengalami kebuntuan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Customer service atau finance dapat melakukan penyesuaian manual (out-of-band)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Audit trail log langkah menjadi sumber kebenaran tunggal investigasi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When business compensation fails, isolate to DLQs and rely on idempotent retry workers or manual fixes.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labs/29-saga-pattern/internal/saga/orchestrator.go:100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Evaluasi Arsitektur: ACID vs 2PC vs Saga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Perbandingan mendalam dimensi konsistensi, ketersediaan, dan skalabilitas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TABEL PERBANDINGAN TIGA PENDEKATAN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Dimensi          | ACID Monolitik | Two-Phase Commit (2PC) | Saga Pattern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-----------------|----------------|------------------------|---------------------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Konsistensi      | Strict Immed.  | Strict Immed.          | Eventual Consistency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Isolasi (I)      | Didukung DBMS  | Didukung DBMS          | Perlu Semantic Lock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Ketersediaan     | Sangat Tinggi  | Rendah (Blocking)      | Sangat Tinggi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Skalabilitas     | Terbatas 1 DB  | Buruk lintas jaringan  | Linear horizontal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Kompleksitas     | Sangat Rendah  | Menengah               | Tinggi (Kompensasi)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TRADE-OFF KONSISTENSI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ACID menjamin tidak ada dirty read tanpa coding tambahan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Saga menukar isolasi instan demi mempertahankan ketersediaan sistem 24/7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Cocok untuk sistem high-throughput di mana lock contention 2PC tidak dapat diterima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KESIMPULAN PEMILIHAN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Tetap gunakan ACID lokal di dalam boundary tiap microservice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Gunakan Saga secara eksklusif untuk koordinasi lintas service terpisah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Choose ACID for local boundaries; use Sagas to preserve availability across distributed systems.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labs/29-saga-pattern/content/02-master-draft.md:5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Ekosistem &amp; Framework Saga di Industri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Solusi open-source dan cloud-native untuk orchestrator produksi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TEMPORAL.IO &amp; CADENCE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Stateful workflow engine terkemuka untuk orchestration saga skala enterprise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Menjamin eksekusi fungsi Go/Java/TypeScript tahan banting terhadap crash server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Secara otomatis mencatat event history dan menangani retry serta timeout kompensasi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AWS STEP FUNCTIONS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Serverless workflow orchestrator berbasis declarative JSON/YAML state machine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Terintegrasi langsung dengan AWS Lambda, SQS, SNS, dan DynamoDB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Mendukung visualisasi alur eksekusi grafis dan penanganan Catch/Retry terstruktur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EVENTUM &amp; MASS TRANSIT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Eventuate Tram / MassTransit untuk implementasi choreography berbasis transactional messaging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Sering dipadukan dengan Outbox Pattern (Lab 21) untuk menjamin atomilitas event publishing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Solusi tepat saat membangun arsitektur event-driven terdistribusi murni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Production sagas use workflow engines like Temporal or Step Functions to survive infrastructure crashes.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labs/29-saga-pattern/content/05-key-takeaways.md:12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Sinergi: Saga Pattern + Transactional Outbox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Menjamin penerbitan event tidak pernah hilang saat database lokal di-commit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DUAL-WRITE PROBLEM DI SAGA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Sebuah service harus melakukan dua hal: update database lokal dan publish event ke broker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Jika database commit berhasil tapi broker pesan mati, saga akan terhenti permanen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Jika broker publish berhasil tapi database commit gagal, data menjadi tidak konsisten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SOLUSI TRANSACTIONAL OUTBOX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Simpan domain event ke dalam tabel outbox di database yang sama dalam satu transaksi ACID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Proses worker independen membaca tabel outbox dan mempublikasikannya ke message broker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Menghilangkan risiko dual-write inconsistency pada arsitektur saga choreography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KORELASI LAB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Lab 21 (Transactional Outbox) memberikan fondasi pengiriman pesan andal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Lab 29 (Saga Pattern) mengorkestrasi alur transaksi bisnis tingkat tinggi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Kombinasi keduanya merupakan gold standard arsitektur microservices modern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Pair Sagas with Transactional Outbox to eliminate the dual-write problem across service boundaries.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labs/29-saga-pattern/content/02-master-draft.md:37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Studi Kasus Nyata: E-Commerce Checkout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Menyusuri siklus hidup 4 tahap pesanan dari keranjang hingga pengiriman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TAHAP 1: ORDER CREATION (COMPENSABLE)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Client menekan tombol Bayar Sekarang di aplikasi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OrderService mencatat pesanan PENDING dan memasang semantic lock pada order ID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Kompensasi jika gagal di langkah lanjutan: CancelOrder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TAHAP 2 &amp; 3: PAYMENT &amp; INVENTORY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PaymentService memotong saldo kartu dengan idempotency key (Kompensasi: RefundPayment)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InventoryService mengalokasikan stok gudang fisik (Kompensasi: ReleaseInventory)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Langkah inventaris bertindak sebagai Pivot Transaction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TAHAP 4: APPROVAL (RETRYABLE)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Setelah stok aman, order status diubah menjadi APPROVED dan semantic lock dilepas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Email invoice dikirimkan ke pelanggan via retryable worker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Pesanan kini siap diproses oleh divisi logistik pengiriman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E-commerce checkouts balance fast client confirmation with background eventual consistency.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labs/29-saga-pattern/cmd/demo/main.go:21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Checklist Kesiapan Produksi Saga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9 poin verifikasi arsitektur sebelum merilis ke lingkungan live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CHECKLIST PENERAPAN SAGA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Setiap compensable step memiliki fungsi kompensasi yang teruji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Seluruh endpoint kompensasi dan retry bersifat 100% idempotent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Semantic lock atau versioning diterapkan untuk mencegah dirty reads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Dead-Letter Queue (DLQ) disiapkan untuk kompensasi yang gagal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Log audit status langkah disimpan di storage persisten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Context timeout dan cancellation dikelola tanpa membatalkan rollback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Monitoring dan alerting aktif untuk status COMPENSATE_FAILED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Prosedur rekonsiliasi manual didokumentasikan untuk tim finance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Concurrency race detector lulus tanpa anomali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ATURAN UTAMA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Jangan pernah mengasumsikan kompensasi akan selalu berhasil tanpa cela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Rancang sistem dengan asumsi jaringan akan gagal pada momen terburuk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Saga yang baik selalu memiliki jalur pemulihan darurat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PERAN OBSERVABILITY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Distributed tracing (OpenTelemetry) sangat krusial untuk melacak Saga ID lintas service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 complete production checklist covers idempotency, semantic locks, DLQs, and observability.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labs/29-saga-pattern/content/02-master-draft.md:143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Batasan &amp; Lingkup Implementasi Lab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Membedakan simplifikasi edukasi dengan kebutuhan enterprise sesungguhnya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IN-MEMORY STATE &amp; MOCK STORAGE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Lab ini menggunakan in-memory map dan sync.Mutex bukan SQL/NoSQL database nyata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State machine orchestrator tidak disimpan di persistent storage disk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Jika proses Go di-kill di tengah eksekusi, in-flight saga state akan hilang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SIMPLIFIKASI JARINGAN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Pemanggilan antar service dilakukan secara in-process function call, bukan gRPC/HTTP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EventBus menggunakan Go channel/slice in-memory, bukan Apache Kafka atau RabbitMQ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Tidak menyimulasikan network partition nyata, tetapi memverifikasi logika koordinasi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NILAI INTI YANG DIBUKTIKAN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Algoritma kompensasi LIFO terbukti secara matematis dan logis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Mekanisme idempotency key dan semantic lock diverifikasi 100% fungsional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Fondasi konseptual yang kokoh sebelum mengadopsi engine seperti Temporal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This lab proves algorithmic correctness in-memory; production requires persistent state engines.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labs/29-saga-pattern/README.md:1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Tiga Prinsip Inti Transaksi Terdistribusi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Pedoman mendasar bagi software engineer dalam mendesain sistem microservices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PRINSIP 1: COMMIT LOKAL, KOMPENSASI GLOBAL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Jangan pernah mencoba mengunci database jarak jauh secara sinkron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Lakukan commit cepat di batas lokal dan andalkan kompensasi jika gagal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Maksimumkan ketersediaan sistem dan ketahanan terhadap partisi jaringan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PRINSIP 2: IDEMPOTENSI ADALAH HARGA MATI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Dalam sistem terdistribusi, kegagalan jaringan tidak terhindarkan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Retry yang aman hanya dapat terwujud jika setiap langkah memiliki idempotency key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Desain fungsi agar dapat dipanggil berkali-kali dengan hasil yang sama persis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PRINSIP 3: LINDUNGI ISOLASI SECARA SEMANTIK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Ketiadaan isolasi ACID harus diimbangi oleh semantic locking di level aplikasi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Tandai status data PENDING agar modifikasi konkuren tidak merusak integritas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Lindungi sistem dari anomali data dirty reads dan lost updates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Three rules of sagas: commit locally, make every step idempotent, and lock semantically.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labs/29-saga-pattern/content/05-key-takeaways.md:1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7F76"/>
                </a:solidFill>
              </a:defRPr>
            </a:pPr>
            <a:r>
              <a:t>SOFTWARE ENGINEERING LAB | LAB 29 RINGKASAN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Ringkasan Lab 29: Saga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320040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087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87F76"/>
                </a:solidFill>
              </a:defRPr>
            </a:pPr>
            <a:r>
              <a:t>HASIL VERIFIKASI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Happy path orkestrasi: 4 langkah tuntas dengan status APPROVED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Rollback kompensasi LIFO: Berhasil refund payment dan cancel order saat inventaris gagal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9 unit, concurrency, dan cancellation test suites lulus sempurna (go test -v -race)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194560"/>
            <a:ext cx="320040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087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87F76"/>
                </a:solidFill>
              </a:defRPr>
            </a:pPr>
            <a:r>
              <a:t>MENTAL MODEL UTAMA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A saga is a sequence of local transactions where each step commits immediately.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If any step fails, compensating transactions execute in reverse order (LIFO).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Eventual consistency replaces strict 2PC locking across service boundaries.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94560"/>
            <a:ext cx="320040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087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87F76"/>
                </a:solidFill>
              </a:defRPr>
            </a:pPr>
            <a:r>
              <a:t>RESOURCES &amp; AUDIT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Repository: https://github.com/lukman-ss/software-engineering-lab/tree/main/labs/29-saga-pattern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Commit SHA: 9c525944dc2de00e16513830a25ffa1c4834d742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Jalankan Demo: go run ./cmd/demo (di folder lab)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Jalankan Test: go test -v -race ./... (di folder lab)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Sagas trade strict ACID isolation for resilient, scalable eventual consistency across microservices.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