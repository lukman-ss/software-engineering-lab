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 Saga Pattern</a:t>
            </a:r>
          </a:p>
          <a:p/>
          <a:p>
            <a:r>
              <a:t>Mental Model: Saga pattern replaces 2PC with independent local transactions and compensating rollbacks.</a:t>
            </a:r>
          </a:p>
          <a:p/>
          <a:p>
            <a:r>
              <a:t>[]</a:t>
            </a:r>
          </a:p>
          <a:p>
            <a:r>
              <a:t>- Retro CRT monitor menampilkan sequence diagram Orkestrasi Saga</a:t>
            </a:r>
          </a:p>
          <a:p>
            <a:r>
              <a:t>- Diagram LIFO compensation rollback dengan panah merah dan hijau</a:t>
            </a:r>
          </a:p>
          <a:p>
            <a:r>
              <a:t>- Penulis: Lukman / lukman-ss</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 Ketika Database Terpisah Tidak Bisa Berkomitmen Bersama</a:t>
            </a:r>
          </a:p>
          <a:p/>
          <a:p>
            <a:r>
              <a:t>Mental Model: When services own their data, distributed transactions need local independence plus compensation.</a:t>
            </a:r>
          </a:p>
          <a:p/>
          <a:p>
            <a:r>
              <a:t>[MASALAH DISTRIBUSI TRANSAKSI]</a:t>
            </a:r>
          </a:p>
          <a:p>
            <a:r>
              <a:t>- Database Per-Service: Order, Payment, dan Inventory terpisah; tidak ada shared transaction boundary antar layanan.</a:t>
            </a:r>
          </a:p>
          <a:p>
            <a:r>
              <a:t>- Two-Phase Commit Rapuh: 2PC mengunci semua database secara sinkron hingga seluruh peserta setuju — blocking dan lambat.</a:t>
            </a:r>
          </a:p>
          <a:p>
            <a:r>
              <a:t>- Partisi Jaringan Fatal: Satu node down mengunci seluruh transaksi global; availability menurun drastis di bawah network partition.</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3: Mengapa Pendekatan Naif Gagal Menangani Transaksi Multi-Layanan</a:t>
            </a:r>
          </a:p>
          <a:p/>
          <a:p>
            <a:r>
              <a:t>Mental Model: Manual sequential calls without compensation create silent distributed inconsistency.</a:t>
            </a:r>
          </a:p>
          <a:p/>
          <a:p>
            <a:r>
              <a:t>[internal/services/services.go — Manual Cross-Service Call]</a:t>
            </a:r>
          </a:p>
          <a:p>
            <a:r>
              <a:t>- func (o *OrderService) CreateFullOrder(orderID string) error {</a:t>
            </a:r>
          </a:p>
          <a:p>
            <a:r>
              <a:t>-     o.CreateOrder(orderID)     // DB-commit #1</a:t>
            </a:r>
          </a:p>
          <a:p>
            <a:r>
              <a:t>-     p.ProcessPayment(orderID)  // DB-commit #2 — jika gagal?</a:t>
            </a:r>
          </a:p>
          <a:p>
            <a:r>
              <a:t>-     i.ReserveInventory(...)    // DB-commit #3 — jika gagal?</a:t>
            </a:r>
          </a:p>
          <a:p>
            <a:r>
              <a:t>-     o.ApproveOrder(orderID)    // DB-commit #4</a:t>
            </a:r>
          </a:p>
          <a:p>
            <a:r>
              <a:t>- }</a:t>
            </a:r>
          </a:p>
          <a:p>
            <a:r>
              <a:t>[KEGAGALAN TANPA SAGA]</a:t>
            </a:r>
          </a:p>
          <a:p>
            <a:r>
              <a:t>- Payment gagal setelah order dibuat → order tercatat tanpa pembayaran (status PENDING selamanya).</a:t>
            </a:r>
          </a:p>
          <a:p>
            <a:r>
              <a:t>- Inventory reserve gagal setelah payment sukses → uang terpotong tapi stok tidak dipesan.</a:t>
            </a:r>
          </a:p>
          <a:p>
            <a:r>
              <a:t>- Tidak ada jejak kompensasi; rekonsiliasi manual diperlukan untuk memperbaiki state.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4: Mental Model: Estafet Transaksi dengan Kompensasi Mundur</a:t>
            </a:r>
          </a:p>
          <a:p/>
          <a:p>
            <a:r>
              <a:t>Mental Model: Local transactions commit eagerly; compensations unwind them in reverse order for eventual consistency.</a:t>
            </a:r>
          </a:p>
          <a:p/>
          <a:p>
            <a:r>
              <a:t>[SAGA COMPOSITION MODEL]</a:t>
            </a:r>
          </a:p>
          <a:p>
            <a:r>
              <a:t>- 1. Step Execute (Local Transaction): Setiap langkah mengeksekusi transaksi lokal ke database-nya sendiri dan berhasil segera.</a:t>
            </a:r>
          </a:p>
          <a:p>
            <a:r>
              <a:t>- 2. Step Fail (Trigger Compensation): Jika langkah ke-n gagal, orchestrator memicu compensating transactions pada langkah 1 sampai n-1.</a:t>
            </a:r>
          </a:p>
          <a:p>
            <a:r>
              <a:t>- 3. LIFO Rollback (Last-In First-Out): Kompensasi berjalan dari belakang ke depan: refund payment sebelum cancel order.</a:t>
            </a:r>
          </a:p>
          <a:p>
            <a:r>
              <a:t>- 4. Eventual Consistency (All or Nothing): Setelah kompensasi selesai, seluruh sistem kembali ke state sebelum saga dimulai.</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5: Pipeline Orkestrasi: Dari Langkah Eksekusi Hingga Kompensasi</a:t>
            </a:r>
          </a:p>
          <a:p/>
          <a:p>
            <a:r>
              <a:t>Mental Model: Forward steps consume; backward compensations undo — orchestrated by a single stateful coordinator.</a:t>
            </a:r>
          </a:p>
          <a:p/>
          <a:p>
            <a:r>
              <a:t>[ORCHESTRATOR EXECUTION PIPELINE]</a:t>
            </a:r>
          </a:p>
          <a:p>
            <a:r>
              <a:t>- Client Request</a:t>
            </a:r>
          </a:p>
          <a:p>
            <a:r>
              <a:t>- ↓</a:t>
            </a:r>
          </a:p>
          <a:p>
            <a:r>
              <a:t>- Orchestrator.Execute(ctx)</a:t>
            </a:r>
          </a:p>
          <a:p>
            <a:r>
              <a:t>- ↓</a:t>
            </a:r>
          </a:p>
          <a:p>
            <a:r>
              <a:t>- for each Step in steps:</a:t>
            </a:r>
          </a:p>
          <a:p>
            <a:r>
              <a:t>-   step.Execute(ctx) → Local DB Write → Commit</a:t>
            </a:r>
          </a:p>
          <a:p>
            <a:r>
              <a:t>-   on success: append to executed list</a:t>
            </a:r>
          </a:p>
          <a:p>
            <a:r>
              <a:t>-   on failure: break loop → trigger compensate()</a:t>
            </a:r>
          </a:p>
          <a:p>
            <a:r>
              <a:t>- ↓</a:t>
            </a:r>
          </a:p>
          <a:p>
            <a:r>
              <a:t>- compensate(executed[]):</a:t>
            </a:r>
          </a:p>
          <a:p>
            <a:r>
              <a:t>-   for i = len-1 down to 0:</a:t>
            </a:r>
          </a:p>
          <a:p>
            <a:r>
              <a:t>-     executed[i].Compensate(ctx) → Undo DB Write</a:t>
            </a:r>
          </a:p>
          <a:p>
            <a:r>
              <a:t>-   on comp fail: aggregate errors, log COMPENSATE_FAILED</a:t>
            </a:r>
          </a:p>
          <a:p>
            <a:r>
              <a:t>- ↓</a:t>
            </a:r>
          </a:p>
          <a:p>
            <a:r>
              <a:t>- Return: nil (success) | error (step failed + compensation)</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6: Implementasi Inti: Orchestrator Step &amp; LIFO Compensate</a:t>
            </a:r>
          </a:p>
          <a:p/>
          <a:p>
            <a:r>
              <a:t>Mental Model: Each step owns both its forward action and its undo action — encapsulated as a single Step struct.</a:t>
            </a:r>
          </a:p>
          <a:p/>
          <a:p>
            <a:r>
              <a:t>[internal/saga/orchestrator.go]</a:t>
            </a:r>
          </a:p>
          <a:p>
            <a:r>
              <a:t>- type Step struct {</a:t>
            </a:r>
          </a:p>
          <a:p>
            <a:r>
              <a:t>-     Name       string</a:t>
            </a:r>
          </a:p>
          <a:p>
            <a:r>
              <a:t>-     Execute    func(ctx context.Context) error</a:t>
            </a:r>
          </a:p>
          <a:p>
            <a:r>
              <a:t>-     Compensate func(ctx context.Context) error</a:t>
            </a:r>
          </a:p>
          <a:p>
            <a:r>
              <a:t>- }</a:t>
            </a:r>
          </a:p>
          <a:p>
            <a:r>
              <a:t>- </a:t>
            </a:r>
          </a:p>
          <a:p>
            <a:r>
              <a:t>- func (o *Orchestrator) compensate(ctx context.Context, executed []Step) error {</a:t>
            </a:r>
          </a:p>
          <a:p>
            <a:r>
              <a:t>-     for i := len(executed) - 1; i &gt;= 0; i-- {</a:t>
            </a:r>
          </a:p>
          <a:p>
            <a:r>
              <a:t>-         step := executed[i]</a:t>
            </a:r>
          </a:p>
          <a:p>
            <a:r>
              <a:t>-         if step.Compensate != nil {</a:t>
            </a:r>
          </a:p>
          <a:p>
            <a:r>
              <a:t>-             err := step.Compensate(ctx)  // LIFO unwind</a:t>
            </a:r>
          </a:p>
          <a:p>
            <a:r>
              <a:t>-             ...</a:t>
            </a:r>
          </a:p>
          <a:p>
            <a:r>
              <a:t>-         }</a:t>
            </a:r>
          </a:p>
          <a:p>
            <a:r>
              <a:t>-     }</a:t>
            </a:r>
          </a:p>
          <a:p>
            <a:r>
              <a:t>- }</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7: Failure Path: ReserveInventory Gagal — Urutan Kompensasi LIFO</a:t>
            </a:r>
          </a:p>
          <a:p/>
          <a:p>
            <a:r>
              <a:t>Mental Model: Compensations must unwind in reverse execution order to prevent orphaned side effects.</a:t>
            </a:r>
          </a:p>
          <a:p/>
          <a:p>
            <a:r>
              <a:t>[ALUR KEGAGALAN DARI LATAR DEPAN HINGGA BELAKANG]</a:t>
            </a:r>
          </a:p>
          <a:p>
            <a:r>
              <a:t>- Langkah 1: CreateOrder: Order dibuat dengan status PENDING. Semantic lock diterapkan pada orderID. Berhasil ✓</a:t>
            </a:r>
          </a:p>
          <a:p>
            <a:r>
              <a:t>- Langkah 2: ProcessPayment: Payment diproses dengan idempotency key. Dana terpotong. Berhasil ✓</a:t>
            </a:r>
          </a:p>
          <a:p>
            <a:r>
              <a:t>- Langkah 3: ReserveInventory GAGAL: Stok item-1 hanya 1 unit, diminta 5. Error: out of stock. Loop berhenti.</a:t>
            </a:r>
          </a:p>
          <a:p>
            <a:r>
              <a:t>- Kompensasi mundur (LIFO): Compensate Payment (Refund) → Compensate Order (Cancel). State pulih ke awal. ✓</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8: Tabel Perbandingan: Mekanisme Kompensasi vs Gejala Sistem</a:t>
            </a:r>
          </a:p>
          <a:p/>
          <a:p>
            <a:r>
              <a:t>Mental Model: Not all saga steps need compensation — final approval marks the pivot of no return.</a:t>
            </a:r>
          </a:p>
          <a:p/>
          <a:p>
            <a:r>
              <a:t>[MATRIKS PERILAKU SAGA STEP]</a:t>
            </a:r>
          </a:p>
          <a:p>
            <a:r>
              <a:t>- Tipe Langkah | Eksekusi Sukses | Eksekusi Gagal | Kompensasi</a:t>
            </a:r>
          </a:p>
          <a:p>
            <a:r>
              <a:t>- Compensable Transaction | Local DB commit persisten | Rollback via Compensate() | Refund, Cancel, Release</a:t>
            </a:r>
          </a:p>
          <a:p>
            <a:r>
              <a:t>- Pivot Transaction | Titik balik tidak bisa dibatalkan | Saga dijamin mencapai final state | Tidak ada kompensasi</a:t>
            </a:r>
          </a:p>
          <a:p>
            <a:r>
              <a:t>- Retryable Transaction | Post-pivot, dijamin sukses | Idempotent retry | Tidak diperlukan</a:t>
            </a:r>
          </a:p>
          <a:p>
            <a:r>
              <a:t>- CreateOrder Step | Status PENDING + semantic lock | Rollback: delete lock + CANCELLED | ✓</a:t>
            </a:r>
          </a:p>
          <a:p>
            <a:r>
              <a:t>- ProcessPayment Step | Payment recorded + idempotency key | Rollback: delete payment entry | ✓ Refund</a:t>
            </a:r>
          </a:p>
          <a:p>
            <a:r>
              <a:t>- ReserveInventory Step | Stock decremented | Rollback: stock restored via Release() | ✓</a:t>
            </a:r>
          </a:p>
          <a:p>
            <a:r>
              <a:t>- ApproveOrder Step | Status APPROVED + lock released | Tanpa kompensasi (final step) | —</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9: Keputusan Arsitektur: Orkestrasi vs Koreografi</a:t>
            </a:r>
          </a:p>
          <a:p/>
          <a:p>
            <a:r>
              <a:t>Mental Model: Orchestration gives control; choreography gives autonomy. Choose by dependency density.</a:t>
            </a:r>
          </a:p>
          <a:p/>
          <a:p>
            <a:r>
              <a:t>[PILIHAN POLA KOORDINASI SAGA]</a:t>
            </a:r>
          </a:p>
          <a:p>
            <a:r>
              <a:t>- 1. Orkestrasi (Orchestrator): Koordinator terpusat mengatur urutan, menyimpan log, dan memicu kompensasi. Cocok untuk flow linear dengan dependencies jelas.</a:t>
            </a:r>
          </a:p>
          <a:p>
            <a:r>
              <a:t>- 2. Koreografi (Choreography): Layanan saling mendengarkan event tanpa koordinator pusat. Cocok untuk flow event-driven dengan loose coupling antar service.</a:t>
            </a:r>
          </a:p>
          <a:p>
            <a:r>
              <a:t>- 3. Hybrid Pattern: Orkestrasi untuk orchestration-critical path; koreografi untuk notification-only paths. Menggabungkan kekuatan kedua pendekatan.</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Bukti Eksekusi: Semua Test Suite Lolos Bersih</a:t>
            </a:r>
          </a:p>
          <a:p/>
          <a:p>
            <a:r>
              <a:t>Mental Model: Clean test suite with zero failures validates both forward execution and backward compensation paths.</a:t>
            </a:r>
          </a:p>
          <a:p/>
          <a:p>
            <a:r>
              <a:t>[TERMINAL OUTPUT: go test -v ./...]</a:t>
            </a:r>
          </a:p>
          <a:p>
            <a:r>
              <a:t>- === RUN   TestOrchestrator_HappyPath</a:t>
            </a:r>
          </a:p>
          <a:p>
            <a:r>
              <a:t>-     --- PASS: TestOrchestrator_HappyPath (0.00s)</a:t>
            </a:r>
          </a:p>
          <a:p>
            <a:r>
              <a:t>- === RUN   TestOrchestrator_FailureCompensatesLIFO</a:t>
            </a:r>
          </a:p>
          <a:p>
            <a:r>
              <a:t>-     --- PASS: TestOrchestrator_FailureCompensatesLIFO (0.00s)</a:t>
            </a:r>
          </a:p>
          <a:p>
            <a:r>
              <a:t>- === RUN   TestPayment_Idempotency</a:t>
            </a:r>
          </a:p>
          <a:p>
            <a:r>
              <a:t>-     --- PASS: TestPayment_Idempotency (0.00s)</a:t>
            </a:r>
          </a:p>
          <a:p>
            <a:r>
              <a:t>- === RUN   TestSemanticLock</a:t>
            </a:r>
          </a:p>
          <a:p>
            <a:r>
              <a:t>-     --- PASS: TestSemanticLock (0.00s)</a:t>
            </a:r>
          </a:p>
          <a:p>
            <a:r>
              <a:t>- === RUN   TestOrchestrator_Concurrency</a:t>
            </a:r>
          </a:p>
          <a:p>
            <a:r>
              <a:t>-     --- PASS: TestOrchestrator_Concurrency (0.00s)</a:t>
            </a:r>
          </a:p>
          <a:p>
            <a:r>
              <a:t>- === RUN   TestChoreography_Flow</a:t>
            </a:r>
          </a:p>
          <a:p>
            <a:r>
              <a:t>-     --- PASS: TestChoreography_Flow (0.00s)</a:t>
            </a:r>
          </a:p>
          <a:p>
            <a:r>
              <a:t>- === RUN   TestChoreography_FailureCompensates</a:t>
            </a:r>
          </a:p>
          <a:p>
            <a:r>
              <a:t>-     --- PASS: TestChoreography_FailureCompensates (0.00s)</a:t>
            </a:r>
          </a:p>
          <a:p>
            <a:r>
              <a:t>- === RUN   TestOrchestrator_CompensationErrorPropagated</a:t>
            </a:r>
          </a:p>
          <a:p>
            <a:r>
              <a:t>-     --- PASS: TestOrchestrator_CompensationErrorPropagated (0.00s)</a:t>
            </a:r>
          </a:p>
          <a:p>
            <a:r>
              <a:t>- === RUN   TestOrchestrator_ContextCancellation</a:t>
            </a:r>
          </a:p>
          <a:p>
            <a:r>
              <a:t>-     --- PASS: TestOrchestrator_ContextCancellation (0.00s)</a:t>
            </a:r>
          </a:p>
          <a:p>
            <a:r>
              <a:t>- PASS: ok  labs/29-saga-pattern/tests  0.003s</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11: Batasan Bukti Lab: Yang Dibuktikan vs Belum</a:t>
            </a:r>
          </a:p>
          <a:p/>
          <a:p>
            <a:r>
              <a:t>Mental Model: In-memory proofs validate logic; production requires persistence, observability, and DLQ handling.</a:t>
            </a:r>
          </a:p>
          <a:p/>
          <a:p>
            <a:r>
              <a:t>[YANG TIDAK DIBUKTIKAN]</a:t>
            </a:r>
          </a:p>
          <a:p>
            <a:r>
              <a:t>- Network Partition: Tidak ada simulasi network partition antara orchestrator dan service; semua service berjalan dalam proses Go yang sama.</a:t>
            </a:r>
          </a:p>
          <a:p>
            <a:r>
              <a:t>- Database Crash: Tidak diuji apa yang terjadi jika database crashed di tengah eksekusi step — tidak ada persistence layer riil.</a:t>
            </a:r>
          </a:p>
          <a:p>
            <a:r>
              <a:t>- Persistensi Log: Step log hanya disimpan di memori; tidak ada audit trail yang persisten ke disk atau database.</a:t>
            </a:r>
          </a:p>
          <a:p>
            <a:r>
              <a:t>- Distributed EventBus: EventBus di choreography berjalan in-memory; tidak diuji dengan message broker riil seperti Kafka atau RabbitMQ.</a:t>
            </a:r>
          </a:p>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12: Trade-off Arsitektur: Availability vs Isolation</a:t>
            </a:r>
          </a:p>
          <a:p/>
          <a:p>
            <a:r>
              <a:t>Mental Model: Availability over isolation: commit early, compensate later, accept eventual consistency.</a:t>
            </a:r>
          </a:p>
          <a:p/>
          <a:p>
            <a:r>
              <a:t>[MATRIKS TRADE-OFF SAGA]</a:t>
            </a:r>
          </a:p>
          <a:p>
            <a:r>
              <a:t>- Dimensi | ACID (Monolitik) | Saga Pattern | Dampak Produksi</a:t>
            </a:r>
          </a:p>
          <a:p>
            <a:r>
              <a:t>- Isolasi (I dalam ACID) | serializable penuh | tidak ada isolasi lintas service | dirty reads, lost updates mungkin terjadi</a:t>
            </a:r>
          </a:p>
          <a:p>
            <a:r>
              <a:t>- Ketersediaan | blocking 2PC | non-blocking, each step commit segera | saga jauh lebih available di bawah load tinggi</a:t>
            </a:r>
          </a:p>
          <a:p>
            <a:r>
              <a:t>- Latensi | satu round-trip ke semua peserta | N round-trips sekuensial + kompensasi | total latency lebih tinggi per transaksi</a:t>
            </a:r>
          </a:p>
          <a:p>
            <a:r>
              <a:t>- Konsistensi | strong consistency | eventual consistency | window inconsistency antar step execute sampai kompensasi</a:t>
            </a:r>
          </a:p>
          <a:p>
            <a:r>
              <a:t>- Complexity | database engine handles it | application-level orchestration | developer wrote compensation logic manually</a:t>
            </a:r>
          </a:p>
          <a:p>
            <a:r>
              <a:t>- Observability | transaction logs | step-level logs + compensation trace | lebih transparan, lebih mudah debug</a:t>
            </a:r>
          </a:p>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13: Pipeline Konkurensi: Goroutine → Validate → Mutex → Append Error</a:t>
            </a:r>
          </a:p>
          <a:p/>
          <a:p>
            <a:r>
              <a:t>Mental Model: Snapshot-then-release mutex pattern prevents deadlock while ensuring log consistency under concurrency.</a:t>
            </a:r>
          </a:p>
          <a:p/>
          <a:p>
            <a:r>
              <a:t>[internal/saga/orchestrator.go — Concurrency Guards]</a:t>
            </a:r>
          </a:p>
          <a:p>
            <a:r>
              <a:t>- func (o *Orchestrator) AddStep(step Step) {</a:t>
            </a:r>
          </a:p>
          <a:p>
            <a:r>
              <a:t>-     o.mu.Lock()</a:t>
            </a:r>
          </a:p>
          <a:p>
            <a:r>
              <a:t>-     defer o.mu.Unlock()</a:t>
            </a:r>
          </a:p>
          <a:p>
            <a:r>
              <a:t>-     o.steps = append(o.steps, step)</a:t>
            </a:r>
          </a:p>
          <a:p>
            <a:r>
              <a:t>- }</a:t>
            </a:r>
          </a:p>
          <a:p>
            <a:r>
              <a:t>- </a:t>
            </a:r>
          </a:p>
          <a:p>
            <a:r>
              <a:t>- func (o *Orchestrator) Execute(ctx context.Context) error {</a:t>
            </a:r>
          </a:p>
          <a:p>
            <a:r>
              <a:t>-     o.mu.Lock()</a:t>
            </a:r>
          </a:p>
          <a:p>
            <a:r>
              <a:t>-     steps := make([]Step, len(o.steps))</a:t>
            </a:r>
          </a:p>
          <a:p>
            <a:r>
              <a:t>-     copy(steps, o.steps)  // snapshot tanpa lock holder</a:t>
            </a:r>
          </a:p>
          <a:p>
            <a:r>
              <a:t>-     o.mu.Unlock()</a:t>
            </a:r>
          </a:p>
          <a:p>
            <a:r>
              <a:t>-     // ...execute steps without holding mu during step calls</a:t>
            </a:r>
          </a:p>
          <a:p>
            <a:r>
              <a:t>-     o.mu.Lock()</a:t>
            </a:r>
          </a:p>
          <a:p>
            <a:r>
              <a:t>-     o.logs = append(o.logs, StepLog{Name: step.Name, Status: ...})</a:t>
            </a:r>
          </a:p>
          <a:p>
            <a:r>
              <a:t>-     o.mu.Unlock()</a:t>
            </a:r>
          </a:p>
          <a:p>
            <a:r>
              <a:t>- }</a:t>
            </a:r>
          </a:p>
          <a:p>
            <a:r>
              <a:t>[KONTRAK KEAMANAN]</a:t>
            </a:r>
          </a:p>
          <a:p>
            <a:r>
              <a:t>- Mu memegang slice steps saat AddStep danExecute — mencegah race pada read.</a:t>
            </a:r>
          </a:p>
          <a:p>
            <a:r>
              <a:t>- Snapshot steps saat Execute: salinan sementara dilepaskan sebelum step call.</a:t>
            </a:r>
          </a:p>
          <a:p>
            <a:r>
              <a:t>- Log append dilindungi mutex — konsistensi log terjamin di bawah 10 concurrent goroutine.</a:t>
            </a:r>
          </a:p>
          <a:p>
            <a:r>
              <a:t>- Hasil: go test -race laporan clean pada TestOrchestrator_Concurrency (10 workers).</a:t>
            </a:r>
          </a:p>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14: Before vs After: Dari Manual Calls ke Saga Orkestrasi</a:t>
            </a:r>
          </a:p>
          <a:p/>
          <a:p>
            <a:r>
              <a:t>Mental Model: Orchestration replaces chaos with traceable state transitions and automatic recovery.</a:t>
            </a:r>
          </a:p>
          <a:p/>
          <a:p>
            <a:r>
              <a:t>[PERBANDINGAN SEBELUM DAN SESUDAH SAGA]</a:t>
            </a:r>
          </a:p>
          <a:p>
            <a:r>
              <a:t>- BEFORE: Manual Calls: Orde → Payment → Inventory → Approve. Gagal di Inventory: order PENDING, payment tercatat, stok untouched. Tidak ada recovery otomatis. State inconsistency permanen.</a:t>
            </a:r>
          </a:p>
          <a:p>
            <a:r>
              <a:t>- AFTER: Saga Orchestration: Orde → Payment → Inventory(GAGAL) → Compensate Payment(refund) → Compensate Order(cancel). State pulih sempurna. Log lengkap记录了每一步状态。</a:t>
            </a:r>
          </a:p>
          <a:p>
            <a:r>
              <a:t>- BEFORE: No Observability: Tidak ada log terpusat; harus trace masing-masing service log untuk reconstruct failure.</a:t>
            </a:r>
          </a:p>
          <a:p>
            <a:r>
              <a:t>- AFTER: Centralized Step Log: Orchestrator mencatat STATUS_EXECUTED, STATUS_FAILED, STATUS_COMPENSATED untuk setiap langkah. Debugging satu command: orch.Logs().</a:t>
            </a:r>
          </a:p>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15: Service Layer: Semantic Lock, Idempotency, dan Atomic Stock Mutation</a:t>
            </a:r>
          </a:p>
          <a:p/>
          <a:p>
            <a:r>
              <a:t>Mental Model: Service-level guards complement saga-level compensation — defense in depth across layers.</a:t>
            </a:r>
          </a:p>
          <a:p/>
          <a:p>
            <a:r>
              <a:t>[SEMANTIC LOCK (OrderService)]</a:t>
            </a:r>
          </a:p>
          <a:p>
            <a:r>
              <a:t>- func CreateOrder checks s.locks[orderID] — menolak duplikasi saat saga masih berjalan.</a:t>
            </a:r>
          </a:p>
          <a:p>
            <a:r>
              <a:t>- ApproveOrder menghapus lock via delete(s.locks, orderID) setelah approved.</a:t>
            </a:r>
          </a:p>
          <a:p>
            <a:r>
              <a:t>- CancelOrder juga menghapus lock agar order yang dikompensasi bisa dibuat ulang.</a:t>
            </a:r>
          </a:p>
          <a:p>
            <a:r>
              <a:t>[IDEMPOTENCY KEY (PaymentService)]</a:t>
            </a:r>
          </a:p>
          <a:p>
            <a:r>
              <a:t>- processedID map tracks已processed payment IDs.</a:t>
            </a:r>
          </a:p>
          <a:p>
            <a:r>
              <a:t>- func ProcessPayment: if processedID[id] == true → return nil (idempotent success).</a:t>
            </a:r>
          </a:p>
          <a:p>
            <a:r>
              <a:t>- RefundPayment: delete(s.payments, id) — aman dipanggil berkali-kali.</a:t>
            </a:r>
          </a:p>
          <a:p>
            <a:r>
              <a:t>[ATOMIC STOCK MUTATION (InventoryService)]</a:t>
            </a:r>
          </a:p>
          <a:p>
            <a:r>
              <a:t>- Reserve: atomic stock decrement under mutex — stock[item] -= qty, reserved[item] += qty.</a:t>
            </a:r>
          </a:p>
          <a:p>
            <a:r>
              <a:t>- Release: atomic stock restore under mutex — reserved[item] -= qty, stock[item] += qty.</a:t>
            </a:r>
          </a:p>
          <a:p>
            <a:r>
              <a:t>- Kedua operasi dilindungi sync.Mutex tunggal — nol race condition pada concurrent access.</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16: Choreography Pattern: Event Bus Decoupled via Pub/Sub</a:t>
            </a:r>
          </a:p>
          <a:p/>
          <a:p>
            <a:r>
              <a:t>Mental Model: Decentralized event-driven coordination trades observability for service autonomy.</a:t>
            </a:r>
          </a:p>
          <a:p/>
          <a:p>
            <a:r>
              <a:t>[internal/saga/choreography.go — EventBus pub/sub]</a:t>
            </a:r>
          </a:p>
          <a:p>
            <a:r>
              <a:t>- type EventBus struct {</a:t>
            </a:r>
          </a:p>
          <a:p>
            <a:r>
              <a:t>-     mu       sync.RWMutex</a:t>
            </a:r>
          </a:p>
          <a:p>
            <a:r>
              <a:t>-     handlers map[EventType][]EventHandler</a:t>
            </a:r>
          </a:p>
          <a:p>
            <a:r>
              <a:t>- }</a:t>
            </a:r>
          </a:p>
          <a:p>
            <a:r>
              <a:t>- </a:t>
            </a:r>
          </a:p>
          <a:p>
            <a:r>
              <a:t>- func (b *EventBus) Subscribe(t EventType, h EventHandler) {</a:t>
            </a:r>
          </a:p>
          <a:p>
            <a:r>
              <a:t>-     b.mu.Lock()</a:t>
            </a:r>
          </a:p>
          <a:p>
            <a:r>
              <a:t>-     b.handlers[t] = append(b.handlers[t], h)</a:t>
            </a:r>
          </a:p>
          <a:p>
            <a:r>
              <a:t>-     b.mu.Unlock()</a:t>
            </a:r>
          </a:p>
          <a:p>
            <a:r>
              <a:t>- }</a:t>
            </a:r>
          </a:p>
          <a:p>
            <a:r>
              <a:t>- </a:t>
            </a:r>
          </a:p>
          <a:p>
            <a:r>
              <a:t>- func (b *EventBus) Publish(ctx context.Context, e Event) {</a:t>
            </a:r>
          </a:p>
          <a:p>
            <a:r>
              <a:t>-     b.mu.RLock()</a:t>
            </a:r>
          </a:p>
          <a:p>
            <a:r>
              <a:t>-     handlers := append([]EventHandler(nil), b.handlers[e.Type]...)</a:t>
            </a:r>
          </a:p>
          <a:p>
            <a:r>
              <a:t>-     b.mu.RUnlock()</a:t>
            </a:r>
          </a:p>
          <a:p>
            <a:r>
              <a:t>-     for _, h := range handlers { h(ctx, e) }</a:t>
            </a:r>
          </a:p>
          <a:p>
            <a:r>
              <a:t>- }</a:t>
            </a:r>
          </a:p>
          <a:p>
            <a:r>
              <a:t>[FLOW CHOREOGRAPHY]</a:t>
            </a:r>
          </a:p>
          <a:p>
            <a:r>
              <a:t>- OrderCreated event → PaymentService.ProcessPayment → PaymentCompleted/PaymentFailed</a:t>
            </a:r>
          </a:p>
          <a:p>
            <a:r>
              <a:t>- PaymentCompleted → InventoryService.Reserve → InventoryReserved/InventoryFailed</a:t>
            </a:r>
          </a:p>
          <a:p>
            <a:r>
              <a:t>- InventoryReserved → OrderService.ApproveOrder</a:t>
            </a:r>
          </a:p>
          <a:p>
            <a:r>
              <a:t>- InventoryFailed/PaymentFailed → PaymentService.RefundPayment + OrderService.CancelOrder</a:t>
            </a:r>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17: Bukti Invarian: Idempotency Payment dan Semantic Lock Order</a:t>
            </a:r>
          </a:p>
          <a:p/>
          <a:p>
            <a:r>
              <a:t>Mental Model: Idempotency and semantic locks are the cornerstones of reliable saga step execution.</a:t>
            </a:r>
          </a:p>
          <a:p/>
          <a:p>
            <a:r>
              <a:t>[tests/saga_test.go — Idempotency &amp; Semantic Lock Proofs]</a:t>
            </a:r>
          </a:p>
          <a:p>
            <a:r>
              <a:t>- func TestPayment_Idempotency(t *testing.T) {</a:t>
            </a:r>
          </a:p>
          <a:p>
            <a:r>
              <a:t>-     paymentSvc := services.NewPaymentService()</a:t>
            </a:r>
          </a:p>
          <a:p>
            <a:r>
              <a:t>-     id := "tx-1"</a:t>
            </a:r>
          </a:p>
          <a:p>
            <a:r>
              <a:t>-     // First call: records payment</a:t>
            </a:r>
          </a:p>
          <a:p>
            <a:r>
              <a:t>-     paymentSvc.ProcessPayment(id, 100, false)</a:t>
            </a:r>
          </a:p>
          <a:p>
            <a:r>
              <a:t>-     // Second call with same ID: idempotent no-op</a:t>
            </a:r>
          </a:p>
          <a:p>
            <a:r>
              <a:t>-     err := paymentSvc.ProcessPayment(id, 100, false)</a:t>
            </a:r>
          </a:p>
          <a:p>
            <a:r>
              <a:t>-     // Must succeed (nil error) — double charge prevented</a:t>
            </a:r>
          </a:p>
          <a:p>
            <a:r>
              <a:t>-     if err != nil { t.Fatalf(...) }</a:t>
            </a:r>
          </a:p>
          <a:p>
            <a:r>
              <a:t>- }</a:t>
            </a:r>
          </a:p>
          <a:p>
            <a:r>
              <a:t>- </a:t>
            </a:r>
          </a:p>
          <a:p>
            <a:r>
              <a:t>- func TestSemanticLock(t *testing.T) {</a:t>
            </a:r>
          </a:p>
          <a:p>
            <a:r>
              <a:t>-     orderSvc := services.NewOrderService()</a:t>
            </a:r>
          </a:p>
          <a:p>
            <a:r>
              <a:t>-     id := "ord-lock"</a:t>
            </a:r>
          </a:p>
          <a:p>
            <a:r>
              <a:t>-     orderSvc.CreateOrder(id)  // sets locks[id] = true</a:t>
            </a:r>
          </a:p>
          <a:p>
            <a:r>
              <a:t>-     err := orderSvc.CreateOrder(id)  // should FAIL</a:t>
            </a:r>
          </a:p>
          <a:p>
            <a:r>
              <a:t>-     if err == nil { t.Fatal("second create should fail due to semantic lock") }</a:t>
            </a:r>
          </a:p>
          <a:p>
            <a:r>
              <a:t>- }</a:t>
            </a:r>
          </a:p>
          <a:p>
            <a:r>
              <a:t>[INARIAN YANG DIBUKTIKAN]</a:t>
            </a:r>
          </a:p>
          <a:p>
            <a:r>
              <a:t>- Idempotency: ProcessPayment dengan ID sama tidak menduplikasi charge.</a:t>
            </a:r>
          </a:p>
          <a:p>
            <a:r>
              <a:t>- Semantic lock: CreateOrder dengan orderID yang sama ditolak selama lock masih aktif.</a:t>
            </a:r>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18: Bukti LIFO Log: Verifikasi Urutan Status Step pada Kompensasi</a:t>
            </a:r>
          </a:p>
          <a:p/>
          <a:p>
            <a:r>
              <a:t>Mental Model: Log sequence integrity is as important as state recovery — every compensation must be traced.</a:t>
            </a:r>
          </a:p>
          <a:p/>
          <a:p>
            <a:r>
              <a:t>[tests/saga_test.go — LIFO Log Verification]</a:t>
            </a:r>
          </a:p>
          <a:p>
            <a:r>
              <a:t>- func TestOrchestrator_FailureCompensatesLIFO(t *testing.T) {</a:t>
            </a:r>
          </a:p>
          <a:p>
            <a:r>
              <a:t>-     // ...setup: CreateOrder, ProcessPayment, ReserveInventory(fail)...</a:t>
            </a:r>
          </a:p>
          <a:p>
            <a:r>
              <a:t>-     err := orch.Execute(ctx)</a:t>
            </a:r>
          </a:p>
          <a:p>
            <a:r>
              <a:t>-     // Verify state recovery</a:t>
            </a:r>
          </a:p>
          <a:p>
            <a:r>
              <a:t>-     if orderSvc.GetOrder(orderID) != services.OrderCancelled {</a:t>
            </a:r>
          </a:p>
          <a:p>
            <a:r>
              <a:t>-         t.Fatalf("expected order cancelled, got %v", orderSvc.GetOrder(orderID))</a:t>
            </a:r>
          </a:p>
          <a:p>
            <a:r>
              <a:t>-     }</a:t>
            </a:r>
          </a:p>
          <a:p>
            <a:r>
              <a:t>-     if paymentSvc.HasPayment(orderID) {</a:t>
            </a:r>
          </a:p>
          <a:p>
            <a:r>
              <a:t>-         t.Fatal("expected payment refunded")</a:t>
            </a:r>
          </a:p>
          <a:p>
            <a:r>
              <a:t>-     }</a:t>
            </a:r>
          </a:p>
          <a:p>
            <a:r>
              <a:t>-     // Verify log order (5 entries exactly)</a:t>
            </a:r>
          </a:p>
          <a:p>
            <a:r>
              <a:t>-     logs := orch.Logs()</a:t>
            </a:r>
          </a:p>
          <a:p>
            <a:r>
              <a:t>-     expectedOrder := []saga.StepStatus{</a:t>
            </a:r>
          </a:p>
          <a:p>
            <a:r>
              <a:t>-         saga.StatusExecuted, saga.StatusExecuted, saga.StatusFailed,</a:t>
            </a:r>
          </a:p>
          <a:p>
            <a:r>
              <a:t>-         saga.StatusCompensated, saga.StatusCompensated,</a:t>
            </a:r>
          </a:p>
          <a:p>
            <a:r>
              <a:t>-     }</a:t>
            </a:r>
          </a:p>
          <a:p>
            <a:r>
              <a:t>-     for i, l := range logs {</a:t>
            </a:r>
          </a:p>
          <a:p>
            <a:r>
              <a:t>-         if l.Status != expectedOrder[i] { ... }</a:t>
            </a:r>
          </a:p>
          <a:p>
            <a:r>
              <a:t>-     }</a:t>
            </a:r>
          </a:p>
          <a:p>
            <a:r>
              <a:t>- }</a:t>
            </a:r>
          </a:p>
          <a:p>
            <a:r>
              <a:t>[LOG EKSPEKTASI]</a:t>
            </a:r>
          </a:p>
          <a:p>
            <a:r>
              <a:t>- Idx 0: CreateOrder → EXECUTED (order PENDING)</a:t>
            </a:r>
          </a:p>
          <a:p>
            <a:r>
              <a:t>- Idx 1: ProcessPayment → EXECUTED (payment recorded)</a:t>
            </a:r>
          </a:p>
          <a:p>
            <a:r>
              <a:t>- Idx 2: ReserveInventory → FAILED (out of stock)</a:t>
            </a:r>
          </a:p>
          <a:p>
            <a:r>
              <a:t>- Idx 3: ProcessPayment → COMPENSATED (refund executed)</a:t>
            </a:r>
          </a:p>
          <a:p>
            <a:r>
              <a:t>- Idx 4: CreateOrder → COMPENSATED (order CANCELLED)</a:t>
            </a:r>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19: Bukti Context Cancellation: Kompensasi Saat Saga Dibatalkan</a:t>
            </a:r>
          </a:p>
          <a:p/>
          <a:p>
            <a:r>
              <a:t>Mental Model: Context cancellation must not abandon in-flight compensations — use detached context for rollback.</a:t>
            </a:r>
          </a:p>
          <a:p/>
          <a:p>
            <a:r>
              <a:t>[tests/saga_test.go — Context Cancellation Test]</a:t>
            </a:r>
          </a:p>
          <a:p>
            <a:r>
              <a:t>- func TestOrchestrator_ContextCancellation(t *testing.T) {</a:t>
            </a:r>
          </a:p>
          <a:p>
            <a:r>
              <a:t>-     ctx, cancel := context.WithCancel(context.Background())</a:t>
            </a:r>
          </a:p>
          <a:p>
            <a:r>
              <a:t>-     orch := saga.NewOrchestrator()</a:t>
            </a:r>
          </a:p>
          <a:p>
            <a:r>
              <a:t>-     step1Compensated := false</a:t>
            </a:r>
          </a:p>
          <a:p>
            <a:r>
              <a:t>-     orch.AddStep(saga.Step{</a:t>
            </a:r>
          </a:p>
          <a:p>
            <a:r>
              <a:t>-         Name: "Step1",</a:t>
            </a:r>
          </a:p>
          <a:p>
            <a:r>
              <a:t>-         Execute: func(ctx context.Context) error {</a:t>
            </a:r>
          </a:p>
          <a:p>
            <a:r>
              <a:t>-             cancel() // cancel context before step 2</a:t>
            </a:r>
          </a:p>
          <a:p>
            <a:r>
              <a:t>-             return nil</a:t>
            </a:r>
          </a:p>
          <a:p>
            <a:r>
              <a:t>-         },</a:t>
            </a:r>
          </a:p>
          <a:p>
            <a:r>
              <a:t>-         Compensate: func(ctx context.Context) error {</a:t>
            </a:r>
          </a:p>
          <a:p>
            <a:r>
              <a:t>-             step1Compensated = true</a:t>
            </a:r>
          </a:p>
          <a:p>
            <a:r>
              <a:t>-             return nil</a:t>
            </a:r>
          </a:p>
          <a:p>
            <a:r>
              <a:t>-         },</a:t>
            </a:r>
          </a:p>
          <a:p>
            <a:r>
              <a:t>-     })</a:t>
            </a:r>
          </a:p>
          <a:p>
            <a:r>
              <a:t>-     orch.AddStep(saga.Step{</a:t>
            </a:r>
          </a:p>
          <a:p>
            <a:r>
              <a:t>-         Name: "Step2",</a:t>
            </a:r>
          </a:p>
          <a:p>
            <a:r>
              <a:t>-         Execute: func(ctx context.Context) error {</a:t>
            </a:r>
          </a:p>
          <a:p>
            <a:r>
              <a:t>-             t.Fatal("step 2 should not execute when context cancelled")</a:t>
            </a:r>
          </a:p>
          <a:p>
            <a:r>
              <a:t>-             return nil</a:t>
            </a:r>
          </a:p>
          <a:p>
            <a:r>
              <a:t>-         },</a:t>
            </a:r>
          </a:p>
          <a:p>
            <a:r>
              <a:t>-     })</a:t>
            </a:r>
          </a:p>
          <a:p>
            <a:r>
              <a:t>-     err := orch.Execute(ctx)</a:t>
            </a:r>
          </a:p>
          <a:p>
            <a:r>
              <a:t>-     if !step1Compensated { t.Fatal("expected step 1 compensated") }</a:t>
            </a:r>
          </a:p>
          <a:p>
            <a:r>
              <a:t>- }</a:t>
            </a:r>
          </a:p>
          <a:p>
            <a:r>
              <a:t>[INARIAN CONTEXT CANCELLATION]</a:t>
            </a:r>
          </a:p>
          <a:p>
            <a:r>
              <a:t>- Context cancellation saat step 1 execute memicu cancel() sebelum step 2 dimulai.</a:t>
            </a:r>
          </a:p>
          <a:p>
            <a:r>
              <a:t>- Step 2 tidak pernah dieksekusi — select case ctx.Done() interrupts loop.</a:t>
            </a:r>
          </a:p>
          <a:p>
            <a:r>
              <a:t>- Step 1 tetap dikompensasi — compensate() dipanggil dengan context.Background().</a:t>
            </a:r>
          </a:p>
          <a:p>
            <a:r>
              <a:t>- Error yang dikembalikan: 'saga cancelled: context canceled' dengan compensation details.</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20: Checklist Implementasi Saga Pattern yang Benar</a:t>
            </a:r>
          </a:p>
          <a:p/>
          <a:p>
            <a:r>
              <a:t>Mental Model: Idempotent compensations and observable logs are non-negotiable for production sagas.</a:t>
            </a:r>
          </a:p>
          <a:p/>
          <a:p>
            <a:r>
              <a:t>[CHECKLIST IMPLEMENTASI]</a:t>
            </a:r>
          </a:p>
          <a:p>
            <a:r>
              <a:t>- [x] Setiap step memiliki fungsi Compensate yang valid (tidak nil untuk non-final steps).</a:t>
            </a:r>
          </a:p>
          <a:p>
            <a:r>
              <a:t>- [x] Setiap step Execute dan Compensate adalah idempotent — aman dipanggil berulang.</a:t>
            </a:r>
          </a:p>
          <a:p>
            <a:r>
              <a:t>- [x] Semantic lock diterapkan pada entity yang bisa diakses concurrent saga instances.</a:t>
            </a:r>
          </a:p>
          <a:p>
            <a:r>
              <a:t>- [x] Orchestrator menggunakan snapshot pattern untuk concurrent-safe step execution.</a:t>
            </a:r>
          </a:p>
          <a:p>
            <a:r>
              <a:t>- [x] Context cancellation handled: compensate() dipanggil dengan context independent.</a:t>
            </a:r>
          </a:p>
          <a:p>
            <a:r>
              <a:t>- [x] Step log mencatat semua status: PENDING, EXECUTED, FAILED, COMPENSATED, COMPENSATE_FAILED.</a:t>
            </a:r>
          </a:p>
          <a:p>
            <a:r>
              <a:t>- [x] go test -race dijalankan dan melaporkan clean — zero data race.</a:t>
            </a:r>
          </a:p>
          <a:p>
            <a:r>
              <a:t>- [x] Dead-letter queue planned untuk compensation failures yang tidak bisa otomatis recover.</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21: Anti-Pattern Saga: Yang Harus Dihindari di Production</a:t>
            </a:r>
          </a:p>
          <a:p/>
          <a:p>
            <a:r>
              <a:t>Mental Model: Every compensation must be idempotent, non-blocking, and free from circular dependencies.</a:t>
            </a:r>
          </a:p>
          <a:p/>
          <a:p>
            <a:r>
              <a:t>[ANTI-PATTERNS YANG HARUS DIHINDARI]</a:t>
            </a:r>
          </a:p>
          <a:p>
            <a:r>
              <a:t>- Non-Idempotent Compensate: Compensate() memanggil external API tanpa idempotency key → refund ganda saat retry kompensasi.</a:t>
            </a:r>
          </a:p>
          <a:p>
            <a:r>
              <a:t>- Circular Compensation Dependency: Step A compensate memanggil Step B execute → infinite loop kompensasi timbal balik.</a:t>
            </a:r>
          </a:p>
          <a:p>
            <a:r>
              <a:t>- Missing Compensate for Final Step: Final step (ApproveOrder) tidak punya Compensate, tapi jika di tengah jalan di-rollback, approval permanen.</a:t>
            </a:r>
          </a:p>
          <a:p>
            <a:r>
              <a:t>- Blocking Long-Running Compensate: Compensate() memanggil synchronous HTTP ke external service → orch stall, lock held, deadlock.</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22: Takeaway Praktis: Command &amp; Runbook untuk Saga Pattern</a:t>
            </a:r>
          </a:p>
          <a:p/>
          <a:p>
            <a:r>
              <a:t>Mental Model: Runbooks matter as much as code — compensation failure handling requires operational discipline.</a:t>
            </a:r>
          </a:p>
          <a:p/>
          <a:p>
            <a:r>
              <a:t>[REPRODUKSI &amp; OPERASIONAL COMMAND]</a:t>
            </a:r>
          </a:p>
          <a:p>
            <a:r>
              <a:t>- # Jalankan seluruh test suite</a:t>
            </a:r>
          </a:p>
          <a:p>
            <a:r>
              <a:t>- go test -v ./...</a:t>
            </a:r>
          </a:p>
          <a:p>
            <a:r>
              <a:t>- </a:t>
            </a:r>
          </a:p>
          <a:p>
            <a:r>
              <a:t>- # Verifikasi race condition</a:t>
            </a:r>
          </a:p>
          <a:p>
            <a:r>
              <a:t>- go test -race -v ./...</a:t>
            </a:r>
          </a:p>
          <a:p>
            <a:r>
              <a:t>- </a:t>
            </a:r>
          </a:p>
          <a:p>
            <a:r>
              <a:t>- # Demo interaktif (happy path + rollback)</a:t>
            </a:r>
          </a:p>
          <a:p>
            <a:r>
              <a:t>- go run ./cmd/demo</a:t>
            </a:r>
          </a:p>
          <a:p>
            <a:r>
              <a:t>- </a:t>
            </a:r>
          </a:p>
          <a:p>
            <a:r>
              <a:t>- # Production runbook:</a:t>
            </a:r>
          </a:p>
          <a:p>
            <a:r>
              <a:t>- # 1. Monitor orch.Logs() untuk STATUS_FAILED / STATUS_COMPENSATE_FAILED</a:t>
            </a:r>
          </a:p>
          <a:p>
            <a:r>
              <a:t>- # 2. Alert on COMPENSATE_FAILED → trigger DLQ processing</a:t>
            </a:r>
          </a:p>
          <a:p>
            <a:r>
              <a:t>- # 3. Manual reconciliation via admin console for stuck compensations</a:t>
            </a:r>
          </a:p>
          <a:p>
            <a:r>
              <a:t>- # 4. Regular healthcheck: verify all in-flight sagas reached terminal state</a:t>
            </a:r>
          </a:p>
          <a:p>
            <a:r>
              <a:t>[PRINSIP OPERASIONAL]</a:t>
            </a:r>
          </a:p>
          <a:p>
            <a:r>
              <a:t>- Kompensasi adalah transaksi biasa — perlakukan dengan sama seriusnya seperti eksekusi forward.</a:t>
            </a:r>
          </a:p>
          <a:p>
            <a:r>
              <a:t>- Setiap saga instance memiliki SagaID unik untuk tracing end-to-end.</a:t>
            </a:r>
          </a:p>
          <a:p>
            <a:r>
              <a:t>- Dead letter queue diperlukan untuk compensation failure yang tidak bisa auto-retry.</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23: Prinsip Arsitektural Jangka Panjang: Eventual Consistency sebagai Kontrak</a:t>
            </a:r>
          </a:p>
          <a:p/>
          <a:p>
            <a:r>
              <a:t>Mental Model: Eventual consistency is not a compromise — it is the architecture of scale.</a:t>
            </a:r>
          </a:p>
          <a:p/>
          <a:p>
            <a:r>
              <a:t>[PRINSIP ARSITEKTUR SAGA]</a:t>
            </a:r>
          </a:p>
          <a:p>
            <a:r>
              <a:t>- 1. Local Autonomy (Each Service Owns Data): Setiap service mengelola database sendiri; tidak ada shared transaction boundary.</a:t>
            </a:r>
          </a:p>
          <a:p>
            <a:r>
              <a:t>- 2. Eager Local Commit (Commit Before Next Step): Setiap langkah committed segera ke database lokal — tidak ada pending write antar step.</a:t>
            </a:r>
          </a:p>
          <a:p>
            <a:r>
              <a:t>- 3. Explicit Compensation (Undo as First-Class Operation): Kompensasi adalah operation explicit, bukan implicit rollback — didesain, di-test, di-monitor.</a:t>
            </a:r>
          </a:p>
          <a:p>
            <a:r>
              <a:t>- 4. Observable State (Logs adalah Source of Truth): Step log adalah satu-satunya sumber kebenaran untuk debugging distributed failure.</a:t>
            </a:r>
          </a:p>
          <a:p>
            <a:r>
              <a:t>- 5. Resilient Design (Accept Partial Failure): Sistem diterima sebagai entitas yang bisa gagal parsial — compensations dirancang untuk recover.</a:t>
            </a:r>
          </a:p>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24: Eksperimen kecil, interpretasi yang teliti.</a:t>
            </a:r>
          </a:p>
          <a:p/>
          <a:p>
            <a:r>
              <a:t>Mental Model: Distributed consistency is earned through deliberate design, not inherited from databases.</a:t>
            </a:r>
          </a:p>
          <a:p/>
          <a:p>
            <a:r>
              <a:t>[SUMBER DAYA LAB]</a:t>
            </a:r>
          </a:p>
          <a:p>
            <a:r>
              <a:t>- Repo: https://github.com/lukman-ss/software-engineering-lab/tree/main/labs/29-saga-pattern</a:t>
            </a:r>
          </a:p>
          <a:p>
            <a:r>
              <a:t>- Commit SHA: ba4b6216</a:t>
            </a:r>
          </a:p>
          <a:p>
            <a:r>
              <a:t>- internal/saga/orchestrator.go — Orchestrator dengan LIFO compensation</a:t>
            </a:r>
          </a:p>
          <a:p>
            <a:r>
              <a:t>- internal/saga/choreography.go — Event bus untuk pattern choreography</a:t>
            </a:r>
          </a:p>
          <a:p>
            <a:r>
              <a:t>- internal/services/services.go — Order, Payment, Inventory dengan semantic lock &amp; idempotency</a:t>
            </a:r>
          </a:p>
          <a:p>
            <a:r>
              <a:t>- tests/saga_test.go — 9 test cases: happy path, LIFO rollback, idempotency, concurrency</a:t>
            </a:r>
          </a:p>
          <a:p>
            <a:r>
              <a:t>- cmd/demo/main.go — Interactive CLI demonstration</a:t>
            </a:r>
          </a:p>
          <a:p>
            <a:r>
              <a:t>[VERIFIKASI]</a:t>
            </a:r>
          </a:p>
          <a:p>
            <a:r>
              <a:t>- Semua test suite: PASS (Race-Clean, Go 1.22+)</a:t>
            </a:r>
          </a:p>
          <a:p>
            <a:r>
              <a:t>- Invarian terbukti: LIFO rollback, idempotency, semantic lock, concurrency safety.</a:t>
            </a:r>
          </a:p>
          <a:p>
            <a:r>
              <a:t>- Batasan: in-memory simulation — belum mencakup network partition atau persistence crash.</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10362895" cy="548640"/>
          </a:xfrm>
          <a:prstGeom prst="rect">
            <a:avLst/>
          </a:prstGeom>
          <a:noFill/>
        </p:spPr>
        <p:txBody>
          <a:bodyPr wrap="square">
            <a:spAutoFit/>
          </a:bodyPr>
          <a:lstStyle/>
          <a:p>
            <a:pPr>
              <a:defRPr sz="1600" b="1">
                <a:solidFill>
                  <a:srgbClr val="087F76"/>
                </a:solidFill>
              </a:defRPr>
            </a:pPr>
            <a:r>
              <a:t>SOFTWARE ENGINEERING LAB | LAB 29</a:t>
            </a:r>
          </a:p>
        </p:txBody>
      </p:sp>
      <p:sp>
        <p:nvSpPr>
          <p:cNvPr id="4" name="TextBox 3"/>
          <p:cNvSpPr txBox="1"/>
          <p:nvPr/>
        </p:nvSpPr>
        <p:spPr>
          <a:xfrm>
            <a:off x="914400" y="1645920"/>
            <a:ext cx="10362895" cy="1463040"/>
          </a:xfrm>
          <a:prstGeom prst="rect">
            <a:avLst/>
          </a:prstGeom>
          <a:noFill/>
        </p:spPr>
        <p:txBody>
          <a:bodyPr wrap="square">
            <a:spAutoFit/>
          </a:bodyPr>
          <a:lstStyle/>
          <a:p>
            <a:pPr>
              <a:defRPr sz="4400" b="1">
                <a:solidFill>
                  <a:srgbClr val="FFFFFF"/>
                </a:solidFill>
              </a:defRPr>
            </a:pPr>
            <a:r>
              <a:t>Saga Pattern</a:t>
            </a:r>
          </a:p>
        </p:txBody>
      </p:sp>
      <p:sp>
        <p:nvSpPr>
          <p:cNvPr id="5" name="TextBox 4"/>
          <p:cNvSpPr txBox="1"/>
          <p:nvPr/>
        </p:nvSpPr>
        <p:spPr>
          <a:xfrm>
            <a:off x="914400" y="3291840"/>
            <a:ext cx="10362895" cy="914400"/>
          </a:xfrm>
          <a:prstGeom prst="rect">
            <a:avLst/>
          </a:prstGeom>
          <a:noFill/>
        </p:spPr>
        <p:txBody>
          <a:bodyPr wrap="square">
            <a:spAutoFit/>
          </a:bodyPr>
          <a:lstStyle/>
          <a:p>
            <a:pPr>
              <a:defRPr sz="2200">
                <a:solidFill>
                  <a:srgbClr val="F4F1E8"/>
                </a:solidFill>
              </a:defRPr>
            </a:pPr>
            <a:r>
              <a:t>Mengelola Transaksi Terdistribusi Tanpa Two-Phase Commit di Microservices</a:t>
            </a:r>
          </a:p>
        </p:txBody>
      </p:sp>
      <p:sp>
        <p:nvSpPr>
          <p:cNvPr id="6" name="TextBox 5"/>
          <p:cNvSpPr txBox="1"/>
          <p:nvPr/>
        </p:nvSpPr>
        <p:spPr>
          <a:xfrm>
            <a:off x="914400" y="5303520"/>
            <a:ext cx="5486400" cy="548640"/>
          </a:xfrm>
          <a:prstGeom prst="rect">
            <a:avLst/>
          </a:prstGeom>
          <a:noFill/>
        </p:spPr>
        <p:txBody>
          <a:bodyPr wrap="none">
            <a:spAutoFit/>
          </a:bodyPr>
          <a:lstStyle/>
          <a:p>
            <a:pPr>
              <a:defRPr sz="1800" b="1">
                <a:solidFill>
                  <a:srgbClr val="D97706"/>
                </a:solidFill>
              </a:defRPr>
            </a:pPr>
            <a:r>
              <a:t>Lukman / lukman-ss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Ketika Database Terpisah Tidak Bisa Berkomitmen Bersama</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layanan memiliki database sendiri — transaksi ACID klasik runtuh di boundary microservice.</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MASALAH DISTRIBUSI TRANSAKSI</a:t>
            </a:r>
          </a:p>
          <a:p>
            <a:pPr>
              <a:spcAft>
                <a:spcPts val="400"/>
              </a:spcAft>
              <a:defRPr sz="1200">
                <a:solidFill>
                  <a:srgbClr val="0B1B2D"/>
                </a:solidFill>
              </a:defRPr>
            </a:pPr>
            <a:r>
              <a:t>• Database Per-Service: Order, Payment, dan Inventory terpisah; tidak ada shared transaction boundary antar layanan.</a:t>
            </a:r>
          </a:p>
          <a:p>
            <a:pPr>
              <a:spcAft>
                <a:spcPts val="400"/>
              </a:spcAft>
              <a:defRPr sz="1200">
                <a:solidFill>
                  <a:srgbClr val="0B1B2D"/>
                </a:solidFill>
              </a:defRPr>
            </a:pPr>
            <a:r>
              <a:t>• Two-Phase Commit Rapuh: 2PC mengunci semua database secara sinkron hingga seluruh peserta setuju — blocking dan lambat.</a:t>
            </a:r>
          </a:p>
          <a:p>
            <a:pPr>
              <a:spcAft>
                <a:spcPts val="400"/>
              </a:spcAft>
              <a:defRPr sz="1200">
                <a:solidFill>
                  <a:srgbClr val="0B1B2D"/>
                </a:solidFill>
              </a:defRPr>
            </a:pPr>
            <a:r>
              <a:t>• Partisi Jaringan Fatal: Satu node down mengunci seluruh transaksi global; availability menurun drastis di bawah network partition.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Di arsitektur microservices modern, setiap service mengelola database sendiri. Saat flow bisnis melibatkan order-creation, payment-processing, dan inventory-reservation secara berurutan, transaksi ACID klasik yang mengandalkan single database transaction langsung runtuh. Dua-phase commit (2PC) muncul sebagai solusi teoretis, namun protokol ini mengunci semua resource secara sinkron hingga seluruh peserta memberikan suara commit — menyebabkan latency tinggi dan vulnerabilitas terhadap network partition.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When services own their data, distributed transactions need local independence plus compensation.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content/02-master-draft.md:3-15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02 / 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Mengapa Pendekatan Naif Gagal Menangani Transaksi Multi-Layanan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Orkestrasi manual tanpa kompensasi menciptakan inkonsistensi yang tersembunyi dan sulit dideteksi.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(o *OrderService) CreateFullOrder(orderID string) error {</a:t>
            </a:r>
            <a:br/>
            <a:r>
              <a:t>    o.CreateOrder(orderID)     // DB-commit #1</a:t>
            </a:r>
            <a:br/>
            <a:r>
              <a:t>    p.ProcessPayment(orderID)  // DB-commit #2 — jika gagal?</a:t>
            </a:r>
            <a:br/>
            <a:r>
              <a:t>    i.ReserveInventory(...)    // DB-commit #3 — jika gagal?</a:t>
            </a:r>
            <a:br/>
            <a:r>
              <a:t>    o.ApproveOrder(orderID)    // DB-commit #4</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Implementasi naif mencoba memanggil setiap service berurutan tanpa mekanisme rollback lintas domain. Jika payment service gagal setelah order berhasil dibuat, database order mencatat status PENDING namun payment mencatat gagal. State sistem menjadi inkonsisten dan tidak ada jalan mundur otomatis. Pendekatan manual ini juga menyulitkan observabilitas karena tidak ada log eksekusi terpusat yang merekam status setiap langkah.</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Manual sequential calls without compensation create silent distributed inconsistency.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internal/services/services.go • cmd/demo/main.go:11-113</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03 / 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Mental Model: Estafet Transaksi dengan Kompensasi Mundur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langkah adalah transaksi lokal independen; jika satu gagal, langkah sebelumnya dikompensasi.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SAGA COMPOSITION MODEL</a:t>
            </a:r>
          </a:p>
          <a:p>
            <a:pPr>
              <a:spcAft>
                <a:spcPts val="400"/>
              </a:spcAft>
              <a:defRPr sz="1200">
                <a:solidFill>
                  <a:srgbClr val="0B1B2D"/>
                </a:solidFill>
              </a:defRPr>
            </a:pPr>
            <a:r>
              <a:t>• 1. Step Execute (Local Transaction): Setiap langkah mengeksekusi transaksi lokal ke database-nya sendiri dan berhasil segera.</a:t>
            </a:r>
          </a:p>
          <a:p>
            <a:pPr>
              <a:spcAft>
                <a:spcPts val="400"/>
              </a:spcAft>
              <a:defRPr sz="1200">
                <a:solidFill>
                  <a:srgbClr val="0B1B2D"/>
                </a:solidFill>
              </a:defRPr>
            </a:pPr>
            <a:r>
              <a:t>• 2. Step Fail (Trigger Compensation): Jika langkah ke-n gagal, orchestrator memicu compensating transactions pada langkah 1 sampai n-1.</a:t>
            </a:r>
          </a:p>
          <a:p>
            <a:pPr>
              <a:spcAft>
                <a:spcPts val="400"/>
              </a:spcAft>
              <a:defRPr sz="1200">
                <a:solidFill>
                  <a:srgbClr val="0B1B2D"/>
                </a:solidFill>
              </a:defRPr>
            </a:pPr>
            <a:r>
              <a:t>• 3. LIFO Rollback (Last-In First-Out): Kompensasi berjalan dari belakang ke depan: refund payment sebelum cancel order.</a:t>
            </a:r>
          </a:p>
          <a:p>
            <a:pPr>
              <a:spcAft>
                <a:spcPts val="400"/>
              </a:spcAft>
              <a:defRPr sz="1200">
                <a:solidFill>
                  <a:srgbClr val="0B1B2D"/>
                </a:solidFill>
              </a:defRPr>
            </a:pPr>
            <a:r>
              <a:t>• 4. Eventual Consistency (All or Nothing): Setelah kompensasi selesai, seluruh sistem kembali ke state sebelum saga dimulai.</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Bayangkan proses estafet di mana setiap pelari menyelesaikan bagiannya dan langsung mencatat hasil ke database lokal. Jika pelari ketiga terjatuh, pelari satu dan dua berlari mundur untuk mengembalikan posisi awal mereka. Setiap langkah berdiri sendiri sebagai transaksi lokal yang commit-segera; tidak ada locking lintas layanan. Ketika kegagalan terjadi, orchestrator memicu chain of compensations secara Last-In-First-Out untuk memulihkan konsistensi.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Local transactions commit eagerly; compensations unwind them in reverse order for eventual 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content/02-master-draft.md:13-21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04 / 24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Orkestrasi: Dari Langkah Eksekusi Hingga Kompensasi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Flow terpusat di Orchestrator: AddStep → Execute → LIFO Compensate pada kegagalan.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ORCHESTRATOR EXECUTION PIPELINE</a:t>
            </a:r>
          </a:p>
          <a:p>
            <a:pPr>
              <a:spcAft>
                <a:spcPts val="400"/>
              </a:spcAft>
              <a:defRPr sz="1200">
                <a:solidFill>
                  <a:srgbClr val="0B1B2D"/>
                </a:solidFill>
              </a:defRPr>
            </a:pPr>
            <a:r>
              <a:t>• Client Request</a:t>
            </a:r>
          </a:p>
          <a:p>
            <a:pPr>
              <a:spcAft>
                <a:spcPts val="400"/>
              </a:spcAft>
              <a:defRPr sz="1200">
                <a:solidFill>
                  <a:srgbClr val="0B1B2D"/>
                </a:solidFill>
              </a:defRPr>
            </a:pPr>
            <a:r>
              <a:t>• ↓</a:t>
            </a:r>
          </a:p>
          <a:p>
            <a:pPr>
              <a:spcAft>
                <a:spcPts val="400"/>
              </a:spcAft>
              <a:defRPr sz="1200">
                <a:solidFill>
                  <a:srgbClr val="0B1B2D"/>
                </a:solidFill>
              </a:defRPr>
            </a:pPr>
            <a:r>
              <a:t>• Orchestrator.Execute(ctx)</a:t>
            </a:r>
          </a:p>
          <a:p>
            <a:pPr>
              <a:spcAft>
                <a:spcPts val="400"/>
              </a:spcAft>
              <a:defRPr sz="1200">
                <a:solidFill>
                  <a:srgbClr val="0B1B2D"/>
                </a:solidFill>
              </a:defRPr>
            </a:pPr>
            <a:r>
              <a:t>• ↓</a:t>
            </a:r>
          </a:p>
          <a:p>
            <a:pPr>
              <a:spcAft>
                <a:spcPts val="400"/>
              </a:spcAft>
              <a:defRPr sz="1200">
                <a:solidFill>
                  <a:srgbClr val="0B1B2D"/>
                </a:solidFill>
              </a:defRPr>
            </a:pPr>
            <a:r>
              <a:t>• for each Step in steps:</a:t>
            </a:r>
          </a:p>
          <a:p>
            <a:pPr>
              <a:spcAft>
                <a:spcPts val="400"/>
              </a:spcAft>
              <a:defRPr sz="1200">
                <a:solidFill>
                  <a:srgbClr val="0B1B2D"/>
                </a:solidFill>
              </a:defRPr>
            </a:pPr>
            <a:r>
              <a:t>  step.Execute(ctx) → Local DB Write → Commit</a:t>
            </a:r>
          </a:p>
          <a:p>
            <a:pPr>
              <a:spcAft>
                <a:spcPts val="400"/>
              </a:spcAft>
              <a:defRPr sz="1200">
                <a:solidFill>
                  <a:srgbClr val="0B1B2D"/>
                </a:solidFill>
              </a:defRPr>
            </a:pPr>
            <a:r>
              <a:t>•   on success: append to executed list</a:t>
            </a:r>
          </a:p>
          <a:p>
            <a:pPr>
              <a:spcAft>
                <a:spcPts val="400"/>
              </a:spcAft>
              <a:defRPr sz="1200">
                <a:solidFill>
                  <a:srgbClr val="0B1B2D"/>
                </a:solidFill>
              </a:defRPr>
            </a:pPr>
            <a:r>
              <a:t>  on failure: break loop → trigger compensate()</a:t>
            </a:r>
          </a:p>
          <a:p>
            <a:pPr>
              <a:spcAft>
                <a:spcPts val="400"/>
              </a:spcAft>
              <a:defRPr sz="1200">
                <a:solidFill>
                  <a:srgbClr val="0B1B2D"/>
                </a:solidFill>
              </a:defRPr>
            </a:pPr>
            <a:r>
              <a:t>• ↓</a:t>
            </a:r>
          </a:p>
          <a:p>
            <a:pPr>
              <a:spcAft>
                <a:spcPts val="400"/>
              </a:spcAft>
              <a:defRPr sz="1200">
                <a:solidFill>
                  <a:srgbClr val="0B1B2D"/>
                </a:solidFill>
              </a:defRPr>
            </a:pPr>
            <a:r>
              <a:t>• compensate(executed[]):</a:t>
            </a:r>
          </a:p>
          <a:p>
            <a:pPr>
              <a:spcAft>
                <a:spcPts val="400"/>
              </a:spcAft>
              <a:defRPr sz="1200">
                <a:solidFill>
                  <a:srgbClr val="0B1B2D"/>
                </a:solidFill>
              </a:defRPr>
            </a:pPr>
            <a:r>
              <a:t>•   for i = len-1 down to 0:</a:t>
            </a:r>
          </a:p>
          <a:p>
            <a:pPr>
              <a:spcAft>
                <a:spcPts val="400"/>
              </a:spcAft>
              <a:defRPr sz="1200">
                <a:solidFill>
                  <a:srgbClr val="0B1B2D"/>
                </a:solidFill>
              </a:defRPr>
            </a:pPr>
            <a:r>
              <a:t>    executed[i].Compensate(ctx) → Undo DB Write</a:t>
            </a:r>
          </a:p>
          <a:p>
            <a:pPr>
              <a:spcAft>
                <a:spcPts val="400"/>
              </a:spcAft>
              <a:defRPr sz="1200">
                <a:solidFill>
                  <a:srgbClr val="0B1B2D"/>
                </a:solidFill>
              </a:defRPr>
            </a:pPr>
            <a:r>
              <a:t>•   on comp fail: aggregate errors, log COMPENSATE_FAILED</a:t>
            </a:r>
          </a:p>
          <a:p>
            <a:pPr>
              <a:spcAft>
                <a:spcPts val="400"/>
              </a:spcAft>
              <a:defRPr sz="1200">
                <a:solidFill>
                  <a:srgbClr val="0B1B2D"/>
                </a:solidFill>
              </a:defRPr>
            </a:pPr>
            <a:r>
              <a:t>• ↓</a:t>
            </a:r>
          </a:p>
          <a:p>
            <a:pPr>
              <a:spcAft>
                <a:spcPts val="400"/>
              </a:spcAft>
              <a:defRPr sz="1200">
                <a:solidFill>
                  <a:srgbClr val="0B1B2D"/>
                </a:solidFill>
              </a:defRPr>
            </a:pPr>
            <a:r>
              <a:t>• Return: nil (success) | error (step failed + compensation)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Pipeline orkestrasi dimulai ketika client mengirimkan request ke orchestrator. Orchestrator mengiterasi daftar langkah secara sekuensial, mengeksekusi setiap langkah ke database lokal masing-masing service. Pada setiap keberhasilan, langkah dicatat ke dalam stack executed. Jika langkah manapun gagal, loop berhenti dan orchestrator memanggil fungsi compensate() yang berjalan mundur dari stack — memastikan refund terjadi sebelum cancel order. Log Status setiap langkah direkam secara atomik di mutex untuk konsistensi konkuren.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Forward steps consume; backward compensations undo — orchestrated by a single stateful coordinator.</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internal/saga/orchestrator.go:49-120</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05 / 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Implementasi Inti: Orchestrator Step &amp; LIFO Compensate</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Struktur Step dengan Execute/Compensate pair dan fungsi compensate() berurutan mundur.</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Step struct {</a:t>
            </a:r>
            <a:br/>
            <a:r>
              <a:t>    Name       string</a:t>
            </a:r>
            <a:br/>
            <a:r>
              <a:t>    Execute    func(ctx context.Context) error</a:t>
            </a:r>
            <a:br/>
            <a:r>
              <a:t>    Compensate func(ctx context.Context) error</a:t>
            </a:r>
            <a:br/>
            <a:r>
              <a:t>}</a:t>
            </a:r>
            <a:br/>
            <a:br/>
            <a:r>
              <a:t>func (o *Orchestrator) compensate(ctx context.Context, executed []Step) error {</a:t>
            </a:r>
            <a:br/>
            <a:r>
              <a:t>    for i := len(executed) - 1; i &gt;= 0; i-- {</a:t>
            </a:r>
            <a:br/>
            <a:r>
              <a:t>        step := executed[i]</a:t>
            </a:r>
            <a:br/>
            <a:r>
              <a:t>        if step.Compensate != nil {</a:t>
            </a:r>
            <a:br/>
            <a:r>
              <a:t>            err := step.Compensate(ctx)  // LIFO unwind</a:t>
            </a:r>
            <a:br/>
            <a:r>
              <a:t>            ...</a:t>
            </a:r>
            <a:br/>
            <a:r>
              <a:t>        }</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Struktur data Step mendefinisikan sepasang fungsi Execute dan Compensate untuk setiap transaksi lokal. Orchestrator menyimpan slice Step ini dan mengeksekusinya secara berurutan. Fungsi compensate() melakukan iterasi mundur dari index terakhir ke nol — inilah inti LIFO rollback. Jika compensate() sendiri gagal pada suatu langkah, error di agregasi ke dalam slice compErrors dan dilaporkan bersama error langkah utama.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Each step owns both its forward action and its undo action — encapsulated as a single Step struct.</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internal/saga/orchestrator.go:19-23,92-112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06 / 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Failure Path: ReserveInventory Gagal — Urutan Kompensasi LIFO</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Kegagalan stok kosong memicu refund payment sebelum cancel order, sesuai urutan balik stack.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ALUR KEGAGALAN DARI LATAR DEPAN HINGGA BELAKANG</a:t>
            </a:r>
          </a:p>
          <a:p>
            <a:pPr>
              <a:spcAft>
                <a:spcPts val="400"/>
              </a:spcAft>
              <a:defRPr sz="1200">
                <a:solidFill>
                  <a:srgbClr val="0B1B2D"/>
                </a:solidFill>
              </a:defRPr>
            </a:pPr>
            <a:r>
              <a:t>• Langkah 1: CreateOrder: Order dibuat dengan status PENDING. Semantic lock diterapkan pada orderID. Berhasil ✓</a:t>
            </a:r>
          </a:p>
          <a:p>
            <a:pPr>
              <a:spcAft>
                <a:spcPts val="400"/>
              </a:spcAft>
              <a:defRPr sz="1200">
                <a:solidFill>
                  <a:srgbClr val="0B1B2D"/>
                </a:solidFill>
              </a:defRPr>
            </a:pPr>
            <a:r>
              <a:t>• Langkah 2: ProcessPayment: Payment diproses dengan idempotency key. Dana terpotong. Berhasil ✓</a:t>
            </a:r>
          </a:p>
          <a:p>
            <a:pPr>
              <a:spcAft>
                <a:spcPts val="400"/>
              </a:spcAft>
              <a:defRPr sz="1200">
                <a:solidFill>
                  <a:srgbClr val="0B1B2D"/>
                </a:solidFill>
              </a:defRPr>
            </a:pPr>
            <a:r>
              <a:t>• Langkah 3: ReserveInventory GAGAL: Stok item-1 hanya 1 unit, diminta 5. Error: out of stock. Loop berhenti.</a:t>
            </a:r>
          </a:p>
          <a:p>
            <a:pPr>
              <a:spcAft>
                <a:spcPts val="400"/>
              </a:spcAft>
              <a:defRPr sz="1200">
                <a:solidFill>
                  <a:srgbClr val="0B1B2D"/>
                </a:solidFill>
              </a:defRPr>
            </a:pPr>
            <a:r>
              <a:t>Kompensasi mundur (LIFO): Compensate Payment (Refund) → Compensate Order (Cancel). State pulih ke awal. ✓</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Skenario ini menunjukkan failure path realistis di mana reservasi inventaris gagal karena stok tidak mencukupi. Order sudah dibuat dan payment sudah diproses sebelum kegagalan terdeteksi. Orchestrator kemudian memicu kompensasi LIFO: pertama-tama memproses refund payment, kemudian membatalkan order. Dengan urutan ini, sistem kembali ke keadaan sebelum saga dimulai — payment refund terjadi sebelum order cancel, menjaga konsistensi urutan finansial.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Compensations must unwind in reverse execution order to prevent orphaned side effects.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tests/saga_test.go:74-147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07 / 24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Tabel Perbandingan: Mekanisme Kompensasi vs Gejala Sistem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Memetakan setiap tipe langkah saga ke manifestasi perilaku saat sukses dan gagal.</a:t>
            </a:r>
          </a:p>
        </p:txBody>
      </p:sp>
      <p:graphicFrame>
        <p:nvGraphicFramePr>
          <p:cNvPr id="6" name="Table 5"/>
          <p:cNvGraphicFramePr>
            <a:graphicFrameLocks noGrp="1"/>
          </p:cNvGraphicFramePr>
          <p:nvPr/>
        </p:nvGraphicFramePr>
        <p:xfrm>
          <a:off x="731520" y="1828800"/>
          <a:ext cx="5120640" cy="3657600"/>
        </p:xfrm>
        <a:graphic>
          <a:graphicData uri="http://schemas.openxmlformats.org/drawingml/2006/table">
            <a:tbl>
              <a:tblPr firstRow="1" bandRow="1">
                <a:tableStyleId>{5C22544A-7EE6-4342-B048-85BDC9FD1C3A}</a:tableStyleId>
              </a:tblPr>
              <a:tblGrid>
                <a:gridCol w="1280160"/>
                <a:gridCol w="1280160"/>
                <a:gridCol w="1280160"/>
                <a:gridCol w="1280160"/>
              </a:tblGrid>
              <a:tr h="457200">
                <a:tc>
                  <a:txBody>
                    <a:bodyPr/>
                    <a:lstStyle/>
                    <a:p>
                      <a:pPr>
                        <a:defRPr b="1" sz="1100">
                          <a:solidFill>
                            <a:srgbClr val="FFFFFF"/>
                          </a:solidFill>
                        </a:defRPr>
                      </a:pPr>
                      <a:r>
                        <a:t>Tipe Langkah</a:t>
                      </a:r>
                    </a:p>
                  </a:txBody>
                  <a:tcPr>
                    <a:solidFill>
                      <a:srgbClr val="0B1B2D"/>
                    </a:solidFill>
                  </a:tcPr>
                </a:tc>
                <a:tc>
                  <a:txBody>
                    <a:bodyPr/>
                    <a:lstStyle/>
                    <a:p>
                      <a:pPr>
                        <a:defRPr b="1" sz="1100">
                          <a:solidFill>
                            <a:srgbClr val="FFFFFF"/>
                          </a:solidFill>
                        </a:defRPr>
                      </a:pPr>
                      <a:r>
                        <a:t>Eksekusi Sukses</a:t>
                      </a:r>
                    </a:p>
                  </a:txBody>
                  <a:tcPr>
                    <a:solidFill>
                      <a:srgbClr val="0B1B2D"/>
                    </a:solidFill>
                  </a:tcPr>
                </a:tc>
                <a:tc>
                  <a:txBody>
                    <a:bodyPr/>
                    <a:lstStyle/>
                    <a:p>
                      <a:pPr>
                        <a:defRPr b="1" sz="1100">
                          <a:solidFill>
                            <a:srgbClr val="FFFFFF"/>
                          </a:solidFill>
                        </a:defRPr>
                      </a:pPr>
                      <a:r>
                        <a:t>Eksekusi Gagal</a:t>
                      </a:r>
                    </a:p>
                  </a:txBody>
                  <a:tcPr>
                    <a:solidFill>
                      <a:srgbClr val="0B1B2D"/>
                    </a:solidFill>
                  </a:tcPr>
                </a:tc>
                <a:tc>
                  <a:txBody>
                    <a:bodyPr/>
                    <a:lstStyle/>
                    <a:p>
                      <a:pPr>
                        <a:defRPr b="1" sz="1100">
                          <a:solidFill>
                            <a:srgbClr val="FFFFFF"/>
                          </a:solidFill>
                        </a:defRPr>
                      </a:pPr>
                      <a:r>
                        <a:t>Kompensasi</a:t>
                      </a:r>
                    </a:p>
                  </a:txBody>
                  <a:tcPr>
                    <a:solidFill>
                      <a:srgbClr val="0B1B2D"/>
                    </a:solidFill>
                  </a:tcPr>
                </a:tc>
              </a:tr>
              <a:tr h="457200">
                <a:tc>
                  <a:txBody>
                    <a:bodyPr/>
                    <a:lstStyle/>
                    <a:p>
                      <a:pPr>
                        <a:defRPr sz="1000">
                          <a:solidFill>
                            <a:srgbClr val="0B1B2D"/>
                          </a:solidFill>
                        </a:defRPr>
                      </a:pPr>
                      <a:r>
                        <a:t>Compensable Transaction</a:t>
                      </a:r>
                    </a:p>
                  </a:txBody>
                  <a:tcPr>
                    <a:solidFill>
                      <a:srgbClr val="FFFFFF"/>
                    </a:solidFill>
                  </a:tcPr>
                </a:tc>
                <a:tc>
                  <a:txBody>
                    <a:bodyPr/>
                    <a:lstStyle/>
                    <a:p>
                      <a:pPr>
                        <a:defRPr sz="1000">
                          <a:solidFill>
                            <a:srgbClr val="0B1B2D"/>
                          </a:solidFill>
                        </a:defRPr>
                      </a:pPr>
                      <a:r>
                        <a:t>Local DB commit persisten</a:t>
                      </a:r>
                    </a:p>
                  </a:txBody>
                  <a:tcPr>
                    <a:solidFill>
                      <a:srgbClr val="FFFFFF"/>
                    </a:solidFill>
                  </a:tcPr>
                </a:tc>
                <a:tc>
                  <a:txBody>
                    <a:bodyPr/>
                    <a:lstStyle/>
                    <a:p>
                      <a:pPr>
                        <a:defRPr sz="1000">
                          <a:solidFill>
                            <a:srgbClr val="0B1B2D"/>
                          </a:solidFill>
                        </a:defRPr>
                      </a:pPr>
                      <a:r>
                        <a:t>Rollback via Compensate()</a:t>
                      </a:r>
                    </a:p>
                  </a:txBody>
                  <a:tcPr>
                    <a:solidFill>
                      <a:srgbClr val="FFFFFF"/>
                    </a:solidFill>
                  </a:tcPr>
                </a:tc>
                <a:tc>
                  <a:txBody>
                    <a:bodyPr/>
                    <a:lstStyle/>
                    <a:p>
                      <a:pPr>
                        <a:defRPr sz="1000">
                          <a:solidFill>
                            <a:srgbClr val="0B1B2D"/>
                          </a:solidFill>
                        </a:defRPr>
                      </a:pPr>
                      <a:r>
                        <a:t>Refund, Cancel, Release</a:t>
                      </a:r>
                    </a:p>
                  </a:txBody>
                  <a:tcPr>
                    <a:solidFill>
                      <a:srgbClr val="FFFFFF"/>
                    </a:solidFill>
                  </a:tcPr>
                </a:tc>
              </a:tr>
              <a:tr h="457200">
                <a:tc>
                  <a:txBody>
                    <a:bodyPr/>
                    <a:lstStyle/>
                    <a:p>
                      <a:pPr>
                        <a:defRPr sz="1000">
                          <a:solidFill>
                            <a:srgbClr val="0B1B2D"/>
                          </a:solidFill>
                        </a:defRPr>
                      </a:pPr>
                      <a:r>
                        <a:t>Pivot Transaction</a:t>
                      </a:r>
                    </a:p>
                  </a:txBody>
                  <a:tcPr>
                    <a:solidFill>
                      <a:srgbClr val="FFFFFF"/>
                    </a:solidFill>
                  </a:tcPr>
                </a:tc>
                <a:tc>
                  <a:txBody>
                    <a:bodyPr/>
                    <a:lstStyle/>
                    <a:p>
                      <a:pPr>
                        <a:defRPr sz="1000">
                          <a:solidFill>
                            <a:srgbClr val="0B1B2D"/>
                          </a:solidFill>
                        </a:defRPr>
                      </a:pPr>
                      <a:r>
                        <a:t>Titik balik tidak bisa dibatalkan</a:t>
                      </a:r>
                    </a:p>
                  </a:txBody>
                  <a:tcPr>
                    <a:solidFill>
                      <a:srgbClr val="FFFFFF"/>
                    </a:solidFill>
                  </a:tcPr>
                </a:tc>
                <a:tc>
                  <a:txBody>
                    <a:bodyPr/>
                    <a:lstStyle/>
                    <a:p>
                      <a:pPr>
                        <a:defRPr sz="1000">
                          <a:solidFill>
                            <a:srgbClr val="0B1B2D"/>
                          </a:solidFill>
                        </a:defRPr>
                      </a:pPr>
                      <a:r>
                        <a:t>Saga dijamin mencapai final state</a:t>
                      </a:r>
                    </a:p>
                  </a:txBody>
                  <a:tcPr>
                    <a:solidFill>
                      <a:srgbClr val="FFFFFF"/>
                    </a:solidFill>
                  </a:tcPr>
                </a:tc>
                <a:tc>
                  <a:txBody>
                    <a:bodyPr/>
                    <a:lstStyle/>
                    <a:p>
                      <a:pPr>
                        <a:defRPr sz="1000">
                          <a:solidFill>
                            <a:srgbClr val="0B1B2D"/>
                          </a:solidFill>
                        </a:defRPr>
                      </a:pPr>
                      <a:r>
                        <a:t>Tidak ada kompensasi</a:t>
                      </a:r>
                    </a:p>
                  </a:txBody>
                  <a:tcPr>
                    <a:solidFill>
                      <a:srgbClr val="FFFFFF"/>
                    </a:solidFill>
                  </a:tcPr>
                </a:tc>
              </a:tr>
              <a:tr h="457200">
                <a:tc>
                  <a:txBody>
                    <a:bodyPr/>
                    <a:lstStyle/>
                    <a:p>
                      <a:pPr>
                        <a:defRPr sz="1000">
                          <a:solidFill>
                            <a:srgbClr val="0B1B2D"/>
                          </a:solidFill>
                        </a:defRPr>
                      </a:pPr>
                      <a:r>
                        <a:t>Retryable Transaction</a:t>
                      </a:r>
                    </a:p>
                  </a:txBody>
                  <a:tcPr>
                    <a:solidFill>
                      <a:srgbClr val="FFFFFF"/>
                    </a:solidFill>
                  </a:tcPr>
                </a:tc>
                <a:tc>
                  <a:txBody>
                    <a:bodyPr/>
                    <a:lstStyle/>
                    <a:p>
                      <a:pPr>
                        <a:defRPr sz="1000">
                          <a:solidFill>
                            <a:srgbClr val="0B1B2D"/>
                          </a:solidFill>
                        </a:defRPr>
                      </a:pPr>
                      <a:r>
                        <a:t>Post-pivot, dijamin sukses</a:t>
                      </a:r>
                    </a:p>
                  </a:txBody>
                  <a:tcPr>
                    <a:solidFill>
                      <a:srgbClr val="FFFFFF"/>
                    </a:solidFill>
                  </a:tcPr>
                </a:tc>
                <a:tc>
                  <a:txBody>
                    <a:bodyPr/>
                    <a:lstStyle/>
                    <a:p>
                      <a:pPr>
                        <a:defRPr sz="1000">
                          <a:solidFill>
                            <a:srgbClr val="0B1B2D"/>
                          </a:solidFill>
                        </a:defRPr>
                      </a:pPr>
                      <a:r>
                        <a:t>Idempotent retry</a:t>
                      </a:r>
                    </a:p>
                  </a:txBody>
                  <a:tcPr>
                    <a:solidFill>
                      <a:srgbClr val="FFFFFF"/>
                    </a:solidFill>
                  </a:tcPr>
                </a:tc>
                <a:tc>
                  <a:txBody>
                    <a:bodyPr/>
                    <a:lstStyle/>
                    <a:p>
                      <a:pPr>
                        <a:defRPr sz="1000">
                          <a:solidFill>
                            <a:srgbClr val="0B1B2D"/>
                          </a:solidFill>
                        </a:defRPr>
                      </a:pPr>
                      <a:r>
                        <a:t>Tidak diperlukan</a:t>
                      </a:r>
                    </a:p>
                  </a:txBody>
                  <a:tcPr>
                    <a:solidFill>
                      <a:srgbClr val="FFFFFF"/>
                    </a:solidFill>
                  </a:tcPr>
                </a:tc>
              </a:tr>
              <a:tr h="457200">
                <a:tc>
                  <a:txBody>
                    <a:bodyPr/>
                    <a:lstStyle/>
                    <a:p>
                      <a:pPr>
                        <a:defRPr sz="1000">
                          <a:solidFill>
                            <a:srgbClr val="0B1B2D"/>
                          </a:solidFill>
                        </a:defRPr>
                      </a:pPr>
                      <a:r>
                        <a:t>CreateOrder Step</a:t>
                      </a:r>
                    </a:p>
                  </a:txBody>
                  <a:tcPr>
                    <a:solidFill>
                      <a:srgbClr val="FFFFFF"/>
                    </a:solidFill>
                  </a:tcPr>
                </a:tc>
                <a:tc>
                  <a:txBody>
                    <a:bodyPr/>
                    <a:lstStyle/>
                    <a:p>
                      <a:pPr>
                        <a:defRPr sz="1000">
                          <a:solidFill>
                            <a:srgbClr val="0B1B2D"/>
                          </a:solidFill>
                        </a:defRPr>
                      </a:pPr>
                      <a:r>
                        <a:t>Status PENDING + semantic lock</a:t>
                      </a:r>
                    </a:p>
                  </a:txBody>
                  <a:tcPr>
                    <a:solidFill>
                      <a:srgbClr val="FFFFFF"/>
                    </a:solidFill>
                  </a:tcPr>
                </a:tc>
                <a:tc>
                  <a:txBody>
                    <a:bodyPr/>
                    <a:lstStyle/>
                    <a:p>
                      <a:pPr>
                        <a:defRPr sz="1000">
                          <a:solidFill>
                            <a:srgbClr val="0B1B2D"/>
                          </a:solidFill>
                        </a:defRPr>
                      </a:pPr>
                      <a:r>
                        <a:t>Rollback: delete lock + CANCELLED</a:t>
                      </a:r>
                    </a:p>
                  </a:txBody>
                  <a:tcPr>
                    <a:solidFill>
                      <a:srgbClr val="FFFFFF"/>
                    </a:solidFill>
                  </a:tcPr>
                </a:tc>
                <a:tc>
                  <a:txBody>
                    <a:bodyPr/>
                    <a:lstStyle/>
                    <a:p>
                      <a:pPr>
                        <a:defRPr sz="1000">
                          <a:solidFill>
                            <a:srgbClr val="0B1B2D"/>
                          </a:solidFill>
                        </a:defRPr>
                      </a:pPr>
                      <a:r>
                        <a:t>✓</a:t>
                      </a:r>
                    </a:p>
                  </a:txBody>
                  <a:tcPr>
                    <a:solidFill>
                      <a:srgbClr val="FFFFFF"/>
                    </a:solidFill>
                  </a:tcPr>
                </a:tc>
              </a:tr>
              <a:tr h="457200">
                <a:tc>
                  <a:txBody>
                    <a:bodyPr/>
                    <a:lstStyle/>
                    <a:p>
                      <a:pPr>
                        <a:defRPr sz="1000">
                          <a:solidFill>
                            <a:srgbClr val="0B1B2D"/>
                          </a:solidFill>
                        </a:defRPr>
                      </a:pPr>
                      <a:r>
                        <a:t>ProcessPayment Step</a:t>
                      </a:r>
                    </a:p>
                  </a:txBody>
                  <a:tcPr>
                    <a:solidFill>
                      <a:srgbClr val="FFFFFF"/>
                    </a:solidFill>
                  </a:tcPr>
                </a:tc>
                <a:tc>
                  <a:txBody>
                    <a:bodyPr/>
                    <a:lstStyle/>
                    <a:p>
                      <a:pPr>
                        <a:defRPr sz="1000">
                          <a:solidFill>
                            <a:srgbClr val="0B1B2D"/>
                          </a:solidFill>
                        </a:defRPr>
                      </a:pPr>
                      <a:r>
                        <a:t>Payment recorded + idempotency key</a:t>
                      </a:r>
                    </a:p>
                  </a:txBody>
                  <a:tcPr>
                    <a:solidFill>
                      <a:srgbClr val="FFFFFF"/>
                    </a:solidFill>
                  </a:tcPr>
                </a:tc>
                <a:tc>
                  <a:txBody>
                    <a:bodyPr/>
                    <a:lstStyle/>
                    <a:p>
                      <a:pPr>
                        <a:defRPr sz="1000">
                          <a:solidFill>
                            <a:srgbClr val="0B1B2D"/>
                          </a:solidFill>
                        </a:defRPr>
                      </a:pPr>
                      <a:r>
                        <a:t>Rollback: delete payment entry</a:t>
                      </a:r>
                    </a:p>
                  </a:txBody>
                  <a:tcPr>
                    <a:solidFill>
                      <a:srgbClr val="FFFFFF"/>
                    </a:solidFill>
                  </a:tcPr>
                </a:tc>
                <a:tc>
                  <a:txBody>
                    <a:bodyPr/>
                    <a:lstStyle/>
                    <a:p>
                      <a:pPr>
                        <a:defRPr sz="1000">
                          <a:solidFill>
                            <a:srgbClr val="0B1B2D"/>
                          </a:solidFill>
                        </a:defRPr>
                      </a:pPr>
                      <a:r>
                        <a:t>✓ Refund</a:t>
                      </a:r>
                    </a:p>
                  </a:txBody>
                  <a:tcPr>
                    <a:solidFill>
                      <a:srgbClr val="FFFFFF"/>
                    </a:solidFill>
                  </a:tcPr>
                </a:tc>
              </a:tr>
              <a:tr h="457200">
                <a:tc>
                  <a:txBody>
                    <a:bodyPr/>
                    <a:lstStyle/>
                    <a:p>
                      <a:pPr>
                        <a:defRPr sz="1000">
                          <a:solidFill>
                            <a:srgbClr val="0B1B2D"/>
                          </a:solidFill>
                        </a:defRPr>
                      </a:pPr>
                      <a:r>
                        <a:t>ReserveInventory Step</a:t>
                      </a:r>
                    </a:p>
                  </a:txBody>
                  <a:tcPr>
                    <a:solidFill>
                      <a:srgbClr val="FFFFFF"/>
                    </a:solidFill>
                  </a:tcPr>
                </a:tc>
                <a:tc>
                  <a:txBody>
                    <a:bodyPr/>
                    <a:lstStyle/>
                    <a:p>
                      <a:pPr>
                        <a:defRPr sz="1000">
                          <a:solidFill>
                            <a:srgbClr val="0B1B2D"/>
                          </a:solidFill>
                        </a:defRPr>
                      </a:pPr>
                      <a:r>
                        <a:t>Stock decremented</a:t>
                      </a:r>
                    </a:p>
                  </a:txBody>
                  <a:tcPr>
                    <a:solidFill>
                      <a:srgbClr val="FFFFFF"/>
                    </a:solidFill>
                  </a:tcPr>
                </a:tc>
                <a:tc>
                  <a:txBody>
                    <a:bodyPr/>
                    <a:lstStyle/>
                    <a:p>
                      <a:pPr>
                        <a:defRPr sz="1000">
                          <a:solidFill>
                            <a:srgbClr val="0B1B2D"/>
                          </a:solidFill>
                        </a:defRPr>
                      </a:pPr>
                      <a:r>
                        <a:t>Rollback: stock restored via Release()</a:t>
                      </a:r>
                    </a:p>
                  </a:txBody>
                  <a:tcPr>
                    <a:solidFill>
                      <a:srgbClr val="FFFFFF"/>
                    </a:solidFill>
                  </a:tcPr>
                </a:tc>
                <a:tc>
                  <a:txBody>
                    <a:bodyPr/>
                    <a:lstStyle/>
                    <a:p>
                      <a:pPr>
                        <a:defRPr sz="1000">
                          <a:solidFill>
                            <a:srgbClr val="0B1B2D"/>
                          </a:solidFill>
                        </a:defRPr>
                      </a:pPr>
                      <a:r>
                        <a:t>✓</a:t>
                      </a:r>
                    </a:p>
                  </a:txBody>
                  <a:tcPr>
                    <a:solidFill>
                      <a:srgbClr val="FFFFFF"/>
                    </a:solidFill>
                  </a:tcPr>
                </a:tc>
              </a:tr>
              <a:tr h="457200">
                <a:tc>
                  <a:txBody>
                    <a:bodyPr/>
                    <a:lstStyle/>
                    <a:p>
                      <a:pPr>
                        <a:defRPr sz="1000">
                          <a:solidFill>
                            <a:srgbClr val="0B1B2D"/>
                          </a:solidFill>
                        </a:defRPr>
                      </a:pPr>
                      <a:r>
                        <a:t>ApproveOrder Step</a:t>
                      </a:r>
                    </a:p>
                  </a:txBody>
                  <a:tcPr>
                    <a:solidFill>
                      <a:srgbClr val="FFFFFF"/>
                    </a:solidFill>
                  </a:tcPr>
                </a:tc>
                <a:tc>
                  <a:txBody>
                    <a:bodyPr/>
                    <a:lstStyle/>
                    <a:p>
                      <a:pPr>
                        <a:defRPr sz="1000">
                          <a:solidFill>
                            <a:srgbClr val="0B1B2D"/>
                          </a:solidFill>
                        </a:defRPr>
                      </a:pPr>
                      <a:r>
                        <a:t>Status APPROVED + lock released</a:t>
                      </a:r>
                    </a:p>
                  </a:txBody>
                  <a:tcPr>
                    <a:solidFill>
                      <a:srgbClr val="FFFFFF"/>
                    </a:solidFill>
                  </a:tcPr>
                </a:tc>
                <a:tc>
                  <a:txBody>
                    <a:bodyPr/>
                    <a:lstStyle/>
                    <a:p>
                      <a:pPr>
                        <a:defRPr sz="1000">
                          <a:solidFill>
                            <a:srgbClr val="0B1B2D"/>
                          </a:solidFill>
                        </a:defRPr>
                      </a:pPr>
                      <a:r>
                        <a:t>Tanpa kompensasi (final step)</a:t>
                      </a:r>
                    </a:p>
                  </a:txBody>
                  <a:tcPr>
                    <a:solidFill>
                      <a:srgbClr val="FFFFFF"/>
                    </a:solidFill>
                  </a:tcPr>
                </a:tc>
                <a:tc>
                  <a:txBody>
                    <a:bodyPr/>
                    <a:lstStyle/>
                    <a:p>
                      <a:pPr>
                        <a:defRPr sz="1000">
                          <a:solidFill>
                            <a:srgbClr val="0B1B2D"/>
                          </a:solidFill>
                        </a:defRPr>
                      </a:pPr>
                      <a:r>
                        <a:t>—</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Tabel ini memetakan taksonomi tiga tipe transaksi saga menurut Azure Architecture Center ke implementasi spesifik lab. Compensation step adalah yang paling umum — setiap langkah kecuali ApproveOrder memiliki fungsi Compensate. Pivot transaction merepresentasikan titik balik yang tidak dapat digagalkan, sedangkan retryable transaction menjamin kesuksesan setelah pivot. Dalam lab ini, ApproveOrder berperan sebagai final step tanpa kompensasi karena ia sudah merupakan state terminal.</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Not all saga steps need compensation — final approval marks the pivot of no return.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content/02-master-draft.md:23-27 • internal/saga/orchestrator.go:9-17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08 /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Keputusan Arsitektur: Orkestrasi vs Koreografi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Tiga kriteria teknis menentukan pilihan pola koordinasi saga yang tepat.</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PILIHAN POLA KOORDINASI SAGA</a:t>
            </a:r>
          </a:p>
          <a:p>
            <a:pPr>
              <a:spcAft>
                <a:spcPts val="400"/>
              </a:spcAft>
              <a:defRPr sz="1200">
                <a:solidFill>
                  <a:srgbClr val="0B1B2D"/>
                </a:solidFill>
              </a:defRPr>
            </a:pPr>
            <a:r>
              <a:t>• 1. Orkestrasi (Orchestrator): Koordinator terpusat mengatur urutan, menyimpan log, dan memicu kompensasi. Cocok untuk flow linear dengan dependencies jelas.</a:t>
            </a:r>
          </a:p>
          <a:p>
            <a:pPr>
              <a:spcAft>
                <a:spcPts val="400"/>
              </a:spcAft>
              <a:defRPr sz="1200">
                <a:solidFill>
                  <a:srgbClr val="0B1B2D"/>
                </a:solidFill>
              </a:defRPr>
            </a:pPr>
            <a:r>
              <a:t>• 2. Koreografi (Choreography): Layanan saling mendengarkan event tanpa koordinator pusat. Cocok untuk flow event-driven dengan loose coupling antar service.</a:t>
            </a:r>
          </a:p>
          <a:p>
            <a:pPr>
              <a:spcAft>
                <a:spcPts val="400"/>
              </a:spcAft>
              <a:defRPr sz="1200">
                <a:solidFill>
                  <a:srgbClr val="0B1B2D"/>
                </a:solidFill>
              </a:defRPr>
            </a:pPr>
            <a:r>
              <a:t>• 3. Hybrid Pattern: Orkestrasi untuk orchestration-critical path; koreografi untuk notification-only paths. Menggabungkan kekuatan kedua pendekatan.</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Pemilihan antara orkestrasi dan koreografi bukanlah keputusan hitam-putih. Orkestrasi unggul ketika urutan langkah memiliki dependensi ketat dan perlu logging terpusat, seperti pada flow checkout e-commerce. Koreografi lebih cocok untuk sistem event-driven di mana layanan perlu bereaksi mandiri terhadap event tanpa mengetahui orchestrator. Lab ini mengimplementasikan kedua pola untuk menunjukkan trade-off masing-masing.</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Orchestration gives control; choreography gives autonomy. Choose by dependency density.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internal/saga/orchestrator.go • internal/saga/choreography.go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09 / 24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Eksekusi: Semua Test Suite Lolos Bersih</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Output Go test membuktikan happy path, LIFO rollback, idempotency, semantic lock, dan concurrency safety.</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RUN   TestOrchestrator_HappyPath</a:t>
            </a:r>
            <a:br/>
            <a:r>
              <a:t>    --- PASS: TestOrchestrator_HappyPath (0.00s)</a:t>
            </a:r>
            <a:br/>
            <a:r>
              <a:t>=== RUN   TestOrchestrator_FailureCompensatesLIFO</a:t>
            </a:r>
            <a:br/>
            <a:r>
              <a:t>    --- PASS: TestOrchestrator_FailureCompensatesLIFO (0.00s)</a:t>
            </a:r>
            <a:br/>
            <a:r>
              <a:t>=== RUN   TestPayment_Idempotency</a:t>
            </a:r>
            <a:br/>
            <a:r>
              <a:t>    --- PASS: TestPayment_Idempotency (0.00s)</a:t>
            </a:r>
            <a:br/>
            <a:r>
              <a:t>=== RUN   TestSemanticLock</a:t>
            </a:r>
            <a:br/>
            <a:r>
              <a:t>    --- PASS: TestSemanticLock (0.00s)</a:t>
            </a:r>
            <a:br/>
            <a:r>
              <a:t>=== RUN   TestOrchestrator_Concurrency</a:t>
            </a:r>
            <a:br/>
            <a:r>
              <a:t>    --- PASS: TestOrchestrator_Concurrency (0.00s)</a:t>
            </a:r>
            <a:br/>
            <a:r>
              <a:t>=== RUN   TestChoreography_Flow</a:t>
            </a:r>
            <a:br/>
            <a:r>
              <a:t>    --- PASS: TestChoreography_Flow (0.00s)</a:t>
            </a:r>
            <a:br/>
            <a:r>
              <a:t>=== RUN   TestChoreography_FailureCompensates</a:t>
            </a:r>
            <a:br/>
            <a:r>
              <a:t>    --- PASS: TestChoreography_FailureCompensates (0.00s)</a:t>
            </a:r>
            <a:br/>
            <a:r>
              <a:t>=== RUN   TestOrchestrator_CompensationErrorPropagated</a:t>
            </a:r>
            <a:br/>
            <a:r>
              <a:t>    --- PASS: TestOrchestrator_CompensationErrorPropagated (0.00s)</a:t>
            </a:r>
            <a:br/>
            <a:r>
              <a:t>=== RUN   TestOrchestrator_ContextCancellation</a:t>
            </a:r>
            <a:br/>
            <a:r>
              <a:t>    --- PASS: TestOrchestrator_ContextCancellation (0.00s)</a:t>
            </a:r>
            <a:br/>
            <a:r>
              <a:t>PASS: ok  labs/29-saga-pattern/tests  0.003s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Kesembilan test case berjalan mulus tanpa kegagalan satupun. Happy path membuktikan empat langkah sukses mengubah order status menjadi APPROVED dengan stock berkurang 2 unit. Failure test membuktikan LIFO rollback: order kembali CANCELLED, payment di-refund, stock kembali 1. Concurrency test dengan 10 goroutine simultan memastikan atomicity mutex tetap terjaga.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Clean test suite with zero failures validates both forward execution and backward compensation paths.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tests/saga_test.go</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10 / 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Batasan Bukti Lab: Yang Dibuktikan vs Belum</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Simulasi in-memory tidak membuktikan behavior di bawah network partition atau database crash riil.</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YANG TIDAK DIBUKTIKAN</a:t>
            </a:r>
          </a:p>
          <a:p>
            <a:pPr>
              <a:spcAft>
                <a:spcPts val="400"/>
              </a:spcAft>
              <a:defRPr sz="1200">
                <a:solidFill>
                  <a:srgbClr val="0B1B2D"/>
                </a:solidFill>
              </a:defRPr>
            </a:pPr>
            <a:r>
              <a:t>• Network Partition: Tidak ada simulasi network partition antara orchestrator dan service; semua service berjalan dalam proses Go yang sama.</a:t>
            </a:r>
          </a:p>
          <a:p>
            <a:pPr>
              <a:spcAft>
                <a:spcPts val="400"/>
              </a:spcAft>
              <a:defRPr sz="1200">
                <a:solidFill>
                  <a:srgbClr val="0B1B2D"/>
                </a:solidFill>
              </a:defRPr>
            </a:pPr>
            <a:r>
              <a:t>• Database Crash: Tidak diuji apa yang terjadi jika database crashed di tengah eksekusi step — tidak ada persistence layer riil.</a:t>
            </a:r>
          </a:p>
          <a:p>
            <a:pPr>
              <a:spcAft>
                <a:spcPts val="400"/>
              </a:spcAft>
              <a:defRPr sz="1200">
                <a:solidFill>
                  <a:srgbClr val="0B1B2D"/>
                </a:solidFill>
              </a:defRPr>
            </a:pPr>
            <a:r>
              <a:t>• Persistensi Log: Step log hanya disimpan di memori; tidak ada audit trail yang persisten ke disk atau database.</a:t>
            </a:r>
          </a:p>
          <a:p>
            <a:pPr>
              <a:spcAft>
                <a:spcPts val="400"/>
              </a:spcAft>
              <a:defRPr sz="1200">
                <a:solidFill>
                  <a:srgbClr val="0B1B2D"/>
                </a:solidFill>
              </a:defRPr>
            </a:pPr>
            <a:r>
              <a:t>• Distributed EventBus: EventBus di choreography berjalan in-memory; tidak diuji dengan message broker riil seperti Kafka atau RabbitMQ.</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Lab ini membuktikan kebenaran logika komputasional dan concurrency safety dalam lingkungan in-memory. Namun, batasan tegas harus diakui: tidak ada simulasi network partition, database crash, atau persistence layer riil. Dalam produksi, kegagalan kompensasi bisa terjadi karena service unavailable — scenario yang tidak tercakup oleh test suite saat ini. Dead-letter queue dan manual reconciliation adalah countermeasures yang diperlukan di luar cakupan lab.</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In-memory proofs validate logic; production requires persistence, observability, and DLQ handling.</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engineering/03-execution-result.md • engineering-audit/06-verdict.md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11 / 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Trade-off Arsitektur: Availability vs Isolation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Saga mengorbankan isolasi ACID demi ketersediaan tinggi — eventual consistency adalah harga yang harus dibayar.</a:t>
            </a:r>
          </a:p>
        </p:txBody>
      </p:sp>
      <p:graphicFrame>
        <p:nvGraphicFramePr>
          <p:cNvPr id="6" name="Table 5"/>
          <p:cNvGraphicFramePr>
            <a:graphicFrameLocks noGrp="1"/>
          </p:cNvGraphicFramePr>
          <p:nvPr/>
        </p:nvGraphicFramePr>
        <p:xfrm>
          <a:off x="731520" y="1828800"/>
          <a:ext cx="5120640" cy="3200400"/>
        </p:xfrm>
        <a:graphic>
          <a:graphicData uri="http://schemas.openxmlformats.org/drawingml/2006/table">
            <a:tbl>
              <a:tblPr firstRow="1" bandRow="1">
                <a:tableStyleId>{5C22544A-7EE6-4342-B048-85BDC9FD1C3A}</a:tableStyleId>
              </a:tblPr>
              <a:tblGrid>
                <a:gridCol w="1280160"/>
                <a:gridCol w="1280160"/>
                <a:gridCol w="1280160"/>
                <a:gridCol w="1280160"/>
              </a:tblGrid>
              <a:tr h="457200">
                <a:tc>
                  <a:txBody>
                    <a:bodyPr/>
                    <a:lstStyle/>
                    <a:p>
                      <a:pPr>
                        <a:defRPr b="1" sz="1100">
                          <a:solidFill>
                            <a:srgbClr val="FFFFFF"/>
                          </a:solidFill>
                        </a:defRPr>
                      </a:pPr>
                      <a:r>
                        <a:t>Dimensi</a:t>
                      </a:r>
                    </a:p>
                  </a:txBody>
                  <a:tcPr>
                    <a:solidFill>
                      <a:srgbClr val="0B1B2D"/>
                    </a:solidFill>
                  </a:tcPr>
                </a:tc>
                <a:tc>
                  <a:txBody>
                    <a:bodyPr/>
                    <a:lstStyle/>
                    <a:p>
                      <a:pPr>
                        <a:defRPr b="1" sz="1100">
                          <a:solidFill>
                            <a:srgbClr val="FFFFFF"/>
                          </a:solidFill>
                        </a:defRPr>
                      </a:pPr>
                      <a:r>
                        <a:t>ACID (Monolitik)</a:t>
                      </a:r>
                    </a:p>
                  </a:txBody>
                  <a:tcPr>
                    <a:solidFill>
                      <a:srgbClr val="0B1B2D"/>
                    </a:solidFill>
                  </a:tcPr>
                </a:tc>
                <a:tc>
                  <a:txBody>
                    <a:bodyPr/>
                    <a:lstStyle/>
                    <a:p>
                      <a:pPr>
                        <a:defRPr b="1" sz="1100">
                          <a:solidFill>
                            <a:srgbClr val="FFFFFF"/>
                          </a:solidFill>
                        </a:defRPr>
                      </a:pPr>
                      <a:r>
                        <a:t>Saga Pattern</a:t>
                      </a:r>
                    </a:p>
                  </a:txBody>
                  <a:tcPr>
                    <a:solidFill>
                      <a:srgbClr val="0B1B2D"/>
                    </a:solidFill>
                  </a:tcPr>
                </a:tc>
                <a:tc>
                  <a:txBody>
                    <a:bodyPr/>
                    <a:lstStyle/>
                    <a:p>
                      <a:pPr>
                        <a:defRPr b="1" sz="1100">
                          <a:solidFill>
                            <a:srgbClr val="FFFFFF"/>
                          </a:solidFill>
                        </a:defRPr>
                      </a:pPr>
                      <a:r>
                        <a:t>Dampak Produksi</a:t>
                      </a:r>
                    </a:p>
                  </a:txBody>
                  <a:tcPr>
                    <a:solidFill>
                      <a:srgbClr val="0B1B2D"/>
                    </a:solidFill>
                  </a:tcPr>
                </a:tc>
              </a:tr>
              <a:tr h="457200">
                <a:tc>
                  <a:txBody>
                    <a:bodyPr/>
                    <a:lstStyle/>
                    <a:p>
                      <a:pPr>
                        <a:defRPr sz="1000">
                          <a:solidFill>
                            <a:srgbClr val="0B1B2D"/>
                          </a:solidFill>
                        </a:defRPr>
                      </a:pPr>
                      <a:r>
                        <a:t>Isolasi (I dalam ACID)</a:t>
                      </a:r>
                    </a:p>
                  </a:txBody>
                  <a:tcPr>
                    <a:solidFill>
                      <a:srgbClr val="FFFFFF"/>
                    </a:solidFill>
                  </a:tcPr>
                </a:tc>
                <a:tc>
                  <a:txBody>
                    <a:bodyPr/>
                    <a:lstStyle/>
                    <a:p>
                      <a:pPr>
                        <a:defRPr sz="1000">
                          <a:solidFill>
                            <a:srgbClr val="0B1B2D"/>
                          </a:solidFill>
                        </a:defRPr>
                      </a:pPr>
                      <a:r>
                        <a:t>serializable penuh</a:t>
                      </a:r>
                    </a:p>
                  </a:txBody>
                  <a:tcPr>
                    <a:solidFill>
                      <a:srgbClr val="FFFFFF"/>
                    </a:solidFill>
                  </a:tcPr>
                </a:tc>
                <a:tc>
                  <a:txBody>
                    <a:bodyPr/>
                    <a:lstStyle/>
                    <a:p>
                      <a:pPr>
                        <a:defRPr sz="1000">
                          <a:solidFill>
                            <a:srgbClr val="0B1B2D"/>
                          </a:solidFill>
                        </a:defRPr>
                      </a:pPr>
                      <a:r>
                        <a:t>tidak ada isolasi lintas service</a:t>
                      </a:r>
                    </a:p>
                  </a:txBody>
                  <a:tcPr>
                    <a:solidFill>
                      <a:srgbClr val="FFFFFF"/>
                    </a:solidFill>
                  </a:tcPr>
                </a:tc>
                <a:tc>
                  <a:txBody>
                    <a:bodyPr/>
                    <a:lstStyle/>
                    <a:p>
                      <a:pPr>
                        <a:defRPr sz="1000">
                          <a:solidFill>
                            <a:srgbClr val="0B1B2D"/>
                          </a:solidFill>
                        </a:defRPr>
                      </a:pPr>
                      <a:r>
                        <a:t>dirty reads, lost updates mungkin terjadi</a:t>
                      </a:r>
                    </a:p>
                  </a:txBody>
                  <a:tcPr>
                    <a:solidFill>
                      <a:srgbClr val="FFFFFF"/>
                    </a:solidFill>
                  </a:tcPr>
                </a:tc>
              </a:tr>
              <a:tr h="457200">
                <a:tc>
                  <a:txBody>
                    <a:bodyPr/>
                    <a:lstStyle/>
                    <a:p>
                      <a:pPr>
                        <a:defRPr sz="1000">
                          <a:solidFill>
                            <a:srgbClr val="0B1B2D"/>
                          </a:solidFill>
                        </a:defRPr>
                      </a:pPr>
                      <a:r>
                        <a:t>Ketersediaan</a:t>
                      </a:r>
                    </a:p>
                  </a:txBody>
                  <a:tcPr>
                    <a:solidFill>
                      <a:srgbClr val="FFFFFF"/>
                    </a:solidFill>
                  </a:tcPr>
                </a:tc>
                <a:tc>
                  <a:txBody>
                    <a:bodyPr/>
                    <a:lstStyle/>
                    <a:p>
                      <a:pPr>
                        <a:defRPr sz="1000">
                          <a:solidFill>
                            <a:srgbClr val="0B1B2D"/>
                          </a:solidFill>
                        </a:defRPr>
                      </a:pPr>
                      <a:r>
                        <a:t>blocking 2PC</a:t>
                      </a:r>
                    </a:p>
                  </a:txBody>
                  <a:tcPr>
                    <a:solidFill>
                      <a:srgbClr val="FFFFFF"/>
                    </a:solidFill>
                  </a:tcPr>
                </a:tc>
                <a:tc>
                  <a:txBody>
                    <a:bodyPr/>
                    <a:lstStyle/>
                    <a:p>
                      <a:pPr>
                        <a:defRPr sz="1000">
                          <a:solidFill>
                            <a:srgbClr val="0B1B2D"/>
                          </a:solidFill>
                        </a:defRPr>
                      </a:pPr>
                      <a:r>
                        <a:t>non-blocking, each step commit segera</a:t>
                      </a:r>
                    </a:p>
                  </a:txBody>
                  <a:tcPr>
                    <a:solidFill>
                      <a:srgbClr val="FFFFFF"/>
                    </a:solidFill>
                  </a:tcPr>
                </a:tc>
                <a:tc>
                  <a:txBody>
                    <a:bodyPr/>
                    <a:lstStyle/>
                    <a:p>
                      <a:pPr>
                        <a:defRPr sz="1000">
                          <a:solidFill>
                            <a:srgbClr val="0B1B2D"/>
                          </a:solidFill>
                        </a:defRPr>
                      </a:pPr>
                      <a:r>
                        <a:t>saga jauh lebih available di bawah load tinggi</a:t>
                      </a:r>
                    </a:p>
                  </a:txBody>
                  <a:tcPr>
                    <a:solidFill>
                      <a:srgbClr val="FFFFFF"/>
                    </a:solidFill>
                  </a:tcPr>
                </a:tc>
              </a:tr>
              <a:tr h="457200">
                <a:tc>
                  <a:txBody>
                    <a:bodyPr/>
                    <a:lstStyle/>
                    <a:p>
                      <a:pPr>
                        <a:defRPr sz="1000">
                          <a:solidFill>
                            <a:srgbClr val="0B1B2D"/>
                          </a:solidFill>
                        </a:defRPr>
                      </a:pPr>
                      <a:r>
                        <a:t>Latensi</a:t>
                      </a:r>
                    </a:p>
                  </a:txBody>
                  <a:tcPr>
                    <a:solidFill>
                      <a:srgbClr val="FFFFFF"/>
                    </a:solidFill>
                  </a:tcPr>
                </a:tc>
                <a:tc>
                  <a:txBody>
                    <a:bodyPr/>
                    <a:lstStyle/>
                    <a:p>
                      <a:pPr>
                        <a:defRPr sz="1000">
                          <a:solidFill>
                            <a:srgbClr val="0B1B2D"/>
                          </a:solidFill>
                        </a:defRPr>
                      </a:pPr>
                      <a:r>
                        <a:t>satu round-trip ke semua peserta</a:t>
                      </a:r>
                    </a:p>
                  </a:txBody>
                  <a:tcPr>
                    <a:solidFill>
                      <a:srgbClr val="FFFFFF"/>
                    </a:solidFill>
                  </a:tcPr>
                </a:tc>
                <a:tc>
                  <a:txBody>
                    <a:bodyPr/>
                    <a:lstStyle/>
                    <a:p>
                      <a:pPr>
                        <a:defRPr sz="1000">
                          <a:solidFill>
                            <a:srgbClr val="0B1B2D"/>
                          </a:solidFill>
                        </a:defRPr>
                      </a:pPr>
                      <a:r>
                        <a:t>N round-trips sekuensial + kompensasi</a:t>
                      </a:r>
                    </a:p>
                  </a:txBody>
                  <a:tcPr>
                    <a:solidFill>
                      <a:srgbClr val="FFFFFF"/>
                    </a:solidFill>
                  </a:tcPr>
                </a:tc>
                <a:tc>
                  <a:txBody>
                    <a:bodyPr/>
                    <a:lstStyle/>
                    <a:p>
                      <a:pPr>
                        <a:defRPr sz="1000">
                          <a:solidFill>
                            <a:srgbClr val="0B1B2D"/>
                          </a:solidFill>
                        </a:defRPr>
                      </a:pPr>
                      <a:r>
                        <a:t>total latency lebih tinggi per transaksi</a:t>
                      </a:r>
                    </a:p>
                  </a:txBody>
                  <a:tcPr>
                    <a:solidFill>
                      <a:srgbClr val="FFFFFF"/>
                    </a:solidFill>
                  </a:tcPr>
                </a:tc>
              </a:tr>
              <a:tr h="457200">
                <a:tc>
                  <a:txBody>
                    <a:bodyPr/>
                    <a:lstStyle/>
                    <a:p>
                      <a:pPr>
                        <a:defRPr sz="1000">
                          <a:solidFill>
                            <a:srgbClr val="0B1B2D"/>
                          </a:solidFill>
                        </a:defRPr>
                      </a:pPr>
                      <a:r>
                        <a:t>Konsistensi</a:t>
                      </a:r>
                    </a:p>
                  </a:txBody>
                  <a:tcPr>
                    <a:solidFill>
                      <a:srgbClr val="FFFFFF"/>
                    </a:solidFill>
                  </a:tcPr>
                </a:tc>
                <a:tc>
                  <a:txBody>
                    <a:bodyPr/>
                    <a:lstStyle/>
                    <a:p>
                      <a:pPr>
                        <a:defRPr sz="1000">
                          <a:solidFill>
                            <a:srgbClr val="0B1B2D"/>
                          </a:solidFill>
                        </a:defRPr>
                      </a:pPr>
                      <a:r>
                        <a:t>strong consistency</a:t>
                      </a:r>
                    </a:p>
                  </a:txBody>
                  <a:tcPr>
                    <a:solidFill>
                      <a:srgbClr val="FFFFFF"/>
                    </a:solidFill>
                  </a:tcPr>
                </a:tc>
                <a:tc>
                  <a:txBody>
                    <a:bodyPr/>
                    <a:lstStyle/>
                    <a:p>
                      <a:pPr>
                        <a:defRPr sz="1000">
                          <a:solidFill>
                            <a:srgbClr val="0B1B2D"/>
                          </a:solidFill>
                        </a:defRPr>
                      </a:pPr>
                      <a:r>
                        <a:t>eventual consistency</a:t>
                      </a:r>
                    </a:p>
                  </a:txBody>
                  <a:tcPr>
                    <a:solidFill>
                      <a:srgbClr val="FFFFFF"/>
                    </a:solidFill>
                  </a:tcPr>
                </a:tc>
                <a:tc>
                  <a:txBody>
                    <a:bodyPr/>
                    <a:lstStyle/>
                    <a:p>
                      <a:pPr>
                        <a:defRPr sz="1000">
                          <a:solidFill>
                            <a:srgbClr val="0B1B2D"/>
                          </a:solidFill>
                        </a:defRPr>
                      </a:pPr>
                      <a:r>
                        <a:t>window inconsistency antar step execute sampai kompensasi</a:t>
                      </a:r>
                    </a:p>
                  </a:txBody>
                  <a:tcPr>
                    <a:solidFill>
                      <a:srgbClr val="FFFFFF"/>
                    </a:solidFill>
                  </a:tcPr>
                </a:tc>
              </a:tr>
              <a:tr h="457200">
                <a:tc>
                  <a:txBody>
                    <a:bodyPr/>
                    <a:lstStyle/>
                    <a:p>
                      <a:pPr>
                        <a:defRPr sz="1000">
                          <a:solidFill>
                            <a:srgbClr val="0B1B2D"/>
                          </a:solidFill>
                        </a:defRPr>
                      </a:pPr>
                      <a:r>
                        <a:t>Complexity</a:t>
                      </a:r>
                    </a:p>
                  </a:txBody>
                  <a:tcPr>
                    <a:solidFill>
                      <a:srgbClr val="FFFFFF"/>
                    </a:solidFill>
                  </a:tcPr>
                </a:tc>
                <a:tc>
                  <a:txBody>
                    <a:bodyPr/>
                    <a:lstStyle/>
                    <a:p>
                      <a:pPr>
                        <a:defRPr sz="1000">
                          <a:solidFill>
                            <a:srgbClr val="0B1B2D"/>
                          </a:solidFill>
                        </a:defRPr>
                      </a:pPr>
                      <a:r>
                        <a:t>database engine handles it</a:t>
                      </a:r>
                    </a:p>
                  </a:txBody>
                  <a:tcPr>
                    <a:solidFill>
                      <a:srgbClr val="FFFFFF"/>
                    </a:solidFill>
                  </a:tcPr>
                </a:tc>
                <a:tc>
                  <a:txBody>
                    <a:bodyPr/>
                    <a:lstStyle/>
                    <a:p>
                      <a:pPr>
                        <a:defRPr sz="1000">
                          <a:solidFill>
                            <a:srgbClr val="0B1B2D"/>
                          </a:solidFill>
                        </a:defRPr>
                      </a:pPr>
                      <a:r>
                        <a:t>application-level orchestration</a:t>
                      </a:r>
                    </a:p>
                  </a:txBody>
                  <a:tcPr>
                    <a:solidFill>
                      <a:srgbClr val="FFFFFF"/>
                    </a:solidFill>
                  </a:tcPr>
                </a:tc>
                <a:tc>
                  <a:txBody>
                    <a:bodyPr/>
                    <a:lstStyle/>
                    <a:p>
                      <a:pPr>
                        <a:defRPr sz="1000">
                          <a:solidFill>
                            <a:srgbClr val="0B1B2D"/>
                          </a:solidFill>
                        </a:defRPr>
                      </a:pPr>
                      <a:r>
                        <a:t>developer wrote compensation logic manually</a:t>
                      </a:r>
                    </a:p>
                  </a:txBody>
                  <a:tcPr>
                    <a:solidFill>
                      <a:srgbClr val="FFFFFF"/>
                    </a:solidFill>
                  </a:tcPr>
                </a:tc>
              </a:tr>
              <a:tr h="457200">
                <a:tc>
                  <a:txBody>
                    <a:bodyPr/>
                    <a:lstStyle/>
                    <a:p>
                      <a:pPr>
                        <a:defRPr sz="1000">
                          <a:solidFill>
                            <a:srgbClr val="0B1B2D"/>
                          </a:solidFill>
                        </a:defRPr>
                      </a:pPr>
                      <a:r>
                        <a:t>Observability</a:t>
                      </a:r>
                    </a:p>
                  </a:txBody>
                  <a:tcPr>
                    <a:solidFill>
                      <a:srgbClr val="FFFFFF"/>
                    </a:solidFill>
                  </a:tcPr>
                </a:tc>
                <a:tc>
                  <a:txBody>
                    <a:bodyPr/>
                    <a:lstStyle/>
                    <a:p>
                      <a:pPr>
                        <a:defRPr sz="1000">
                          <a:solidFill>
                            <a:srgbClr val="0B1B2D"/>
                          </a:solidFill>
                        </a:defRPr>
                      </a:pPr>
                      <a:r>
                        <a:t>transaction logs</a:t>
                      </a:r>
                    </a:p>
                  </a:txBody>
                  <a:tcPr>
                    <a:solidFill>
                      <a:srgbClr val="FFFFFF"/>
                    </a:solidFill>
                  </a:tcPr>
                </a:tc>
                <a:tc>
                  <a:txBody>
                    <a:bodyPr/>
                    <a:lstStyle/>
                    <a:p>
                      <a:pPr>
                        <a:defRPr sz="1000">
                          <a:solidFill>
                            <a:srgbClr val="0B1B2D"/>
                          </a:solidFill>
                        </a:defRPr>
                      </a:pPr>
                      <a:r>
                        <a:t>step-level logs + compensation trace</a:t>
                      </a:r>
                    </a:p>
                  </a:txBody>
                  <a:tcPr>
                    <a:solidFill>
                      <a:srgbClr val="FFFFFF"/>
                    </a:solidFill>
                  </a:tcPr>
                </a:tc>
                <a:tc>
                  <a:txBody>
                    <a:bodyPr/>
                    <a:lstStyle/>
                    <a:p>
                      <a:pPr>
                        <a:defRPr sz="1000">
                          <a:solidFill>
                            <a:srgbClr val="0B1B2D"/>
                          </a:solidFill>
                        </a:defRPr>
                      </a:pPr>
                      <a:r>
                        <a:t>lebih transparan, lebih mudah debug</a:t>
                      </a:r>
                    </a:p>
                  </a:txBody>
                  <a:tcPr>
                    <a:solidFill>
                      <a:srgbClr val="FFFFFF"/>
                    </a:solidFill>
                  </a:tcPr>
                </a:tc>
              </a:tr>
            </a:tbl>
          </a:graphicData>
        </a:graphic>
      </p:graphicFrame>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Saga menukar isolation level tinggi menjadi availability tinggi. Setiap langkah committed segera tanpa lock lintas service, sehingga tidak ada blocking antar layanan. Namun, window inconsistency muncul antara step execute dan kompensasi — order bisa tercatat APPROVED sementara payment belum diproses. Developer harus menulis compensation logic secara eksplisit, menambah complexity aplikasi dibanding solusi monolitik.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Availability over isolation: commit early, compensate later, accept eventual consistency.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content/02-master-draft.md:120-135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12 / 24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Pipeline Konkurensi: Goroutine → Validate → Mutex → Append Error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Orchestrator menggunakan sync.Mutex untuk melindungi step list dan log agar aman dari concurrent Execute.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(o *Orchestrator) AddStep(step Step) {</a:t>
            </a:r>
            <a:br/>
            <a:r>
              <a:t>    o.mu.Lock()</a:t>
            </a:r>
            <a:br/>
            <a:r>
              <a:t>    defer o.mu.Unlock()</a:t>
            </a:r>
            <a:br/>
            <a:r>
              <a:t>    o.steps = append(o.steps, step)</a:t>
            </a:r>
            <a:br/>
            <a:r>
              <a:t>}</a:t>
            </a:r>
            <a:br/>
            <a:br/>
            <a:r>
              <a:t>func (o *Orchestrator) Execute(ctx context.Context) error {</a:t>
            </a:r>
            <a:br/>
            <a:r>
              <a:t>    o.mu.Lock()</a:t>
            </a:r>
            <a:br/>
            <a:r>
              <a:t>    steps := make([]Step, len(o.steps))</a:t>
            </a:r>
            <a:br/>
            <a:r>
              <a:t>    copy(steps, o.steps)  // snapshot tanpa lock holder</a:t>
            </a:r>
            <a:br/>
            <a:r>
              <a:t>    o.mu.Unlock()</a:t>
            </a:r>
            <a:br/>
            <a:r>
              <a:t>    // ...execute steps without holding mu during step calls</a:t>
            </a:r>
            <a:br/>
            <a:r>
              <a:t>    o.mu.Lock()</a:t>
            </a:r>
            <a:br/>
            <a:r>
              <a:t>    o.logs = append(o.logs, StepLog{Name: step.Name, Status: ...})</a:t>
            </a:r>
            <a:br/>
            <a:r>
              <a:t>    o.mu.Unlock()</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Keamanan konkuren dicapai melalui strategi snapshot-and-release. Saat Execute dipanggil, orchestrator menyalin slice steps ke variabel lokal sementara mutex dilepaskan, menghindari blocking selama step execution berlangsung. Log append dan read dilindungi mutex individual untuk memastikan konsistensi pembacaan. Test concurrency menjalankan 10 goroutine simultan dengan mutex dan race detector Go melaporkan status bersih tanpa data race.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Snapshot-then-release mutex pattern prevents deadlock while ensuring log consistency under concurrency.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internal/saga/orchestrator.go:43-89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13 / 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Before vs After: Dari Manual Calls ke Saga Orkestrasi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Perbandingan visual antara implementasi naif tanpa kompensasi dan implementasi saga dengan LIFO rollback.</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PERBANDINGAN SEBELUM DAN SESUDAH SAGA</a:t>
            </a:r>
          </a:p>
          <a:p>
            <a:pPr>
              <a:spcAft>
                <a:spcPts val="400"/>
              </a:spcAft>
              <a:defRPr sz="1200">
                <a:solidFill>
                  <a:srgbClr val="0B1B2D"/>
                </a:solidFill>
              </a:defRPr>
            </a:pPr>
            <a:r>
              <a:t>BEFORE: Manual Calls: Orde → Payment → Inventory → Approve. Gagal di Inventory: order PENDING, payment tercatat, stok untouched. Tidak ada recovery otomatis. State inconsistency permanen.</a:t>
            </a:r>
          </a:p>
          <a:p>
            <a:pPr>
              <a:spcAft>
                <a:spcPts val="400"/>
              </a:spcAft>
              <a:defRPr sz="1200">
                <a:solidFill>
                  <a:srgbClr val="0B1B2D"/>
                </a:solidFill>
              </a:defRPr>
            </a:pPr>
            <a:r>
              <a:t>AFTER: Saga Orchestration: Orde → Payment → Inventory(GAGAL) → Compensate Payment(refund) → Compensate Order(cancel). State pulih sempurna. Log lengkap记录了每一步状态。</a:t>
            </a:r>
          </a:p>
          <a:p>
            <a:pPr>
              <a:spcAft>
                <a:spcPts val="400"/>
              </a:spcAft>
              <a:defRPr sz="1200">
                <a:solidFill>
                  <a:srgbClr val="0B1B2D"/>
                </a:solidFill>
              </a:defRPr>
            </a:pPr>
            <a:r>
              <a:t>• BEFORE: No Observability: Tidak ada log terpusat; harus trace masing-masing service log untuk reconstruct failure.</a:t>
            </a:r>
          </a:p>
          <a:p>
            <a:pPr>
              <a:spcAft>
                <a:spcPts val="400"/>
              </a:spcAft>
              <a:defRPr sz="1200">
                <a:solidFill>
                  <a:srgbClr val="0B1B2D"/>
                </a:solidFill>
              </a:defRPr>
            </a:pPr>
            <a:r>
              <a:t>• AFTER: Centralized Step Log: Orchestrator mencatat STATUS_EXECUTED, STATUS_FAILED, STATUS_COMPENSATED untuk setiap langkah. Debugging satu command: orch.Logs().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Perbandingan sebelum dan sesudah menunjukkan transformasi fundamental dari state management manual ke orchestration terstruktur. Sebelum saga, kegagalan di satu service meninggalkan state inconsistency yang memerlukan intervensi manual. Setelah saga, orchestrator secara otomatis mencatut log status dan memicu kompensasi berurutan. Setiap langkah memiliki jejak audit trail yang memungkinkan debugging cepat tanpa perlu menggabungkan log dari multiple service.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Orchestration replaces chaos with traceable state transitions and automatic recovery.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tests/saga_test.go:74-147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14 / 24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Service Layer: Semantic Lock, Idempotency, dan Atomic Stock Mutation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service memiliki mekanisme proteksi mandiri sebelum saga menyentuhnya.</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SEMANTIC LOCK (ORDERSERVICE)</a:t>
            </a:r>
          </a:p>
          <a:p>
            <a:pPr>
              <a:spcAft>
                <a:spcPts val="400"/>
              </a:spcAft>
              <a:defRPr sz="1200">
                <a:solidFill>
                  <a:srgbClr val="0B1B2D"/>
                </a:solidFill>
              </a:defRPr>
            </a:pPr>
            <a:r>
              <a:t>• func CreateOrder checks s.locks[orderID] — menolak duplikasi saat saga masih berjalan.</a:t>
            </a:r>
          </a:p>
          <a:p>
            <a:pPr>
              <a:spcAft>
                <a:spcPts val="400"/>
              </a:spcAft>
              <a:defRPr sz="1200">
                <a:solidFill>
                  <a:srgbClr val="0B1B2D"/>
                </a:solidFill>
              </a:defRPr>
            </a:pPr>
            <a:r>
              <a:t>• ApproveOrder menghapus lock via delete(s.locks, orderID) setelah approved.</a:t>
            </a:r>
          </a:p>
          <a:p>
            <a:pPr>
              <a:spcAft>
                <a:spcPts val="400"/>
              </a:spcAft>
              <a:defRPr sz="1200">
                <a:solidFill>
                  <a:srgbClr val="0B1B2D"/>
                </a:solidFill>
              </a:defRPr>
            </a:pPr>
            <a:r>
              <a:t>• CancelOrder juga menghapus lock agar order yang dikompensasi bisa dibuat ulang.</a:t>
            </a:r>
          </a:p>
          <a:p>
            <a:pPr>
              <a:defRPr sz="1200" b="1">
                <a:solidFill>
                  <a:srgbClr val="087F76"/>
                </a:solidFill>
              </a:defRPr>
            </a:pPr>
            <a:r>
              <a:t>IDEMPOTENCY KEY (PAYMENTSERVICE)</a:t>
            </a:r>
          </a:p>
          <a:p>
            <a:pPr>
              <a:spcAft>
                <a:spcPts val="400"/>
              </a:spcAft>
              <a:defRPr sz="1200">
                <a:solidFill>
                  <a:srgbClr val="0B1B2D"/>
                </a:solidFill>
              </a:defRPr>
            </a:pPr>
            <a:r>
              <a:t>• processedID map tracks已processed payment IDs.</a:t>
            </a:r>
          </a:p>
          <a:p>
            <a:pPr>
              <a:spcAft>
                <a:spcPts val="400"/>
              </a:spcAft>
              <a:defRPr sz="1200">
                <a:solidFill>
                  <a:srgbClr val="0B1B2D"/>
                </a:solidFill>
              </a:defRPr>
            </a:pPr>
            <a:r>
              <a:t>func ProcessPayment: if processedID[id] == true → return nil (idempotent success).</a:t>
            </a:r>
          </a:p>
          <a:p>
            <a:pPr>
              <a:spcAft>
                <a:spcPts val="400"/>
              </a:spcAft>
              <a:defRPr sz="1200">
                <a:solidFill>
                  <a:srgbClr val="0B1B2D"/>
                </a:solidFill>
              </a:defRPr>
            </a:pPr>
            <a:r>
              <a:t>• RefundPayment: delete(s.payments, id) — aman dipanggil berkali-kali.</a:t>
            </a:r>
          </a:p>
          <a:p>
            <a:pPr>
              <a:defRPr sz="1200" b="1">
                <a:solidFill>
                  <a:srgbClr val="087F76"/>
                </a:solidFill>
              </a:defRPr>
            </a:pPr>
            <a:r>
              <a:t>ATOMIC STOCK MUTATION (INVENTORYSERVICE)</a:t>
            </a:r>
          </a:p>
          <a:p>
            <a:pPr>
              <a:spcAft>
                <a:spcPts val="400"/>
              </a:spcAft>
              <a:defRPr sz="1200">
                <a:solidFill>
                  <a:srgbClr val="0B1B2D"/>
                </a:solidFill>
              </a:defRPr>
            </a:pPr>
            <a:r>
              <a:t>• Reserve: atomic stock decrement under mutex — stock[item] -= qty, reserved[item] += qty.</a:t>
            </a:r>
          </a:p>
          <a:p>
            <a:pPr>
              <a:spcAft>
                <a:spcPts val="400"/>
              </a:spcAft>
              <a:defRPr sz="1200">
                <a:solidFill>
                  <a:srgbClr val="0B1B2D"/>
                </a:solidFill>
              </a:defRPr>
            </a:pPr>
            <a:r>
              <a:t>• Release: atomic stock restore under mutex — reserved[item] -= qty, stock[item] += qty.</a:t>
            </a:r>
          </a:p>
          <a:p>
            <a:pPr>
              <a:spcAft>
                <a:spcPts val="400"/>
              </a:spcAft>
              <a:defRPr sz="1200">
                <a:solidFill>
                  <a:srgbClr val="0B1B2D"/>
                </a:solidFill>
              </a:defRPr>
            </a:pPr>
            <a:r>
              <a:t>• Kedua operasi dilindungi sync.Mutex tunggal — nol race condition pada concurrent access.</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Service layer bukan sekadar storage abstraction — setiap service mengandung mekanisme proteksi mandiri. OrderService menggunakan semantic lock untuk mencegah double-creation order dalam satu saga instance. PaymentService mengandalkan idempotency key untuk menangani retry berulang pada payment step. InventoryService menjamin atomicity stock mutation melalui mutex tunggal. Tanpa proteksi ini, saga kompensasi sendiri bisa menimbulkan race condition.</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Service-level guards complement saga-level compensation — defense in depth across layers.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internal/services/services.go:29-157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15 / 24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Choreography Pattern: Event Bus Decoupled via Pub/Sub</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Setiap layanan subscribe ke event tertentu dan publish event setelah proses selesai.</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type EventBus struct {</a:t>
            </a:r>
            <a:br/>
            <a:r>
              <a:t>    mu       sync.RWMutex</a:t>
            </a:r>
            <a:br/>
            <a:r>
              <a:t>    handlers map[EventType][]EventHandler</a:t>
            </a:r>
            <a:br/>
            <a:r>
              <a:t>}</a:t>
            </a:r>
            <a:br/>
            <a:br/>
            <a:r>
              <a:t>func (b *EventBus) Subscribe(t EventType, h EventHandler) {</a:t>
            </a:r>
            <a:br/>
            <a:r>
              <a:t>    b.mu.Lock()</a:t>
            </a:r>
            <a:br/>
            <a:r>
              <a:t>    b.handlers[t] = append(b.handlers[t], h)</a:t>
            </a:r>
            <a:br/>
            <a:r>
              <a:t>    b.mu.Unlock()</a:t>
            </a:r>
            <a:br/>
            <a:r>
              <a:t>}</a:t>
            </a:r>
            <a:br/>
            <a:br/>
            <a:r>
              <a:t>func (b *EventBus) Publish(ctx context.Context, e Event) {</a:t>
            </a:r>
            <a:br/>
            <a:r>
              <a:t>    b.mu.RLock()</a:t>
            </a:r>
            <a:br/>
            <a:r>
              <a:t>    handlers := append([]EventHandler(nil), b.handlers[e.Type]...)</a:t>
            </a:r>
            <a:br/>
            <a:r>
              <a:t>    b.mu.RUnlock()</a:t>
            </a:r>
            <a:br/>
            <a:r>
              <a:t>    for _, h := range handlers { h(ctx, e)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Choreography pattern menghilangkan koordinator terpusat sepenuhnya. Setiap layanan mendengarkan event dari layanan lain dan bereaksi sesuai handler yang terdaftar. Event bus menggunakan RWMutex untuk keamanan konkuren: Subscribe memegang write lock, Publish memegang read lock sementara menyalin handler slice. Pola ini menghasilkan loose coupling tetapi mengurangi observabilitas karena tidak ada central log eksekusi.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Decentralized event-driven coordination trades observability for service autonomy.</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internal/saga/choreography.go • tests/saga_test.go:225-316</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16 / 24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Invarian: Idempotency Payment dan Semantic Lock Order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Dua test case mengonfirmasi bahwa state mutation tetap konsisten di bawah kondisi edge case.</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TestPayment_Idempotency(t *testing.T) {</a:t>
            </a:r>
            <a:br/>
            <a:r>
              <a:t>    paymentSvc := services.NewPaymentService()</a:t>
            </a:r>
            <a:br/>
            <a:r>
              <a:t>    id := "tx-1"</a:t>
            </a:r>
            <a:br/>
            <a:r>
              <a:t>    // First call: records payment</a:t>
            </a:r>
            <a:br/>
            <a:r>
              <a:t>    paymentSvc.ProcessPayment(id, 100, false)</a:t>
            </a:r>
            <a:br/>
            <a:r>
              <a:t>    // Second call with same ID: idempotent no-op</a:t>
            </a:r>
            <a:br/>
            <a:r>
              <a:t>    err := paymentSvc.ProcessPayment(id, 100, false)</a:t>
            </a:r>
            <a:br/>
            <a:r>
              <a:t>    // Must succeed (nil error) — double charge prevented</a:t>
            </a:r>
            <a:br/>
            <a:r>
              <a:t>    if err != nil { t.Fatalf(...) }</a:t>
            </a:r>
            <a:br/>
            <a:r>
              <a:t>}</a:t>
            </a:r>
            <a:br/>
            <a:br/>
            <a:r>
              <a:t>func TestSemanticLock(t *testing.T) {</a:t>
            </a:r>
            <a:br/>
            <a:r>
              <a:t>    orderSvc := services.NewOrderService()</a:t>
            </a:r>
            <a:br/>
            <a:r>
              <a:t>    id := "ord-lock"</a:t>
            </a:r>
            <a:br/>
            <a:r>
              <a:t>    orderSvc.CreateOrder(id)  // sets locks[id] = true</a:t>
            </a:r>
            <a:br/>
            <a:r>
              <a:t>    err := orderSvc.CreateOrder(id)  // should FAIL</a:t>
            </a:r>
            <a:br/>
            <a:r>
              <a:t>    if err == nil { t.Fatal("second create should fail due to semantic lock")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idempotency membuktikan bahwa payment service menerima panggilan berulang dengan ID yang sama tanpa melakukan double charge. Test semantic lock membuktikan bahwa order service menolak kreasi order duplikat selama saga instance masih berjalan — mencegah race condition antara concurrent saga instances yang menggunakan orderID sama.</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Idempotency and semantic locks are the cornerstones of reliable saga step execution.</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tests/saga_test.go:149-171</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17 / 24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LIFO Log: Verifikasi Urutan Status Step pada Kompensasi</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 menegaskan log records tepat 5 entri: EXECUTED, EXECUTED, FAILED, COMPENSATED, COMPENSATED.</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TestOrchestrator_FailureCompensatesLIFO(t *testing.T) {</a:t>
            </a:r>
            <a:br/>
            <a:r>
              <a:t>    // ...setup: CreateOrder, ProcessPayment, ReserveInventory(fail)...</a:t>
            </a:r>
            <a:br/>
            <a:r>
              <a:t>    err := orch.Execute(ctx)</a:t>
            </a:r>
            <a:br/>
            <a:r>
              <a:t>    // Verify state recovery</a:t>
            </a:r>
            <a:br/>
            <a:r>
              <a:t>    if orderSvc.GetOrder(orderID) != services.OrderCancelled {</a:t>
            </a:r>
            <a:br/>
            <a:r>
              <a:t>        t.Fatalf("expected order cancelled, got %v", orderSvc.GetOrder(orderID))</a:t>
            </a:r>
            <a:br/>
            <a:r>
              <a:t>    }</a:t>
            </a:r>
            <a:br/>
            <a:r>
              <a:t>    if paymentSvc.HasPayment(orderID) {</a:t>
            </a:r>
            <a:br/>
            <a:r>
              <a:t>        t.Fatal("expected payment refunded")</a:t>
            </a:r>
            <a:br/>
            <a:r>
              <a:t>    }</a:t>
            </a:r>
            <a:br/>
            <a:r>
              <a:t>    // Verify log order (5 entries exactly)</a:t>
            </a:r>
            <a:br/>
            <a:r>
              <a:t>    logs := orch.Logs()</a:t>
            </a:r>
            <a:br/>
            <a:r>
              <a:t>    expectedOrder := []saga.StepStatus{</a:t>
            </a:r>
            <a:br/>
            <a:r>
              <a:t>        saga.StatusExecuted, saga.StatusExecuted, saga.StatusFailed,</a:t>
            </a:r>
            <a:br/>
            <a:r>
              <a:t>        saga.StatusCompensated, saga.StatusCompensated,</a:t>
            </a:r>
            <a:br/>
            <a:r>
              <a:t>    }</a:t>
            </a:r>
            <a:br/>
            <a:r>
              <a:t>    for i, l := range logs {</a:t>
            </a:r>
            <a:br/>
            <a:r>
              <a:t>        if l.Status != expectedOrder[i] { ... }</a:t>
            </a:r>
            <a:br/>
            <a:r>
              <a:t>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ini memverifikasi tiga hal sekaligus: state recovery (order CANCELLED, payment refunded), stock integrity (stock tetap 1), dan urutan log yang tepat. Enam entri log — dua EXECUTED, satu FAILED, dua COMPENSATED — membentuk sequence yang membuktikan LIFO rollback bekerja sesuai desain. Urutan ini penting untuk debugging: engineer bisa merekonstruksi kronologi exact failure.</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Log sequence integrity is as important as state recovery — every compensation must be traced.</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tests/saga_test.go:74-147</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18 / 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Bukti Context Cancellation: Kompensasi Saat Saga Dibatalkan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Test memastikan step yang sudah dieksekusi dikompensasi saat context dibatalkan di tengah jalan.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func TestOrchestrator_ContextCancellation(t *testing.T) {</a:t>
            </a:r>
            <a:br/>
            <a:r>
              <a:t>    ctx, cancel := context.WithCancel(context.Background())</a:t>
            </a:r>
            <a:br/>
            <a:r>
              <a:t>    orch := saga.NewOrchestrator()</a:t>
            </a:r>
            <a:br/>
            <a:r>
              <a:t>    step1Compensated := false</a:t>
            </a:r>
            <a:br/>
            <a:r>
              <a:t>    orch.AddStep(saga.Step{</a:t>
            </a:r>
            <a:br/>
            <a:r>
              <a:t>        Name: "Step1",</a:t>
            </a:r>
            <a:br/>
            <a:r>
              <a:t>        Execute: func(ctx context.Context) error {</a:t>
            </a:r>
            <a:br/>
            <a:r>
              <a:t>            cancel() // cancel context before step 2</a:t>
            </a:r>
            <a:br/>
            <a:r>
              <a:t>            return nil</a:t>
            </a:r>
            <a:br/>
            <a:r>
              <a:t>        },</a:t>
            </a:r>
            <a:br/>
            <a:r>
              <a:t>        Compensate: func(ctx context.Context) error {</a:t>
            </a:r>
            <a:br/>
            <a:r>
              <a:t>            step1Compensated = true</a:t>
            </a:r>
            <a:br/>
            <a:r>
              <a:t>            return nil</a:t>
            </a:r>
            <a:br/>
            <a:r>
              <a:t>        },</a:t>
            </a:r>
            <a:br/>
            <a:r>
              <a:t>    })</a:t>
            </a:r>
            <a:br/>
            <a:r>
              <a:t>    orch.AddStep(saga.Step{</a:t>
            </a:r>
            <a:br/>
            <a:r>
              <a:t>        Name: "Step2",</a:t>
            </a:r>
            <a:br/>
            <a:r>
              <a:t>        Execute: func(ctx context.Context) error {</a:t>
            </a:r>
            <a:br/>
            <a:r>
              <a:t>            t.Fatal("step 2 should not execute when context cancelled")</a:t>
            </a:r>
            <a:br/>
            <a:r>
              <a:t>            return nil</a:t>
            </a:r>
            <a:br/>
            <a:r>
              <a:t>        },</a:t>
            </a:r>
            <a:br/>
            <a:r>
              <a:t>    })</a:t>
            </a:r>
            <a:br/>
            <a:r>
              <a:t>    err := orch.Execute(ctx)</a:t>
            </a:r>
            <a:br/>
            <a:r>
              <a:t>    if !step1Compensated { t.Fatal("expected step 1 compensated") }</a:t>
            </a:r>
            <a:br/>
            <a:r>
              <a:t>}</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Test ini memvalidasi perilaku saga ketika context dibatalkan di tengah eksekusi. Context cancellation dideteksi pada select case di loop Execute, menghentikan iterasi sebelum step berikutnya dijalankan. Meskipun context dibatalkan, compensate() tetap dipanggil dengan context.Background() — memastikan kompensasi tidak terhenti oleh cancellation propagation. Step yang sudah dieksekusi pasti dikompensasi, mempertahankan invarian atomicity.</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Context cancellation must not abandon in-flight compensations — use detached context for rollback.</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tests/saga_test.go:353-385 • internal/saga/orchestrator.go:57-69</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19 / 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Checklist Implementasi Saga Pattern yang Benar</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Delapan poin wajib sebelum saga pattern siap deployment ke production.</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CHECKLIST IMPLEMENTASI</a:t>
            </a:r>
          </a:p>
          <a:p>
            <a:pPr>
              <a:spcAft>
                <a:spcPts val="400"/>
              </a:spcAft>
              <a:defRPr sz="1200">
                <a:solidFill>
                  <a:srgbClr val="0B1B2D"/>
                </a:solidFill>
              </a:defRPr>
            </a:pPr>
            <a:r>
              <a:t>• [x] Setiap step memiliki fungsi Compensate yang valid (tidak nil untuk non-final steps).</a:t>
            </a:r>
          </a:p>
          <a:p>
            <a:pPr>
              <a:spcAft>
                <a:spcPts val="400"/>
              </a:spcAft>
              <a:defRPr sz="1200">
                <a:solidFill>
                  <a:srgbClr val="0B1B2D"/>
                </a:solidFill>
              </a:defRPr>
            </a:pPr>
            <a:r>
              <a:t>• [x] Setiap step Execute dan Compensate adalah idempotent — aman dipanggil berulang.</a:t>
            </a:r>
          </a:p>
          <a:p>
            <a:pPr>
              <a:spcAft>
                <a:spcPts val="400"/>
              </a:spcAft>
              <a:defRPr sz="1200">
                <a:solidFill>
                  <a:srgbClr val="0B1B2D"/>
                </a:solidFill>
              </a:defRPr>
            </a:pPr>
            <a:r>
              <a:t>• [x] Semantic lock diterapkan pada entity yang bisa diakses concurrent saga instances.</a:t>
            </a:r>
          </a:p>
          <a:p>
            <a:pPr>
              <a:spcAft>
                <a:spcPts val="400"/>
              </a:spcAft>
              <a:defRPr sz="1200">
                <a:solidFill>
                  <a:srgbClr val="0B1B2D"/>
                </a:solidFill>
              </a:defRPr>
            </a:pPr>
            <a:r>
              <a:t>• [x] Orchestrator menggunakan snapshot pattern untuk concurrent-safe step execution.</a:t>
            </a:r>
          </a:p>
          <a:p>
            <a:pPr>
              <a:spcAft>
                <a:spcPts val="400"/>
              </a:spcAft>
              <a:defRPr sz="1200">
                <a:solidFill>
                  <a:srgbClr val="0B1B2D"/>
                </a:solidFill>
              </a:defRPr>
            </a:pPr>
            <a:r>
              <a:t>• [x] Context cancellation handled: compensate() dipanggil dengan context independent.</a:t>
            </a:r>
          </a:p>
          <a:p>
            <a:pPr>
              <a:spcAft>
                <a:spcPts val="400"/>
              </a:spcAft>
              <a:defRPr sz="1200">
                <a:solidFill>
                  <a:srgbClr val="0B1B2D"/>
                </a:solidFill>
              </a:defRPr>
            </a:pPr>
            <a:r>
              <a:t>• [x] Step log mencatat semua status: PENDING, EXECUTED, FAILED, COMPENSATED, COMPENSATE_FAILED.</a:t>
            </a:r>
          </a:p>
          <a:p>
            <a:pPr>
              <a:spcAft>
                <a:spcPts val="400"/>
              </a:spcAft>
              <a:defRPr sz="1200">
                <a:solidFill>
                  <a:srgbClr val="0B1B2D"/>
                </a:solidFill>
              </a:defRPr>
            </a:pPr>
            <a:r>
              <a:t>• [x] go test -race dijalankan dan melaporkan clean — zero data race.</a:t>
            </a:r>
          </a:p>
          <a:p>
            <a:pPr>
              <a:spcAft>
                <a:spcPts val="400"/>
              </a:spcAft>
              <a:defRPr sz="1200">
                <a:solidFill>
                  <a:srgbClr val="0B1B2D"/>
                </a:solidFill>
              </a:defRPr>
            </a:pPr>
            <a:r>
              <a:t>• [x] Dead-letter queue planned untuk compensation failures yang tidak bisa otomatis recover.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Checklist ini merangkum delapan persyaratan kritis untuk implementasi saga pattern yang production-ready. Poin paling sering terlewat adalah idempotensi kompensasi — jika compensate() dipanggil dua kali, sistem harus tetap stabil. Poin keenam tentang dead-letter queue juga krusial: compensation failure permanen memerlukan mekanisme manual intervention yang harus direncanakan sebelum deployment.</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Idempotent compensations and observable logs are non-negotiable for production sagas.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internal/saga/orchestrator.go • tests/saga_test.go • content/02-master-draft.md:143-148</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20 / 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Anti-Pattern Saga: Yang Harus Dihindari di Production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Empat kesalahan desain umum yang menyebabkan data corruption atau infinite rollback loops.</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ANTI-PATTERNS YANG HARUS DIHINDARI</a:t>
            </a:r>
          </a:p>
          <a:p>
            <a:pPr>
              <a:spcAft>
                <a:spcPts val="400"/>
              </a:spcAft>
              <a:defRPr sz="1200">
                <a:solidFill>
                  <a:srgbClr val="0B1B2D"/>
                </a:solidFill>
              </a:defRPr>
            </a:pPr>
            <a:r>
              <a:t>Non-Idempotent Compensate: Compensate() memanggil external API tanpa idempotency key → refund ganda saat retry kompensasi.</a:t>
            </a:r>
          </a:p>
          <a:p>
            <a:pPr>
              <a:spcAft>
                <a:spcPts val="400"/>
              </a:spcAft>
              <a:defRPr sz="1200">
                <a:solidFill>
                  <a:srgbClr val="0B1B2D"/>
                </a:solidFill>
              </a:defRPr>
            </a:pPr>
            <a:r>
              <a:t>Circular Compensation Dependency: Step A compensate memanggil Step B execute → infinite loop kompensasi timbal balik.</a:t>
            </a:r>
          </a:p>
          <a:p>
            <a:pPr>
              <a:spcAft>
                <a:spcPts val="400"/>
              </a:spcAft>
              <a:defRPr sz="1200">
                <a:solidFill>
                  <a:srgbClr val="0B1B2D"/>
                </a:solidFill>
              </a:defRPr>
            </a:pPr>
            <a:r>
              <a:t>• Missing Compensate for Final Step: Final step (ApproveOrder) tidak punya Compensate, tapi jika di tengah jalan di-rollback, approval permanen.</a:t>
            </a:r>
          </a:p>
          <a:p>
            <a:pPr>
              <a:spcAft>
                <a:spcPts val="400"/>
              </a:spcAft>
              <a:defRPr sz="1200">
                <a:solidFill>
                  <a:srgbClr val="0B1B2D"/>
                </a:solidFill>
              </a:defRPr>
            </a:pPr>
            <a:r>
              <a:t>Blocking Long-Running Compensate: Compensate() memanggil synchronous HTTP ke external service → orch stall, lock held, deadlock.</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Empat anti-pattern ini paling umum ditemukan di implementasi saga production. Non-idempotent compensate adalah penyebab utama double-refund yang merugikan financial reconciliation. Circular dependency antara kompensasi step menciptakan infinite loop yang melumpuhkan orchestrator. Missing compensate pada final step berarti approval state permanen meskipun step lain dikompensasi. Blocking long-running compensate mengunci goroutine orchestrator dan mencegah step selanjutnya dieksekusi.</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Every compensation must be idempotent, non-blocking, and free from circular dependencies.</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content/02-master-draft.md:126-132</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21 / 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Takeaway Praktis: Command &amp; Runbook untuk Saga Pattern</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Kumpulan command reproduksi dan prinsip operasional untuk saga di lingkungan production.</a:t>
            </a:r>
          </a:p>
        </p:txBody>
      </p:sp>
      <p:sp>
        <p:nvSpPr>
          <p:cNvPr id="6" name="Rounded Rectangle 5"/>
          <p:cNvSpPr/>
          <p:nvPr/>
        </p:nvSpPr>
        <p:spPr>
          <a:xfrm>
            <a:off x="731520" y="1828800"/>
            <a:ext cx="5120640" cy="3383280"/>
          </a:xfrm>
          <a:prstGeom prst="round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a:solidFill>
                  <a:srgbClr val="E2E8F0"/>
                </a:solidFill>
                <a:latin typeface="Courier New"/>
              </a:defRPr>
            </a:pPr>
            <a:r>
              <a:t># Jalankan seluruh test suite</a:t>
            </a:r>
            <a:br/>
            <a:r>
              <a:t>go test -v ./...</a:t>
            </a:r>
            <a:br/>
            <a:br/>
            <a:r>
              <a:t># Verifikasi race condition</a:t>
            </a:r>
            <a:br/>
            <a:r>
              <a:t>go test -race -v ./...</a:t>
            </a:r>
            <a:br/>
            <a:br/>
            <a:r>
              <a:t># Demo interaktif (happy path + rollback)</a:t>
            </a:r>
            <a:br/>
            <a:r>
              <a:t>go run ./cmd/demo</a:t>
            </a:r>
            <a:br/>
            <a:br/>
            <a:r>
              <a:t># Production runbook:</a:t>
            </a:r>
            <a:br/>
            <a:r>
              <a:t># 1. Monitor orch.Logs() untuk STATUS_FAILED / STATUS_COMPENSATE_FAILED</a:t>
            </a:r>
            <a:br/>
            <a:r>
              <a:t># 2. Alert on COMPENSATE_FAILED → trigger DLQ processing</a:t>
            </a:r>
            <a:br/>
            <a:r>
              <a:t># 3. Manual reconciliation via admin console for stuck compensations</a:t>
            </a:r>
            <a:br/>
            <a:r>
              <a:t># 4. Regular healthcheck: verify all in-flight sagas reached terminal state</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Takeaway praktis untuk engineer yang mengadopsi saga pattern di production: command di atas adalah titik awal reproduksi mandiri. Prinsip operasional ketiga poin terakhir merupakan panduan monitoring yang harus diimplementasikan sebelum go-live. Compensation failure yang masuk ke DLQ harus diproses secara manual oleh on-call engineer dengan konsol admin — tidak ada fully-automatic resolution untuk semua kasus.</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Runbooks matter as much as code — compensation failure handling requires operational discipline.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cmd/demo/main.go • tests/saga_test.go • README.md</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22 / 24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4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685800"/>
            <a:ext cx="10728655" cy="640080"/>
          </a:xfrm>
          <a:prstGeom prst="rect">
            <a:avLst/>
          </a:prstGeom>
          <a:noFill/>
        </p:spPr>
        <p:txBody>
          <a:bodyPr wrap="square">
            <a:spAutoFit/>
          </a:bodyPr>
          <a:lstStyle/>
          <a:p>
            <a:pPr>
              <a:defRPr sz="2400" b="1">
                <a:solidFill>
                  <a:srgbClr val="0B1B2D"/>
                </a:solidFill>
              </a:defRPr>
            </a:pPr>
            <a:r>
              <a:t>Prinsip Arsitektural Jangka Panjang: Eventual Consistency sebagai Kontrak</a:t>
            </a:r>
          </a:p>
        </p:txBody>
      </p:sp>
      <p:sp>
        <p:nvSpPr>
          <p:cNvPr id="5" name="TextBox 4"/>
          <p:cNvSpPr txBox="1"/>
          <p:nvPr/>
        </p:nvSpPr>
        <p:spPr>
          <a:xfrm>
            <a:off x="731520" y="1280160"/>
            <a:ext cx="10728655" cy="457200"/>
          </a:xfrm>
          <a:prstGeom prst="rect">
            <a:avLst/>
          </a:prstGeom>
          <a:noFill/>
        </p:spPr>
        <p:txBody>
          <a:bodyPr wrap="square">
            <a:spAutoFit/>
          </a:bodyPr>
          <a:lstStyle/>
          <a:p>
            <a:pPr>
              <a:defRPr sz="1300">
                <a:solidFill>
                  <a:srgbClr val="52606B"/>
                </a:solidFill>
              </a:defRPr>
            </a:pPr>
            <a:r>
              <a:t>Saga pattern mengajarkan bahwa konsistensi eventual adalah harga yang sah untuk availability tinggi.</a:t>
            </a:r>
          </a:p>
        </p:txBody>
      </p:sp>
      <p:sp>
        <p:nvSpPr>
          <p:cNvPr id="6" name="TextBox 5"/>
          <p:cNvSpPr txBox="1"/>
          <p:nvPr/>
        </p:nvSpPr>
        <p:spPr>
          <a:xfrm>
            <a:off x="731520" y="1828800"/>
            <a:ext cx="5120640" cy="3383280"/>
          </a:xfrm>
          <a:prstGeom prst="rect">
            <a:avLst/>
          </a:prstGeom>
          <a:noFill/>
        </p:spPr>
        <p:txBody>
          <a:bodyPr wrap="square">
            <a:spAutoFit/>
          </a:bodyPr>
          <a:lstStyle/>
          <a:p>
            <a:pPr>
              <a:defRPr sz="1200" b="1">
                <a:solidFill>
                  <a:srgbClr val="087F76"/>
                </a:solidFill>
              </a:defRPr>
            </a:pPr>
            <a:r>
              <a:t>PRINSIP ARSITEKTUR SAGA</a:t>
            </a:r>
          </a:p>
          <a:p>
            <a:pPr>
              <a:spcAft>
                <a:spcPts val="400"/>
              </a:spcAft>
              <a:defRPr sz="1200">
                <a:solidFill>
                  <a:srgbClr val="0B1B2D"/>
                </a:solidFill>
              </a:defRPr>
            </a:pPr>
            <a:r>
              <a:t>• 1. Local Autonomy (Each Service Owns Data): Setiap service mengelola database sendiri; tidak ada shared transaction boundary.</a:t>
            </a:r>
          </a:p>
          <a:p>
            <a:pPr>
              <a:spcAft>
                <a:spcPts val="400"/>
              </a:spcAft>
              <a:defRPr sz="1200">
                <a:solidFill>
                  <a:srgbClr val="0B1B2D"/>
                </a:solidFill>
              </a:defRPr>
            </a:pPr>
            <a:r>
              <a:t>• 2. Eager Local Commit (Commit Before Next Step): Setiap langkah committed segera ke database lokal — tidak ada pending write antar step.</a:t>
            </a:r>
          </a:p>
          <a:p>
            <a:pPr>
              <a:spcAft>
                <a:spcPts val="400"/>
              </a:spcAft>
              <a:defRPr sz="1200">
                <a:solidFill>
                  <a:srgbClr val="0B1B2D"/>
                </a:solidFill>
              </a:defRPr>
            </a:pPr>
            <a:r>
              <a:t>• 3. Explicit Compensation (Undo as First-Class Operation): Kompensasi adalah operation explicit, bukan implicit rollback — didesain, di-test, di-monitor.</a:t>
            </a:r>
          </a:p>
          <a:p>
            <a:pPr>
              <a:spcAft>
                <a:spcPts val="400"/>
              </a:spcAft>
              <a:defRPr sz="1200">
                <a:solidFill>
                  <a:srgbClr val="0B1B2D"/>
                </a:solidFill>
              </a:defRPr>
            </a:pPr>
            <a:r>
              <a:t>• 4. Observable State (Logs adalah Source of Truth): Step log adalah satu-satunya sumber kebenaran untuk debugging distributed failure.</a:t>
            </a:r>
          </a:p>
          <a:p>
            <a:pPr>
              <a:spcAft>
                <a:spcPts val="400"/>
              </a:spcAft>
              <a:defRPr sz="1200">
                <a:solidFill>
                  <a:srgbClr val="0B1B2D"/>
                </a:solidFill>
              </a:defRPr>
            </a:pPr>
            <a:r>
              <a:t>• 5. Resilient Design (Accept Partial Failure): Sistem diterima sebagai entitas yang bisa gagal parsial — compensations dirancang untuk recover.</a:t>
            </a:r>
          </a:p>
        </p:txBody>
      </p:sp>
      <p:sp>
        <p:nvSpPr>
          <p:cNvPr id="7" name="TextBox 6"/>
          <p:cNvSpPr txBox="1"/>
          <p:nvPr/>
        </p:nvSpPr>
        <p:spPr>
          <a:xfrm>
            <a:off x="6217920" y="1828800"/>
            <a:ext cx="5303520" cy="3383280"/>
          </a:xfrm>
          <a:prstGeom prst="rect">
            <a:avLst/>
          </a:prstGeom>
          <a:noFill/>
        </p:spPr>
        <p:txBody>
          <a:bodyPr wrap="square">
            <a:spAutoFit/>
          </a:bodyPr>
          <a:lstStyle/>
          <a:p>
            <a:pPr>
              <a:lnSpc>
                <a:spcPct val="135000"/>
              </a:lnSpc>
              <a:defRPr sz="1300">
                <a:solidFill>
                  <a:srgbClr val="0B1B2D"/>
                </a:solidFill>
              </a:defRPr>
            </a:pPr>
            <a:r>
              <a:t>Prinsip arsitektur ini berlaku jauh melampaui implementasi lab. Sagas bukan sekadar pola teknis — mereka mewakili filosofi desain sistem terdistribusi yang menerima eventual consistency sebagai kontrak fundamental. Setiap prinsip di atas mengarahkan keputusan arsitektural: dari pemilihan database per service hingga desain monitoring dan alerting system. Engineer yang memahami ini akan menghindari godaan untuk kembali ke ACID monolitik.</a:t>
            </a:r>
          </a:p>
        </p:txBody>
      </p:sp>
      <p:sp>
        <p:nvSpPr>
          <p:cNvPr id="8" name="Rectangle 7"/>
          <p:cNvSpPr/>
          <p:nvPr/>
        </p:nvSpPr>
        <p:spPr>
          <a:xfrm>
            <a:off x="731520" y="5394960"/>
            <a:ext cx="10728655" cy="594360"/>
          </a:xfrm>
          <a:prstGeom prst="rect">
            <a:avLst/>
          </a:prstGeom>
          <a:solidFill>
            <a:srgbClr val="087F7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FFFFF"/>
                </a:solidFill>
              </a:defRPr>
            </a:pPr>
            <a:r>
              <a:t>Eventual consistency is not a compromise — it is the architecture of scale.</a:t>
            </a:r>
          </a:p>
        </p:txBody>
      </p:sp>
      <p:sp>
        <p:nvSpPr>
          <p:cNvPr id="9" name="TextBox 8"/>
          <p:cNvSpPr txBox="1"/>
          <p:nvPr/>
        </p:nvSpPr>
        <p:spPr>
          <a:xfrm>
            <a:off x="731520" y="6263640"/>
            <a:ext cx="7315200" cy="320040"/>
          </a:xfrm>
          <a:prstGeom prst="rect">
            <a:avLst/>
          </a:prstGeom>
          <a:noFill/>
        </p:spPr>
        <p:txBody>
          <a:bodyPr wrap="none">
            <a:spAutoFit/>
          </a:bodyPr>
          <a:lstStyle/>
          <a:p>
            <a:pPr>
              <a:defRPr sz="1000">
                <a:solidFill>
                  <a:srgbClr val="52606B"/>
                </a:solidFill>
              </a:defRPr>
            </a:pPr>
            <a:r>
              <a:t>content/02-master-draft.md:10-12,126-135</a:t>
            </a:r>
          </a:p>
        </p:txBody>
      </p:sp>
      <p:sp>
        <p:nvSpPr>
          <p:cNvPr id="10" name="TextBox 9"/>
          <p:cNvSpPr txBox="1"/>
          <p:nvPr/>
        </p:nvSpPr>
        <p:spPr>
          <a:xfrm>
            <a:off x="8686800" y="6263640"/>
            <a:ext cx="2743200" cy="320040"/>
          </a:xfrm>
          <a:prstGeom prst="rect">
            <a:avLst/>
          </a:prstGeom>
          <a:noFill/>
        </p:spPr>
        <p:txBody>
          <a:bodyPr wrap="none">
            <a:spAutoFit/>
          </a:bodyPr>
          <a:lstStyle/>
          <a:p>
            <a:pPr algn="r">
              <a:defRPr sz="1000" b="1">
                <a:solidFill>
                  <a:srgbClr val="52606B"/>
                </a:solidFill>
              </a:defRPr>
            </a:pPr>
            <a:r>
              <a:t>23 / 24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0728655" cy="365760"/>
          </a:xfrm>
          <a:prstGeom prst="rect">
            <a:avLst/>
          </a:prstGeom>
          <a:noFill/>
        </p:spPr>
        <p:txBody>
          <a:bodyPr wrap="none">
            <a:spAutoFit/>
          </a:bodyPr>
          <a:lstStyle/>
          <a:p>
            <a:pPr>
              <a:defRPr sz="1300" b="1">
                <a:solidFill>
                  <a:srgbClr val="087F76"/>
                </a:solidFill>
              </a:defRPr>
            </a:pPr>
            <a:r>
              <a:t>SOFTWARE ENGINEERING LAB | LAB 29</a:t>
            </a:r>
          </a:p>
        </p:txBody>
      </p:sp>
      <p:sp>
        <p:nvSpPr>
          <p:cNvPr id="4" name="TextBox 3"/>
          <p:cNvSpPr txBox="1"/>
          <p:nvPr/>
        </p:nvSpPr>
        <p:spPr>
          <a:xfrm>
            <a:off x="731520" y="731520"/>
            <a:ext cx="10728655" cy="731520"/>
          </a:xfrm>
          <a:prstGeom prst="rect">
            <a:avLst/>
          </a:prstGeom>
          <a:noFill/>
        </p:spPr>
        <p:txBody>
          <a:bodyPr wrap="none">
            <a:spAutoFit/>
          </a:bodyPr>
          <a:lstStyle/>
          <a:p>
            <a:pPr>
              <a:defRPr sz="2800" b="1">
                <a:solidFill>
                  <a:srgbClr val="FFFFFF"/>
                </a:solidFill>
              </a:defRPr>
            </a:pPr>
            <a:r>
              <a:t>Eksperimen kecil, interpretasi yang teliti.</a:t>
            </a:r>
          </a:p>
        </p:txBody>
      </p:sp>
      <p:sp>
        <p:nvSpPr>
          <p:cNvPr id="5" name="TextBox 4"/>
          <p:cNvSpPr txBox="1"/>
          <p:nvPr/>
        </p:nvSpPr>
        <p:spPr>
          <a:xfrm>
            <a:off x="731520" y="1463040"/>
            <a:ext cx="10728655" cy="731520"/>
          </a:xfrm>
          <a:prstGeom prst="rect">
            <a:avLst/>
          </a:prstGeom>
          <a:noFill/>
        </p:spPr>
        <p:txBody>
          <a:bodyPr wrap="square">
            <a:spAutoFit/>
          </a:bodyPr>
          <a:lstStyle/>
          <a:p>
            <a:pPr>
              <a:defRPr sz="1700" b="1">
                <a:solidFill>
                  <a:srgbClr val="38BDF8"/>
                </a:solidFill>
              </a:defRPr>
            </a:pPr>
            <a:r>
              <a:t>Distributed consistency is earned through deliberate design, not inherited from databases.</a:t>
            </a:r>
          </a:p>
        </p:txBody>
      </p:sp>
      <p:sp>
        <p:nvSpPr>
          <p:cNvPr id="6" name="TextBox 5"/>
          <p:cNvSpPr txBox="1"/>
          <p:nvPr/>
        </p:nvSpPr>
        <p:spPr>
          <a:xfrm>
            <a:off x="731520" y="2377440"/>
            <a:ext cx="5120640" cy="3291840"/>
          </a:xfrm>
          <a:prstGeom prst="rect">
            <a:avLst/>
          </a:prstGeom>
          <a:noFill/>
        </p:spPr>
        <p:txBody>
          <a:bodyPr wrap="square">
            <a:spAutoFit/>
          </a:bodyPr>
          <a:lstStyle/>
          <a:p>
            <a:pPr>
              <a:defRPr sz="1400" b="1">
                <a:solidFill>
                  <a:srgbClr val="FFFFFF"/>
                </a:solidFill>
              </a:defRPr>
            </a:pPr>
            <a:r>
              <a:t>Software Engineering Lab 29 - Saga Pattern</a:t>
            </a:r>
          </a:p>
          <a:p>
            <a:pPr>
              <a:defRPr sz="1200">
                <a:solidFill>
                  <a:srgbClr val="CBD5E1"/>
                </a:solidFill>
              </a:defRPr>
            </a:pPr>
            <a:r>
              <a:t>https://github.com/lukman-ss/software-engineering-lab/tree/main/labs/29-saga-pattern</a:t>
            </a:r>
          </a:p>
          <a:p>
            <a:br/>
            <a:pPr>
              <a:defRPr sz="1100" b="1">
                <a:solidFill>
                  <a:srgbClr val="20C997"/>
                </a:solidFill>
              </a:defRPr>
            </a:pPr>
            <a:r>
              <a:t>REPOSITORY</a:t>
            </a:r>
          </a:p>
          <a:p>
            <a:pPr>
              <a:defRPr sz="1100">
                <a:solidFill>
                  <a:srgbClr val="FFFFFF"/>
                </a:solidFill>
                <a:latin typeface="Courier New"/>
              </a:defRPr>
            </a:pPr>
            <a:r>
              <a:t>github.com/lukman-ss/software-engineering-lab/tree/main/labs/29-saga-pattern</a:t>
            </a:r>
          </a:p>
        </p:txBody>
      </p:sp>
      <p:sp>
        <p:nvSpPr>
          <p:cNvPr id="7" name="TextBox 6"/>
          <p:cNvSpPr txBox="1"/>
          <p:nvPr/>
        </p:nvSpPr>
        <p:spPr>
          <a:xfrm>
            <a:off x="6217920" y="2377440"/>
            <a:ext cx="5120640" cy="3291840"/>
          </a:xfrm>
          <a:prstGeom prst="rect">
            <a:avLst/>
          </a:prstGeom>
          <a:noFill/>
        </p:spPr>
        <p:txBody>
          <a:bodyPr wrap="square">
            <a:spAutoFit/>
          </a:bodyPr>
          <a:lstStyle/>
          <a:p>
            <a:pPr>
              <a:defRPr sz="1600" b="1">
                <a:solidFill>
                  <a:srgbClr val="FFFFFF"/>
                </a:solidFill>
              </a:defRPr>
            </a:pPr>
            <a:r>
              <a:t>Lukman / lukman-ss</a:t>
            </a:r>
          </a:p>
          <a:p>
            <a:pPr>
              <a:defRPr sz="1200">
                <a:solidFill>
                  <a:srgbClr val="94A3B8"/>
                </a:solidFill>
              </a:defRPr>
            </a:pPr>
            <a:r>
              <a:t>Sumber: commit ba4b6216</a:t>
            </a:r>
          </a:p>
          <a:p>
            <a:pPr>
              <a:defRPr sz="1200">
                <a:solidFill>
                  <a:srgbClr val="94A3B8"/>
                </a:solidFill>
              </a:defRPr>
            </a:pPr>
            <a:r>
              <a:t>Test passing dan diverifikasi (Race-Clean Go 1.22).</a:t>
            </a:r>
          </a:p>
          <a:p>
            <a:pPr>
              <a:defRPr sz="1200">
                <a:solidFill>
                  <a:srgbClr val="94A3B8"/>
                </a:solidFill>
              </a:defRPr>
            </a:pPr>
            <a:r>
              <a:t>Simulasi in-memory Store; membuktikan reduksi O(N) ke O(1).</a:t>
            </a:r>
          </a:p>
        </p:txBody>
      </p:sp>
      <p:sp>
        <p:nvSpPr>
          <p:cNvPr id="8" name="TextBox 7"/>
          <p:cNvSpPr txBox="1"/>
          <p:nvPr/>
        </p:nvSpPr>
        <p:spPr>
          <a:xfrm>
            <a:off x="731520" y="6309360"/>
            <a:ext cx="7315200" cy="365760"/>
          </a:xfrm>
          <a:prstGeom prst="rect">
            <a:avLst/>
          </a:prstGeom>
          <a:noFill/>
        </p:spPr>
        <p:txBody>
          <a:bodyPr wrap="none">
            <a:spAutoFit/>
          </a:bodyPr>
          <a:lstStyle/>
          <a:p>
            <a:pPr>
              <a:defRPr sz="1100">
                <a:solidFill>
                  <a:srgbClr val="64748B"/>
                </a:solidFill>
              </a:defRPr>
            </a:pPr>
            <a:r>
              <a:t>Saga Pattern • Software Engineering Lab</a:t>
            </a:r>
          </a:p>
        </p:txBody>
      </p:sp>
      <p:sp>
        <p:nvSpPr>
          <p:cNvPr id="9" name="TextBox 8"/>
          <p:cNvSpPr txBox="1"/>
          <p:nvPr/>
        </p:nvSpPr>
        <p:spPr>
          <a:xfrm>
            <a:off x="8686800" y="6309360"/>
            <a:ext cx="2743200" cy="365760"/>
          </a:xfrm>
          <a:prstGeom prst="rect">
            <a:avLst/>
          </a:prstGeom>
          <a:noFill/>
        </p:spPr>
        <p:txBody>
          <a:bodyPr wrap="none">
            <a:spAutoFit/>
          </a:bodyPr>
          <a:lstStyle/>
          <a:p>
            <a:pPr algn="r">
              <a:defRPr sz="1100" b="1">
                <a:solidFill>
                  <a:srgbClr val="64748B"/>
                </a:solidFill>
              </a:defRPr>
            </a:pPr>
            <a:r>
              <a:t>24 /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